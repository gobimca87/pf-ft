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3"/>
    <p:sldId id="257" r:id="rId2"/>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948AD9-B8F4-A70C-7DDC-1E1556ECAE4E}" v="2" dt="2026-08-06T12:20:33.150"/>
    <p1510:client id="{7F375FFF-E84D-3631-D388-F5B5C76602FD}" v="4" dt="2026-08-06T13:01:42.9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microsoft.com/office/2015/10/relationships/revisionInfo" Target="revisionInfo.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7376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The AI core: how agents reason, how prompts are composed and secured, how the SLM is abstracted and made reliable, and how RAG grounds answers. Three ADRs are Proposed (embedding model, vector store, refinement loop) — deck 09.</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A clear taxonomy of AI capabilities, each versioned and evaluated; supervised tool-using agents, bounded and observable.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Agents have explicit contracts and lifecycles; the tool-calling boundary validates parameters and outputs and is allow-listed per agent.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Deterministic routing preferred; model-decided only where necessary, always bounded and observable.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The conversational safety core: clarify, confirm, never fabricate a transaction outcome.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Prompts are composed from independent, versioned layers. The Adam persona is one reusable layer; system &amp; security layers are non-negotiable and cannot be overridden.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Prompts are versioned software in Git, promoted as immutable bundles; injection defence is layered — prompt layer plus guardrails.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SLM access is abstracted so hosted and self-hosted providers are interchangeable; only approved, evaluated, observable models are registered.</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Temperature/params tuned per task; structured, schema-validated output; streaming is a UX improvement.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Failure-fallback (D3-18) handles provider/model failure — different from the refinement loop (D3-28), which is about output quality.</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RAG grounds answers in knowledge only; hybrid retrieval, reranking when needed, budgeted context, mandatory ACL-checked citations.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Embedding model is Proposed because doc 14 mandates an evaluation-first choice; we build against 768-dim; ARB ratifies after Recall@5 ≥ 0.90.</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Azure AI Search is the recommended vector store — managed, hybrid retrieval, Azure security; pgvector is the fallback.</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Context assembly is budgeted and prioritised; authoritative values are protected.</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Runtime quality control: score → regenerate/escalate, bounded, strict mode for governance-critical classes; it trades cost/latency for quality — hence ARB endorsement.</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All 28 AI-architecture ADRs. Three are Proposed (◆): D3-23 embedding model, D3-24 vector store, D3-28 refinement loop — all in deck 09.</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t>The AI is powerful but bounded — grounded, cited, validated, and never the source of business authority.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pic>
        <p:nvPicPr>
          <p:cNvPr id="8" name="Picture 7" descr="fa_crest_navy.png"/>
          <p:cNvPicPr>
            <a:picLocks noChangeAspect="1"/>
          </p:cNvPicPr>
          <p:nvPr/>
        </p:nvPicPr>
        <p:blipFill>
          <a:blip r:embed="rId3"/>
          <a:stretch>
            <a:fillRect/>
          </a:stretch>
        </p:blipFill>
        <p:spPr>
          <a:xfrm>
            <a:off x="9509760" y="1325880"/>
            <a:ext cx="2313063" cy="4206240"/>
          </a:xfrm>
          <a:prstGeom prst="rect">
            <a:avLst/>
          </a:prstGeom>
        </p:spPr>
      </p:pic>
      <p:sp>
        <p:nvSpPr>
          <p:cNvPr id="9" name="TextBox 8"/>
          <p:cNvSpPr txBox="1"/>
          <p:nvPr/>
        </p:nvSpPr>
        <p:spPr>
          <a:xfrm>
            <a:off x="1874519" y="1600200"/>
            <a:ext cx="7772400" cy="365760"/>
          </a:xfrm>
          <a:prstGeom prst="rect">
            <a:avLst/>
          </a:prstGeom>
          <a:noFill/>
        </p:spPr>
        <p:txBody>
          <a:bodyPr wrap="square" anchor="t" lIns="0" rIns="0" tIns="0" bIns="0">
            <a:spAutoFit/>
          </a:bodyPr>
          <a:lstStyle/>
          <a:p>
            <a:pPr algn="l"/>
            <a:r>
              <a:rPr sz="1400" b="1" i="0">
                <a:solidFill>
                  <a:srgbClr val="2E75B6"/>
                </a:solidFill>
                <a:latin typeface="Calibri"/>
              </a:rPr>
              <a:t>DECK 03 · AI ARCHITECTURE</a:t>
            </a:r>
          </a:p>
        </p:txBody>
      </p:sp>
      <p:sp>
        <p:nvSpPr>
          <p:cNvPr id="10" name="TextBox 9"/>
          <p:cNvSpPr txBox="1"/>
          <p:nvPr/>
        </p:nvSpPr>
        <p:spPr>
          <a:xfrm>
            <a:off x="1874519" y="2057400"/>
            <a:ext cx="7680960" cy="914400"/>
          </a:xfrm>
          <a:prstGeom prst="rect">
            <a:avLst/>
          </a:prstGeom>
          <a:noFill/>
        </p:spPr>
        <p:txBody>
          <a:bodyPr wrap="square" anchor="t" lIns="0" rIns="0" tIns="0" bIns="0">
            <a:spAutoFit/>
          </a:bodyPr>
          <a:lstStyle/>
          <a:p>
            <a:pPr algn="l"/>
            <a:r>
              <a:rPr sz="4200" b="1" i="0">
                <a:solidFill>
                  <a:srgbClr val="13294B"/>
                </a:solidFill>
                <a:latin typeface="Cambria"/>
              </a:rPr>
              <a:t>AI</a:t>
            </a:r>
          </a:p>
        </p:txBody>
      </p:sp>
      <p:sp>
        <p:nvSpPr>
          <p:cNvPr id="11" name="TextBox 10"/>
          <p:cNvSpPr txBox="1"/>
          <p:nvPr/>
        </p:nvSpPr>
        <p:spPr>
          <a:xfrm>
            <a:off x="1874519" y="2971800"/>
            <a:ext cx="7680960" cy="914400"/>
          </a:xfrm>
          <a:prstGeom prst="rect">
            <a:avLst/>
          </a:prstGeom>
          <a:noFill/>
        </p:spPr>
        <p:txBody>
          <a:bodyPr wrap="square" anchor="t" lIns="0" rIns="0" tIns="0" bIns="0">
            <a:spAutoFit/>
          </a:bodyPr>
          <a:lstStyle/>
          <a:p>
            <a:pPr algn="l"/>
            <a:r>
              <a:rPr sz="4200" b="1" i="0">
                <a:solidFill>
                  <a:srgbClr val="2E75B6"/>
                </a:solidFill>
                <a:latin typeface="Cambria"/>
              </a:rPr>
              <a:t>Architecture</a:t>
            </a:r>
          </a:p>
        </p:txBody>
      </p:sp>
      <p:sp>
        <p:nvSpPr>
          <p:cNvPr id="12" name="Rectangle 11"/>
          <p:cNvSpPr/>
          <p:nvPr/>
        </p:nvSpPr>
        <p:spPr>
          <a:xfrm>
            <a:off x="1892807" y="3977639"/>
            <a:ext cx="1554480" cy="45720"/>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74519" y="4206240"/>
            <a:ext cx="7680960" cy="1097280"/>
          </a:xfrm>
          <a:prstGeom prst="rect">
            <a:avLst/>
          </a:prstGeom>
          <a:noFill/>
        </p:spPr>
        <p:txBody>
          <a:bodyPr wrap="square" anchor="t" lIns="0" rIns="0" tIns="0" bIns="0">
            <a:spAutoFit/>
          </a:bodyPr>
          <a:lstStyle/>
          <a:p>
            <a:pPr algn="l"/>
            <a:r>
              <a:rPr sz="1700" b="0" i="0">
                <a:solidFill>
                  <a:srgbClr val="5C6B7A"/>
                </a:solidFill>
                <a:latin typeface="Calibri"/>
              </a:rPr>
              <a:t>Agents · prompts · SLM · RAG · embeddings · refinement  —  D3 (28 ADRs, 3 open)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1</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AGENDA</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What this deck covers</a:t>
            </a:r>
          </a:p>
        </p:txBody>
      </p:sp>
      <p:sp>
        <p:nvSpPr>
          <p:cNvPr id="11" name="TextBox 10"/>
          <p:cNvSpPr txBox="1"/>
          <p:nvPr/>
        </p:nvSpPr>
        <p:spPr>
          <a:xfrm>
            <a:off x="1874519" y="1783080"/>
            <a:ext cx="4800600" cy="4206240"/>
          </a:xfrm>
          <a:prstGeom prst="rect">
            <a:avLst/>
          </a:prstGeom>
          <a:noFill/>
        </p:spPr>
        <p:txBody>
          <a:bodyPr wrap="square" lIns="0" tIns="0">
            <a:spAutoFit/>
          </a:bodyPr>
          <a:lstStyle/>
          <a:p>
            <a:pPr algn="l">
              <a:spcAft>
                <a:spcPts val="1200"/>
              </a:spcAft>
            </a:pPr>
            <a:r>
              <a:rPr sz="1500" b="1">
                <a:solidFill>
                  <a:srgbClr val="2E75B6"/>
                </a:solidFill>
                <a:latin typeface="Calibri"/>
              </a:rPr>
              <a:t>▪  </a:t>
            </a:r>
            <a:r>
              <a:rPr sz="1500">
                <a:solidFill>
                  <a:srgbClr val="13294B"/>
                </a:solidFill>
                <a:latin typeface="Calibri"/>
              </a:rPr>
              <a:t>AI capability taxonomy &amp; agentic style</a:t>
            </a:r>
          </a:p>
          <a:p>
            <a:pPr algn="l">
              <a:spcAft>
                <a:spcPts val="1200"/>
              </a:spcAft>
            </a:pPr>
            <a:r>
              <a:rPr sz="1500" b="1">
                <a:solidFill>
                  <a:srgbClr val="2E75B6"/>
                </a:solidFill>
                <a:latin typeface="Calibri"/>
              </a:rPr>
              <a:t>▪  </a:t>
            </a:r>
            <a:r>
              <a:rPr sz="1500">
                <a:solidFill>
                  <a:srgbClr val="13294B"/>
                </a:solidFill>
                <a:latin typeface="Calibri"/>
              </a:rPr>
              <a:t>Agent contract, lifecycle &amp; tool-calling boundary</a:t>
            </a:r>
          </a:p>
          <a:p>
            <a:pPr algn="l">
              <a:spcAft>
                <a:spcPts val="1200"/>
              </a:spcAft>
            </a:pPr>
            <a:r>
              <a:rPr sz="1500" b="1">
                <a:solidFill>
                  <a:srgbClr val="2E75B6"/>
                </a:solidFill>
                <a:latin typeface="Calibri"/>
              </a:rPr>
              <a:t>▪  </a:t>
            </a:r>
            <a:r>
              <a:rPr sz="1500">
                <a:solidFill>
                  <a:srgbClr val="13294B"/>
                </a:solidFill>
                <a:latin typeface="Calibri"/>
              </a:rPr>
              <a:t>Intent classification &amp; routing strategy</a:t>
            </a:r>
          </a:p>
          <a:p>
            <a:pPr algn="l">
              <a:spcAft>
                <a:spcPts val="1200"/>
              </a:spcAft>
            </a:pPr>
            <a:r>
              <a:rPr sz="1500" b="1">
                <a:solidFill>
                  <a:srgbClr val="2E75B6"/>
                </a:solidFill>
                <a:latin typeface="Calibri"/>
              </a:rPr>
              <a:t>▪  </a:t>
            </a:r>
            <a:r>
              <a:rPr sz="1500">
                <a:solidFill>
                  <a:srgbClr val="13294B"/>
                </a:solidFill>
                <a:latin typeface="Calibri"/>
              </a:rPr>
              <a:t>Clarification, confirmation &amp; transaction-uncertainty</a:t>
            </a:r>
          </a:p>
          <a:p>
            <a:pPr algn="l">
              <a:spcAft>
                <a:spcPts val="1200"/>
              </a:spcAft>
            </a:pPr>
            <a:r>
              <a:rPr sz="1500" b="1">
                <a:solidFill>
                  <a:srgbClr val="2E75B6"/>
                </a:solidFill>
                <a:latin typeface="Calibri"/>
              </a:rPr>
              <a:t>▪  </a:t>
            </a:r>
            <a:r>
              <a:rPr sz="1500">
                <a:solidFill>
                  <a:srgbClr val="13294B"/>
                </a:solidFill>
                <a:latin typeface="Calibri"/>
              </a:rPr>
              <a:t>Prompt engineering — layered composition &amp; security</a:t>
            </a:r>
          </a:p>
        </p:txBody>
      </p:sp>
      <p:sp>
        <p:nvSpPr>
          <p:cNvPr id="12" name="TextBox 11"/>
          <p:cNvSpPr txBox="1"/>
          <p:nvPr/>
        </p:nvSpPr>
        <p:spPr>
          <a:xfrm>
            <a:off x="6766560" y="1783080"/>
            <a:ext cx="4800600" cy="4206240"/>
          </a:xfrm>
          <a:prstGeom prst="rect">
            <a:avLst/>
          </a:prstGeom>
          <a:noFill/>
        </p:spPr>
        <p:txBody>
          <a:bodyPr wrap="square" lIns="0" tIns="0">
            <a:spAutoFit/>
          </a:bodyPr>
          <a:lstStyle/>
          <a:p>
            <a:pPr algn="l">
              <a:spcAft>
                <a:spcPts val="1200"/>
              </a:spcAft>
            </a:pPr>
            <a:r>
              <a:rPr sz="1500" b="1">
                <a:solidFill>
                  <a:srgbClr val="2E75B6"/>
                </a:solidFill>
                <a:latin typeface="Calibri"/>
              </a:rPr>
              <a:t>▪  </a:t>
            </a:r>
            <a:r>
              <a:rPr sz="1500">
                <a:solidFill>
                  <a:srgbClr val="13294B"/>
                </a:solidFill>
                <a:latin typeface="Calibri"/>
              </a:rPr>
              <a:t>SLM strategy, provider abstraction &amp; model registry</a:t>
            </a:r>
          </a:p>
          <a:p>
            <a:pPr algn="l">
              <a:spcAft>
                <a:spcPts val="1200"/>
              </a:spcAft>
            </a:pPr>
            <a:r>
              <a:rPr sz="1500" b="1">
                <a:solidFill>
                  <a:srgbClr val="2E75B6"/>
                </a:solidFill>
                <a:latin typeface="Calibri"/>
              </a:rPr>
              <a:t>▪  </a:t>
            </a:r>
            <a:r>
              <a:rPr sz="1500">
                <a:solidFill>
                  <a:srgbClr val="13294B"/>
                </a:solidFill>
                <a:latin typeface="Calibri"/>
              </a:rPr>
              <a:t>Generation params, structured output, streaming, fallback</a:t>
            </a:r>
          </a:p>
          <a:p>
            <a:pPr algn="l">
              <a:spcAft>
                <a:spcPts val="1200"/>
              </a:spcAft>
            </a:pPr>
            <a:r>
              <a:rPr sz="1500" b="1">
                <a:solidFill>
                  <a:srgbClr val="2E75B6"/>
                </a:solidFill>
                <a:latin typeface="Calibri"/>
              </a:rPr>
              <a:t>▪  </a:t>
            </a:r>
            <a:r>
              <a:rPr sz="1500">
                <a:solidFill>
                  <a:srgbClr val="13294B"/>
                </a:solidFill>
                <a:latin typeface="Calibri"/>
              </a:rPr>
              <a:t>RAG — scope, ingestion, retrieval, citation</a:t>
            </a:r>
          </a:p>
          <a:p>
            <a:pPr algn="l">
              <a:spcAft>
                <a:spcPts val="1200"/>
              </a:spcAft>
            </a:pPr>
            <a:r>
              <a:rPr sz="1500" b="1">
                <a:solidFill>
                  <a:srgbClr val="2E75B6"/>
                </a:solidFill>
                <a:latin typeface="Calibri"/>
              </a:rPr>
              <a:t>▪  </a:t>
            </a:r>
            <a:r>
              <a:rPr sz="1500">
                <a:solidFill>
                  <a:srgbClr val="13294B"/>
                </a:solidFill>
                <a:latin typeface="Calibri"/>
              </a:rPr>
              <a:t>Embedding model &amp; vector store (Proposed)</a:t>
            </a:r>
          </a:p>
          <a:p>
            <a:pPr algn="l">
              <a:spcAft>
                <a:spcPts val="1200"/>
              </a:spcAft>
            </a:pPr>
            <a:r>
              <a:rPr sz="1500" b="1">
                <a:solidFill>
                  <a:srgbClr val="2E75B6"/>
                </a:solidFill>
                <a:latin typeface="Calibri"/>
              </a:rPr>
              <a:t>▪  </a:t>
            </a:r>
            <a:r>
              <a:rPr sz="1500">
                <a:solidFill>
                  <a:srgbClr val="13294B"/>
                </a:solidFill>
                <a:latin typeface="Calibri"/>
              </a:rPr>
              <a:t>Context engineering &amp; the quality-gated refinement loop (Proposed)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2</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D3-01 / D3-02</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AI capability taxonomy &amp; style</a:t>
            </a:r>
          </a:p>
        </p:txBody>
      </p:sp>
      <p:sp>
        <p:nvSpPr>
          <p:cNvPr id="11" name="TextBox 10"/>
          <p:cNvSpPr txBox="1"/>
          <p:nvPr/>
        </p:nvSpPr>
        <p:spPr>
          <a:xfrm>
            <a:off x="1874519" y="1691640"/>
            <a:ext cx="4846320" cy="365760"/>
          </a:xfrm>
          <a:prstGeom prst="rect">
            <a:avLst/>
          </a:prstGeom>
          <a:noFill/>
        </p:spPr>
        <p:txBody>
          <a:bodyPr wrap="square" anchor="t" lIns="0" rIns="0" tIns="0" bIns="0">
            <a:spAutoFit/>
          </a:bodyPr>
          <a:lstStyle/>
          <a:p>
            <a:pPr algn="l"/>
            <a:r>
              <a:rPr sz="1500" b="1" i="0">
                <a:solidFill>
                  <a:srgbClr val="2E75B6"/>
                </a:solidFill>
                <a:latin typeface="Calibri"/>
              </a:rPr>
              <a:t>Capabilities</a:t>
            </a:r>
          </a:p>
        </p:txBody>
      </p:sp>
      <p:sp>
        <p:nvSpPr>
          <p:cNvPr id="12" name="TextBox 11"/>
          <p:cNvSpPr txBox="1"/>
          <p:nvPr/>
        </p:nvSpPr>
        <p:spPr>
          <a:xfrm>
            <a:off x="1874519" y="2148840"/>
            <a:ext cx="4846320" cy="4206240"/>
          </a:xfrm>
          <a:prstGeom prst="rect">
            <a:avLst/>
          </a:prstGeom>
          <a:noFill/>
        </p:spPr>
        <p:txBody>
          <a:bodyPr wrap="square" lIns="0" tIns="0">
            <a:spAutoFit/>
          </a:bodyPr>
          <a:lstStyle/>
          <a:p>
            <a:pPr algn="l">
              <a:spcAft>
                <a:spcPts val="900"/>
              </a:spcAft>
            </a:pPr>
            <a:r>
              <a:rPr sz="1400" b="1">
                <a:solidFill>
                  <a:srgbClr val="2E75B6"/>
                </a:solidFill>
                <a:latin typeface="Calibri"/>
              </a:rPr>
              <a:t>▪  </a:t>
            </a:r>
            <a:r>
              <a:rPr sz="1400">
                <a:solidFill>
                  <a:srgbClr val="13294B"/>
                </a:solidFill>
                <a:latin typeface="Calibri"/>
              </a:rPr>
              <a:t>Reasoning/orchestration, prompt engineering, RAG, embeddings/vector, SLM inference, guardrails.</a:t>
            </a:r>
          </a:p>
          <a:p>
            <a:pPr algn="l">
              <a:spcAft>
                <a:spcPts val="900"/>
              </a:spcAft>
            </a:pPr>
            <a:r>
              <a:rPr sz="1400" b="1">
                <a:solidFill>
                  <a:srgbClr val="2E75B6"/>
                </a:solidFill>
                <a:latin typeface="Calibri"/>
              </a:rPr>
              <a:t>▪  </a:t>
            </a:r>
            <a:r>
              <a:rPr sz="1400">
                <a:solidFill>
                  <a:srgbClr val="13294B"/>
                </a:solidFill>
                <a:latin typeface="Calibri"/>
              </a:rPr>
              <a:t>Each is a versioned software artifact with its own config &amp; evaluation.</a:t>
            </a:r>
          </a:p>
        </p:txBody>
      </p:sp>
      <p:sp>
        <p:nvSpPr>
          <p:cNvPr id="13" name="TextBox 12"/>
          <p:cNvSpPr txBox="1"/>
          <p:nvPr/>
        </p:nvSpPr>
        <p:spPr>
          <a:xfrm>
            <a:off x="6720840" y="1691640"/>
            <a:ext cx="4846320" cy="365760"/>
          </a:xfrm>
          <a:prstGeom prst="rect">
            <a:avLst/>
          </a:prstGeom>
          <a:noFill/>
        </p:spPr>
        <p:txBody>
          <a:bodyPr wrap="square" anchor="t" lIns="0" rIns="0" tIns="0" bIns="0">
            <a:spAutoFit/>
          </a:bodyPr>
          <a:lstStyle/>
          <a:p>
            <a:pPr algn="l"/>
            <a:r>
              <a:rPr sz="1500" b="1" i="0">
                <a:solidFill>
                  <a:srgbClr val="2E75B6"/>
                </a:solidFill>
                <a:latin typeface="Calibri"/>
              </a:rPr>
              <a:t>Agentic style</a:t>
            </a:r>
          </a:p>
        </p:txBody>
      </p:sp>
      <p:sp>
        <p:nvSpPr>
          <p:cNvPr id="14" name="TextBox 13"/>
          <p:cNvSpPr txBox="1"/>
          <p:nvPr/>
        </p:nvSpPr>
        <p:spPr>
          <a:xfrm>
            <a:off x="6720840" y="2148840"/>
            <a:ext cx="4846320" cy="4206240"/>
          </a:xfrm>
          <a:prstGeom prst="rect">
            <a:avLst/>
          </a:prstGeom>
          <a:noFill/>
        </p:spPr>
        <p:txBody>
          <a:bodyPr wrap="square" lIns="0" tIns="0">
            <a:spAutoFit/>
          </a:bodyPr>
          <a:lstStyle/>
          <a:p>
            <a:pPr algn="l">
              <a:spcAft>
                <a:spcPts val="900"/>
              </a:spcAft>
            </a:pPr>
            <a:r>
              <a:rPr sz="1400" b="1">
                <a:solidFill>
                  <a:srgbClr val="2E75B6"/>
                </a:solidFill>
                <a:latin typeface="Calibri"/>
              </a:rPr>
              <a:t>▪  </a:t>
            </a:r>
            <a:r>
              <a:rPr sz="1400">
                <a:solidFill>
                  <a:srgbClr val="13294B"/>
                </a:solidFill>
                <a:latin typeface="Calibri"/>
              </a:rPr>
              <a:t>Supervisor + tool-using agents on LangGraph.</a:t>
            </a:r>
          </a:p>
          <a:p>
            <a:pPr algn="l">
              <a:spcAft>
                <a:spcPts val="900"/>
              </a:spcAft>
            </a:pPr>
            <a:r>
              <a:rPr sz="1400" b="1">
                <a:solidFill>
                  <a:srgbClr val="2E75B6"/>
                </a:solidFill>
                <a:latin typeface="Calibri"/>
              </a:rPr>
              <a:t>▪  </a:t>
            </a:r>
            <a:r>
              <a:rPr sz="1400">
                <a:solidFill>
                  <a:srgbClr val="13294B"/>
                </a:solidFill>
                <a:latin typeface="Calibri"/>
              </a:rPr>
              <a:t>Bounded, observable, deterministic-where-possible.</a:t>
            </a:r>
          </a:p>
          <a:p>
            <a:pPr algn="l">
              <a:spcAft>
                <a:spcPts val="900"/>
              </a:spcAft>
            </a:pPr>
            <a:r>
              <a:rPr sz="1400" b="1">
                <a:solidFill>
                  <a:srgbClr val="2E75B6"/>
                </a:solidFill>
                <a:latin typeface="Calibri"/>
              </a:rPr>
              <a:t>▪  </a:t>
            </a:r>
            <a:r>
              <a:rPr sz="1400">
                <a:solidFill>
                  <a:srgbClr val="13294B"/>
                </a:solidFill>
                <a:latin typeface="Calibri"/>
              </a:rPr>
              <a:t>Agents reason and call controlled tools — they never decide business outcomes.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3</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D3-03 / D3-04</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Agent contract &amp; tool-calling</a:t>
            </a:r>
          </a:p>
        </p:txBody>
      </p:sp>
      <p:sp>
        <p:nvSpPr>
          <p:cNvPr id="11" name="TextBox 10"/>
          <p:cNvSpPr txBox="1"/>
          <p:nvPr/>
        </p:nvSpPr>
        <p:spPr>
          <a:xfrm>
            <a:off x="1874519" y="1691640"/>
            <a:ext cx="4846320" cy="365760"/>
          </a:xfrm>
          <a:prstGeom prst="rect">
            <a:avLst/>
          </a:prstGeom>
          <a:noFill/>
        </p:spPr>
        <p:txBody>
          <a:bodyPr wrap="square" anchor="t" lIns="0" rIns="0" tIns="0" bIns="0">
            <a:spAutoFit/>
          </a:bodyPr>
          <a:lstStyle/>
          <a:p>
            <a:pPr algn="l"/>
            <a:r>
              <a:rPr sz="1500" b="1" i="0">
                <a:solidFill>
                  <a:srgbClr val="2E75B6"/>
                </a:solidFill>
                <a:latin typeface="Calibri"/>
              </a:rPr>
              <a:t>Agent contract &amp; lifecycle</a:t>
            </a:r>
          </a:p>
        </p:txBody>
      </p:sp>
      <p:sp>
        <p:nvSpPr>
          <p:cNvPr id="12" name="TextBox 11"/>
          <p:cNvSpPr txBox="1"/>
          <p:nvPr/>
        </p:nvSpPr>
        <p:spPr>
          <a:xfrm>
            <a:off x="1874519" y="2148840"/>
            <a:ext cx="4846320" cy="4206240"/>
          </a:xfrm>
          <a:prstGeom prst="rect">
            <a:avLst/>
          </a:prstGeom>
          <a:noFill/>
        </p:spPr>
        <p:txBody>
          <a:bodyPr wrap="square" lIns="0" tIns="0">
            <a:spAutoFit/>
          </a:bodyPr>
          <a:lstStyle/>
          <a:p>
            <a:pPr algn="l">
              <a:spcAft>
                <a:spcPts val="900"/>
              </a:spcAft>
            </a:pPr>
            <a:r>
              <a:rPr sz="1400" b="1">
                <a:solidFill>
                  <a:srgbClr val="2E75B6"/>
                </a:solidFill>
                <a:latin typeface="Calibri"/>
              </a:rPr>
              <a:t>▪  </a:t>
            </a:r>
            <a:r>
              <a:rPr sz="1400">
                <a:solidFill>
                  <a:srgbClr val="13294B"/>
                </a:solidFill>
                <a:latin typeface="Calibri"/>
              </a:rPr>
              <a:t>Typed inputs/outputs; declared tools, prompts, guardrails.</a:t>
            </a:r>
          </a:p>
          <a:p>
            <a:pPr algn="l">
              <a:spcAft>
                <a:spcPts val="900"/>
              </a:spcAft>
            </a:pPr>
            <a:r>
              <a:rPr sz="1400" b="1">
                <a:solidFill>
                  <a:srgbClr val="2E75B6"/>
                </a:solidFill>
                <a:latin typeface="Calibri"/>
              </a:rPr>
              <a:t>▪  </a:t>
            </a:r>
            <a:r>
              <a:rPr sz="1400">
                <a:solidFill>
                  <a:srgbClr val="13294B"/>
                </a:solidFill>
                <a:latin typeface="Calibri"/>
              </a:rPr>
              <a:t>Lifecycle: init → plan → act (tools) → validate → respond.</a:t>
            </a:r>
          </a:p>
          <a:p>
            <a:pPr algn="l">
              <a:spcAft>
                <a:spcPts val="900"/>
              </a:spcAft>
            </a:pPr>
            <a:r>
              <a:rPr sz="1400" b="1">
                <a:solidFill>
                  <a:srgbClr val="2E75B6"/>
                </a:solidFill>
                <a:latin typeface="Calibri"/>
              </a:rPr>
              <a:t>▪  </a:t>
            </a:r>
            <a:r>
              <a:rPr sz="1400">
                <a:solidFill>
                  <a:srgbClr val="13294B"/>
                </a:solidFill>
                <a:latin typeface="Calibri"/>
              </a:rPr>
              <a:t>Versioned and independently evaluable.</a:t>
            </a:r>
          </a:p>
        </p:txBody>
      </p:sp>
      <p:sp>
        <p:nvSpPr>
          <p:cNvPr id="13" name="TextBox 12"/>
          <p:cNvSpPr txBox="1"/>
          <p:nvPr/>
        </p:nvSpPr>
        <p:spPr>
          <a:xfrm>
            <a:off x="6720840" y="1691640"/>
            <a:ext cx="4846320" cy="365760"/>
          </a:xfrm>
          <a:prstGeom prst="rect">
            <a:avLst/>
          </a:prstGeom>
          <a:noFill/>
        </p:spPr>
        <p:txBody>
          <a:bodyPr wrap="square" anchor="t" lIns="0" rIns="0" tIns="0" bIns="0">
            <a:spAutoFit/>
          </a:bodyPr>
          <a:lstStyle/>
          <a:p>
            <a:pPr algn="l"/>
            <a:r>
              <a:rPr sz="1500" b="1" i="0">
                <a:solidFill>
                  <a:srgbClr val="2E75B6"/>
                </a:solidFill>
                <a:latin typeface="Calibri"/>
              </a:rPr>
              <a:t>Tool-calling &amp; validation</a:t>
            </a:r>
          </a:p>
        </p:txBody>
      </p:sp>
      <p:sp>
        <p:nvSpPr>
          <p:cNvPr id="14" name="TextBox 13"/>
          <p:cNvSpPr txBox="1"/>
          <p:nvPr/>
        </p:nvSpPr>
        <p:spPr>
          <a:xfrm>
            <a:off x="6720840" y="2148840"/>
            <a:ext cx="4846320" cy="4206240"/>
          </a:xfrm>
          <a:prstGeom prst="rect">
            <a:avLst/>
          </a:prstGeom>
          <a:noFill/>
        </p:spPr>
        <p:txBody>
          <a:bodyPr wrap="square" lIns="0" tIns="0">
            <a:spAutoFit/>
          </a:bodyPr>
          <a:lstStyle/>
          <a:p>
            <a:pPr algn="l">
              <a:spcAft>
                <a:spcPts val="900"/>
              </a:spcAft>
            </a:pPr>
            <a:r>
              <a:rPr sz="1400" b="1">
                <a:solidFill>
                  <a:srgbClr val="2E75B6"/>
                </a:solidFill>
                <a:latin typeface="Calibri"/>
              </a:rPr>
              <a:t>▪  </a:t>
            </a:r>
            <a:r>
              <a:rPr sz="1400">
                <a:solidFill>
                  <a:srgbClr val="13294B"/>
                </a:solidFill>
                <a:latin typeface="Calibri"/>
              </a:rPr>
              <a:t>Tools are allow-listed per agent; parameters validated (Pydantic).</a:t>
            </a:r>
          </a:p>
          <a:p>
            <a:pPr algn="l">
              <a:spcAft>
                <a:spcPts val="900"/>
              </a:spcAft>
            </a:pPr>
            <a:r>
              <a:rPr sz="1400" b="1">
                <a:solidFill>
                  <a:srgbClr val="2E75B6"/>
                </a:solidFill>
                <a:latin typeface="Calibri"/>
              </a:rPr>
              <a:t>▪  </a:t>
            </a:r>
            <a:r>
              <a:rPr sz="1400">
                <a:solidFill>
                  <a:srgbClr val="13294B"/>
                </a:solidFill>
                <a:latin typeface="Calibri"/>
              </a:rPr>
              <a:t>Outputs validated before use; failures are typed (ToolError).</a:t>
            </a:r>
          </a:p>
          <a:p>
            <a:pPr algn="l">
              <a:spcAft>
                <a:spcPts val="900"/>
              </a:spcAft>
            </a:pPr>
            <a:r>
              <a:rPr sz="1400" b="1">
                <a:solidFill>
                  <a:srgbClr val="2E75B6"/>
                </a:solidFill>
                <a:latin typeface="Calibri"/>
              </a:rPr>
              <a:t>▪  </a:t>
            </a:r>
            <a:r>
              <a:rPr sz="1400">
                <a:solidFill>
                  <a:srgbClr val="13294B"/>
                </a:solidFill>
                <a:latin typeface="Calibri"/>
              </a:rPr>
              <a:t>No tool result is trusted as authority without enterprise confirmation.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4</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D3-05 / D3-06</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Intent classification &amp; routing</a:t>
            </a:r>
          </a:p>
        </p:txBody>
      </p:sp>
      <p:sp>
        <p:nvSpPr>
          <p:cNvPr id="11" name="TextBox 10"/>
          <p:cNvSpPr txBox="1"/>
          <p:nvPr/>
        </p:nvSpPr>
        <p:spPr>
          <a:xfrm>
            <a:off x="1874519" y="1691640"/>
            <a:ext cx="4846320" cy="365760"/>
          </a:xfrm>
          <a:prstGeom prst="rect">
            <a:avLst/>
          </a:prstGeom>
          <a:noFill/>
        </p:spPr>
        <p:txBody>
          <a:bodyPr wrap="square" anchor="t" lIns="0" rIns="0" tIns="0" bIns="0">
            <a:spAutoFit/>
          </a:bodyPr>
          <a:lstStyle/>
          <a:p>
            <a:pPr algn="l"/>
            <a:r>
              <a:rPr sz="1500" b="1" i="0">
                <a:solidFill>
                  <a:srgbClr val="2E75B6"/>
                </a:solidFill>
                <a:latin typeface="Calibri"/>
              </a:rPr>
              <a:t>Classification</a:t>
            </a:r>
          </a:p>
        </p:txBody>
      </p:sp>
      <p:sp>
        <p:nvSpPr>
          <p:cNvPr id="12" name="TextBox 11"/>
          <p:cNvSpPr txBox="1"/>
          <p:nvPr/>
        </p:nvSpPr>
        <p:spPr>
          <a:xfrm>
            <a:off x="1874519" y="2148840"/>
            <a:ext cx="4846320" cy="4206240"/>
          </a:xfrm>
          <a:prstGeom prst="rect">
            <a:avLst/>
          </a:prstGeom>
          <a:noFill/>
        </p:spPr>
        <p:txBody>
          <a:bodyPr wrap="square" lIns="0" tIns="0">
            <a:spAutoFit/>
          </a:bodyPr>
          <a:lstStyle/>
          <a:p>
            <a:pPr algn="l">
              <a:spcAft>
                <a:spcPts val="900"/>
              </a:spcAft>
            </a:pPr>
            <a:r>
              <a:rPr sz="1400" b="1">
                <a:solidFill>
                  <a:srgbClr val="2E75B6"/>
                </a:solidFill>
                <a:latin typeface="Calibri"/>
              </a:rPr>
              <a:t>▪  </a:t>
            </a:r>
            <a:r>
              <a:rPr sz="1400">
                <a:solidFill>
                  <a:srgbClr val="13294B"/>
                </a:solidFill>
                <a:latin typeface="Calibri"/>
              </a:rPr>
              <a:t>Intent classification selects the candidate agent/workflow.</a:t>
            </a:r>
          </a:p>
          <a:p>
            <a:pPr algn="l">
              <a:spcAft>
                <a:spcPts val="900"/>
              </a:spcAft>
            </a:pPr>
            <a:r>
              <a:rPr sz="1400" b="1">
                <a:solidFill>
                  <a:srgbClr val="2E75B6"/>
                </a:solidFill>
                <a:latin typeface="Calibri"/>
              </a:rPr>
              <a:t>▪  </a:t>
            </a:r>
            <a:r>
              <a:rPr sz="1400">
                <a:solidFill>
                  <a:srgbClr val="13294B"/>
                </a:solidFill>
                <a:latin typeface="Calibri"/>
              </a:rPr>
              <a:t>Confidence-aware; ambiguous intent triggers clarification, not a guess.</a:t>
            </a:r>
          </a:p>
        </p:txBody>
      </p:sp>
      <p:sp>
        <p:nvSpPr>
          <p:cNvPr id="13" name="TextBox 12"/>
          <p:cNvSpPr txBox="1"/>
          <p:nvPr/>
        </p:nvSpPr>
        <p:spPr>
          <a:xfrm>
            <a:off x="6720840" y="1691640"/>
            <a:ext cx="4846320" cy="365760"/>
          </a:xfrm>
          <a:prstGeom prst="rect">
            <a:avLst/>
          </a:prstGeom>
          <a:noFill/>
        </p:spPr>
        <p:txBody>
          <a:bodyPr wrap="square" anchor="t" lIns="0" rIns="0" tIns="0" bIns="0">
            <a:spAutoFit/>
          </a:bodyPr>
          <a:lstStyle/>
          <a:p>
            <a:pPr algn="l"/>
            <a:r>
              <a:rPr sz="1500" b="1" i="0">
                <a:solidFill>
                  <a:srgbClr val="2E75B6"/>
                </a:solidFill>
                <a:latin typeface="Calibri"/>
              </a:rPr>
              <a:t>Deterministic vs model-decided</a:t>
            </a:r>
          </a:p>
        </p:txBody>
      </p:sp>
      <p:sp>
        <p:nvSpPr>
          <p:cNvPr id="14" name="TextBox 13"/>
          <p:cNvSpPr txBox="1"/>
          <p:nvPr/>
        </p:nvSpPr>
        <p:spPr>
          <a:xfrm>
            <a:off x="6720840" y="2148840"/>
            <a:ext cx="4846320" cy="4206240"/>
          </a:xfrm>
          <a:prstGeom prst="rect">
            <a:avLst/>
          </a:prstGeom>
          <a:noFill/>
        </p:spPr>
        <p:txBody>
          <a:bodyPr wrap="square" lIns="0" tIns="0">
            <a:spAutoFit/>
          </a:bodyPr>
          <a:lstStyle/>
          <a:p>
            <a:pPr algn="l">
              <a:spcAft>
                <a:spcPts val="900"/>
              </a:spcAft>
            </a:pPr>
            <a:r>
              <a:rPr sz="1400" b="1">
                <a:solidFill>
                  <a:srgbClr val="2E75B6"/>
                </a:solidFill>
                <a:latin typeface="Calibri"/>
              </a:rPr>
              <a:t>▪  </a:t>
            </a:r>
            <a:r>
              <a:rPr sz="1400">
                <a:solidFill>
                  <a:srgbClr val="13294B"/>
                </a:solidFill>
                <a:latin typeface="Calibri"/>
              </a:rPr>
              <a:t>Prefer deterministic routing where rules suffice.</a:t>
            </a:r>
          </a:p>
          <a:p>
            <a:pPr algn="l">
              <a:spcAft>
                <a:spcPts val="900"/>
              </a:spcAft>
            </a:pPr>
            <a:r>
              <a:rPr sz="1400" b="1">
                <a:solidFill>
                  <a:srgbClr val="2E75B6"/>
                </a:solidFill>
                <a:latin typeface="Calibri"/>
              </a:rPr>
              <a:t>▪  </a:t>
            </a:r>
            <a:r>
              <a:rPr sz="1400">
                <a:solidFill>
                  <a:srgbClr val="13294B"/>
                </a:solidFill>
                <a:latin typeface="Calibri"/>
              </a:rPr>
              <a:t>Model-decided routing only where justified and bounded.</a:t>
            </a:r>
          </a:p>
          <a:p>
            <a:pPr algn="l">
              <a:spcAft>
                <a:spcPts val="900"/>
              </a:spcAft>
            </a:pPr>
            <a:r>
              <a:rPr sz="1400" b="1">
                <a:solidFill>
                  <a:srgbClr val="2E75B6"/>
                </a:solidFill>
                <a:latin typeface="Calibri"/>
              </a:rPr>
              <a:t>▪  </a:t>
            </a:r>
            <a:r>
              <a:rPr sz="1400">
                <a:solidFill>
                  <a:srgbClr val="13294B"/>
                </a:solidFill>
                <a:latin typeface="Calibri"/>
              </a:rPr>
              <a:t>Routing is observable and loop-limited.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5</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D3-07 / D3-08</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Clarify, confirm &amp; handle uncertainty</a:t>
            </a:r>
          </a:p>
        </p:txBody>
      </p:sp>
      <p:sp>
        <p:nvSpPr>
          <p:cNvPr id="11" name="TextBox 10"/>
          <p:cNvSpPr txBox="1"/>
          <p:nvPr/>
        </p:nvSpPr>
        <p:spPr>
          <a:xfrm>
            <a:off x="1874519" y="1783080"/>
            <a:ext cx="9921240" cy="3657600"/>
          </a:xfrm>
          <a:prstGeom prst="rect">
            <a:avLst/>
          </a:prstGeom>
          <a:noFill/>
        </p:spPr>
        <p:txBody>
          <a:bodyPr wrap="square" lIns="0" tIns="0">
            <a:spAutoFit/>
          </a:bodyPr>
          <a:lstStyle/>
          <a:p>
            <a:pPr algn="l">
              <a:spcAft>
                <a:spcPts val="1500"/>
              </a:spcAft>
            </a:pPr>
            <a:r>
              <a:rPr sz="1600" b="1">
                <a:solidFill>
                  <a:srgbClr val="2E75B6"/>
                </a:solidFill>
                <a:latin typeface="Calibri"/>
              </a:rPr>
              <a:t>▪  </a:t>
            </a:r>
            <a:r>
              <a:rPr sz="1600">
                <a:solidFill>
                  <a:srgbClr val="13294B"/>
                </a:solidFill>
                <a:latin typeface="Calibri"/>
              </a:rPr>
              <a:t>Ambiguous or incomplete requests → Adam asks a clarifying question rather than guessing.</a:t>
            </a:r>
          </a:p>
          <a:p>
            <a:pPr algn="l">
              <a:spcAft>
                <a:spcPts val="1500"/>
              </a:spcAft>
            </a:pPr>
            <a:r>
              <a:rPr sz="1600" b="1">
                <a:solidFill>
                  <a:srgbClr val="2E75B6"/>
                </a:solidFill>
                <a:latin typeface="Calibri"/>
              </a:rPr>
              <a:t>▪  </a:t>
            </a:r>
            <a:r>
              <a:rPr sz="1600">
                <a:solidFill>
                  <a:srgbClr val="13294B"/>
                </a:solidFill>
                <a:latin typeface="Calibri"/>
              </a:rPr>
              <a:t>Before any state-changing action → explicit confirmation (HIL).</a:t>
            </a:r>
          </a:p>
          <a:p>
            <a:pPr algn="l">
              <a:spcAft>
                <a:spcPts val="1500"/>
              </a:spcAft>
            </a:pPr>
            <a:r>
              <a:rPr sz="1600" b="1">
                <a:solidFill>
                  <a:srgbClr val="2E75B6"/>
                </a:solidFill>
                <a:latin typeface="Calibri"/>
              </a:rPr>
              <a:t>▪  </a:t>
            </a:r>
            <a:r>
              <a:rPr sz="1600">
                <a:solidFill>
                  <a:srgbClr val="13294B"/>
                </a:solidFill>
                <a:latin typeface="Calibri"/>
              </a:rPr>
              <a:t>Transaction-uncertainty policy: on a failed/ambiguous outcome Adam never silently guesses — it states the uncertainty, and reconciliation (deck 02) resolves the true state.</a:t>
            </a:r>
          </a:p>
          <a:p>
            <a:pPr algn="l">
              <a:spcAft>
                <a:spcPts val="1500"/>
              </a:spcAft>
            </a:pPr>
            <a:r>
              <a:rPr sz="1600" b="1">
                <a:solidFill>
                  <a:srgbClr val="2E75B6"/>
                </a:solidFill>
                <a:latin typeface="Calibri"/>
              </a:rPr>
              <a:t>▪  </a:t>
            </a:r>
            <a:r>
              <a:rPr sz="1600">
                <a:solidFill>
                  <a:srgbClr val="13294B"/>
                </a:solidFill>
                <a:latin typeface="Calibri"/>
              </a:rPr>
              <a:t>Never celebrate an unconfirmed transaction — 'GOAL' only after the enterprise confirms.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6</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D3-09 / D3-10</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Prompt engineering — layered composition</a:t>
            </a:r>
          </a:p>
        </p:txBody>
      </p:sp>
      <p:sp>
        <p:nvSpPr>
          <p:cNvPr id="11" name="Rounded Rectangle 10"/>
          <p:cNvSpPr/>
          <p:nvPr/>
        </p:nvSpPr>
        <p:spPr>
          <a:xfrm>
            <a:off x="1874519" y="1783080"/>
            <a:ext cx="6675120" cy="566928"/>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19" y="1783080"/>
            <a:ext cx="91440" cy="566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1837943"/>
            <a:ext cx="1920240" cy="457200"/>
          </a:xfrm>
          <a:prstGeom prst="rect">
            <a:avLst/>
          </a:prstGeom>
          <a:noFill/>
        </p:spPr>
        <p:txBody>
          <a:bodyPr wrap="square" anchor="t" lIns="0" rIns="0" tIns="0" bIns="0">
            <a:spAutoFit/>
          </a:bodyPr>
          <a:lstStyle/>
          <a:p>
            <a:pPr algn="l"/>
            <a:r>
              <a:rPr sz="1350" b="1" i="0">
                <a:solidFill>
                  <a:srgbClr val="13294B"/>
                </a:solidFill>
                <a:latin typeface="Cambria"/>
              </a:rPr>
              <a:t>System</a:t>
            </a:r>
          </a:p>
        </p:txBody>
      </p:sp>
      <p:sp>
        <p:nvSpPr>
          <p:cNvPr id="14" name="TextBox 13"/>
          <p:cNvSpPr txBox="1"/>
          <p:nvPr/>
        </p:nvSpPr>
        <p:spPr>
          <a:xfrm>
            <a:off x="4069079" y="1865376"/>
            <a:ext cx="4297679" cy="457200"/>
          </a:xfrm>
          <a:prstGeom prst="rect">
            <a:avLst/>
          </a:prstGeom>
          <a:noFill/>
        </p:spPr>
        <p:txBody>
          <a:bodyPr wrap="square" anchor="t" lIns="0" rIns="0" tIns="0" bIns="0">
            <a:spAutoFit/>
          </a:bodyPr>
          <a:lstStyle/>
          <a:p>
            <a:pPr algn="l"/>
            <a:r>
              <a:rPr sz="1100" b="0" i="0">
                <a:solidFill>
                  <a:srgbClr val="5C6B7A"/>
                </a:solidFill>
                <a:latin typeface="Calibri"/>
              </a:rPr>
              <a:t>platform rules, non-negotiable</a:t>
            </a:r>
          </a:p>
        </p:txBody>
      </p:sp>
      <p:sp>
        <p:nvSpPr>
          <p:cNvPr id="15" name="Rounded Rectangle 14"/>
          <p:cNvSpPr/>
          <p:nvPr/>
        </p:nvSpPr>
        <p:spPr>
          <a:xfrm>
            <a:off x="1874519" y="2441448"/>
            <a:ext cx="6675120" cy="566928"/>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74519" y="2441448"/>
            <a:ext cx="91440" cy="566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03120" y="2496312"/>
            <a:ext cx="1920240" cy="457200"/>
          </a:xfrm>
          <a:prstGeom prst="rect">
            <a:avLst/>
          </a:prstGeom>
          <a:noFill/>
        </p:spPr>
        <p:txBody>
          <a:bodyPr wrap="square" anchor="t" lIns="0" rIns="0" tIns="0" bIns="0">
            <a:spAutoFit/>
          </a:bodyPr>
          <a:lstStyle/>
          <a:p>
            <a:pPr algn="l"/>
            <a:r>
              <a:rPr sz="1350" b="1" i="0">
                <a:solidFill>
                  <a:srgbClr val="13294B"/>
                </a:solidFill>
                <a:latin typeface="Cambria"/>
              </a:rPr>
              <a:t>Security</a:t>
            </a:r>
          </a:p>
        </p:txBody>
      </p:sp>
      <p:sp>
        <p:nvSpPr>
          <p:cNvPr id="18" name="TextBox 17"/>
          <p:cNvSpPr txBox="1"/>
          <p:nvPr/>
        </p:nvSpPr>
        <p:spPr>
          <a:xfrm>
            <a:off x="4069079" y="2523744"/>
            <a:ext cx="4297679" cy="457200"/>
          </a:xfrm>
          <a:prstGeom prst="rect">
            <a:avLst/>
          </a:prstGeom>
          <a:noFill/>
        </p:spPr>
        <p:txBody>
          <a:bodyPr wrap="square" anchor="t" lIns="0" rIns="0" tIns="0" bIns="0">
            <a:spAutoFit/>
          </a:bodyPr>
          <a:lstStyle/>
          <a:p>
            <a:pPr algn="l"/>
            <a:r>
              <a:rPr sz="1100" b="0" i="0">
                <a:solidFill>
                  <a:srgbClr val="5C6B7A"/>
                </a:solidFill>
                <a:latin typeface="Calibri"/>
              </a:rPr>
              <a:t>injection defence, allow/deny</a:t>
            </a:r>
          </a:p>
        </p:txBody>
      </p:sp>
      <p:sp>
        <p:nvSpPr>
          <p:cNvPr id="19" name="Rounded Rectangle 18"/>
          <p:cNvSpPr/>
          <p:nvPr/>
        </p:nvSpPr>
        <p:spPr>
          <a:xfrm>
            <a:off x="1874519" y="3099815"/>
            <a:ext cx="6675120" cy="566928"/>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74519" y="3099815"/>
            <a:ext cx="91440" cy="566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03120" y="3154679"/>
            <a:ext cx="1920240" cy="457200"/>
          </a:xfrm>
          <a:prstGeom prst="rect">
            <a:avLst/>
          </a:prstGeom>
          <a:noFill/>
        </p:spPr>
        <p:txBody>
          <a:bodyPr wrap="square" anchor="t" lIns="0" rIns="0" tIns="0" bIns="0">
            <a:spAutoFit/>
          </a:bodyPr>
          <a:lstStyle/>
          <a:p>
            <a:pPr algn="l"/>
            <a:r>
              <a:rPr sz="1350" b="1" i="0">
                <a:solidFill>
                  <a:srgbClr val="13294B"/>
                </a:solidFill>
                <a:latin typeface="Cambria"/>
              </a:rPr>
              <a:t>Persona</a:t>
            </a:r>
          </a:p>
        </p:txBody>
      </p:sp>
      <p:sp>
        <p:nvSpPr>
          <p:cNvPr id="22" name="TextBox 21"/>
          <p:cNvSpPr txBox="1"/>
          <p:nvPr/>
        </p:nvSpPr>
        <p:spPr>
          <a:xfrm>
            <a:off x="4069079" y="3182111"/>
            <a:ext cx="4297679" cy="457200"/>
          </a:xfrm>
          <a:prstGeom prst="rect">
            <a:avLst/>
          </a:prstGeom>
          <a:noFill/>
        </p:spPr>
        <p:txBody>
          <a:bodyPr wrap="square" anchor="t" lIns="0" rIns="0" tIns="0" bIns="0">
            <a:spAutoFit/>
          </a:bodyPr>
          <a:lstStyle/>
          <a:p>
            <a:pPr algn="l"/>
            <a:r>
              <a:rPr sz="1100" b="0" i="0">
                <a:solidFill>
                  <a:srgbClr val="5C6B7A"/>
                </a:solidFill>
                <a:latin typeface="Calibri"/>
              </a:rPr>
              <a:t>Adam — versioned, reusable</a:t>
            </a:r>
          </a:p>
        </p:txBody>
      </p:sp>
      <p:sp>
        <p:nvSpPr>
          <p:cNvPr id="23" name="Rounded Rectangle 22"/>
          <p:cNvSpPr/>
          <p:nvPr/>
        </p:nvSpPr>
        <p:spPr>
          <a:xfrm>
            <a:off x="1874519" y="3758183"/>
            <a:ext cx="6675120" cy="566928"/>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74519" y="3758183"/>
            <a:ext cx="91440" cy="566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03120" y="3813047"/>
            <a:ext cx="1920240" cy="457200"/>
          </a:xfrm>
          <a:prstGeom prst="rect">
            <a:avLst/>
          </a:prstGeom>
          <a:noFill/>
        </p:spPr>
        <p:txBody>
          <a:bodyPr wrap="square" anchor="t" lIns="0" rIns="0" tIns="0" bIns="0">
            <a:spAutoFit/>
          </a:bodyPr>
          <a:lstStyle/>
          <a:p>
            <a:pPr algn="l"/>
            <a:r>
              <a:rPr sz="1350" b="1" i="0">
                <a:solidFill>
                  <a:srgbClr val="13294B"/>
                </a:solidFill>
                <a:latin typeface="Cambria"/>
              </a:rPr>
              <a:t>Task</a:t>
            </a:r>
          </a:p>
        </p:txBody>
      </p:sp>
      <p:sp>
        <p:nvSpPr>
          <p:cNvPr id="26" name="TextBox 25"/>
          <p:cNvSpPr txBox="1"/>
          <p:nvPr/>
        </p:nvSpPr>
        <p:spPr>
          <a:xfrm>
            <a:off x="4069079" y="3840479"/>
            <a:ext cx="4297679" cy="457200"/>
          </a:xfrm>
          <a:prstGeom prst="rect">
            <a:avLst/>
          </a:prstGeom>
          <a:noFill/>
        </p:spPr>
        <p:txBody>
          <a:bodyPr wrap="square" anchor="t" lIns="0" rIns="0" tIns="0" bIns="0">
            <a:spAutoFit/>
          </a:bodyPr>
          <a:lstStyle/>
          <a:p>
            <a:pPr algn="l"/>
            <a:r>
              <a:rPr sz="1100" b="0" i="0">
                <a:solidFill>
                  <a:srgbClr val="5C6B7A"/>
                </a:solidFill>
                <a:latin typeface="Calibri"/>
              </a:rPr>
              <a:t>workflow objective &amp; steps</a:t>
            </a:r>
          </a:p>
        </p:txBody>
      </p:sp>
      <p:sp>
        <p:nvSpPr>
          <p:cNvPr id="27" name="Rounded Rectangle 26"/>
          <p:cNvSpPr/>
          <p:nvPr/>
        </p:nvSpPr>
        <p:spPr>
          <a:xfrm>
            <a:off x="1874519" y="4416551"/>
            <a:ext cx="6675120" cy="566928"/>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874519" y="4416551"/>
            <a:ext cx="91440" cy="566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03120" y="4471415"/>
            <a:ext cx="1920240" cy="457200"/>
          </a:xfrm>
          <a:prstGeom prst="rect">
            <a:avLst/>
          </a:prstGeom>
          <a:noFill/>
        </p:spPr>
        <p:txBody>
          <a:bodyPr wrap="square" anchor="t" lIns="0" rIns="0" tIns="0" bIns="0">
            <a:spAutoFit/>
          </a:bodyPr>
          <a:lstStyle/>
          <a:p>
            <a:pPr algn="l"/>
            <a:r>
              <a:rPr sz="1350" b="1" i="0">
                <a:solidFill>
                  <a:srgbClr val="13294B"/>
                </a:solidFill>
                <a:latin typeface="Cambria"/>
              </a:rPr>
              <a:t>Context</a:t>
            </a:r>
          </a:p>
        </p:txBody>
      </p:sp>
      <p:sp>
        <p:nvSpPr>
          <p:cNvPr id="30" name="TextBox 29"/>
          <p:cNvSpPr txBox="1"/>
          <p:nvPr/>
        </p:nvSpPr>
        <p:spPr>
          <a:xfrm>
            <a:off x="4069079" y="4498847"/>
            <a:ext cx="4297679" cy="457200"/>
          </a:xfrm>
          <a:prstGeom prst="rect">
            <a:avLst/>
          </a:prstGeom>
          <a:noFill/>
        </p:spPr>
        <p:txBody>
          <a:bodyPr wrap="square" anchor="t" lIns="0" rIns="0" tIns="0" bIns="0">
            <a:spAutoFit/>
          </a:bodyPr>
          <a:lstStyle/>
          <a:p>
            <a:pPr algn="l"/>
            <a:r>
              <a:rPr sz="1100" b="0" i="0">
                <a:solidFill>
                  <a:srgbClr val="5C6B7A"/>
                </a:solidFill>
                <a:latin typeface="Calibri"/>
              </a:rPr>
              <a:t>ERC · RAG · state (budgeted)</a:t>
            </a:r>
          </a:p>
        </p:txBody>
      </p:sp>
      <p:sp>
        <p:nvSpPr>
          <p:cNvPr id="31" name="Rounded Rectangle 30"/>
          <p:cNvSpPr/>
          <p:nvPr/>
        </p:nvSpPr>
        <p:spPr>
          <a:xfrm>
            <a:off x="1874519" y="5074919"/>
            <a:ext cx="6675120" cy="566928"/>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874519" y="5074919"/>
            <a:ext cx="91440" cy="566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03120" y="5129783"/>
            <a:ext cx="1920240" cy="457200"/>
          </a:xfrm>
          <a:prstGeom prst="rect">
            <a:avLst/>
          </a:prstGeom>
          <a:noFill/>
        </p:spPr>
        <p:txBody>
          <a:bodyPr wrap="square" anchor="t" lIns="0" rIns="0" tIns="0" bIns="0">
            <a:spAutoFit/>
          </a:bodyPr>
          <a:lstStyle/>
          <a:p>
            <a:pPr algn="l"/>
            <a:r>
              <a:rPr sz="1350" b="1" i="0">
                <a:solidFill>
                  <a:srgbClr val="13294B"/>
                </a:solidFill>
                <a:latin typeface="Cambria"/>
              </a:rPr>
              <a:t>Tools</a:t>
            </a:r>
          </a:p>
        </p:txBody>
      </p:sp>
      <p:sp>
        <p:nvSpPr>
          <p:cNvPr id="34" name="TextBox 33"/>
          <p:cNvSpPr txBox="1"/>
          <p:nvPr/>
        </p:nvSpPr>
        <p:spPr>
          <a:xfrm>
            <a:off x="4069079" y="5157215"/>
            <a:ext cx="4297679" cy="457200"/>
          </a:xfrm>
          <a:prstGeom prst="rect">
            <a:avLst/>
          </a:prstGeom>
          <a:noFill/>
        </p:spPr>
        <p:txBody>
          <a:bodyPr wrap="square" anchor="t" lIns="0" rIns="0" tIns="0" bIns="0">
            <a:spAutoFit/>
          </a:bodyPr>
          <a:lstStyle/>
          <a:p>
            <a:pPr algn="l"/>
            <a:r>
              <a:rPr sz="1100" b="0" i="0">
                <a:solidFill>
                  <a:srgbClr val="5C6B7A"/>
                </a:solidFill>
                <a:latin typeface="Calibri"/>
              </a:rPr>
              <a:t>schemas &amp; instructions</a:t>
            </a:r>
          </a:p>
        </p:txBody>
      </p:sp>
      <p:sp>
        <p:nvSpPr>
          <p:cNvPr id="35" name="Rounded Rectangle 34"/>
          <p:cNvSpPr/>
          <p:nvPr/>
        </p:nvSpPr>
        <p:spPr>
          <a:xfrm>
            <a:off x="1874519" y="5733287"/>
            <a:ext cx="6675120" cy="566928"/>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874519" y="5733287"/>
            <a:ext cx="91440" cy="566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103120" y="5788151"/>
            <a:ext cx="1920240" cy="457200"/>
          </a:xfrm>
          <a:prstGeom prst="rect">
            <a:avLst/>
          </a:prstGeom>
          <a:noFill/>
        </p:spPr>
        <p:txBody>
          <a:bodyPr wrap="square" anchor="t" lIns="0" rIns="0" tIns="0" bIns="0">
            <a:spAutoFit/>
          </a:bodyPr>
          <a:lstStyle/>
          <a:p>
            <a:pPr algn="l"/>
            <a:r>
              <a:rPr sz="1350" b="1" i="0">
                <a:solidFill>
                  <a:srgbClr val="13294B"/>
                </a:solidFill>
                <a:latin typeface="Cambria"/>
              </a:rPr>
              <a:t>Output</a:t>
            </a:r>
          </a:p>
        </p:txBody>
      </p:sp>
      <p:sp>
        <p:nvSpPr>
          <p:cNvPr id="38" name="TextBox 37"/>
          <p:cNvSpPr txBox="1"/>
          <p:nvPr/>
        </p:nvSpPr>
        <p:spPr>
          <a:xfrm>
            <a:off x="4069079" y="5815583"/>
            <a:ext cx="4297679" cy="457200"/>
          </a:xfrm>
          <a:prstGeom prst="rect">
            <a:avLst/>
          </a:prstGeom>
          <a:noFill/>
        </p:spPr>
        <p:txBody>
          <a:bodyPr wrap="square" anchor="t" lIns="0" rIns="0" tIns="0" bIns="0">
            <a:spAutoFit/>
          </a:bodyPr>
          <a:lstStyle/>
          <a:p>
            <a:pPr algn="l"/>
            <a:r>
              <a:rPr sz="1100" b="0" i="0">
                <a:solidFill>
                  <a:srgbClr val="5C6B7A"/>
                </a:solidFill>
                <a:latin typeface="Calibri"/>
              </a:rPr>
              <a:t>structured schema &amp; validation</a:t>
            </a:r>
          </a:p>
        </p:txBody>
      </p:sp>
      <p:sp>
        <p:nvSpPr>
          <p:cNvPr id="39" name="Rounded Rectangle 38"/>
          <p:cNvSpPr/>
          <p:nvPr/>
        </p:nvSpPr>
        <p:spPr>
          <a:xfrm>
            <a:off x="8686800" y="1783080"/>
            <a:ext cx="2926080" cy="4572000"/>
          </a:xfrm>
          <a:prstGeom prst="round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38100" bIns="38100"/>
          <a:lstStyle/>
          <a:p>
            <a:pPr algn="ctr"/>
            <a:r>
              <a:rPr sz="1300" b="1">
                <a:solidFill>
                  <a:srgbClr val="FFFFFF"/>
                </a:solidFill>
                <a:latin typeface="Calibri"/>
              </a:rPr>
              <a:t>Composed by the</a:t>
            </a:r>
          </a:p>
          <a:p>
            <a:pPr algn="ctr"/>
            <a:r>
              <a:rPr sz="1300" b="1">
                <a:solidFill>
                  <a:srgbClr val="FFFFFF"/>
                </a:solidFill>
                <a:latin typeface="Calibri"/>
              </a:rPr>
              <a:t>Prompt Engineering</a:t>
            </a:r>
          </a:p>
          <a:p>
            <a:pPr algn="ctr"/>
            <a:r>
              <a:rPr sz="1300" b="1">
                <a:solidFill>
                  <a:srgbClr val="FFFFFF"/>
                </a:solidFill>
                <a:latin typeface="Calibri"/>
              </a:rPr>
              <a:t>capability —</a:t>
            </a:r>
          </a:p>
          <a:p>
            <a:pPr algn="ctr"/>
            <a:r>
              <a:rPr sz="1300" b="1">
                <a:solidFill>
                  <a:srgbClr val="FFFFFF"/>
                </a:solidFill>
                <a:latin typeface="Calibri"/>
              </a:rPr>
              <a:t>every layer versioned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7</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D3-11 / D3-12</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Prompt storage, versioning &amp; injection defence</a:t>
            </a:r>
          </a:p>
        </p:txBody>
      </p:sp>
      <p:sp>
        <p:nvSpPr>
          <p:cNvPr id="11" name="TextBox 10"/>
          <p:cNvSpPr txBox="1"/>
          <p:nvPr/>
        </p:nvSpPr>
        <p:spPr>
          <a:xfrm>
            <a:off x="1874519" y="1691640"/>
            <a:ext cx="4846320" cy="365760"/>
          </a:xfrm>
          <a:prstGeom prst="rect">
            <a:avLst/>
          </a:prstGeom>
          <a:noFill/>
        </p:spPr>
        <p:txBody>
          <a:bodyPr wrap="square" anchor="t" lIns="0" rIns="0" tIns="0" bIns="0">
            <a:spAutoFit/>
          </a:bodyPr>
          <a:lstStyle/>
          <a:p>
            <a:pPr algn="l"/>
            <a:r>
              <a:rPr sz="1500" b="1" i="0">
                <a:solidFill>
                  <a:srgbClr val="2E75B6"/>
                </a:solidFill>
                <a:latin typeface="Calibri"/>
              </a:rPr>
              <a:t>Storage &amp; promotion</a:t>
            </a:r>
          </a:p>
        </p:txBody>
      </p:sp>
      <p:sp>
        <p:nvSpPr>
          <p:cNvPr id="12" name="TextBox 11"/>
          <p:cNvSpPr txBox="1"/>
          <p:nvPr/>
        </p:nvSpPr>
        <p:spPr>
          <a:xfrm>
            <a:off x="1874519" y="2148840"/>
            <a:ext cx="4846320" cy="4206240"/>
          </a:xfrm>
          <a:prstGeom prst="rect">
            <a:avLst/>
          </a:prstGeom>
          <a:noFill/>
        </p:spPr>
        <p:txBody>
          <a:bodyPr wrap="square" lIns="0" tIns="0">
            <a:spAutoFit/>
          </a:bodyPr>
          <a:lstStyle/>
          <a:p>
            <a:pPr algn="l">
              <a:spcAft>
                <a:spcPts val="900"/>
              </a:spcAft>
            </a:pPr>
            <a:r>
              <a:rPr sz="1400" b="1">
                <a:solidFill>
                  <a:srgbClr val="2E75B6"/>
                </a:solidFill>
                <a:latin typeface="Calibri"/>
              </a:rPr>
              <a:t>▪  </a:t>
            </a:r>
            <a:r>
              <a:rPr sz="1400">
                <a:solidFill>
                  <a:srgbClr val="13294B"/>
                </a:solidFill>
                <a:latin typeface="Calibri"/>
              </a:rPr>
              <a:t>Git is the canonical prompt source; naming &lt;domain&gt;.&lt;agent&gt;.&lt;task&gt;.&lt;type&gt;.vX.Y.Z.</a:t>
            </a:r>
          </a:p>
          <a:p>
            <a:pPr algn="l">
              <a:spcAft>
                <a:spcPts val="900"/>
              </a:spcAft>
            </a:pPr>
            <a:r>
              <a:rPr sz="1400" b="1">
                <a:solidFill>
                  <a:srgbClr val="2E75B6"/>
                </a:solidFill>
                <a:latin typeface="Calibri"/>
              </a:rPr>
              <a:t>▪  </a:t>
            </a:r>
            <a:r>
              <a:rPr sz="1400">
                <a:solidFill>
                  <a:srgbClr val="13294B"/>
                </a:solidFill>
                <a:latin typeface="Calibri"/>
              </a:rPr>
              <a:t>Immutable versioned bundles; promoted through environments.</a:t>
            </a:r>
          </a:p>
          <a:p>
            <a:pPr algn="l">
              <a:spcAft>
                <a:spcPts val="900"/>
              </a:spcAft>
            </a:pPr>
            <a:r>
              <a:rPr sz="1400" b="1">
                <a:solidFill>
                  <a:srgbClr val="2E75B6"/>
                </a:solidFill>
                <a:latin typeface="Calibri"/>
              </a:rPr>
              <a:t>▪  </a:t>
            </a:r>
            <a:r>
              <a:rPr sz="1400">
                <a:solidFill>
                  <a:srgbClr val="13294B"/>
                </a:solidFill>
                <a:latin typeface="Calibri"/>
              </a:rPr>
              <a:t>No in-place production mutation.</a:t>
            </a:r>
          </a:p>
        </p:txBody>
      </p:sp>
      <p:sp>
        <p:nvSpPr>
          <p:cNvPr id="13" name="TextBox 12"/>
          <p:cNvSpPr txBox="1"/>
          <p:nvPr/>
        </p:nvSpPr>
        <p:spPr>
          <a:xfrm>
            <a:off x="6720840" y="1691640"/>
            <a:ext cx="4846320" cy="365760"/>
          </a:xfrm>
          <a:prstGeom prst="rect">
            <a:avLst/>
          </a:prstGeom>
          <a:noFill/>
        </p:spPr>
        <p:txBody>
          <a:bodyPr wrap="square" anchor="t" lIns="0" rIns="0" tIns="0" bIns="0">
            <a:spAutoFit/>
          </a:bodyPr>
          <a:lstStyle/>
          <a:p>
            <a:pPr algn="l"/>
            <a:r>
              <a:rPr sz="1500" b="1" i="0">
                <a:solidFill>
                  <a:srgbClr val="2E75B6"/>
                </a:solidFill>
                <a:latin typeface="Calibri"/>
              </a:rPr>
              <a:t>Injection defence</a:t>
            </a:r>
          </a:p>
        </p:txBody>
      </p:sp>
      <p:sp>
        <p:nvSpPr>
          <p:cNvPr id="14" name="TextBox 13"/>
          <p:cNvSpPr txBox="1"/>
          <p:nvPr/>
        </p:nvSpPr>
        <p:spPr>
          <a:xfrm>
            <a:off x="6720840" y="2148840"/>
            <a:ext cx="4846320" cy="4206240"/>
          </a:xfrm>
          <a:prstGeom prst="rect">
            <a:avLst/>
          </a:prstGeom>
          <a:noFill/>
        </p:spPr>
        <p:txBody>
          <a:bodyPr wrap="square" lIns="0" tIns="0">
            <a:spAutoFit/>
          </a:bodyPr>
          <a:lstStyle/>
          <a:p>
            <a:pPr algn="l">
              <a:spcAft>
                <a:spcPts val="900"/>
              </a:spcAft>
            </a:pPr>
            <a:r>
              <a:rPr sz="1400" b="1">
                <a:solidFill>
                  <a:srgbClr val="2E75B6"/>
                </a:solidFill>
                <a:latin typeface="Calibri"/>
              </a:rPr>
              <a:t>▪  </a:t>
            </a:r>
            <a:r>
              <a:rPr sz="1400">
                <a:solidFill>
                  <a:srgbClr val="13294B"/>
                </a:solidFill>
                <a:latin typeface="Calibri"/>
              </a:rPr>
              <a:t>Prompt-injection &amp; jailbreak defence lives in the prompt/security layer.</a:t>
            </a:r>
          </a:p>
          <a:p>
            <a:pPr algn="l">
              <a:spcAft>
                <a:spcPts val="900"/>
              </a:spcAft>
            </a:pPr>
            <a:r>
              <a:rPr sz="1400" b="1">
                <a:solidFill>
                  <a:srgbClr val="2E75B6"/>
                </a:solidFill>
                <a:latin typeface="Calibri"/>
              </a:rPr>
              <a:t>▪  </a:t>
            </a:r>
            <a:r>
              <a:rPr sz="1400">
                <a:solidFill>
                  <a:srgbClr val="13294B"/>
                </a:solidFill>
                <a:latin typeface="Calibri"/>
              </a:rPr>
              <a:t>Untrusted content is quarantined &amp; never treated as instructions.</a:t>
            </a:r>
          </a:p>
          <a:p>
            <a:pPr algn="l">
              <a:spcAft>
                <a:spcPts val="900"/>
              </a:spcAft>
            </a:pPr>
            <a:r>
              <a:rPr sz="1400" b="1">
                <a:solidFill>
                  <a:srgbClr val="2E75B6"/>
                </a:solidFill>
                <a:latin typeface="Calibri"/>
              </a:rPr>
              <a:t>▪  </a:t>
            </a:r>
            <a:r>
              <a:rPr sz="1400">
                <a:solidFill>
                  <a:srgbClr val="13294B"/>
                </a:solidFill>
                <a:latin typeface="Calibri"/>
              </a:rPr>
              <a:t>Reinforced by guardrails at every boundary (deck 06).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8</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D3-13 / D3-14 / D3-15</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SLM strategy, abstraction &amp; registry</a:t>
            </a:r>
          </a:p>
        </p:txBody>
      </p:sp>
      <p:sp>
        <p:nvSpPr>
          <p:cNvPr id="11" name="Rounded Rectangle 10"/>
          <p:cNvSpPr/>
          <p:nvPr/>
        </p:nvSpPr>
        <p:spPr>
          <a:xfrm>
            <a:off x="1874519" y="2468880"/>
            <a:ext cx="2302002" cy="96012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65960" y="2615184"/>
            <a:ext cx="2119122" cy="457200"/>
          </a:xfrm>
          <a:prstGeom prst="rect">
            <a:avLst/>
          </a:prstGeom>
          <a:noFill/>
        </p:spPr>
        <p:txBody>
          <a:bodyPr wrap="square" anchor="t" lIns="0" rIns="0" tIns="0" bIns="0">
            <a:spAutoFit/>
          </a:bodyPr>
          <a:lstStyle/>
          <a:p>
            <a:pPr algn="ctr"/>
            <a:r>
              <a:rPr sz="1250" b="1" i="0">
                <a:solidFill>
                  <a:srgbClr val="13294B"/>
                </a:solidFill>
                <a:latin typeface="Cambria"/>
              </a:rPr>
              <a:t>Provider</a:t>
            </a:r>
          </a:p>
          <a:p>
            <a:pPr algn="ctr"/>
            <a:r>
              <a:rPr sz="1250" b="1" i="0">
                <a:solidFill>
                  <a:srgbClr val="13294B"/>
                </a:solidFill>
                <a:latin typeface="Cambria"/>
              </a:rPr>
              <a:t>abstraction</a:t>
            </a:r>
          </a:p>
        </p:txBody>
      </p:sp>
      <p:sp>
        <p:nvSpPr>
          <p:cNvPr id="13" name="TextBox 12"/>
          <p:cNvSpPr txBox="1"/>
          <p:nvPr/>
        </p:nvSpPr>
        <p:spPr>
          <a:xfrm>
            <a:off x="1965960" y="3044952"/>
            <a:ext cx="2119122" cy="365760"/>
          </a:xfrm>
          <a:prstGeom prst="rect">
            <a:avLst/>
          </a:prstGeom>
          <a:noFill/>
        </p:spPr>
        <p:txBody>
          <a:bodyPr wrap="square" anchor="t" lIns="0" rIns="0" tIns="0" bIns="0">
            <a:spAutoFit/>
          </a:bodyPr>
          <a:lstStyle/>
          <a:p>
            <a:pPr algn="ctr"/>
            <a:r>
              <a:rPr sz="1000" b="0" i="0">
                <a:solidFill>
                  <a:srgbClr val="5C6B7A"/>
                </a:solidFill>
                <a:latin typeface="Calibri"/>
              </a:rPr>
              <a:t>one interface</a:t>
            </a:r>
          </a:p>
        </p:txBody>
      </p:sp>
      <p:sp>
        <p:nvSpPr>
          <p:cNvPr id="14" name="Rounded Rectangle 13"/>
          <p:cNvSpPr/>
          <p:nvPr/>
        </p:nvSpPr>
        <p:spPr>
          <a:xfrm>
            <a:off x="4414266" y="2468880"/>
            <a:ext cx="2302002" cy="96012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5706" y="2615184"/>
            <a:ext cx="2119122" cy="457200"/>
          </a:xfrm>
          <a:prstGeom prst="rect">
            <a:avLst/>
          </a:prstGeom>
          <a:noFill/>
        </p:spPr>
        <p:txBody>
          <a:bodyPr wrap="square" anchor="t" lIns="0" rIns="0" tIns="0" bIns="0">
            <a:spAutoFit/>
          </a:bodyPr>
          <a:lstStyle/>
          <a:p>
            <a:pPr algn="ctr"/>
            <a:r>
              <a:rPr sz="1250" b="1" i="0">
                <a:solidFill>
                  <a:srgbClr val="13294B"/>
                </a:solidFill>
                <a:latin typeface="Cambria"/>
              </a:rPr>
              <a:t>HF Inference API</a:t>
            </a:r>
          </a:p>
        </p:txBody>
      </p:sp>
      <p:sp>
        <p:nvSpPr>
          <p:cNvPr id="16" name="TextBox 15"/>
          <p:cNvSpPr txBox="1"/>
          <p:nvPr/>
        </p:nvSpPr>
        <p:spPr>
          <a:xfrm>
            <a:off x="4505706" y="3044952"/>
            <a:ext cx="2119122" cy="365760"/>
          </a:xfrm>
          <a:prstGeom prst="rect">
            <a:avLst/>
          </a:prstGeom>
          <a:noFill/>
        </p:spPr>
        <p:txBody>
          <a:bodyPr wrap="square" anchor="t" lIns="0" rIns="0" tIns="0" bIns="0">
            <a:spAutoFit/>
          </a:bodyPr>
          <a:lstStyle/>
          <a:p>
            <a:pPr algn="ctr"/>
            <a:r>
              <a:rPr sz="1000" b="0" i="0">
                <a:solidFill>
                  <a:srgbClr val="5C6B7A"/>
                </a:solidFill>
                <a:latin typeface="Calibri"/>
              </a:rPr>
              <a:t>initial</a:t>
            </a:r>
          </a:p>
        </p:txBody>
      </p:sp>
      <p:cxnSp>
        <p:nvCxnSpPr>
          <p:cNvPr id="17" name="Connector 16"/>
          <p:cNvCxnSpPr/>
          <p:nvPr/>
        </p:nvCxnSpPr>
        <p:spPr>
          <a:xfrm>
            <a:off x="4176522" y="2948940"/>
            <a:ext cx="237744" cy="0"/>
          </a:xfrm>
          <a:prstGeom prst="line">
            <a:avLst/>
          </a:prstGeom>
          <a:ln w="20320">
            <a:solidFill>
              <a:srgbClr val="2E75B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954012" y="2468880"/>
            <a:ext cx="2302002" cy="96012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5452" y="2615184"/>
            <a:ext cx="2119122" cy="457200"/>
          </a:xfrm>
          <a:prstGeom prst="rect">
            <a:avLst/>
          </a:prstGeom>
          <a:noFill/>
        </p:spPr>
        <p:txBody>
          <a:bodyPr wrap="square" anchor="t" lIns="0" rIns="0" tIns="0" bIns="0">
            <a:spAutoFit/>
          </a:bodyPr>
          <a:lstStyle/>
          <a:p>
            <a:pPr algn="ctr"/>
            <a:r>
              <a:rPr sz="1250" b="1" i="0">
                <a:solidFill>
                  <a:srgbClr val="13294B"/>
                </a:solidFill>
                <a:latin typeface="Cambria"/>
              </a:rPr>
              <a:t>Self-hosted vLLM</a:t>
            </a:r>
          </a:p>
        </p:txBody>
      </p:sp>
      <p:sp>
        <p:nvSpPr>
          <p:cNvPr id="20" name="TextBox 19"/>
          <p:cNvSpPr txBox="1"/>
          <p:nvPr/>
        </p:nvSpPr>
        <p:spPr>
          <a:xfrm>
            <a:off x="7045452" y="3044952"/>
            <a:ext cx="2119122" cy="365760"/>
          </a:xfrm>
          <a:prstGeom prst="rect">
            <a:avLst/>
          </a:prstGeom>
          <a:noFill/>
        </p:spPr>
        <p:txBody>
          <a:bodyPr wrap="square" anchor="t" lIns="0" rIns="0" tIns="0" bIns="0">
            <a:spAutoFit/>
          </a:bodyPr>
          <a:lstStyle/>
          <a:p>
            <a:pPr algn="ctr"/>
            <a:r>
              <a:rPr sz="1000" b="0" i="0">
                <a:solidFill>
                  <a:srgbClr val="5C6B7A"/>
                </a:solidFill>
                <a:latin typeface="Calibri"/>
              </a:rPr>
              <a:t>target (GPU)</a:t>
            </a:r>
          </a:p>
        </p:txBody>
      </p:sp>
      <p:cxnSp>
        <p:nvCxnSpPr>
          <p:cNvPr id="21" name="Connector 20"/>
          <p:cNvCxnSpPr/>
          <p:nvPr/>
        </p:nvCxnSpPr>
        <p:spPr>
          <a:xfrm>
            <a:off x="6716268" y="2948940"/>
            <a:ext cx="237744" cy="0"/>
          </a:xfrm>
          <a:prstGeom prst="line">
            <a:avLst/>
          </a:prstGeom>
          <a:ln w="20320">
            <a:solidFill>
              <a:srgbClr val="2E75B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493758" y="2468880"/>
            <a:ext cx="2302002" cy="96012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85198" y="2615184"/>
            <a:ext cx="2119122" cy="457200"/>
          </a:xfrm>
          <a:prstGeom prst="rect">
            <a:avLst/>
          </a:prstGeom>
          <a:noFill/>
        </p:spPr>
        <p:txBody>
          <a:bodyPr wrap="square" anchor="t" lIns="0" rIns="0" tIns="0" bIns="0">
            <a:spAutoFit/>
          </a:bodyPr>
          <a:lstStyle/>
          <a:p>
            <a:pPr algn="ctr"/>
            <a:r>
              <a:rPr sz="1250" b="1" i="0">
                <a:solidFill>
                  <a:srgbClr val="13294B"/>
                </a:solidFill>
                <a:latin typeface="Cambria"/>
              </a:rPr>
              <a:t>Model registry</a:t>
            </a:r>
          </a:p>
        </p:txBody>
      </p:sp>
      <p:sp>
        <p:nvSpPr>
          <p:cNvPr id="24" name="TextBox 23"/>
          <p:cNvSpPr txBox="1"/>
          <p:nvPr/>
        </p:nvSpPr>
        <p:spPr>
          <a:xfrm>
            <a:off x="9585198" y="3044952"/>
            <a:ext cx="2119122" cy="365760"/>
          </a:xfrm>
          <a:prstGeom prst="rect">
            <a:avLst/>
          </a:prstGeom>
          <a:noFill/>
        </p:spPr>
        <p:txBody>
          <a:bodyPr wrap="square" anchor="t" lIns="0" rIns="0" tIns="0" bIns="0">
            <a:spAutoFit/>
          </a:bodyPr>
          <a:lstStyle/>
          <a:p>
            <a:pPr algn="ctr"/>
            <a:r>
              <a:rPr sz="1000" b="0" i="0">
                <a:solidFill>
                  <a:srgbClr val="5C6B7A"/>
                </a:solidFill>
                <a:latin typeface="Calibri"/>
              </a:rPr>
              <a:t>approved · versioned</a:t>
            </a:r>
          </a:p>
        </p:txBody>
      </p:sp>
      <p:cxnSp>
        <p:nvCxnSpPr>
          <p:cNvPr id="25" name="Connector 24"/>
          <p:cNvCxnSpPr/>
          <p:nvPr/>
        </p:nvCxnSpPr>
        <p:spPr>
          <a:xfrm>
            <a:off x="9256014" y="2948940"/>
            <a:ext cx="237744" cy="0"/>
          </a:xfrm>
          <a:prstGeom prst="line">
            <a:avLst/>
          </a:prstGeom>
          <a:ln w="20320">
            <a:solidFill>
              <a:srgbClr val="2E75B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874519" y="3931920"/>
            <a:ext cx="9921240" cy="1554480"/>
          </a:xfrm>
          <a:prstGeom prst="rect">
            <a:avLst/>
          </a:prstGeom>
          <a:noFill/>
        </p:spPr>
        <p:txBody>
          <a:bodyPr wrap="square" lIns="0" tIns="0">
            <a:spAutoFit/>
          </a:bodyPr>
          <a:lstStyle/>
          <a:p>
            <a:pPr algn="l">
              <a:spcAft>
                <a:spcPts val="1200"/>
              </a:spcAft>
            </a:pPr>
            <a:r>
              <a:rPr sz="1400" b="1">
                <a:solidFill>
                  <a:srgbClr val="2E75B6"/>
                </a:solidFill>
                <a:latin typeface="Calibri"/>
              </a:rPr>
              <a:t>▪  </a:t>
            </a:r>
            <a:r>
              <a:rPr sz="1400">
                <a:solidFill>
                  <a:srgbClr val="13294B"/>
                </a:solidFill>
                <a:latin typeface="Calibri"/>
              </a:rPr>
              <a:t>Hosted-first (HF) → self-hosted vLLM on AKS GPU target — the serving stack is a Proposed decision (deck 09).</a:t>
            </a:r>
          </a:p>
          <a:p>
            <a:pPr algn="l">
              <a:spcAft>
                <a:spcPts val="1200"/>
              </a:spcAft>
            </a:pPr>
            <a:r>
              <a:rPr sz="1400" b="1">
                <a:solidFill>
                  <a:srgbClr val="2E75B6"/>
                </a:solidFill>
                <a:latin typeface="Calibri"/>
              </a:rPr>
              <a:t>▪  </a:t>
            </a:r>
            <a:r>
              <a:rPr sz="1400">
                <a:solidFill>
                  <a:srgbClr val="13294B"/>
                </a:solidFill>
                <a:latin typeface="Calibri"/>
              </a:rPr>
              <a:t>Provider abstraction makes models swappable behind one interface; the registry lists only approved, evaluated models.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9</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D3-16 / D3-17 / D3-19</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Generation, structured output &amp; streaming</a:t>
            </a:r>
          </a:p>
        </p:txBody>
      </p:sp>
      <p:sp>
        <p:nvSpPr>
          <p:cNvPr id="11" name="Rounded Rectangle 10"/>
          <p:cNvSpPr/>
          <p:nvPr/>
        </p:nvSpPr>
        <p:spPr>
          <a:xfrm>
            <a:off x="1874519" y="1920240"/>
            <a:ext cx="2288286" cy="173736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19" y="2176272"/>
            <a:ext cx="109728" cy="1225295"/>
          </a:xfrm>
          <a:prstGeom prst="rect">
            <a:avLst/>
          </a:prstGeom>
          <a:solidFill>
            <a:srgbClr val="132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67127" y="2139696"/>
            <a:ext cx="1831086" cy="731520"/>
          </a:xfrm>
          <a:prstGeom prst="rect">
            <a:avLst/>
          </a:prstGeom>
          <a:noFill/>
        </p:spPr>
        <p:txBody>
          <a:bodyPr wrap="square" anchor="t" lIns="0" rIns="0" tIns="0" bIns="0">
            <a:spAutoFit/>
          </a:bodyPr>
          <a:lstStyle/>
          <a:p>
            <a:pPr algn="l"/>
            <a:r>
              <a:rPr sz="2200" b="1" i="0">
                <a:solidFill>
                  <a:srgbClr val="13294B"/>
                </a:solidFill>
                <a:latin typeface="Cambria"/>
              </a:rPr>
              <a:t>Low temperature</a:t>
            </a:r>
          </a:p>
        </p:txBody>
      </p:sp>
      <p:sp>
        <p:nvSpPr>
          <p:cNvPr id="14" name="TextBox 13"/>
          <p:cNvSpPr txBox="1"/>
          <p:nvPr/>
        </p:nvSpPr>
        <p:spPr>
          <a:xfrm>
            <a:off x="2167127" y="2834640"/>
            <a:ext cx="1831086" cy="777239"/>
          </a:xfrm>
          <a:prstGeom prst="rect">
            <a:avLst/>
          </a:prstGeom>
          <a:noFill/>
        </p:spPr>
        <p:txBody>
          <a:bodyPr wrap="square" anchor="t" lIns="0" rIns="0" tIns="0" bIns="0">
            <a:spAutoFit/>
          </a:bodyPr>
          <a:lstStyle/>
          <a:p>
            <a:pPr algn="l"/>
            <a:r>
              <a:rPr sz="1100" b="0" i="0">
                <a:solidFill>
                  <a:srgbClr val="5C6B7A"/>
                </a:solidFill>
                <a:latin typeface="Calibri"/>
              </a:rPr>
              <a:t>deterministic for enterprise tasks</a:t>
            </a:r>
          </a:p>
        </p:txBody>
      </p:sp>
      <p:sp>
        <p:nvSpPr>
          <p:cNvPr id="15" name="Rounded Rectangle 14"/>
          <p:cNvSpPr/>
          <p:nvPr/>
        </p:nvSpPr>
        <p:spPr>
          <a:xfrm>
            <a:off x="4418838" y="1920240"/>
            <a:ext cx="2288286" cy="173736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18838" y="2176272"/>
            <a:ext cx="109728" cy="1225295"/>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11446" y="2139696"/>
            <a:ext cx="1831086" cy="731520"/>
          </a:xfrm>
          <a:prstGeom prst="rect">
            <a:avLst/>
          </a:prstGeom>
          <a:noFill/>
        </p:spPr>
        <p:txBody>
          <a:bodyPr wrap="square" anchor="t" lIns="0" rIns="0" tIns="0" bIns="0">
            <a:spAutoFit/>
          </a:bodyPr>
          <a:lstStyle/>
          <a:p>
            <a:pPr algn="l"/>
            <a:r>
              <a:rPr sz="2200" b="1" i="0">
                <a:solidFill>
                  <a:srgbClr val="2E75B6"/>
                </a:solidFill>
                <a:latin typeface="Cambria"/>
              </a:rPr>
              <a:t>Structured output</a:t>
            </a:r>
          </a:p>
        </p:txBody>
      </p:sp>
      <p:sp>
        <p:nvSpPr>
          <p:cNvPr id="18" name="TextBox 17"/>
          <p:cNvSpPr txBox="1"/>
          <p:nvPr/>
        </p:nvSpPr>
        <p:spPr>
          <a:xfrm>
            <a:off x="4711446" y="2834640"/>
            <a:ext cx="1831086" cy="777239"/>
          </a:xfrm>
          <a:prstGeom prst="rect">
            <a:avLst/>
          </a:prstGeom>
          <a:noFill/>
        </p:spPr>
        <p:txBody>
          <a:bodyPr wrap="square" anchor="t" lIns="0" rIns="0" tIns="0" bIns="0">
            <a:spAutoFit/>
          </a:bodyPr>
          <a:lstStyle/>
          <a:p>
            <a:pPr algn="l"/>
            <a:r>
              <a:rPr sz="1100" b="0" i="0">
                <a:solidFill>
                  <a:srgbClr val="5C6B7A"/>
                </a:solidFill>
                <a:latin typeface="Calibri"/>
              </a:rPr>
              <a:t>schema-validated, typed</a:t>
            </a:r>
          </a:p>
        </p:txBody>
      </p:sp>
      <p:sp>
        <p:nvSpPr>
          <p:cNvPr id="19" name="Rounded Rectangle 18"/>
          <p:cNvSpPr/>
          <p:nvPr/>
        </p:nvSpPr>
        <p:spPr>
          <a:xfrm>
            <a:off x="6963156" y="1920240"/>
            <a:ext cx="2288286" cy="173736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3156" y="2176272"/>
            <a:ext cx="109728" cy="1225295"/>
          </a:xfrm>
          <a:prstGeom prst="rect">
            <a:avLst/>
          </a:prstGeom>
          <a:solidFill>
            <a:srgbClr val="132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55764" y="2139696"/>
            <a:ext cx="1831086" cy="731520"/>
          </a:xfrm>
          <a:prstGeom prst="rect">
            <a:avLst/>
          </a:prstGeom>
          <a:noFill/>
        </p:spPr>
        <p:txBody>
          <a:bodyPr wrap="square" anchor="t" lIns="0" rIns="0" tIns="0" bIns="0">
            <a:spAutoFit/>
          </a:bodyPr>
          <a:lstStyle/>
          <a:p>
            <a:pPr algn="l"/>
            <a:r>
              <a:rPr sz="2200" b="1" i="0">
                <a:solidFill>
                  <a:srgbClr val="13294B"/>
                </a:solidFill>
                <a:latin typeface="Cambria"/>
              </a:rPr>
              <a:t>Streaming</a:t>
            </a:r>
          </a:p>
        </p:txBody>
      </p:sp>
      <p:sp>
        <p:nvSpPr>
          <p:cNvPr id="22" name="TextBox 21"/>
          <p:cNvSpPr txBox="1"/>
          <p:nvPr/>
        </p:nvSpPr>
        <p:spPr>
          <a:xfrm>
            <a:off x="7255764" y="2834640"/>
            <a:ext cx="1831086" cy="777239"/>
          </a:xfrm>
          <a:prstGeom prst="rect">
            <a:avLst/>
          </a:prstGeom>
          <a:noFill/>
        </p:spPr>
        <p:txBody>
          <a:bodyPr wrap="square" anchor="t" lIns="0" rIns="0" tIns="0" bIns="0">
            <a:spAutoFit/>
          </a:bodyPr>
          <a:lstStyle/>
          <a:p>
            <a:pPr algn="l"/>
            <a:r>
              <a:rPr sz="1100" b="0" i="0">
                <a:solidFill>
                  <a:srgbClr val="5C6B7A"/>
                </a:solidFill>
                <a:latin typeface="Calibri"/>
              </a:rPr>
              <a:t>TTFT ≠ faster backend</a:t>
            </a:r>
          </a:p>
        </p:txBody>
      </p:sp>
      <p:sp>
        <p:nvSpPr>
          <p:cNvPr id="23" name="Rounded Rectangle 22"/>
          <p:cNvSpPr/>
          <p:nvPr/>
        </p:nvSpPr>
        <p:spPr>
          <a:xfrm>
            <a:off x="9507474" y="1920240"/>
            <a:ext cx="2288286" cy="173736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507474" y="2176272"/>
            <a:ext cx="109728" cy="1225295"/>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00082" y="2139696"/>
            <a:ext cx="1831086" cy="731520"/>
          </a:xfrm>
          <a:prstGeom prst="rect">
            <a:avLst/>
          </a:prstGeom>
          <a:noFill/>
        </p:spPr>
        <p:txBody>
          <a:bodyPr wrap="square" anchor="t" lIns="0" rIns="0" tIns="0" bIns="0">
            <a:spAutoFit/>
          </a:bodyPr>
          <a:lstStyle/>
          <a:p>
            <a:pPr algn="l"/>
            <a:r>
              <a:rPr sz="2200" b="1" i="0">
                <a:solidFill>
                  <a:srgbClr val="2E75B6"/>
                </a:solidFill>
                <a:latin typeface="Cambria"/>
              </a:rPr>
              <a:t>Validated</a:t>
            </a:r>
          </a:p>
        </p:txBody>
      </p:sp>
      <p:sp>
        <p:nvSpPr>
          <p:cNvPr id="26" name="TextBox 25"/>
          <p:cNvSpPr txBox="1"/>
          <p:nvPr/>
        </p:nvSpPr>
        <p:spPr>
          <a:xfrm>
            <a:off x="9800082" y="2834640"/>
            <a:ext cx="1831086" cy="777239"/>
          </a:xfrm>
          <a:prstGeom prst="rect">
            <a:avLst/>
          </a:prstGeom>
          <a:noFill/>
        </p:spPr>
        <p:txBody>
          <a:bodyPr wrap="square" anchor="t" lIns="0" rIns="0" tIns="0" bIns="0">
            <a:spAutoFit/>
          </a:bodyPr>
          <a:lstStyle/>
          <a:p>
            <a:pPr algn="l"/>
            <a:r>
              <a:rPr sz="1100" b="0" i="0">
                <a:solidFill>
                  <a:srgbClr val="5C6B7A"/>
                </a:solidFill>
                <a:latin typeface="Calibri"/>
              </a:rPr>
              <a:t>before it reaches the user</a:t>
            </a:r>
          </a:p>
        </p:txBody>
      </p:sp>
      <p:sp>
        <p:nvSpPr>
          <p:cNvPr id="27" name="TextBox 26"/>
          <p:cNvSpPr txBox="1"/>
          <p:nvPr/>
        </p:nvSpPr>
        <p:spPr>
          <a:xfrm>
            <a:off x="1874519" y="4023360"/>
            <a:ext cx="9921240" cy="1554480"/>
          </a:xfrm>
          <a:prstGeom prst="rect">
            <a:avLst/>
          </a:prstGeom>
          <a:noFill/>
        </p:spPr>
        <p:txBody>
          <a:bodyPr wrap="square" lIns="0" tIns="0">
            <a:spAutoFit/>
          </a:bodyPr>
          <a:lstStyle/>
          <a:p>
            <a:pPr algn="l">
              <a:spcAft>
                <a:spcPts val="1200"/>
              </a:spcAft>
            </a:pPr>
            <a:r>
              <a:rPr sz="1400" b="1">
                <a:solidFill>
                  <a:srgbClr val="2E75B6"/>
                </a:solidFill>
                <a:latin typeface="Calibri"/>
              </a:rPr>
              <a:t>▪  </a:t>
            </a:r>
            <a:r>
              <a:rPr sz="1400">
                <a:solidFill>
                  <a:srgbClr val="13294B"/>
                </a:solidFill>
                <a:latin typeface="Calibri"/>
              </a:rPr>
              <a:t>Generation parameters are task-appropriate; enterprise tasks favour determinism.</a:t>
            </a:r>
          </a:p>
          <a:p>
            <a:pPr algn="l">
              <a:spcAft>
                <a:spcPts val="1200"/>
              </a:spcAft>
            </a:pPr>
            <a:r>
              <a:rPr sz="1400" b="1">
                <a:solidFill>
                  <a:srgbClr val="2E75B6"/>
                </a:solidFill>
                <a:latin typeface="Calibri"/>
              </a:rPr>
              <a:t>▪  </a:t>
            </a:r>
            <a:r>
              <a:rPr sz="1400">
                <a:solidFill>
                  <a:srgbClr val="13294B"/>
                </a:solidFill>
                <a:latin typeface="Calibri"/>
              </a:rPr>
              <a:t>Outputs are structured and validated; streaming improves perceived latency only.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10</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D3-18</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SLM reliability — fallback &amp; circuit-breaking</a:t>
            </a:r>
          </a:p>
        </p:txBody>
      </p:sp>
      <p:sp>
        <p:nvSpPr>
          <p:cNvPr id="11" name="TextBox 10"/>
          <p:cNvSpPr txBox="1"/>
          <p:nvPr/>
        </p:nvSpPr>
        <p:spPr>
          <a:xfrm>
            <a:off x="1874519" y="1783080"/>
            <a:ext cx="9921240" cy="2926080"/>
          </a:xfrm>
          <a:prstGeom prst="rect">
            <a:avLst/>
          </a:prstGeom>
          <a:noFill/>
        </p:spPr>
        <p:txBody>
          <a:bodyPr wrap="square" lIns="0" tIns="0">
            <a:spAutoFit/>
          </a:bodyPr>
          <a:lstStyle/>
          <a:p>
            <a:pPr algn="l">
              <a:spcAft>
                <a:spcPts val="1500"/>
              </a:spcAft>
            </a:pPr>
            <a:r>
              <a:rPr sz="1600" b="1">
                <a:solidFill>
                  <a:srgbClr val="2E75B6"/>
                </a:solidFill>
                <a:latin typeface="Calibri"/>
              </a:rPr>
              <a:t>▪  </a:t>
            </a:r>
            <a:r>
              <a:rPr sz="1600">
                <a:solidFill>
                  <a:srgbClr val="13294B"/>
                </a:solidFill>
                <a:latin typeface="Calibri"/>
              </a:rPr>
              <a:t>Fallback models must be approved, compatible, evaluated, configured and observable.</a:t>
            </a:r>
          </a:p>
          <a:p>
            <a:pPr algn="l">
              <a:spcAft>
                <a:spcPts val="1500"/>
              </a:spcAft>
            </a:pPr>
            <a:r>
              <a:rPr sz="1600" b="1">
                <a:solidFill>
                  <a:srgbClr val="2E75B6"/>
                </a:solidFill>
                <a:latin typeface="Calibri"/>
              </a:rPr>
              <a:t>▪  </a:t>
            </a:r>
            <a:r>
              <a:rPr sz="1600">
                <a:solidFill>
                  <a:srgbClr val="13294B"/>
                </a:solidFill>
                <a:latin typeface="Calibri"/>
              </a:rPr>
              <a:t>Degradation ladder: retry → approved fallback model → reduced optional processing → controlled stop.</a:t>
            </a:r>
          </a:p>
          <a:p>
            <a:pPr algn="l">
              <a:spcAft>
                <a:spcPts val="1500"/>
              </a:spcAft>
            </a:pPr>
            <a:r>
              <a:rPr sz="1600" b="1">
                <a:solidFill>
                  <a:srgbClr val="2E75B6"/>
                </a:solidFill>
                <a:latin typeface="Calibri"/>
              </a:rPr>
              <a:t>▪  </a:t>
            </a:r>
            <a:r>
              <a:rPr sz="1600">
                <a:solidFill>
                  <a:srgbClr val="13294B"/>
                </a:solidFill>
                <a:latin typeface="Calibri"/>
              </a:rPr>
              <a:t>Circuit-breaking protects downstream capacity and cost (deck 08); distinct from the quality-gated refinement loop (D3-28).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11</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D3-20/21/22/26/27</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RAG — scope &amp; pipeline</a:t>
            </a:r>
          </a:p>
        </p:txBody>
      </p:sp>
      <p:sp>
        <p:nvSpPr>
          <p:cNvPr id="11" name="Rounded Rectangle 10"/>
          <p:cNvSpPr/>
          <p:nvPr/>
        </p:nvSpPr>
        <p:spPr>
          <a:xfrm>
            <a:off x="1874519" y="2377440"/>
            <a:ext cx="1455420" cy="96012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65960" y="2523744"/>
            <a:ext cx="1272540" cy="457200"/>
          </a:xfrm>
          <a:prstGeom prst="rect">
            <a:avLst/>
          </a:prstGeom>
          <a:noFill/>
        </p:spPr>
        <p:txBody>
          <a:bodyPr wrap="square" anchor="t" lIns="0" rIns="0" tIns="0" bIns="0">
            <a:spAutoFit/>
          </a:bodyPr>
          <a:lstStyle/>
          <a:p>
            <a:pPr algn="ctr"/>
            <a:r>
              <a:rPr sz="1250" b="1" i="0">
                <a:solidFill>
                  <a:srgbClr val="13294B"/>
                </a:solidFill>
                <a:latin typeface="Cambria"/>
              </a:rPr>
              <a:t>Query</a:t>
            </a:r>
          </a:p>
        </p:txBody>
      </p:sp>
      <p:sp>
        <p:nvSpPr>
          <p:cNvPr id="13" name="TextBox 12"/>
          <p:cNvSpPr txBox="1"/>
          <p:nvPr/>
        </p:nvSpPr>
        <p:spPr>
          <a:xfrm>
            <a:off x="1965960" y="2953512"/>
            <a:ext cx="1272540" cy="365760"/>
          </a:xfrm>
          <a:prstGeom prst="rect">
            <a:avLst/>
          </a:prstGeom>
          <a:noFill/>
        </p:spPr>
        <p:txBody>
          <a:bodyPr wrap="square" anchor="t" lIns="0" rIns="0" tIns="0" bIns="0">
            <a:spAutoFit/>
          </a:bodyPr>
          <a:lstStyle/>
          <a:p>
            <a:pPr algn="ctr"/>
            <a:r>
              <a:rPr sz="1000" b="0" i="0">
                <a:solidFill>
                  <a:srgbClr val="5C6B7A"/>
                </a:solidFill>
                <a:latin typeface="Calibri"/>
              </a:rPr>
              <a:t>rewrite</a:t>
            </a:r>
          </a:p>
        </p:txBody>
      </p:sp>
      <p:sp>
        <p:nvSpPr>
          <p:cNvPr id="14" name="Rounded Rectangle 13"/>
          <p:cNvSpPr/>
          <p:nvPr/>
        </p:nvSpPr>
        <p:spPr>
          <a:xfrm>
            <a:off x="3567683" y="2377440"/>
            <a:ext cx="1455420" cy="96012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9123" y="2523744"/>
            <a:ext cx="1272540" cy="457200"/>
          </a:xfrm>
          <a:prstGeom prst="rect">
            <a:avLst/>
          </a:prstGeom>
          <a:noFill/>
        </p:spPr>
        <p:txBody>
          <a:bodyPr wrap="square" anchor="t" lIns="0" rIns="0" tIns="0" bIns="0">
            <a:spAutoFit/>
          </a:bodyPr>
          <a:lstStyle/>
          <a:p>
            <a:pPr algn="ctr"/>
            <a:r>
              <a:rPr sz="1250" b="1" i="0">
                <a:solidFill>
                  <a:srgbClr val="13294B"/>
                </a:solidFill>
                <a:latin typeface="Cambria"/>
              </a:rPr>
              <a:t>Embed</a:t>
            </a:r>
          </a:p>
        </p:txBody>
      </p:sp>
      <p:sp>
        <p:nvSpPr>
          <p:cNvPr id="16" name="TextBox 15"/>
          <p:cNvSpPr txBox="1"/>
          <p:nvPr/>
        </p:nvSpPr>
        <p:spPr>
          <a:xfrm>
            <a:off x="3659123" y="2953512"/>
            <a:ext cx="1272540" cy="365760"/>
          </a:xfrm>
          <a:prstGeom prst="rect">
            <a:avLst/>
          </a:prstGeom>
          <a:noFill/>
        </p:spPr>
        <p:txBody>
          <a:bodyPr wrap="square" anchor="t" lIns="0" rIns="0" tIns="0" bIns="0">
            <a:spAutoFit/>
          </a:bodyPr>
          <a:lstStyle/>
          <a:p>
            <a:pPr algn="ctr"/>
            <a:r>
              <a:rPr sz="1000" b="0" i="0">
                <a:solidFill>
                  <a:srgbClr val="5C6B7A"/>
                </a:solidFill>
                <a:latin typeface="Calibri"/>
              </a:rPr>
              <a:t>768-dim</a:t>
            </a:r>
          </a:p>
        </p:txBody>
      </p:sp>
      <p:cxnSp>
        <p:nvCxnSpPr>
          <p:cNvPr id="17" name="Connector 16"/>
          <p:cNvCxnSpPr/>
          <p:nvPr/>
        </p:nvCxnSpPr>
        <p:spPr>
          <a:xfrm>
            <a:off x="3329940" y="2857500"/>
            <a:ext cx="237743" cy="0"/>
          </a:xfrm>
          <a:prstGeom prst="line">
            <a:avLst/>
          </a:prstGeom>
          <a:ln w="20320">
            <a:solidFill>
              <a:srgbClr val="2E75B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260848" y="2377440"/>
            <a:ext cx="1455420" cy="96012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52287" y="2523744"/>
            <a:ext cx="1272540" cy="457200"/>
          </a:xfrm>
          <a:prstGeom prst="rect">
            <a:avLst/>
          </a:prstGeom>
          <a:noFill/>
        </p:spPr>
        <p:txBody>
          <a:bodyPr wrap="square" anchor="t" lIns="0" rIns="0" tIns="0" bIns="0">
            <a:spAutoFit/>
          </a:bodyPr>
          <a:lstStyle/>
          <a:p>
            <a:pPr algn="ctr"/>
            <a:r>
              <a:rPr sz="1250" b="1" i="0">
                <a:solidFill>
                  <a:srgbClr val="13294B"/>
                </a:solidFill>
                <a:latin typeface="Cambria"/>
              </a:rPr>
              <a:t>Vector +</a:t>
            </a:r>
          </a:p>
          <a:p>
            <a:pPr algn="ctr"/>
            <a:r>
              <a:rPr sz="1250" b="1" i="0">
                <a:solidFill>
                  <a:srgbClr val="13294B"/>
                </a:solidFill>
                <a:latin typeface="Cambria"/>
              </a:rPr>
              <a:t>keyword</a:t>
            </a:r>
          </a:p>
        </p:txBody>
      </p:sp>
      <p:sp>
        <p:nvSpPr>
          <p:cNvPr id="20" name="TextBox 19"/>
          <p:cNvSpPr txBox="1"/>
          <p:nvPr/>
        </p:nvSpPr>
        <p:spPr>
          <a:xfrm>
            <a:off x="5352287" y="2953512"/>
            <a:ext cx="1272540" cy="365760"/>
          </a:xfrm>
          <a:prstGeom prst="rect">
            <a:avLst/>
          </a:prstGeom>
          <a:noFill/>
        </p:spPr>
        <p:txBody>
          <a:bodyPr wrap="square" anchor="t" lIns="0" rIns="0" tIns="0" bIns="0">
            <a:spAutoFit/>
          </a:bodyPr>
          <a:lstStyle/>
          <a:p>
            <a:pPr algn="ctr"/>
            <a:r>
              <a:rPr sz="1000" b="0" i="0">
                <a:solidFill>
                  <a:srgbClr val="5C6B7A"/>
                </a:solidFill>
                <a:latin typeface="Calibri"/>
              </a:rPr>
              <a:t>hybrid</a:t>
            </a:r>
          </a:p>
        </p:txBody>
      </p:sp>
      <p:cxnSp>
        <p:nvCxnSpPr>
          <p:cNvPr id="21" name="Connector 20"/>
          <p:cNvCxnSpPr/>
          <p:nvPr/>
        </p:nvCxnSpPr>
        <p:spPr>
          <a:xfrm>
            <a:off x="5023104" y="2857500"/>
            <a:ext cx="237744" cy="0"/>
          </a:xfrm>
          <a:prstGeom prst="line">
            <a:avLst/>
          </a:prstGeom>
          <a:ln w="20320">
            <a:solidFill>
              <a:srgbClr val="2E75B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954012" y="2377440"/>
            <a:ext cx="1455420" cy="96012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5451" y="2523744"/>
            <a:ext cx="1272540" cy="457200"/>
          </a:xfrm>
          <a:prstGeom prst="rect">
            <a:avLst/>
          </a:prstGeom>
          <a:noFill/>
        </p:spPr>
        <p:txBody>
          <a:bodyPr wrap="square" anchor="t" lIns="0" rIns="0" tIns="0" bIns="0">
            <a:spAutoFit/>
          </a:bodyPr>
          <a:lstStyle/>
          <a:p>
            <a:pPr algn="ctr"/>
            <a:r>
              <a:rPr sz="1250" b="1" i="0">
                <a:solidFill>
                  <a:srgbClr val="13294B"/>
                </a:solidFill>
                <a:latin typeface="Cambria"/>
              </a:rPr>
              <a:t>Rerank</a:t>
            </a:r>
          </a:p>
        </p:txBody>
      </p:sp>
      <p:sp>
        <p:nvSpPr>
          <p:cNvPr id="24" name="TextBox 23"/>
          <p:cNvSpPr txBox="1"/>
          <p:nvPr/>
        </p:nvSpPr>
        <p:spPr>
          <a:xfrm>
            <a:off x="7045451" y="2953512"/>
            <a:ext cx="1272540" cy="365760"/>
          </a:xfrm>
          <a:prstGeom prst="rect">
            <a:avLst/>
          </a:prstGeom>
          <a:noFill/>
        </p:spPr>
        <p:txBody>
          <a:bodyPr wrap="square" anchor="t" lIns="0" rIns="0" tIns="0" bIns="0">
            <a:spAutoFit/>
          </a:bodyPr>
          <a:lstStyle/>
          <a:p>
            <a:pPr algn="ctr"/>
            <a:r>
              <a:rPr sz="1000" b="0" i="0">
                <a:solidFill>
                  <a:srgbClr val="5C6B7A"/>
                </a:solidFill>
                <a:latin typeface="Calibri"/>
              </a:rPr>
              <a:t>when needed</a:t>
            </a:r>
          </a:p>
        </p:txBody>
      </p:sp>
      <p:cxnSp>
        <p:nvCxnSpPr>
          <p:cNvPr id="25" name="Connector 24"/>
          <p:cNvCxnSpPr/>
          <p:nvPr/>
        </p:nvCxnSpPr>
        <p:spPr>
          <a:xfrm>
            <a:off x="6716268" y="2857500"/>
            <a:ext cx="237744" cy="0"/>
          </a:xfrm>
          <a:prstGeom prst="line">
            <a:avLst/>
          </a:prstGeom>
          <a:ln w="20320">
            <a:solidFill>
              <a:srgbClr val="2E75B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647176" y="2377440"/>
            <a:ext cx="1455420" cy="96012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38616" y="2523744"/>
            <a:ext cx="1272540" cy="457200"/>
          </a:xfrm>
          <a:prstGeom prst="rect">
            <a:avLst/>
          </a:prstGeom>
          <a:noFill/>
        </p:spPr>
        <p:txBody>
          <a:bodyPr wrap="square" anchor="t" lIns="0" rIns="0" tIns="0" bIns="0">
            <a:spAutoFit/>
          </a:bodyPr>
          <a:lstStyle/>
          <a:p>
            <a:pPr algn="ctr"/>
            <a:r>
              <a:rPr sz="1250" b="1" i="0">
                <a:solidFill>
                  <a:srgbClr val="13294B"/>
                </a:solidFill>
                <a:latin typeface="Cambria"/>
              </a:rPr>
              <a:t>Context</a:t>
            </a:r>
          </a:p>
        </p:txBody>
      </p:sp>
      <p:sp>
        <p:nvSpPr>
          <p:cNvPr id="28" name="TextBox 27"/>
          <p:cNvSpPr txBox="1"/>
          <p:nvPr/>
        </p:nvSpPr>
        <p:spPr>
          <a:xfrm>
            <a:off x="8738616" y="2953512"/>
            <a:ext cx="1272540" cy="365760"/>
          </a:xfrm>
          <a:prstGeom prst="rect">
            <a:avLst/>
          </a:prstGeom>
          <a:noFill/>
        </p:spPr>
        <p:txBody>
          <a:bodyPr wrap="square" anchor="t" lIns="0" rIns="0" tIns="0" bIns="0">
            <a:spAutoFit/>
          </a:bodyPr>
          <a:lstStyle/>
          <a:p>
            <a:pPr algn="ctr"/>
            <a:r>
              <a:rPr sz="1000" b="0" i="0">
                <a:solidFill>
                  <a:srgbClr val="5C6B7A"/>
                </a:solidFill>
                <a:latin typeface="Calibri"/>
              </a:rPr>
              <a:t>budgeted</a:t>
            </a:r>
          </a:p>
        </p:txBody>
      </p:sp>
      <p:cxnSp>
        <p:nvCxnSpPr>
          <p:cNvPr id="29" name="Connector 28"/>
          <p:cNvCxnSpPr/>
          <p:nvPr/>
        </p:nvCxnSpPr>
        <p:spPr>
          <a:xfrm>
            <a:off x="8409431" y="2857500"/>
            <a:ext cx="237745" cy="0"/>
          </a:xfrm>
          <a:prstGeom prst="line">
            <a:avLst/>
          </a:prstGeom>
          <a:ln w="20320">
            <a:solidFill>
              <a:srgbClr val="2E75B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0340340" y="2377440"/>
            <a:ext cx="1455420" cy="96012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31780" y="2523744"/>
            <a:ext cx="1272540" cy="457200"/>
          </a:xfrm>
          <a:prstGeom prst="rect">
            <a:avLst/>
          </a:prstGeom>
          <a:noFill/>
        </p:spPr>
        <p:txBody>
          <a:bodyPr wrap="square" anchor="t" lIns="0" rIns="0" tIns="0" bIns="0">
            <a:spAutoFit/>
          </a:bodyPr>
          <a:lstStyle/>
          <a:p>
            <a:pPr algn="ctr"/>
            <a:r>
              <a:rPr sz="1250" b="1" i="0">
                <a:solidFill>
                  <a:srgbClr val="13294B"/>
                </a:solidFill>
                <a:latin typeface="Cambria"/>
              </a:rPr>
              <a:t>Cite</a:t>
            </a:r>
          </a:p>
        </p:txBody>
      </p:sp>
      <p:sp>
        <p:nvSpPr>
          <p:cNvPr id="32" name="TextBox 31"/>
          <p:cNvSpPr txBox="1"/>
          <p:nvPr/>
        </p:nvSpPr>
        <p:spPr>
          <a:xfrm>
            <a:off x="10431780" y="2953512"/>
            <a:ext cx="1272540" cy="365760"/>
          </a:xfrm>
          <a:prstGeom prst="rect">
            <a:avLst/>
          </a:prstGeom>
          <a:noFill/>
        </p:spPr>
        <p:txBody>
          <a:bodyPr wrap="square" anchor="t" lIns="0" rIns="0" tIns="0" bIns="0">
            <a:spAutoFit/>
          </a:bodyPr>
          <a:lstStyle/>
          <a:p>
            <a:pPr algn="ctr"/>
            <a:r>
              <a:rPr sz="1000" b="0" i="0">
                <a:solidFill>
                  <a:srgbClr val="5C6B7A"/>
                </a:solidFill>
                <a:latin typeface="Calibri"/>
              </a:rPr>
              <a:t>ACL-checked</a:t>
            </a:r>
          </a:p>
        </p:txBody>
      </p:sp>
      <p:cxnSp>
        <p:nvCxnSpPr>
          <p:cNvPr id="33" name="Connector 32"/>
          <p:cNvCxnSpPr/>
          <p:nvPr/>
        </p:nvCxnSpPr>
        <p:spPr>
          <a:xfrm>
            <a:off x="10102596" y="2857500"/>
            <a:ext cx="237744" cy="0"/>
          </a:xfrm>
          <a:prstGeom prst="line">
            <a:avLst/>
          </a:prstGeom>
          <a:ln w="20320">
            <a:solidFill>
              <a:srgbClr val="2E75B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874519" y="3931920"/>
            <a:ext cx="9921240" cy="1645920"/>
          </a:xfrm>
          <a:prstGeom prst="rect">
            <a:avLst/>
          </a:prstGeom>
          <a:noFill/>
        </p:spPr>
        <p:txBody>
          <a:bodyPr wrap="square" lIns="0" tIns="0">
            <a:spAutoFit/>
          </a:bodyPr>
          <a:lstStyle/>
          <a:p>
            <a:pPr algn="l">
              <a:spcAft>
                <a:spcPts val="1100"/>
              </a:spcAft>
            </a:pPr>
            <a:r>
              <a:rPr sz="1400" b="1">
                <a:solidFill>
                  <a:srgbClr val="2E75B6"/>
                </a:solidFill>
                <a:latin typeface="Calibri"/>
              </a:rPr>
              <a:t>▪  </a:t>
            </a:r>
            <a:r>
              <a:rPr sz="1400">
                <a:solidFill>
                  <a:srgbClr val="13294B"/>
                </a:solidFill>
                <a:latin typeface="Calibri"/>
              </a:rPr>
              <a:t>RAG is knowledge-only (D3-20) — it never carries authoritative transactional truth.</a:t>
            </a:r>
          </a:p>
          <a:p>
            <a:pPr algn="l">
              <a:spcAft>
                <a:spcPts val="1100"/>
              </a:spcAft>
            </a:pPr>
            <a:r>
              <a:rPr sz="1400" b="1">
                <a:solidFill>
                  <a:srgbClr val="2E75B6"/>
                </a:solidFill>
                <a:latin typeface="Calibri"/>
              </a:rPr>
              <a:t>▪  </a:t>
            </a:r>
            <a:r>
              <a:rPr sz="1400">
                <a:solidFill>
                  <a:srgbClr val="13294B"/>
                </a:solidFill>
                <a:latin typeface="Calibri"/>
              </a:rPr>
              <a:t>Ingestion &amp; chunking (D3-21) with a defined trigger mechanism (D3-27); agentic retrieval loop (D3-26).</a:t>
            </a:r>
          </a:p>
          <a:p>
            <a:pPr algn="l">
              <a:spcAft>
                <a:spcPts val="1100"/>
              </a:spcAft>
            </a:pPr>
            <a:r>
              <a:rPr sz="1400" b="1">
                <a:solidFill>
                  <a:srgbClr val="2E75B6"/>
                </a:solidFill>
                <a:latin typeface="Calibri"/>
              </a:rPr>
              <a:t>▪  </a:t>
            </a:r>
            <a:r>
              <a:rPr sz="1400">
                <a:solidFill>
                  <a:srgbClr val="13294B"/>
                </a:solidFill>
                <a:latin typeface="Calibri"/>
              </a:rPr>
              <a:t>Every answer is grounded and cited; ACL enforced at retrieval (deck 06).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12</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D3-23 · PROPOSED</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Embedding model selection</a:t>
            </a:r>
          </a:p>
        </p:txBody>
      </p:sp>
      <p:sp>
        <p:nvSpPr>
          <p:cNvPr id="11" name="TextBox 10"/>
          <p:cNvSpPr txBox="1"/>
          <p:nvPr/>
        </p:nvSpPr>
        <p:spPr>
          <a:xfrm>
            <a:off x="1874519" y="1133856"/>
            <a:ext cx="9921240" cy="365760"/>
          </a:xfrm>
          <a:prstGeom prst="rect">
            <a:avLst/>
          </a:prstGeom>
          <a:noFill/>
        </p:spPr>
        <p:txBody>
          <a:bodyPr wrap="square" anchor="t" lIns="0" rIns="0" tIns="0" bIns="0">
            <a:spAutoFit/>
          </a:bodyPr>
          <a:lstStyle/>
          <a:p>
            <a:pPr algn="l"/>
            <a:r>
              <a:rPr sz="1300" b="0" i="0">
                <a:solidFill>
                  <a:srgbClr val="5C6B7A"/>
                </a:solidFill>
                <a:latin typeface="Calibri"/>
              </a:rPr>
              <a:t>Build-default recommendation — ARB sign-off (deck 09)</a:t>
            </a:r>
          </a:p>
        </p:txBody>
      </p:sp>
      <p:sp>
        <p:nvSpPr>
          <p:cNvPr id="12" name="Rounded Rectangle 11"/>
          <p:cNvSpPr/>
          <p:nvPr/>
        </p:nvSpPr>
        <p:spPr>
          <a:xfrm>
            <a:off x="1874519" y="1783080"/>
            <a:ext cx="5394960" cy="402336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93976" y="1947672"/>
            <a:ext cx="4956048" cy="320040"/>
          </a:xfrm>
          <a:prstGeom prst="rect">
            <a:avLst/>
          </a:prstGeom>
          <a:noFill/>
        </p:spPr>
        <p:txBody>
          <a:bodyPr wrap="square" anchor="t" lIns="0" rIns="0" tIns="0" bIns="0">
            <a:spAutoFit/>
          </a:bodyPr>
          <a:lstStyle/>
          <a:p>
            <a:pPr algn="l"/>
            <a:r>
              <a:rPr sz="1250" b="1" i="0">
                <a:solidFill>
                  <a:srgbClr val="FFC72C"/>
                </a:solidFill>
                <a:latin typeface="Calibri"/>
              </a:rPr>
              <a:t>RECOMMENDATION (BUILD DEFAULT)</a:t>
            </a:r>
          </a:p>
        </p:txBody>
      </p:sp>
      <p:sp>
        <p:nvSpPr>
          <p:cNvPr id="14" name="TextBox 13"/>
          <p:cNvSpPr txBox="1"/>
          <p:nvPr/>
        </p:nvSpPr>
        <p:spPr>
          <a:xfrm>
            <a:off x="2093976" y="2441448"/>
            <a:ext cx="4956048" cy="274320"/>
          </a:xfrm>
          <a:prstGeom prst="rect">
            <a:avLst/>
          </a:prstGeom>
          <a:noFill/>
        </p:spPr>
        <p:txBody>
          <a:bodyPr wrap="square" anchor="t" lIns="0" rIns="0" tIns="0" bIns="0">
            <a:spAutoFit/>
          </a:bodyPr>
          <a:lstStyle/>
          <a:p>
            <a:pPr algn="l"/>
            <a:r>
              <a:rPr sz="1200" b="1" i="0">
                <a:solidFill>
                  <a:srgbClr val="13294B"/>
                </a:solidFill>
                <a:latin typeface="Calibri"/>
              </a:rPr>
              <a:t>Model class</a:t>
            </a:r>
          </a:p>
        </p:txBody>
      </p:sp>
      <p:sp>
        <p:nvSpPr>
          <p:cNvPr id="15" name="TextBox 14"/>
          <p:cNvSpPr txBox="1"/>
          <p:nvPr/>
        </p:nvSpPr>
        <p:spPr>
          <a:xfrm>
            <a:off x="2093976" y="2688336"/>
            <a:ext cx="4956048" cy="457200"/>
          </a:xfrm>
          <a:prstGeom prst="rect">
            <a:avLst/>
          </a:prstGeom>
          <a:noFill/>
        </p:spPr>
        <p:txBody>
          <a:bodyPr wrap="square" anchor="t" lIns="0" rIns="0" tIns="0" bIns="0">
            <a:spAutoFit/>
          </a:bodyPr>
          <a:lstStyle/>
          <a:p>
            <a:pPr algn="l"/>
            <a:r>
              <a:rPr sz="1100" b="0" i="0">
                <a:solidFill>
                  <a:srgbClr val="5C6B7A"/>
                </a:solidFill>
                <a:latin typeface="Calibri"/>
              </a:rPr>
              <a:t>HF-hosted general-purpose 768-dim (bge-base-en-v1.5 class)</a:t>
            </a:r>
          </a:p>
        </p:txBody>
      </p:sp>
      <p:sp>
        <p:nvSpPr>
          <p:cNvPr id="16" name="TextBox 15"/>
          <p:cNvSpPr txBox="1"/>
          <p:nvPr/>
        </p:nvSpPr>
        <p:spPr>
          <a:xfrm>
            <a:off x="2093976" y="3191256"/>
            <a:ext cx="4956048" cy="274320"/>
          </a:xfrm>
          <a:prstGeom prst="rect">
            <a:avLst/>
          </a:prstGeom>
          <a:noFill/>
        </p:spPr>
        <p:txBody>
          <a:bodyPr wrap="square" anchor="t" lIns="0" rIns="0" tIns="0" bIns="0">
            <a:spAutoFit/>
          </a:bodyPr>
          <a:lstStyle/>
          <a:p>
            <a:pPr algn="l"/>
            <a:r>
              <a:rPr sz="1200" b="1" i="0">
                <a:solidFill>
                  <a:srgbClr val="13294B"/>
                </a:solidFill>
                <a:latin typeface="Calibri"/>
              </a:rPr>
              <a:t>Fallback</a:t>
            </a:r>
          </a:p>
        </p:txBody>
      </p:sp>
      <p:sp>
        <p:nvSpPr>
          <p:cNvPr id="17" name="TextBox 16"/>
          <p:cNvSpPr txBox="1"/>
          <p:nvPr/>
        </p:nvSpPr>
        <p:spPr>
          <a:xfrm>
            <a:off x="2093976" y="3438144"/>
            <a:ext cx="4956048" cy="457200"/>
          </a:xfrm>
          <a:prstGeom prst="rect">
            <a:avLst/>
          </a:prstGeom>
          <a:noFill/>
        </p:spPr>
        <p:txBody>
          <a:bodyPr wrap="square" anchor="t" lIns="0" rIns="0" tIns="0" bIns="0">
            <a:spAutoFit/>
          </a:bodyPr>
          <a:lstStyle/>
          <a:p>
            <a:pPr algn="l"/>
            <a:r>
              <a:rPr sz="1100" b="0" i="0">
                <a:solidFill>
                  <a:srgbClr val="5C6B7A"/>
                </a:solidFill>
                <a:latin typeface="Calibri"/>
              </a:rPr>
              <a:t>1024-dim variant</a:t>
            </a:r>
          </a:p>
        </p:txBody>
      </p:sp>
      <p:sp>
        <p:nvSpPr>
          <p:cNvPr id="18" name="TextBox 17"/>
          <p:cNvSpPr txBox="1"/>
          <p:nvPr/>
        </p:nvSpPr>
        <p:spPr>
          <a:xfrm>
            <a:off x="2093976" y="3941063"/>
            <a:ext cx="4956048" cy="274320"/>
          </a:xfrm>
          <a:prstGeom prst="rect">
            <a:avLst/>
          </a:prstGeom>
          <a:noFill/>
        </p:spPr>
        <p:txBody>
          <a:bodyPr wrap="square" anchor="t" lIns="0" rIns="0" tIns="0" bIns="0">
            <a:spAutoFit/>
          </a:bodyPr>
          <a:lstStyle/>
          <a:p>
            <a:pPr algn="l"/>
            <a:r>
              <a:rPr sz="1200" b="1" i="0">
                <a:solidFill>
                  <a:srgbClr val="13294B"/>
                </a:solidFill>
                <a:latin typeface="Calibri"/>
              </a:rPr>
              <a:t>Why provisional</a:t>
            </a:r>
          </a:p>
        </p:txBody>
      </p:sp>
      <p:sp>
        <p:nvSpPr>
          <p:cNvPr id="19" name="TextBox 18"/>
          <p:cNvSpPr txBox="1"/>
          <p:nvPr/>
        </p:nvSpPr>
        <p:spPr>
          <a:xfrm>
            <a:off x="2093976" y="4187952"/>
            <a:ext cx="4956048" cy="457200"/>
          </a:xfrm>
          <a:prstGeom prst="rect">
            <a:avLst/>
          </a:prstGeom>
          <a:noFill/>
        </p:spPr>
        <p:txBody>
          <a:bodyPr wrap="square" anchor="t" lIns="0" rIns="0" tIns="0" bIns="0">
            <a:spAutoFit/>
          </a:bodyPr>
          <a:lstStyle/>
          <a:p>
            <a:pPr algn="l"/>
            <a:r>
              <a:rPr sz="1100" b="0" i="0">
                <a:solidFill>
                  <a:srgbClr val="5C6B7A"/>
                </a:solidFill>
                <a:latin typeface="Calibri"/>
              </a:rPr>
              <a:t>must pass PFF-FA retrieval eval (Recall@5 ≥ 0.90)</a:t>
            </a:r>
          </a:p>
        </p:txBody>
      </p:sp>
      <p:sp>
        <p:nvSpPr>
          <p:cNvPr id="20" name="TextBox 19"/>
          <p:cNvSpPr txBox="1"/>
          <p:nvPr/>
        </p:nvSpPr>
        <p:spPr>
          <a:xfrm>
            <a:off x="2093976" y="4690872"/>
            <a:ext cx="4956048" cy="274320"/>
          </a:xfrm>
          <a:prstGeom prst="rect">
            <a:avLst/>
          </a:prstGeom>
          <a:noFill/>
        </p:spPr>
        <p:txBody>
          <a:bodyPr wrap="square" anchor="t" lIns="0" rIns="0" tIns="0" bIns="0">
            <a:spAutoFit/>
          </a:bodyPr>
          <a:lstStyle/>
          <a:p>
            <a:pPr algn="l"/>
            <a:r>
              <a:rPr sz="1200" b="1" i="0">
                <a:solidFill>
                  <a:srgbClr val="13294B"/>
                </a:solidFill>
                <a:latin typeface="Calibri"/>
              </a:rPr>
              <a:t>Awaiting</a:t>
            </a:r>
          </a:p>
        </p:txBody>
      </p:sp>
      <p:sp>
        <p:nvSpPr>
          <p:cNvPr id="21" name="TextBox 20"/>
          <p:cNvSpPr txBox="1"/>
          <p:nvPr/>
        </p:nvSpPr>
        <p:spPr>
          <a:xfrm>
            <a:off x="2093976" y="4937760"/>
            <a:ext cx="4956048" cy="457200"/>
          </a:xfrm>
          <a:prstGeom prst="rect">
            <a:avLst/>
          </a:prstGeom>
          <a:noFill/>
        </p:spPr>
        <p:txBody>
          <a:bodyPr wrap="square" anchor="t" lIns="0" rIns="0" tIns="0" bIns="0">
            <a:spAutoFit/>
          </a:bodyPr>
          <a:lstStyle/>
          <a:p>
            <a:pPr algn="l"/>
            <a:r>
              <a:rPr sz="1100" b="0" i="0">
                <a:solidFill>
                  <a:srgbClr val="5C6B7A"/>
                </a:solidFill>
                <a:latin typeface="Calibri"/>
              </a:rPr>
              <a:t>evaluation result, then ARB sign-off</a:t>
            </a:r>
          </a:p>
        </p:txBody>
      </p:sp>
      <p:sp>
        <p:nvSpPr>
          <p:cNvPr id="22" name="TextBox 21"/>
          <p:cNvSpPr txBox="1"/>
          <p:nvPr/>
        </p:nvSpPr>
        <p:spPr>
          <a:xfrm>
            <a:off x="7498079" y="1920240"/>
            <a:ext cx="4114800" cy="3840480"/>
          </a:xfrm>
          <a:prstGeom prst="rect">
            <a:avLst/>
          </a:prstGeom>
          <a:noFill/>
        </p:spPr>
        <p:txBody>
          <a:bodyPr wrap="square" lIns="0" tIns="0">
            <a:spAutoFit/>
          </a:bodyPr>
          <a:lstStyle/>
          <a:p>
            <a:pPr algn="l">
              <a:spcAft>
                <a:spcPts val="1300"/>
              </a:spcAft>
            </a:pPr>
            <a:r>
              <a:rPr sz="1400" b="1">
                <a:solidFill>
                  <a:srgbClr val="2E75B6"/>
                </a:solidFill>
                <a:latin typeface="Calibri"/>
              </a:rPr>
              <a:t>▪  </a:t>
            </a:r>
            <a:r>
              <a:rPr sz="1400">
                <a:solidFill>
                  <a:srgbClr val="13294B"/>
                </a:solidFill>
                <a:latin typeface="Calibri"/>
              </a:rPr>
              <a:t>Chosen by a PFF-specific retrieval evaluation, not by reputation.</a:t>
            </a:r>
          </a:p>
          <a:p>
            <a:pPr algn="l">
              <a:spcAft>
                <a:spcPts val="1300"/>
              </a:spcAft>
            </a:pPr>
            <a:r>
              <a:rPr sz="1400" b="1">
                <a:solidFill>
                  <a:srgbClr val="2E75B6"/>
                </a:solidFill>
                <a:latin typeface="Calibri"/>
              </a:rPr>
              <a:t>▪  </a:t>
            </a:r>
            <a:r>
              <a:rPr sz="1400">
                <a:solidFill>
                  <a:srgbClr val="13294B"/>
                </a:solidFill>
                <a:latin typeface="Calibri"/>
              </a:rPr>
              <a:t>Dimension affects vector storage cost (deck 08) and recall — not reduced without evaluation.</a:t>
            </a:r>
          </a:p>
          <a:p>
            <a:pPr algn="l">
              <a:spcAft>
                <a:spcPts val="1300"/>
              </a:spcAft>
            </a:pPr>
            <a:r>
              <a:rPr sz="1400" b="1">
                <a:solidFill>
                  <a:srgbClr val="2E75B6"/>
                </a:solidFill>
                <a:latin typeface="Calibri"/>
              </a:rPr>
              <a:t>▪  </a:t>
            </a:r>
            <a:r>
              <a:rPr sz="1400">
                <a:solidFill>
                  <a:srgbClr val="13294B"/>
                </a:solidFill>
                <a:latin typeface="Calibri"/>
              </a:rPr>
              <a:t>Re-embedding strategy defined for model/version changes.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13</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D3-24 · PROPOSED</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Vector store selection</a:t>
            </a:r>
          </a:p>
        </p:txBody>
      </p:sp>
      <p:sp>
        <p:nvSpPr>
          <p:cNvPr id="11" name="TextBox 10"/>
          <p:cNvSpPr txBox="1"/>
          <p:nvPr/>
        </p:nvSpPr>
        <p:spPr>
          <a:xfrm>
            <a:off x="1874519" y="1133856"/>
            <a:ext cx="9921240" cy="365760"/>
          </a:xfrm>
          <a:prstGeom prst="rect">
            <a:avLst/>
          </a:prstGeom>
          <a:noFill/>
        </p:spPr>
        <p:txBody>
          <a:bodyPr wrap="square" anchor="t" lIns="0" rIns="0" tIns="0" bIns="0">
            <a:spAutoFit/>
          </a:bodyPr>
          <a:lstStyle/>
          <a:p>
            <a:pPr algn="l"/>
            <a:r>
              <a:rPr sz="1300" b="0" i="0">
                <a:solidFill>
                  <a:srgbClr val="5C6B7A"/>
                </a:solidFill>
                <a:latin typeface="Calibri"/>
              </a:rPr>
              <a:t>Build-default recommendation — ARB sign-off (deck 09)</a:t>
            </a:r>
          </a:p>
        </p:txBody>
      </p:sp>
      <p:sp>
        <p:nvSpPr>
          <p:cNvPr id="12" name="Rounded Rectangle 11"/>
          <p:cNvSpPr/>
          <p:nvPr/>
        </p:nvSpPr>
        <p:spPr>
          <a:xfrm>
            <a:off x="1874519" y="1783080"/>
            <a:ext cx="5394960" cy="402336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93976" y="1947672"/>
            <a:ext cx="4956048" cy="320040"/>
          </a:xfrm>
          <a:prstGeom prst="rect">
            <a:avLst/>
          </a:prstGeom>
          <a:noFill/>
        </p:spPr>
        <p:txBody>
          <a:bodyPr wrap="square" anchor="t" lIns="0" rIns="0" tIns="0" bIns="0">
            <a:spAutoFit/>
          </a:bodyPr>
          <a:lstStyle/>
          <a:p>
            <a:pPr algn="l"/>
            <a:r>
              <a:rPr sz="1250" b="1" i="0">
                <a:solidFill>
                  <a:srgbClr val="FFC72C"/>
                </a:solidFill>
                <a:latin typeface="Calibri"/>
              </a:rPr>
              <a:t>RECOMMENDATION (BUILD DEFAULT)</a:t>
            </a:r>
          </a:p>
        </p:txBody>
      </p:sp>
      <p:sp>
        <p:nvSpPr>
          <p:cNvPr id="14" name="TextBox 13"/>
          <p:cNvSpPr txBox="1"/>
          <p:nvPr/>
        </p:nvSpPr>
        <p:spPr>
          <a:xfrm>
            <a:off x="2093976" y="2441448"/>
            <a:ext cx="4956048" cy="274320"/>
          </a:xfrm>
          <a:prstGeom prst="rect">
            <a:avLst/>
          </a:prstGeom>
          <a:noFill/>
        </p:spPr>
        <p:txBody>
          <a:bodyPr wrap="square" anchor="t" lIns="0" rIns="0" tIns="0" bIns="0">
            <a:spAutoFit/>
          </a:bodyPr>
          <a:lstStyle/>
          <a:p>
            <a:pPr algn="l"/>
            <a:r>
              <a:rPr sz="1200" b="1" i="0">
                <a:solidFill>
                  <a:srgbClr val="13294B"/>
                </a:solidFill>
                <a:latin typeface="Calibri"/>
              </a:rPr>
              <a:t>Store</a:t>
            </a:r>
          </a:p>
        </p:txBody>
      </p:sp>
      <p:sp>
        <p:nvSpPr>
          <p:cNvPr id="15" name="TextBox 14"/>
          <p:cNvSpPr txBox="1"/>
          <p:nvPr/>
        </p:nvSpPr>
        <p:spPr>
          <a:xfrm>
            <a:off x="2093976" y="2688336"/>
            <a:ext cx="4956048" cy="457200"/>
          </a:xfrm>
          <a:prstGeom prst="rect">
            <a:avLst/>
          </a:prstGeom>
          <a:noFill/>
        </p:spPr>
        <p:txBody>
          <a:bodyPr wrap="square" anchor="t" lIns="0" rIns="0" tIns="0" bIns="0">
            <a:spAutoFit/>
          </a:bodyPr>
          <a:lstStyle/>
          <a:p>
            <a:pPr algn="l"/>
            <a:r>
              <a:rPr sz="1100" b="0" i="0">
                <a:solidFill>
                  <a:srgbClr val="5C6B7A"/>
                </a:solidFill>
                <a:latin typeface="Calibri"/>
              </a:rPr>
              <a:t>Azure AI Search (vector + hybrid)</a:t>
            </a:r>
          </a:p>
        </p:txBody>
      </p:sp>
      <p:sp>
        <p:nvSpPr>
          <p:cNvPr id="16" name="TextBox 15"/>
          <p:cNvSpPr txBox="1"/>
          <p:nvPr/>
        </p:nvSpPr>
        <p:spPr>
          <a:xfrm>
            <a:off x="2093976" y="3191256"/>
            <a:ext cx="4956048" cy="274320"/>
          </a:xfrm>
          <a:prstGeom prst="rect">
            <a:avLst/>
          </a:prstGeom>
          <a:noFill/>
        </p:spPr>
        <p:txBody>
          <a:bodyPr wrap="square" anchor="t" lIns="0" rIns="0" tIns="0" bIns="0">
            <a:spAutoFit/>
          </a:bodyPr>
          <a:lstStyle/>
          <a:p>
            <a:pPr algn="l"/>
            <a:r>
              <a:rPr sz="1200" b="1" i="0">
                <a:solidFill>
                  <a:srgbClr val="13294B"/>
                </a:solidFill>
                <a:latin typeface="Calibri"/>
              </a:rPr>
              <a:t>Fallback</a:t>
            </a:r>
          </a:p>
        </p:txBody>
      </p:sp>
      <p:sp>
        <p:nvSpPr>
          <p:cNvPr id="17" name="TextBox 16"/>
          <p:cNvSpPr txBox="1"/>
          <p:nvPr/>
        </p:nvSpPr>
        <p:spPr>
          <a:xfrm>
            <a:off x="2093976" y="3438144"/>
            <a:ext cx="4956048" cy="457200"/>
          </a:xfrm>
          <a:prstGeom prst="rect">
            <a:avLst/>
          </a:prstGeom>
          <a:noFill/>
        </p:spPr>
        <p:txBody>
          <a:bodyPr wrap="square" anchor="t" lIns="0" rIns="0" tIns="0" bIns="0">
            <a:spAutoFit/>
          </a:bodyPr>
          <a:lstStyle/>
          <a:p>
            <a:pPr algn="l"/>
            <a:r>
              <a:rPr sz="1100" b="0" i="0">
                <a:solidFill>
                  <a:srgbClr val="5C6B7A"/>
                </a:solidFill>
                <a:latin typeface="Calibri"/>
              </a:rPr>
              <a:t>pgvector on Azure Postgres</a:t>
            </a:r>
          </a:p>
        </p:txBody>
      </p:sp>
      <p:sp>
        <p:nvSpPr>
          <p:cNvPr id="18" name="TextBox 17"/>
          <p:cNvSpPr txBox="1"/>
          <p:nvPr/>
        </p:nvSpPr>
        <p:spPr>
          <a:xfrm>
            <a:off x="2093976" y="3941063"/>
            <a:ext cx="4956048" cy="274320"/>
          </a:xfrm>
          <a:prstGeom prst="rect">
            <a:avLst/>
          </a:prstGeom>
          <a:noFill/>
        </p:spPr>
        <p:txBody>
          <a:bodyPr wrap="square" anchor="t" lIns="0" rIns="0" tIns="0" bIns="0">
            <a:spAutoFit/>
          </a:bodyPr>
          <a:lstStyle/>
          <a:p>
            <a:pPr algn="l"/>
            <a:r>
              <a:rPr sz="1200" b="1" i="0">
                <a:solidFill>
                  <a:srgbClr val="13294B"/>
                </a:solidFill>
                <a:latin typeface="Calibri"/>
              </a:rPr>
              <a:t>Why</a:t>
            </a:r>
          </a:p>
        </p:txBody>
      </p:sp>
      <p:sp>
        <p:nvSpPr>
          <p:cNvPr id="19" name="TextBox 18"/>
          <p:cNvSpPr txBox="1"/>
          <p:nvPr/>
        </p:nvSpPr>
        <p:spPr>
          <a:xfrm>
            <a:off x="2093976" y="4187952"/>
            <a:ext cx="4956048" cy="457200"/>
          </a:xfrm>
          <a:prstGeom prst="rect">
            <a:avLst/>
          </a:prstGeom>
          <a:noFill/>
        </p:spPr>
        <p:txBody>
          <a:bodyPr wrap="square" anchor="t" lIns="0" rIns="0" tIns="0" bIns="0">
            <a:spAutoFit/>
          </a:bodyPr>
          <a:lstStyle/>
          <a:p>
            <a:pPr algn="l"/>
            <a:r>
              <a:rPr sz="1100" b="0" i="0">
                <a:solidFill>
                  <a:srgbClr val="5C6B7A"/>
                </a:solidFill>
                <a:latin typeface="Calibri"/>
              </a:rPr>
              <a:t>managed, hybrid retrieval, Azure-native security</a:t>
            </a:r>
          </a:p>
        </p:txBody>
      </p:sp>
      <p:sp>
        <p:nvSpPr>
          <p:cNvPr id="20" name="TextBox 19"/>
          <p:cNvSpPr txBox="1"/>
          <p:nvPr/>
        </p:nvSpPr>
        <p:spPr>
          <a:xfrm>
            <a:off x="2093976" y="4690872"/>
            <a:ext cx="4956048" cy="274320"/>
          </a:xfrm>
          <a:prstGeom prst="rect">
            <a:avLst/>
          </a:prstGeom>
          <a:noFill/>
        </p:spPr>
        <p:txBody>
          <a:bodyPr wrap="square" anchor="t" lIns="0" rIns="0" tIns="0" bIns="0">
            <a:spAutoFit/>
          </a:bodyPr>
          <a:lstStyle/>
          <a:p>
            <a:pPr algn="l"/>
            <a:r>
              <a:rPr sz="1200" b="1" i="0">
                <a:solidFill>
                  <a:srgbClr val="13294B"/>
                </a:solidFill>
                <a:latin typeface="Calibri"/>
              </a:rPr>
              <a:t>Awaiting</a:t>
            </a:r>
          </a:p>
        </p:txBody>
      </p:sp>
      <p:sp>
        <p:nvSpPr>
          <p:cNvPr id="21" name="TextBox 20"/>
          <p:cNvSpPr txBox="1"/>
          <p:nvPr/>
        </p:nvSpPr>
        <p:spPr>
          <a:xfrm>
            <a:off x="2093976" y="4937760"/>
            <a:ext cx="4956048" cy="457200"/>
          </a:xfrm>
          <a:prstGeom prst="rect">
            <a:avLst/>
          </a:prstGeom>
          <a:noFill/>
        </p:spPr>
        <p:txBody>
          <a:bodyPr wrap="square" anchor="t" lIns="0" rIns="0" tIns="0" bIns="0">
            <a:spAutoFit/>
          </a:bodyPr>
          <a:lstStyle/>
          <a:p>
            <a:pPr algn="l"/>
            <a:r>
              <a:rPr sz="1100" b="0" i="0">
                <a:solidFill>
                  <a:srgbClr val="5C6B7A"/>
                </a:solidFill>
                <a:latin typeface="Calibri"/>
              </a:rPr>
              <a:t>ARB sign-off</a:t>
            </a:r>
          </a:p>
        </p:txBody>
      </p:sp>
      <p:pic>
        <p:nvPicPr>
          <p:cNvPr id="22" name="Picture 21" descr="aisearch.png"/>
          <p:cNvPicPr>
            <a:picLocks noChangeAspect="1"/>
          </p:cNvPicPr>
          <p:nvPr/>
        </p:nvPicPr>
        <p:blipFill>
          <a:blip r:embed="rId3"/>
          <a:stretch>
            <a:fillRect/>
          </a:stretch>
        </p:blipFill>
        <p:spPr>
          <a:xfrm>
            <a:off x="8595360" y="2103120"/>
            <a:ext cx="1005840" cy="1005840"/>
          </a:xfrm>
          <a:prstGeom prst="rect">
            <a:avLst/>
          </a:prstGeom>
        </p:spPr>
      </p:pic>
      <p:sp>
        <p:nvSpPr>
          <p:cNvPr id="23" name="TextBox 22"/>
          <p:cNvSpPr txBox="1"/>
          <p:nvPr/>
        </p:nvSpPr>
        <p:spPr>
          <a:xfrm>
            <a:off x="7498079" y="3246120"/>
            <a:ext cx="4114800" cy="365760"/>
          </a:xfrm>
          <a:prstGeom prst="rect">
            <a:avLst/>
          </a:prstGeom>
          <a:noFill/>
        </p:spPr>
        <p:txBody>
          <a:bodyPr wrap="square" anchor="t" lIns="0" rIns="0" tIns="0" bIns="0">
            <a:spAutoFit/>
          </a:bodyPr>
          <a:lstStyle/>
          <a:p>
            <a:pPr algn="ctr"/>
            <a:r>
              <a:rPr sz="1500" b="1" i="0">
                <a:solidFill>
                  <a:srgbClr val="13294B"/>
                </a:solidFill>
                <a:latin typeface="Calibri"/>
              </a:rPr>
              <a:t>Azure AI Search</a:t>
            </a:r>
          </a:p>
        </p:txBody>
      </p:sp>
      <p:sp>
        <p:nvSpPr>
          <p:cNvPr id="24" name="TextBox 23"/>
          <p:cNvSpPr txBox="1"/>
          <p:nvPr/>
        </p:nvSpPr>
        <p:spPr>
          <a:xfrm>
            <a:off x="7498079" y="3840480"/>
            <a:ext cx="4114800" cy="1097280"/>
          </a:xfrm>
          <a:prstGeom prst="rect">
            <a:avLst/>
          </a:prstGeom>
          <a:noFill/>
        </p:spPr>
        <p:txBody>
          <a:bodyPr wrap="square" anchor="t" lIns="0" rIns="0" tIns="0" bIns="0">
            <a:spAutoFit/>
          </a:bodyPr>
          <a:lstStyle/>
          <a:p>
            <a:pPr algn="l"/>
            <a:r>
              <a:rPr sz="1300" b="0" i="0">
                <a:solidFill>
                  <a:srgbClr val="5C6B7A"/>
                </a:solidFill>
                <a:latin typeface="Calibri"/>
              </a:rPr>
              <a:t>Cost drivers — tier, replicas/partitions, index size, query volume — are broken down in deck 08.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14</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D3-25</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Context engineering &amp; budget</a:t>
            </a:r>
          </a:p>
        </p:txBody>
      </p:sp>
      <p:sp>
        <p:nvSpPr>
          <p:cNvPr id="11" name="TextBox 10"/>
          <p:cNvSpPr txBox="1"/>
          <p:nvPr/>
        </p:nvSpPr>
        <p:spPr>
          <a:xfrm>
            <a:off x="1874519" y="1783080"/>
            <a:ext cx="9921240" cy="3108960"/>
          </a:xfrm>
          <a:prstGeom prst="rect">
            <a:avLst/>
          </a:prstGeom>
          <a:noFill/>
        </p:spPr>
        <p:txBody>
          <a:bodyPr wrap="square" lIns="0" tIns="0">
            <a:spAutoFit/>
          </a:bodyPr>
          <a:lstStyle/>
          <a:p>
            <a:pPr algn="l">
              <a:spcAft>
                <a:spcPts val="1500"/>
              </a:spcAft>
            </a:pPr>
            <a:r>
              <a:rPr sz="1600" b="1">
                <a:solidFill>
                  <a:srgbClr val="2E75B6"/>
                </a:solidFill>
                <a:latin typeface="Calibri"/>
              </a:rPr>
              <a:t>▪  </a:t>
            </a:r>
            <a:r>
              <a:rPr sz="1600">
                <a:solidFill>
                  <a:srgbClr val="13294B"/>
                </a:solidFill>
                <a:latin typeface="Calibri"/>
              </a:rPr>
              <a:t>Context is assembled with an explicit budget: authoritative data first, then relevant RAG, required workflow &amp; authorization context.</a:t>
            </a:r>
          </a:p>
          <a:p>
            <a:pPr algn="l">
              <a:spcAft>
                <a:spcPts val="1500"/>
              </a:spcAft>
            </a:pPr>
            <a:r>
              <a:rPr sz="1600" b="1">
                <a:solidFill>
                  <a:srgbClr val="2E75B6"/>
                </a:solidFill>
                <a:latin typeface="Calibri"/>
              </a:rPr>
              <a:t>▪  </a:t>
            </a:r>
            <a:r>
              <a:rPr sz="1600">
                <a:solidFill>
                  <a:srgbClr val="13294B"/>
                </a:solidFill>
                <a:latin typeface="Calibri"/>
              </a:rPr>
              <a:t>Token budget enforced by batch → compress (approved) → retrieve-relevant → continue — never silent truncation of authoritative data.</a:t>
            </a:r>
          </a:p>
          <a:p>
            <a:pPr algn="l">
              <a:spcAft>
                <a:spcPts val="1500"/>
              </a:spcAft>
            </a:pPr>
            <a:r>
              <a:rPr sz="1600" b="1">
                <a:solidFill>
                  <a:srgbClr val="2E75B6"/>
                </a:solidFill>
                <a:latin typeface="Calibri"/>
              </a:rPr>
              <a:t>▪  </a:t>
            </a:r>
            <a:r>
              <a:rPr sz="1600">
                <a:solidFill>
                  <a:srgbClr val="13294B"/>
                </a:solidFill>
                <a:latin typeface="Calibri"/>
              </a:rPr>
              <a:t>Context size is both a latency and a cost driver (deck 08).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15</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D3-28 · PROPOSED</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Quality-gated refinement loop</a:t>
            </a:r>
          </a:p>
        </p:txBody>
      </p:sp>
      <p:sp>
        <p:nvSpPr>
          <p:cNvPr id="11" name="TextBox 10"/>
          <p:cNvSpPr txBox="1"/>
          <p:nvPr/>
        </p:nvSpPr>
        <p:spPr>
          <a:xfrm>
            <a:off x="1874519" y="1133856"/>
            <a:ext cx="9921240" cy="365760"/>
          </a:xfrm>
          <a:prstGeom prst="rect">
            <a:avLst/>
          </a:prstGeom>
          <a:noFill/>
        </p:spPr>
        <p:txBody>
          <a:bodyPr wrap="square" anchor="t" lIns="0" rIns="0" tIns="0" bIns="0">
            <a:spAutoFit/>
          </a:bodyPr>
          <a:lstStyle/>
          <a:p>
            <a:pPr algn="l"/>
            <a:r>
              <a:rPr sz="1300" b="0" i="0">
                <a:solidFill>
                  <a:srgbClr val="5C6B7A"/>
                </a:solidFill>
                <a:latin typeface="Calibri"/>
              </a:rPr>
              <a:t>Runtime quality control — ARB sign-off (deck 09)</a:t>
            </a:r>
          </a:p>
        </p:txBody>
      </p:sp>
      <p:sp>
        <p:nvSpPr>
          <p:cNvPr id="12" name="Rounded Rectangle 11"/>
          <p:cNvSpPr/>
          <p:nvPr/>
        </p:nvSpPr>
        <p:spPr>
          <a:xfrm>
            <a:off x="1874519" y="2286000"/>
            <a:ext cx="1794052" cy="96012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65960" y="2432304"/>
            <a:ext cx="1611172" cy="457200"/>
          </a:xfrm>
          <a:prstGeom prst="rect">
            <a:avLst/>
          </a:prstGeom>
          <a:noFill/>
        </p:spPr>
        <p:txBody>
          <a:bodyPr wrap="square" anchor="t" lIns="0" rIns="0" tIns="0" bIns="0">
            <a:spAutoFit/>
          </a:bodyPr>
          <a:lstStyle/>
          <a:p>
            <a:pPr algn="ctr"/>
            <a:r>
              <a:rPr sz="1250" b="1" i="0">
                <a:solidFill>
                  <a:srgbClr val="13294B"/>
                </a:solidFill>
                <a:latin typeface="Cambria"/>
              </a:rPr>
              <a:t>Generate</a:t>
            </a:r>
          </a:p>
        </p:txBody>
      </p:sp>
      <p:sp>
        <p:nvSpPr>
          <p:cNvPr id="14" name="TextBox 13"/>
          <p:cNvSpPr txBox="1"/>
          <p:nvPr/>
        </p:nvSpPr>
        <p:spPr>
          <a:xfrm>
            <a:off x="1965960" y="2862072"/>
            <a:ext cx="1611172" cy="365760"/>
          </a:xfrm>
          <a:prstGeom prst="rect">
            <a:avLst/>
          </a:prstGeom>
          <a:noFill/>
        </p:spPr>
        <p:txBody>
          <a:bodyPr wrap="square" anchor="t" lIns="0" rIns="0" tIns="0" bIns="0">
            <a:spAutoFit/>
          </a:bodyPr>
          <a:lstStyle/>
          <a:p>
            <a:pPr algn="ctr"/>
            <a:r>
              <a:rPr sz="1000" b="0" i="0">
                <a:solidFill>
                  <a:srgbClr val="5C6B7A"/>
                </a:solidFill>
                <a:latin typeface="Calibri"/>
              </a:rPr>
              <a:t>candidate output</a:t>
            </a:r>
          </a:p>
        </p:txBody>
      </p:sp>
      <p:sp>
        <p:nvSpPr>
          <p:cNvPr id="15" name="Rounded Rectangle 14"/>
          <p:cNvSpPr/>
          <p:nvPr/>
        </p:nvSpPr>
        <p:spPr>
          <a:xfrm>
            <a:off x="3906316" y="2286000"/>
            <a:ext cx="1794052" cy="96012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97756" y="2432304"/>
            <a:ext cx="1611172" cy="457200"/>
          </a:xfrm>
          <a:prstGeom prst="rect">
            <a:avLst/>
          </a:prstGeom>
          <a:noFill/>
        </p:spPr>
        <p:txBody>
          <a:bodyPr wrap="square" anchor="t" lIns="0" rIns="0" tIns="0" bIns="0">
            <a:spAutoFit/>
          </a:bodyPr>
          <a:lstStyle/>
          <a:p>
            <a:pPr algn="ctr"/>
            <a:r>
              <a:rPr sz="1250" b="1" i="0">
                <a:solidFill>
                  <a:srgbClr val="13294B"/>
                </a:solidFill>
                <a:latin typeface="Cambria"/>
              </a:rPr>
              <a:t>Score</a:t>
            </a:r>
          </a:p>
        </p:txBody>
      </p:sp>
      <p:sp>
        <p:nvSpPr>
          <p:cNvPr id="17" name="TextBox 16"/>
          <p:cNvSpPr txBox="1"/>
          <p:nvPr/>
        </p:nvSpPr>
        <p:spPr>
          <a:xfrm>
            <a:off x="3997756" y="2862072"/>
            <a:ext cx="1611172" cy="365760"/>
          </a:xfrm>
          <a:prstGeom prst="rect">
            <a:avLst/>
          </a:prstGeom>
          <a:noFill/>
        </p:spPr>
        <p:txBody>
          <a:bodyPr wrap="square" anchor="t" lIns="0" rIns="0" tIns="0" bIns="0">
            <a:spAutoFit/>
          </a:bodyPr>
          <a:lstStyle/>
          <a:p>
            <a:pPr algn="ctr"/>
            <a:r>
              <a:rPr sz="1000" b="0" i="0">
                <a:solidFill>
                  <a:srgbClr val="5C6B7A"/>
                </a:solidFill>
                <a:latin typeface="Calibri"/>
              </a:rPr>
              <a:t>deterministic</a:t>
            </a:r>
          </a:p>
        </p:txBody>
      </p:sp>
      <p:cxnSp>
        <p:nvCxnSpPr>
          <p:cNvPr id="18" name="Connector 17"/>
          <p:cNvCxnSpPr/>
          <p:nvPr/>
        </p:nvCxnSpPr>
        <p:spPr>
          <a:xfrm>
            <a:off x="3668572" y="2766060"/>
            <a:ext cx="237744" cy="0"/>
          </a:xfrm>
          <a:prstGeom prst="line">
            <a:avLst/>
          </a:prstGeom>
          <a:ln w="20320">
            <a:solidFill>
              <a:srgbClr val="2E75B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938113" y="2286000"/>
            <a:ext cx="1794052" cy="96012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29553" y="2432304"/>
            <a:ext cx="1611172" cy="457200"/>
          </a:xfrm>
          <a:prstGeom prst="rect">
            <a:avLst/>
          </a:prstGeom>
          <a:noFill/>
        </p:spPr>
        <p:txBody>
          <a:bodyPr wrap="square" anchor="t" lIns="0" rIns="0" tIns="0" bIns="0">
            <a:spAutoFit/>
          </a:bodyPr>
          <a:lstStyle/>
          <a:p>
            <a:pPr algn="ctr"/>
            <a:r>
              <a:rPr sz="1250" b="1" i="0">
                <a:solidFill>
                  <a:srgbClr val="13294B"/>
                </a:solidFill>
                <a:latin typeface="Cambria"/>
              </a:rPr>
              <a:t>Below</a:t>
            </a:r>
          </a:p>
          <a:p>
            <a:pPr algn="ctr"/>
            <a:r>
              <a:rPr sz="1250" b="1" i="0">
                <a:solidFill>
                  <a:srgbClr val="13294B"/>
                </a:solidFill>
                <a:latin typeface="Cambria"/>
              </a:rPr>
              <a:t>threshold?</a:t>
            </a:r>
          </a:p>
        </p:txBody>
      </p:sp>
      <p:sp>
        <p:nvSpPr>
          <p:cNvPr id="21" name="TextBox 20"/>
          <p:cNvSpPr txBox="1"/>
          <p:nvPr/>
        </p:nvSpPr>
        <p:spPr>
          <a:xfrm>
            <a:off x="6029553" y="2862072"/>
            <a:ext cx="1611172" cy="365760"/>
          </a:xfrm>
          <a:prstGeom prst="rect">
            <a:avLst/>
          </a:prstGeom>
          <a:noFill/>
        </p:spPr>
        <p:txBody>
          <a:bodyPr wrap="square" anchor="t" lIns="0" rIns="0" tIns="0" bIns="0">
            <a:spAutoFit/>
          </a:bodyPr>
          <a:lstStyle/>
          <a:p>
            <a:pPr algn="ctr"/>
            <a:r>
              <a:rPr sz="1000" b="0" i="0">
                <a:solidFill>
                  <a:srgbClr val="5C6B7A"/>
                </a:solidFill>
                <a:latin typeface="Calibri"/>
              </a:rPr>
              <a:t>regenerate</a:t>
            </a:r>
          </a:p>
        </p:txBody>
      </p:sp>
      <p:cxnSp>
        <p:nvCxnSpPr>
          <p:cNvPr id="22" name="Connector 21"/>
          <p:cNvCxnSpPr/>
          <p:nvPr/>
        </p:nvCxnSpPr>
        <p:spPr>
          <a:xfrm>
            <a:off x="5700369" y="2766060"/>
            <a:ext cx="237744" cy="0"/>
          </a:xfrm>
          <a:prstGeom prst="line">
            <a:avLst/>
          </a:prstGeom>
          <a:ln w="20320">
            <a:solidFill>
              <a:srgbClr val="2E75B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969910" y="2286000"/>
            <a:ext cx="1794052" cy="96012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61350" y="2432304"/>
            <a:ext cx="1611172" cy="457200"/>
          </a:xfrm>
          <a:prstGeom prst="rect">
            <a:avLst/>
          </a:prstGeom>
          <a:noFill/>
        </p:spPr>
        <p:txBody>
          <a:bodyPr wrap="square" anchor="t" lIns="0" rIns="0" tIns="0" bIns="0">
            <a:spAutoFit/>
          </a:bodyPr>
          <a:lstStyle/>
          <a:p>
            <a:pPr algn="ctr"/>
            <a:r>
              <a:rPr sz="1250" b="1" i="0">
                <a:solidFill>
                  <a:srgbClr val="13294B"/>
                </a:solidFill>
                <a:latin typeface="Cambria"/>
              </a:rPr>
              <a:t>Model ladder</a:t>
            </a:r>
          </a:p>
        </p:txBody>
      </p:sp>
      <p:sp>
        <p:nvSpPr>
          <p:cNvPr id="25" name="TextBox 24"/>
          <p:cNvSpPr txBox="1"/>
          <p:nvPr/>
        </p:nvSpPr>
        <p:spPr>
          <a:xfrm>
            <a:off x="8061350" y="2862072"/>
            <a:ext cx="1611172" cy="365760"/>
          </a:xfrm>
          <a:prstGeom prst="rect">
            <a:avLst/>
          </a:prstGeom>
          <a:noFill/>
        </p:spPr>
        <p:txBody>
          <a:bodyPr wrap="square" anchor="t" lIns="0" rIns="0" tIns="0" bIns="0">
            <a:spAutoFit/>
          </a:bodyPr>
          <a:lstStyle/>
          <a:p>
            <a:pPr algn="ctr"/>
            <a:r>
              <a:rPr sz="1000" b="0" i="0">
                <a:solidFill>
                  <a:srgbClr val="5C6B7A"/>
                </a:solidFill>
                <a:latin typeface="Calibri"/>
              </a:rPr>
              <a:t>bounded</a:t>
            </a:r>
          </a:p>
        </p:txBody>
      </p:sp>
      <p:cxnSp>
        <p:nvCxnSpPr>
          <p:cNvPr id="26" name="Connector 25"/>
          <p:cNvCxnSpPr/>
          <p:nvPr/>
        </p:nvCxnSpPr>
        <p:spPr>
          <a:xfrm>
            <a:off x="7732166" y="2766060"/>
            <a:ext cx="237744" cy="0"/>
          </a:xfrm>
          <a:prstGeom prst="line">
            <a:avLst/>
          </a:prstGeom>
          <a:ln w="20320">
            <a:solidFill>
              <a:srgbClr val="2E75B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0001707" y="2286000"/>
            <a:ext cx="1794052" cy="960120"/>
          </a:xfrm>
          <a:prstGeom prst="roundRect">
            <a:avLst/>
          </a:prstGeom>
          <a:solidFill>
            <a:srgbClr val="F3F6FA"/>
          </a:solidFill>
          <a:ln w="15875">
            <a:solidFill>
              <a:srgbClr val="A9B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93147" y="2432304"/>
            <a:ext cx="1611172" cy="457200"/>
          </a:xfrm>
          <a:prstGeom prst="rect">
            <a:avLst/>
          </a:prstGeom>
          <a:noFill/>
        </p:spPr>
        <p:txBody>
          <a:bodyPr wrap="square" anchor="t" lIns="0" rIns="0" tIns="0" bIns="0">
            <a:spAutoFit/>
          </a:bodyPr>
          <a:lstStyle/>
          <a:p>
            <a:pPr algn="ctr"/>
            <a:r>
              <a:rPr sz="1250" b="1" i="0">
                <a:solidFill>
                  <a:srgbClr val="13294B"/>
                </a:solidFill>
                <a:latin typeface="Cambria"/>
              </a:rPr>
              <a:t>Accept</a:t>
            </a:r>
          </a:p>
        </p:txBody>
      </p:sp>
      <p:sp>
        <p:nvSpPr>
          <p:cNvPr id="29" name="TextBox 28"/>
          <p:cNvSpPr txBox="1"/>
          <p:nvPr/>
        </p:nvSpPr>
        <p:spPr>
          <a:xfrm>
            <a:off x="10093147" y="2862072"/>
            <a:ext cx="1611172" cy="365760"/>
          </a:xfrm>
          <a:prstGeom prst="rect">
            <a:avLst/>
          </a:prstGeom>
          <a:noFill/>
        </p:spPr>
        <p:txBody>
          <a:bodyPr wrap="square" anchor="t" lIns="0" rIns="0" tIns="0" bIns="0">
            <a:spAutoFit/>
          </a:bodyPr>
          <a:lstStyle/>
          <a:p>
            <a:pPr algn="ctr"/>
            <a:r>
              <a:rPr sz="1000" b="0" i="0">
                <a:solidFill>
                  <a:srgbClr val="5C6B7A"/>
                </a:solidFill>
                <a:latin typeface="Calibri"/>
              </a:rPr>
              <a:t>or strict-block</a:t>
            </a:r>
          </a:p>
        </p:txBody>
      </p:sp>
      <p:cxnSp>
        <p:nvCxnSpPr>
          <p:cNvPr id="30" name="Connector 29"/>
          <p:cNvCxnSpPr/>
          <p:nvPr/>
        </p:nvCxnSpPr>
        <p:spPr>
          <a:xfrm>
            <a:off x="9763963" y="2766060"/>
            <a:ext cx="237744" cy="0"/>
          </a:xfrm>
          <a:prstGeom prst="line">
            <a:avLst/>
          </a:prstGeom>
          <a:ln w="20320">
            <a:solidFill>
              <a:srgbClr val="2E75B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874519" y="3840480"/>
            <a:ext cx="9921240" cy="1828800"/>
          </a:xfrm>
          <a:prstGeom prst="rect">
            <a:avLst/>
          </a:prstGeom>
          <a:noFill/>
        </p:spPr>
        <p:txBody>
          <a:bodyPr wrap="square" lIns="0" tIns="0">
            <a:spAutoFit/>
          </a:bodyPr>
          <a:lstStyle/>
          <a:p>
            <a:pPr algn="l">
              <a:spcAft>
                <a:spcPts val="1000"/>
              </a:spcAft>
            </a:pPr>
            <a:r>
              <a:rPr sz="1350" b="1">
                <a:solidFill>
                  <a:srgbClr val="2E75B6"/>
                </a:solidFill>
                <a:latin typeface="Calibri"/>
              </a:rPr>
              <a:t>▪  </a:t>
            </a:r>
            <a:r>
              <a:rPr sz="1350">
                <a:solidFill>
                  <a:srgbClr val="13294B"/>
                </a:solidFill>
                <a:latin typeface="Calibri"/>
              </a:rPr>
              <a:t>A deterministic controller scores each output; below a configured threshold it regenerates and/or escalates up a model ladder, bounded.</a:t>
            </a:r>
          </a:p>
          <a:p>
            <a:pPr algn="l">
              <a:spcAft>
                <a:spcPts val="1000"/>
              </a:spcAft>
            </a:pPr>
            <a:r>
              <a:rPr sz="1350" b="1">
                <a:solidFill>
                  <a:srgbClr val="2E75B6"/>
                </a:solidFill>
                <a:latin typeface="Calibri"/>
              </a:rPr>
              <a:t>▪  </a:t>
            </a:r>
            <a:r>
              <a:rPr sz="1350">
                <a:solidFill>
                  <a:srgbClr val="13294B"/>
                </a:solidFill>
                <a:latin typeface="Calibri"/>
              </a:rPr>
              <a:t>Strict mode for governance-critical task classes; opt-in per task class (config/base/refinement.yaml).</a:t>
            </a:r>
          </a:p>
          <a:p>
            <a:pPr algn="l">
              <a:spcAft>
                <a:spcPts val="1000"/>
              </a:spcAft>
            </a:pPr>
            <a:r>
              <a:rPr sz="1350" b="1">
                <a:solidFill>
                  <a:srgbClr val="2E75B6"/>
                </a:solidFill>
                <a:latin typeface="Calibri"/>
              </a:rPr>
              <a:t>▪  </a:t>
            </a:r>
            <a:r>
              <a:rPr sz="1350">
                <a:solidFill>
                  <a:srgbClr val="13294B"/>
                </a:solidFill>
                <a:latin typeface="Calibri"/>
              </a:rPr>
              <a:t>Distinct from failure-fallback (D3-18) and offline eval gates (D7-13). Awaiting ARB + Phase 20 latency/cost benchmark.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16</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DECISION RECORD</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ADR index — AI (D3)  (1/2)</a:t>
            </a:r>
          </a:p>
        </p:txBody>
      </p:sp>
      <p:sp>
        <p:nvSpPr>
          <p:cNvPr id="11" name="TextBox 10"/>
          <p:cNvSpPr txBox="1"/>
          <p:nvPr/>
        </p:nvSpPr>
        <p:spPr>
          <a:xfrm>
            <a:off x="1874519" y="1133856"/>
            <a:ext cx="9921240" cy="365760"/>
          </a:xfrm>
          <a:prstGeom prst="rect">
            <a:avLst/>
          </a:prstGeom>
          <a:noFill/>
        </p:spPr>
        <p:txBody>
          <a:bodyPr wrap="square" anchor="t" lIns="0" rIns="0" tIns="0" bIns="0">
            <a:spAutoFit/>
          </a:bodyPr>
          <a:lstStyle/>
          <a:p>
            <a:pPr algn="l"/>
            <a:r>
              <a:rPr sz="1300" b="0" i="0">
                <a:solidFill>
                  <a:srgbClr val="5C6B7A"/>
                </a:solidFill>
                <a:latin typeface="Calibri"/>
              </a:rPr>
              <a:t>28 decisions in this domain  ·  ◆ = Proposed, awaiting ARB</a:t>
            </a:r>
          </a:p>
        </p:txBody>
      </p:sp>
      <p:graphicFrame>
        <p:nvGraphicFramePr>
          <p:cNvPr id="12" name="Table 11"/>
          <p:cNvGraphicFramePr>
            <a:graphicFrameLocks noGrp="1"/>
          </p:cNvGraphicFramePr>
          <p:nvPr/>
        </p:nvGraphicFramePr>
        <p:xfrm>
          <a:off x="1874519" y="1783080"/>
          <a:ext cx="4800599" cy="4096512"/>
        </p:xfrm>
        <a:graphic>
          <a:graphicData uri="http://schemas.openxmlformats.org/drawingml/2006/table">
            <a:tbl>
              <a:tblPr firstRow="1">
                <a:tableStyleId>{5C22544A-7EE6-4342-B048-85BDC9FD1C3A}</a:tableStyleId>
              </a:tblPr>
              <a:tblGrid>
                <a:gridCol w="880844"/>
                <a:gridCol w="2994869"/>
                <a:gridCol w="924886"/>
              </a:tblGrid>
              <a:tr h="292608">
                <a:tc>
                  <a:txBody>
                    <a:bodyPr/>
                    <a:lstStyle/>
                    <a:p>
                      <a:r>
                        <a:rPr sz="850" b="1">
                          <a:solidFill>
                            <a:srgbClr val="FFFFFF"/>
                          </a:solidFill>
                          <a:latin typeface="Calibri"/>
                        </a:rPr>
                        <a:t>ADR</a:t>
                      </a:r>
                    </a:p>
                  </a:txBody>
                  <a:tcPr marL="63500" marR="63500" marT="25400" marB="25400" anchor="ctr">
                    <a:solidFill>
                      <a:srgbClr val="13294B"/>
                    </a:solidFill>
                  </a:tcPr>
                </a:tc>
                <a:tc>
                  <a:txBody>
                    <a:bodyPr/>
                    <a:lstStyle/>
                    <a:p>
                      <a:r>
                        <a:rPr sz="850" b="1">
                          <a:solidFill>
                            <a:srgbClr val="FFFFFF"/>
                          </a:solidFill>
                          <a:latin typeface="Calibri"/>
                        </a:rPr>
                        <a:t>Decision</a:t>
                      </a:r>
                    </a:p>
                  </a:txBody>
                  <a:tcPr marL="63500" marR="63500" marT="25400" marB="25400" anchor="ctr">
                    <a:solidFill>
                      <a:srgbClr val="13294B"/>
                    </a:solidFill>
                  </a:tcPr>
                </a:tc>
                <a:tc>
                  <a:txBody>
                    <a:bodyPr/>
                    <a:lstStyle/>
                    <a:p>
                      <a:r>
                        <a:rPr sz="850" b="1">
                          <a:solidFill>
                            <a:srgbClr val="FFFFFF"/>
                          </a:solidFill>
                          <a:latin typeface="Calibri"/>
                        </a:rPr>
                        <a:t>Status</a:t>
                      </a:r>
                    </a:p>
                  </a:txBody>
                  <a:tcPr marL="63500" marR="63500" marT="25400" marB="25400" anchor="ctr">
                    <a:solidFill>
                      <a:srgbClr val="13294B"/>
                    </a:solidFill>
                  </a:tcPr>
                </a:tc>
              </a:tr>
              <a:tr h="292608">
                <a:tc>
                  <a:txBody>
                    <a:bodyPr/>
                    <a:lstStyle/>
                    <a:p>
                      <a:r>
                        <a:rPr sz="850" b="1">
                          <a:solidFill>
                            <a:srgbClr val="13294B"/>
                          </a:solidFill>
                          <a:latin typeface="Calibri"/>
                        </a:rPr>
                        <a:t>D3-01</a:t>
                      </a:r>
                    </a:p>
                  </a:txBody>
                  <a:tcPr marL="63500" marR="63500" marT="25400" marB="25400" anchor="ctr">
                    <a:solidFill>
                      <a:srgbClr val="F3F6FA"/>
                    </a:solidFill>
                  </a:tcPr>
                </a:tc>
                <a:tc>
                  <a:txBody>
                    <a:bodyPr/>
                    <a:lstStyle/>
                    <a:p>
                      <a:r>
                        <a:rPr sz="850" b="0">
                          <a:solidFill>
                            <a:srgbClr val="5C6B7A"/>
                          </a:solidFill>
                          <a:latin typeface="Calibri"/>
                        </a:rPr>
                        <a:t>AI capability taxonomy and capability-to-comp…</a:t>
                      </a:r>
                    </a:p>
                  </a:txBody>
                  <a:tcPr marL="63500" marR="63500" marT="25400" marB="25400" anchor="ctr">
                    <a:solidFill>
                      <a:srgbClr val="F3F6FA"/>
                    </a:solidFill>
                  </a:tcPr>
                </a:tc>
                <a:tc>
                  <a:txBody>
                    <a:bodyPr/>
                    <a:lstStyle/>
                    <a:p>
                      <a:r>
                        <a:rPr sz="850" b="0">
                          <a:solidFill>
                            <a:srgbClr val="5C6B7A"/>
                          </a:solidFill>
                          <a:latin typeface="Calibri"/>
                        </a:rPr>
                        <a:t>Accepted</a:t>
                      </a:r>
                    </a:p>
                  </a:txBody>
                  <a:tcPr marL="63500" marR="63500" marT="25400" marB="25400" anchor="ctr">
                    <a:solidFill>
                      <a:srgbClr val="F3F6FA"/>
                    </a:solidFill>
                  </a:tcPr>
                </a:tc>
              </a:tr>
              <a:tr h="292608">
                <a:tc>
                  <a:txBody>
                    <a:bodyPr/>
                    <a:lstStyle/>
                    <a:p>
                      <a:r>
                        <a:rPr sz="850" b="1">
                          <a:solidFill>
                            <a:srgbClr val="13294B"/>
                          </a:solidFill>
                          <a:latin typeface="Calibri"/>
                        </a:rPr>
                        <a:t>D3-02</a:t>
                      </a:r>
                    </a:p>
                  </a:txBody>
                  <a:tcPr marL="63500" marR="63500" marT="25400" marB="25400" anchor="ctr">
                    <a:solidFill>
                      <a:srgbClr val="FFFFFF"/>
                    </a:solidFill>
                  </a:tcPr>
                </a:tc>
                <a:tc>
                  <a:txBody>
                    <a:bodyPr/>
                    <a:lstStyle/>
                    <a:p>
                      <a:r>
                        <a:rPr sz="850" b="0">
                          <a:solidFill>
                            <a:srgbClr val="5C6B7A"/>
                          </a:solidFill>
                          <a:latin typeface="Calibri"/>
                        </a:rPr>
                        <a:t>Agentic architecture style — supervisor with …</a:t>
                      </a:r>
                    </a:p>
                  </a:txBody>
                  <a:tcPr marL="63500" marR="63500" marT="25400" marB="25400" anchor="ctr">
                    <a:solidFill>
                      <a:srgbClr val="FFFFFF"/>
                    </a:solidFill>
                  </a:tcPr>
                </a:tc>
                <a:tc>
                  <a:txBody>
                    <a:bodyPr/>
                    <a:lstStyle/>
                    <a:p>
                      <a:r>
                        <a:rPr sz="850" b="0">
                          <a:solidFill>
                            <a:srgbClr val="5C6B7A"/>
                          </a:solidFill>
                          <a:latin typeface="Calibri"/>
                        </a:rPr>
                        <a:t>Accepted</a:t>
                      </a:r>
                    </a:p>
                  </a:txBody>
                  <a:tcPr marL="63500" marR="63500" marT="25400" marB="25400" anchor="ctr">
                    <a:solidFill>
                      <a:srgbClr val="FFFFFF"/>
                    </a:solidFill>
                  </a:tcPr>
                </a:tc>
              </a:tr>
              <a:tr h="292608">
                <a:tc>
                  <a:txBody>
                    <a:bodyPr/>
                    <a:lstStyle/>
                    <a:p>
                      <a:r>
                        <a:rPr sz="850" b="1">
                          <a:solidFill>
                            <a:srgbClr val="13294B"/>
                          </a:solidFill>
                          <a:latin typeface="Calibri"/>
                        </a:rPr>
                        <a:t>D3-03</a:t>
                      </a:r>
                    </a:p>
                  </a:txBody>
                  <a:tcPr marL="63500" marR="63500" marT="25400" marB="25400" anchor="ctr">
                    <a:solidFill>
                      <a:srgbClr val="F3F6FA"/>
                    </a:solidFill>
                  </a:tcPr>
                </a:tc>
                <a:tc>
                  <a:txBody>
                    <a:bodyPr/>
                    <a:lstStyle/>
                    <a:p>
                      <a:r>
                        <a:rPr sz="850" b="0">
                          <a:solidFill>
                            <a:srgbClr val="5C6B7A"/>
                          </a:solidFill>
                          <a:latin typeface="Calibri"/>
                        </a:rPr>
                        <a:t>Agent contract, capability registration and l…</a:t>
                      </a:r>
                    </a:p>
                  </a:txBody>
                  <a:tcPr marL="63500" marR="63500" marT="25400" marB="25400" anchor="ctr">
                    <a:solidFill>
                      <a:srgbClr val="F3F6FA"/>
                    </a:solidFill>
                  </a:tcPr>
                </a:tc>
                <a:tc>
                  <a:txBody>
                    <a:bodyPr/>
                    <a:lstStyle/>
                    <a:p>
                      <a:r>
                        <a:rPr sz="850" b="0">
                          <a:solidFill>
                            <a:srgbClr val="5C6B7A"/>
                          </a:solidFill>
                          <a:latin typeface="Calibri"/>
                        </a:rPr>
                        <a:t>Accepted</a:t>
                      </a:r>
                    </a:p>
                  </a:txBody>
                  <a:tcPr marL="63500" marR="63500" marT="25400" marB="25400" anchor="ctr">
                    <a:solidFill>
                      <a:srgbClr val="F3F6FA"/>
                    </a:solidFill>
                  </a:tcPr>
                </a:tc>
              </a:tr>
              <a:tr h="292608">
                <a:tc>
                  <a:txBody>
                    <a:bodyPr/>
                    <a:lstStyle/>
                    <a:p>
                      <a:r>
                        <a:rPr sz="850" b="1">
                          <a:solidFill>
                            <a:srgbClr val="13294B"/>
                          </a:solidFill>
                          <a:latin typeface="Calibri"/>
                        </a:rPr>
                        <a:t>D3-04</a:t>
                      </a:r>
                    </a:p>
                  </a:txBody>
                  <a:tcPr marL="63500" marR="63500" marT="25400" marB="25400" anchor="ctr">
                    <a:solidFill>
                      <a:srgbClr val="FFFFFF"/>
                    </a:solidFill>
                  </a:tcPr>
                </a:tc>
                <a:tc>
                  <a:txBody>
                    <a:bodyPr/>
                    <a:lstStyle/>
                    <a:p>
                      <a:r>
                        <a:rPr sz="850" b="0">
                          <a:solidFill>
                            <a:srgbClr val="5C6B7A"/>
                          </a:solidFill>
                          <a:latin typeface="Calibri"/>
                        </a:rPr>
                        <a:t>Tool-calling architecture and the tool-valida…</a:t>
                      </a:r>
                    </a:p>
                  </a:txBody>
                  <a:tcPr marL="63500" marR="63500" marT="25400" marB="25400" anchor="ctr">
                    <a:solidFill>
                      <a:srgbClr val="FFFFFF"/>
                    </a:solidFill>
                  </a:tcPr>
                </a:tc>
                <a:tc>
                  <a:txBody>
                    <a:bodyPr/>
                    <a:lstStyle/>
                    <a:p>
                      <a:r>
                        <a:rPr sz="850" b="0">
                          <a:solidFill>
                            <a:srgbClr val="5C6B7A"/>
                          </a:solidFill>
                          <a:latin typeface="Calibri"/>
                        </a:rPr>
                        <a:t>Accepted</a:t>
                      </a:r>
                    </a:p>
                  </a:txBody>
                  <a:tcPr marL="63500" marR="63500" marT="25400" marB="25400" anchor="ctr">
                    <a:solidFill>
                      <a:srgbClr val="FFFFFF"/>
                    </a:solidFill>
                  </a:tcPr>
                </a:tc>
              </a:tr>
              <a:tr h="292608">
                <a:tc>
                  <a:txBody>
                    <a:bodyPr/>
                    <a:lstStyle/>
                    <a:p>
                      <a:r>
                        <a:rPr sz="850" b="1">
                          <a:solidFill>
                            <a:srgbClr val="13294B"/>
                          </a:solidFill>
                          <a:latin typeface="Calibri"/>
                        </a:rPr>
                        <a:t>D3-05</a:t>
                      </a:r>
                    </a:p>
                  </a:txBody>
                  <a:tcPr marL="63500" marR="63500" marT="25400" marB="25400" anchor="ctr">
                    <a:solidFill>
                      <a:srgbClr val="F3F6FA"/>
                    </a:solidFill>
                  </a:tcPr>
                </a:tc>
                <a:tc>
                  <a:txBody>
                    <a:bodyPr/>
                    <a:lstStyle/>
                    <a:p>
                      <a:r>
                        <a:rPr sz="850" b="0">
                          <a:solidFill>
                            <a:srgbClr val="5C6B7A"/>
                          </a:solidFill>
                          <a:latin typeface="Calibri"/>
                        </a:rPr>
                        <a:t>Deterministic versus model-decided routing — …</a:t>
                      </a:r>
                    </a:p>
                  </a:txBody>
                  <a:tcPr marL="63500" marR="63500" marT="25400" marB="25400" anchor="ctr">
                    <a:solidFill>
                      <a:srgbClr val="F3F6FA"/>
                    </a:solidFill>
                  </a:tcPr>
                </a:tc>
                <a:tc>
                  <a:txBody>
                    <a:bodyPr/>
                    <a:lstStyle/>
                    <a:p>
                      <a:r>
                        <a:rPr sz="850" b="0">
                          <a:solidFill>
                            <a:srgbClr val="5C6B7A"/>
                          </a:solidFill>
                          <a:latin typeface="Calibri"/>
                        </a:rPr>
                        <a:t>Accepted</a:t>
                      </a:r>
                    </a:p>
                  </a:txBody>
                  <a:tcPr marL="63500" marR="63500" marT="25400" marB="25400" anchor="ctr">
                    <a:solidFill>
                      <a:srgbClr val="F3F6FA"/>
                    </a:solidFill>
                  </a:tcPr>
                </a:tc>
              </a:tr>
              <a:tr h="292608">
                <a:tc>
                  <a:txBody>
                    <a:bodyPr/>
                    <a:lstStyle/>
                    <a:p>
                      <a:r>
                        <a:rPr sz="850" b="1">
                          <a:solidFill>
                            <a:srgbClr val="13294B"/>
                          </a:solidFill>
                          <a:latin typeface="Calibri"/>
                        </a:rPr>
                        <a:t>D3-06</a:t>
                      </a:r>
                    </a:p>
                  </a:txBody>
                  <a:tcPr marL="63500" marR="63500" marT="25400" marB="25400" anchor="ctr">
                    <a:solidFill>
                      <a:srgbClr val="FFFFFF"/>
                    </a:solidFill>
                  </a:tcPr>
                </a:tc>
                <a:tc>
                  <a:txBody>
                    <a:bodyPr/>
                    <a:lstStyle/>
                    <a:p>
                      <a:r>
                        <a:rPr sz="850" b="0">
                          <a:solidFill>
                            <a:srgbClr val="5C6B7A"/>
                          </a:solidFill>
                          <a:latin typeface="Calibri"/>
                        </a:rPr>
                        <a:t>Intent classification approach and the regist…</a:t>
                      </a:r>
                    </a:p>
                  </a:txBody>
                  <a:tcPr marL="63500" marR="63500" marT="25400" marB="25400" anchor="ctr">
                    <a:solidFill>
                      <a:srgbClr val="FFFFFF"/>
                    </a:solidFill>
                  </a:tcPr>
                </a:tc>
                <a:tc>
                  <a:txBody>
                    <a:bodyPr/>
                    <a:lstStyle/>
                    <a:p>
                      <a:r>
                        <a:rPr sz="850" b="0">
                          <a:solidFill>
                            <a:srgbClr val="5C6B7A"/>
                          </a:solidFill>
                          <a:latin typeface="Calibri"/>
                        </a:rPr>
                        <a:t>Accepted</a:t>
                      </a:r>
                    </a:p>
                  </a:txBody>
                  <a:tcPr marL="63500" marR="63500" marT="25400" marB="25400" anchor="ctr">
                    <a:solidFill>
                      <a:srgbClr val="FFFFFF"/>
                    </a:solidFill>
                  </a:tcPr>
                </a:tc>
              </a:tr>
              <a:tr h="292608">
                <a:tc>
                  <a:txBody>
                    <a:bodyPr/>
                    <a:lstStyle/>
                    <a:p>
                      <a:r>
                        <a:rPr sz="850" b="1">
                          <a:solidFill>
                            <a:srgbClr val="13294B"/>
                          </a:solidFill>
                          <a:latin typeface="Calibri"/>
                        </a:rPr>
                        <a:t>D3-07</a:t>
                      </a:r>
                    </a:p>
                  </a:txBody>
                  <a:tcPr marL="63500" marR="63500" marT="25400" marB="25400" anchor="ctr">
                    <a:solidFill>
                      <a:srgbClr val="F3F6FA"/>
                    </a:solidFill>
                  </a:tcPr>
                </a:tc>
                <a:tc>
                  <a:txBody>
                    <a:bodyPr/>
                    <a:lstStyle/>
                    <a:p>
                      <a:r>
                        <a:rPr sz="850" b="0">
                          <a:solidFill>
                            <a:srgbClr val="5C6B7A"/>
                          </a:solidFill>
                          <a:latin typeface="Calibri"/>
                        </a:rPr>
                        <a:t>Clarification, disambiguation and confirmatio…</a:t>
                      </a:r>
                    </a:p>
                  </a:txBody>
                  <a:tcPr marL="63500" marR="63500" marT="25400" marB="25400" anchor="ctr">
                    <a:solidFill>
                      <a:srgbClr val="F3F6FA"/>
                    </a:solidFill>
                  </a:tcPr>
                </a:tc>
                <a:tc>
                  <a:txBody>
                    <a:bodyPr/>
                    <a:lstStyle/>
                    <a:p>
                      <a:r>
                        <a:rPr sz="850" b="0">
                          <a:solidFill>
                            <a:srgbClr val="5C6B7A"/>
                          </a:solidFill>
                          <a:latin typeface="Calibri"/>
                        </a:rPr>
                        <a:t>Accepted</a:t>
                      </a:r>
                    </a:p>
                  </a:txBody>
                  <a:tcPr marL="63500" marR="63500" marT="25400" marB="25400" anchor="ctr">
                    <a:solidFill>
                      <a:srgbClr val="F3F6FA"/>
                    </a:solidFill>
                  </a:tcPr>
                </a:tc>
              </a:tr>
              <a:tr h="292608">
                <a:tc>
                  <a:txBody>
                    <a:bodyPr/>
                    <a:lstStyle/>
                    <a:p>
                      <a:r>
                        <a:rPr sz="850" b="1">
                          <a:solidFill>
                            <a:srgbClr val="13294B"/>
                          </a:solidFill>
                          <a:latin typeface="Calibri"/>
                        </a:rPr>
                        <a:t>D3-08</a:t>
                      </a:r>
                    </a:p>
                  </a:txBody>
                  <a:tcPr marL="63500" marR="63500" marT="25400" marB="25400" anchor="ctr">
                    <a:solidFill>
                      <a:srgbClr val="FFFFFF"/>
                    </a:solidFill>
                  </a:tcPr>
                </a:tc>
                <a:tc>
                  <a:txBody>
                    <a:bodyPr/>
                    <a:lstStyle/>
                    <a:p>
                      <a:r>
                        <a:rPr sz="850" b="0">
                          <a:solidFill>
                            <a:srgbClr val="5C6B7A"/>
                          </a:solidFill>
                          <a:latin typeface="Calibri"/>
                        </a:rPr>
                        <a:t>Transaction-uncertainty and ambiguous-outcome…</a:t>
                      </a:r>
                    </a:p>
                  </a:txBody>
                  <a:tcPr marL="63500" marR="63500" marT="25400" marB="25400" anchor="ctr">
                    <a:solidFill>
                      <a:srgbClr val="FFFFFF"/>
                    </a:solidFill>
                  </a:tcPr>
                </a:tc>
                <a:tc>
                  <a:txBody>
                    <a:bodyPr/>
                    <a:lstStyle/>
                    <a:p>
                      <a:r>
                        <a:rPr sz="850" b="0">
                          <a:solidFill>
                            <a:srgbClr val="5C6B7A"/>
                          </a:solidFill>
                          <a:latin typeface="Calibri"/>
                        </a:rPr>
                        <a:t>Accepted</a:t>
                      </a:r>
                    </a:p>
                  </a:txBody>
                  <a:tcPr marL="63500" marR="63500" marT="25400" marB="25400" anchor="ctr">
                    <a:solidFill>
                      <a:srgbClr val="FFFFFF"/>
                    </a:solidFill>
                  </a:tcPr>
                </a:tc>
              </a:tr>
              <a:tr h="292608">
                <a:tc>
                  <a:txBody>
                    <a:bodyPr/>
                    <a:lstStyle/>
                    <a:p>
                      <a:r>
                        <a:rPr sz="850" b="1">
                          <a:solidFill>
                            <a:srgbClr val="13294B"/>
                          </a:solidFill>
                          <a:latin typeface="Calibri"/>
                        </a:rPr>
                        <a:t>D3-09</a:t>
                      </a:r>
                    </a:p>
                  </a:txBody>
                  <a:tcPr marL="63500" marR="63500" marT="25400" marB="25400" anchor="ctr">
                    <a:solidFill>
                      <a:srgbClr val="F3F6FA"/>
                    </a:solidFill>
                  </a:tcPr>
                </a:tc>
                <a:tc>
                  <a:txBody>
                    <a:bodyPr/>
                    <a:lstStyle/>
                    <a:p>
                      <a:r>
                        <a:rPr sz="850" b="0">
                          <a:solidFill>
                            <a:srgbClr val="5C6B7A"/>
                          </a:solidFill>
                          <a:latin typeface="Calibri"/>
                        </a:rPr>
                        <a:t>Layered prompt composition with trust-labelle…</a:t>
                      </a:r>
                    </a:p>
                  </a:txBody>
                  <a:tcPr marL="63500" marR="63500" marT="25400" marB="25400" anchor="ctr">
                    <a:solidFill>
                      <a:srgbClr val="F3F6FA"/>
                    </a:solidFill>
                  </a:tcPr>
                </a:tc>
                <a:tc>
                  <a:txBody>
                    <a:bodyPr/>
                    <a:lstStyle/>
                    <a:p>
                      <a:r>
                        <a:rPr sz="850" b="0">
                          <a:solidFill>
                            <a:srgbClr val="5C6B7A"/>
                          </a:solidFill>
                          <a:latin typeface="Calibri"/>
                        </a:rPr>
                        <a:t>Accepted</a:t>
                      </a:r>
                    </a:p>
                  </a:txBody>
                  <a:tcPr marL="63500" marR="63500" marT="25400" marB="25400" anchor="ctr">
                    <a:solidFill>
                      <a:srgbClr val="F3F6FA"/>
                    </a:solidFill>
                  </a:tcPr>
                </a:tc>
              </a:tr>
              <a:tr h="292608">
                <a:tc>
                  <a:txBody>
                    <a:bodyPr/>
                    <a:lstStyle/>
                    <a:p>
                      <a:r>
                        <a:rPr sz="850" b="1">
                          <a:solidFill>
                            <a:srgbClr val="13294B"/>
                          </a:solidFill>
                          <a:latin typeface="Calibri"/>
                        </a:rPr>
                        <a:t>D3-10</a:t>
                      </a:r>
                    </a:p>
                  </a:txBody>
                  <a:tcPr marL="63500" marR="63500" marT="25400" marB="25400" anchor="ctr">
                    <a:solidFill>
                      <a:srgbClr val="FFFFFF"/>
                    </a:solidFill>
                  </a:tcPr>
                </a:tc>
                <a:tc>
                  <a:txBody>
                    <a:bodyPr/>
                    <a:lstStyle/>
                    <a:p>
                      <a:r>
                        <a:rPr sz="850" b="0">
                          <a:solidFill>
                            <a:srgbClr val="5C6B7A"/>
                          </a:solidFill>
                          <a:latin typeface="Calibri"/>
                        </a:rPr>
                        <a:t>Adam persona prompt layer — versioned, reusab…</a:t>
                      </a:r>
                    </a:p>
                  </a:txBody>
                  <a:tcPr marL="63500" marR="63500" marT="25400" marB="25400" anchor="ctr">
                    <a:solidFill>
                      <a:srgbClr val="FFFFFF"/>
                    </a:solidFill>
                  </a:tcPr>
                </a:tc>
                <a:tc>
                  <a:txBody>
                    <a:bodyPr/>
                    <a:lstStyle/>
                    <a:p>
                      <a:r>
                        <a:rPr sz="850" b="0">
                          <a:solidFill>
                            <a:srgbClr val="5C6B7A"/>
                          </a:solidFill>
                          <a:latin typeface="Calibri"/>
                        </a:rPr>
                        <a:t>Accepted</a:t>
                      </a:r>
                    </a:p>
                  </a:txBody>
                  <a:tcPr marL="63500" marR="63500" marT="25400" marB="25400" anchor="ctr">
                    <a:solidFill>
                      <a:srgbClr val="FFFFFF"/>
                    </a:solidFill>
                  </a:tcPr>
                </a:tc>
              </a:tr>
              <a:tr h="292608">
                <a:tc>
                  <a:txBody>
                    <a:bodyPr/>
                    <a:lstStyle/>
                    <a:p>
                      <a:r>
                        <a:rPr sz="850" b="1">
                          <a:solidFill>
                            <a:srgbClr val="13294B"/>
                          </a:solidFill>
                          <a:latin typeface="Calibri"/>
                        </a:rPr>
                        <a:t>D3-11</a:t>
                      </a:r>
                    </a:p>
                  </a:txBody>
                  <a:tcPr marL="63500" marR="63500" marT="25400" marB="25400" anchor="ctr">
                    <a:solidFill>
                      <a:srgbClr val="F3F6FA"/>
                    </a:solidFill>
                  </a:tcPr>
                </a:tc>
                <a:tc>
                  <a:txBody>
                    <a:bodyPr/>
                    <a:lstStyle/>
                    <a:p>
                      <a:r>
                        <a:rPr sz="850" b="0">
                          <a:solidFill>
                            <a:srgbClr val="5C6B7A"/>
                          </a:solidFill>
                          <a:latin typeface="Calibri"/>
                        </a:rPr>
                        <a:t>Prompt storage, versioning and promotion</a:t>
                      </a:r>
                    </a:p>
                  </a:txBody>
                  <a:tcPr marL="63500" marR="63500" marT="25400" marB="25400" anchor="ctr">
                    <a:solidFill>
                      <a:srgbClr val="F3F6FA"/>
                    </a:solidFill>
                  </a:tcPr>
                </a:tc>
                <a:tc>
                  <a:txBody>
                    <a:bodyPr/>
                    <a:lstStyle/>
                    <a:p>
                      <a:r>
                        <a:rPr sz="850" b="0">
                          <a:solidFill>
                            <a:srgbClr val="5C6B7A"/>
                          </a:solidFill>
                          <a:latin typeface="Calibri"/>
                        </a:rPr>
                        <a:t>Accepted</a:t>
                      </a:r>
                    </a:p>
                  </a:txBody>
                  <a:tcPr marL="63500" marR="63500" marT="25400" marB="25400" anchor="ctr">
                    <a:solidFill>
                      <a:srgbClr val="F3F6FA"/>
                    </a:solidFill>
                  </a:tcPr>
                </a:tc>
              </a:tr>
              <a:tr h="292608">
                <a:tc>
                  <a:txBody>
                    <a:bodyPr/>
                    <a:lstStyle/>
                    <a:p>
                      <a:r>
                        <a:rPr sz="850" b="1">
                          <a:solidFill>
                            <a:srgbClr val="13294B"/>
                          </a:solidFill>
                          <a:latin typeface="Calibri"/>
                        </a:rPr>
                        <a:t>D3-12</a:t>
                      </a:r>
                    </a:p>
                  </a:txBody>
                  <a:tcPr marL="63500" marR="63500" marT="25400" marB="25400" anchor="ctr">
                    <a:solidFill>
                      <a:srgbClr val="FFFFFF"/>
                    </a:solidFill>
                  </a:tcPr>
                </a:tc>
                <a:tc>
                  <a:txBody>
                    <a:bodyPr/>
                    <a:lstStyle/>
                    <a:p>
                      <a:r>
                        <a:rPr sz="850" b="0">
                          <a:solidFill>
                            <a:srgbClr val="5C6B7A"/>
                          </a:solidFill>
                          <a:latin typeface="Calibri"/>
                        </a:rPr>
                        <a:t>Prompt injection defence inside the prompt la…</a:t>
                      </a:r>
                    </a:p>
                  </a:txBody>
                  <a:tcPr marL="63500" marR="63500" marT="25400" marB="25400" anchor="ctr">
                    <a:solidFill>
                      <a:srgbClr val="FFFFFF"/>
                    </a:solidFill>
                  </a:tcPr>
                </a:tc>
                <a:tc>
                  <a:txBody>
                    <a:bodyPr/>
                    <a:lstStyle/>
                    <a:p>
                      <a:r>
                        <a:rPr sz="850" b="0">
                          <a:solidFill>
                            <a:srgbClr val="5C6B7A"/>
                          </a:solidFill>
                          <a:latin typeface="Calibri"/>
                        </a:rPr>
                        <a:t>Accepted</a:t>
                      </a:r>
                    </a:p>
                  </a:txBody>
                  <a:tcPr marL="63500" marR="63500" marT="25400" marB="25400" anchor="ctr">
                    <a:solidFill>
                      <a:srgbClr val="FFFFFF"/>
                    </a:solidFill>
                  </a:tcPr>
                </a:tc>
              </a:tr>
              <a:tr h="292608">
                <a:tc>
                  <a:txBody>
                    <a:bodyPr/>
                    <a:lstStyle/>
                    <a:p>
                      <a:r>
                        <a:rPr sz="850" b="1">
                          <a:solidFill>
                            <a:srgbClr val="13294B"/>
                          </a:solidFill>
                          <a:latin typeface="Calibri"/>
                        </a:rPr>
                        <a:t>D3-13</a:t>
                      </a:r>
                    </a:p>
                  </a:txBody>
                  <a:tcPr marL="63500" marR="63500" marT="25400" marB="25400" anchor="ctr">
                    <a:solidFill>
                      <a:srgbClr val="F3F6FA"/>
                    </a:solidFill>
                  </a:tcPr>
                </a:tc>
                <a:tc>
                  <a:txBody>
                    <a:bodyPr/>
                    <a:lstStyle/>
                    <a:p>
                      <a:r>
                        <a:rPr sz="850" b="0">
                          <a:solidFill>
                            <a:srgbClr val="5C6B7A"/>
                          </a:solidFill>
                          <a:latin typeface="Calibri"/>
                        </a:rPr>
                        <a:t>SLM strategy — Hugging Face Inference API fir…</a:t>
                      </a:r>
                    </a:p>
                  </a:txBody>
                  <a:tcPr marL="63500" marR="63500" marT="25400" marB="25400" anchor="ctr">
                    <a:solidFill>
                      <a:srgbClr val="F3F6FA"/>
                    </a:solidFill>
                  </a:tcPr>
                </a:tc>
                <a:tc>
                  <a:txBody>
                    <a:bodyPr/>
                    <a:lstStyle/>
                    <a:p>
                      <a:r>
                        <a:rPr sz="850" b="0">
                          <a:solidFill>
                            <a:srgbClr val="5C6B7A"/>
                          </a:solidFill>
                          <a:latin typeface="Calibri"/>
                        </a:rPr>
                        <a:t>Accepted</a:t>
                      </a:r>
                    </a:p>
                  </a:txBody>
                  <a:tcPr marL="63500" marR="63500" marT="25400" marB="25400" anchor="ctr">
                    <a:solidFill>
                      <a:srgbClr val="F3F6FA"/>
                    </a:solidFill>
                  </a:tcPr>
                </a:tc>
              </a:tr>
            </a:tbl>
          </a:graphicData>
        </a:graphic>
      </p:graphicFrame>
      <p:graphicFrame>
        <p:nvGraphicFramePr>
          <p:cNvPr id="13" name="Table 12"/>
          <p:cNvGraphicFramePr>
            <a:graphicFrameLocks noGrp="1"/>
          </p:cNvGraphicFramePr>
          <p:nvPr/>
        </p:nvGraphicFramePr>
        <p:xfrm>
          <a:off x="6949440" y="1783080"/>
          <a:ext cx="4800599" cy="4096512"/>
        </p:xfrm>
        <a:graphic>
          <a:graphicData uri="http://schemas.openxmlformats.org/drawingml/2006/table">
            <a:tbl>
              <a:tblPr firstRow="1">
                <a:tableStyleId>{5C22544A-7EE6-4342-B048-85BDC9FD1C3A}</a:tableStyleId>
              </a:tblPr>
              <a:tblGrid>
                <a:gridCol w="880844"/>
                <a:gridCol w="2994869"/>
                <a:gridCol w="924886"/>
              </a:tblGrid>
              <a:tr h="292608">
                <a:tc>
                  <a:txBody>
                    <a:bodyPr/>
                    <a:lstStyle/>
                    <a:p>
                      <a:r>
                        <a:rPr sz="850" b="1">
                          <a:solidFill>
                            <a:srgbClr val="FFFFFF"/>
                          </a:solidFill>
                          <a:latin typeface="Calibri"/>
                        </a:rPr>
                        <a:t>ADR</a:t>
                      </a:r>
                    </a:p>
                  </a:txBody>
                  <a:tcPr marL="63500" marR="63500" marT="25400" marB="25400" anchor="ctr">
                    <a:solidFill>
                      <a:srgbClr val="13294B"/>
                    </a:solidFill>
                  </a:tcPr>
                </a:tc>
                <a:tc>
                  <a:txBody>
                    <a:bodyPr/>
                    <a:lstStyle/>
                    <a:p>
                      <a:r>
                        <a:rPr sz="850" b="1">
                          <a:solidFill>
                            <a:srgbClr val="FFFFFF"/>
                          </a:solidFill>
                          <a:latin typeface="Calibri"/>
                        </a:rPr>
                        <a:t>Decision</a:t>
                      </a:r>
                    </a:p>
                  </a:txBody>
                  <a:tcPr marL="63500" marR="63500" marT="25400" marB="25400" anchor="ctr">
                    <a:solidFill>
                      <a:srgbClr val="13294B"/>
                    </a:solidFill>
                  </a:tcPr>
                </a:tc>
                <a:tc>
                  <a:txBody>
                    <a:bodyPr/>
                    <a:lstStyle/>
                    <a:p>
                      <a:r>
                        <a:rPr sz="850" b="1">
                          <a:solidFill>
                            <a:srgbClr val="FFFFFF"/>
                          </a:solidFill>
                          <a:latin typeface="Calibri"/>
                        </a:rPr>
                        <a:t>Status</a:t>
                      </a:r>
                    </a:p>
                  </a:txBody>
                  <a:tcPr marL="63500" marR="63500" marT="25400" marB="25400" anchor="ctr">
                    <a:solidFill>
                      <a:srgbClr val="13294B"/>
                    </a:solidFill>
                  </a:tcPr>
                </a:tc>
              </a:tr>
              <a:tr h="292608">
                <a:tc>
                  <a:txBody>
                    <a:bodyPr/>
                    <a:lstStyle/>
                    <a:p>
                      <a:r>
                        <a:rPr sz="850" b="1">
                          <a:solidFill>
                            <a:srgbClr val="13294B"/>
                          </a:solidFill>
                          <a:latin typeface="Calibri"/>
                        </a:rPr>
                        <a:t>D3-14</a:t>
                      </a:r>
                    </a:p>
                  </a:txBody>
                  <a:tcPr marL="63500" marR="63500" marT="25400" marB="25400" anchor="ctr">
                    <a:solidFill>
                      <a:srgbClr val="F3F6FA"/>
                    </a:solidFill>
                  </a:tcPr>
                </a:tc>
                <a:tc>
                  <a:txBody>
                    <a:bodyPr/>
                    <a:lstStyle/>
                    <a:p>
                      <a:r>
                        <a:rPr sz="850" b="0">
                          <a:solidFill>
                            <a:srgbClr val="5C6B7A"/>
                          </a:solidFill>
                          <a:latin typeface="Calibri"/>
                        </a:rPr>
                        <a:t>SLM provider abstraction and provider-neutral…</a:t>
                      </a:r>
                    </a:p>
                  </a:txBody>
                  <a:tcPr marL="63500" marR="63500" marT="25400" marB="25400" anchor="ctr">
                    <a:solidFill>
                      <a:srgbClr val="F3F6FA"/>
                    </a:solidFill>
                  </a:tcPr>
                </a:tc>
                <a:tc>
                  <a:txBody>
                    <a:bodyPr/>
                    <a:lstStyle/>
                    <a:p>
                      <a:r>
                        <a:rPr sz="850" b="0">
                          <a:solidFill>
                            <a:srgbClr val="5C6B7A"/>
                          </a:solidFill>
                          <a:latin typeface="Calibri"/>
                        </a:rPr>
                        <a:t>Accepted</a:t>
                      </a:r>
                    </a:p>
                  </a:txBody>
                  <a:tcPr marL="63500" marR="63500" marT="25400" marB="25400" anchor="ctr">
                    <a:solidFill>
                      <a:srgbClr val="F3F6FA"/>
                    </a:solidFill>
                  </a:tcPr>
                </a:tc>
              </a:tr>
              <a:tr h="292608">
                <a:tc>
                  <a:txBody>
                    <a:bodyPr/>
                    <a:lstStyle/>
                    <a:p>
                      <a:r>
                        <a:rPr sz="850" b="1">
                          <a:solidFill>
                            <a:srgbClr val="13294B"/>
                          </a:solidFill>
                          <a:latin typeface="Calibri"/>
                        </a:rPr>
                        <a:t>D3-15</a:t>
                      </a:r>
                    </a:p>
                  </a:txBody>
                  <a:tcPr marL="63500" marR="63500" marT="25400" marB="25400" anchor="ctr">
                    <a:solidFill>
                      <a:srgbClr val="FFFFFF"/>
                    </a:solidFill>
                  </a:tcPr>
                </a:tc>
                <a:tc>
                  <a:txBody>
                    <a:bodyPr/>
                    <a:lstStyle/>
                    <a:p>
                      <a:r>
                        <a:rPr sz="850" b="0">
                          <a:solidFill>
                            <a:srgbClr val="5C6B7A"/>
                          </a:solidFill>
                          <a:latin typeface="Calibri"/>
                        </a:rPr>
                        <a:t>Model registry — capability, purpose and stat…</a:t>
                      </a:r>
                    </a:p>
                  </a:txBody>
                  <a:tcPr marL="63500" marR="63500" marT="25400" marB="25400" anchor="ctr">
                    <a:solidFill>
                      <a:srgbClr val="FFFFFF"/>
                    </a:solidFill>
                  </a:tcPr>
                </a:tc>
                <a:tc>
                  <a:txBody>
                    <a:bodyPr/>
                    <a:lstStyle/>
                    <a:p>
                      <a:r>
                        <a:rPr sz="850" b="0">
                          <a:solidFill>
                            <a:srgbClr val="5C6B7A"/>
                          </a:solidFill>
                          <a:latin typeface="Calibri"/>
                        </a:rPr>
                        <a:t>Accepted</a:t>
                      </a:r>
                    </a:p>
                  </a:txBody>
                  <a:tcPr marL="63500" marR="63500" marT="25400" marB="25400" anchor="ctr">
                    <a:solidFill>
                      <a:srgbClr val="FFFFFF"/>
                    </a:solidFill>
                  </a:tcPr>
                </a:tc>
              </a:tr>
              <a:tr h="292608">
                <a:tc>
                  <a:txBody>
                    <a:bodyPr/>
                    <a:lstStyle/>
                    <a:p>
                      <a:r>
                        <a:rPr sz="850" b="1">
                          <a:solidFill>
                            <a:srgbClr val="13294B"/>
                          </a:solidFill>
                          <a:latin typeface="Calibri"/>
                        </a:rPr>
                        <a:t>D3-16</a:t>
                      </a:r>
                    </a:p>
                  </a:txBody>
                  <a:tcPr marL="63500" marR="63500" marT="25400" marB="25400" anchor="ctr">
                    <a:solidFill>
                      <a:srgbClr val="F3F6FA"/>
                    </a:solidFill>
                  </a:tcPr>
                </a:tc>
                <a:tc>
                  <a:txBody>
                    <a:bodyPr/>
                    <a:lstStyle/>
                    <a:p>
                      <a:r>
                        <a:rPr sz="850" b="0">
                          <a:solidFill>
                            <a:srgbClr val="5C6B7A"/>
                          </a:solidFill>
                          <a:latin typeface="Calibri"/>
                        </a:rPr>
                        <a:t>Generation parameter and temperature strategy…</a:t>
                      </a:r>
                    </a:p>
                  </a:txBody>
                  <a:tcPr marL="63500" marR="63500" marT="25400" marB="25400" anchor="ctr">
                    <a:solidFill>
                      <a:srgbClr val="F3F6FA"/>
                    </a:solidFill>
                  </a:tcPr>
                </a:tc>
                <a:tc>
                  <a:txBody>
                    <a:bodyPr/>
                    <a:lstStyle/>
                    <a:p>
                      <a:r>
                        <a:rPr sz="850" b="0">
                          <a:solidFill>
                            <a:srgbClr val="5C6B7A"/>
                          </a:solidFill>
                          <a:latin typeface="Calibri"/>
                        </a:rPr>
                        <a:t>Accepted</a:t>
                      </a:r>
                    </a:p>
                  </a:txBody>
                  <a:tcPr marL="63500" marR="63500" marT="25400" marB="25400" anchor="ctr">
                    <a:solidFill>
                      <a:srgbClr val="F3F6FA"/>
                    </a:solidFill>
                  </a:tcPr>
                </a:tc>
              </a:tr>
              <a:tr h="292608">
                <a:tc>
                  <a:txBody>
                    <a:bodyPr/>
                    <a:lstStyle/>
                    <a:p>
                      <a:r>
                        <a:rPr sz="850" b="1">
                          <a:solidFill>
                            <a:srgbClr val="13294B"/>
                          </a:solidFill>
                          <a:latin typeface="Calibri"/>
                        </a:rPr>
                        <a:t>D3-17</a:t>
                      </a:r>
                    </a:p>
                  </a:txBody>
                  <a:tcPr marL="63500" marR="63500" marT="25400" marB="25400" anchor="ctr">
                    <a:solidFill>
                      <a:srgbClr val="FFFFFF"/>
                    </a:solidFill>
                  </a:tcPr>
                </a:tc>
                <a:tc>
                  <a:txBody>
                    <a:bodyPr/>
                    <a:lstStyle/>
                    <a:p>
                      <a:r>
                        <a:rPr sz="850" b="0">
                          <a:solidFill>
                            <a:srgbClr val="5C6B7A"/>
                          </a:solidFill>
                          <a:latin typeface="Calibri"/>
                        </a:rPr>
                        <a:t>Structured output strategy and output validat…</a:t>
                      </a:r>
                    </a:p>
                  </a:txBody>
                  <a:tcPr marL="63500" marR="63500" marT="25400" marB="25400" anchor="ctr">
                    <a:solidFill>
                      <a:srgbClr val="FFFFFF"/>
                    </a:solidFill>
                  </a:tcPr>
                </a:tc>
                <a:tc>
                  <a:txBody>
                    <a:bodyPr/>
                    <a:lstStyle/>
                    <a:p>
                      <a:r>
                        <a:rPr sz="850" b="0">
                          <a:solidFill>
                            <a:srgbClr val="5C6B7A"/>
                          </a:solidFill>
                          <a:latin typeface="Calibri"/>
                        </a:rPr>
                        <a:t>Accepted</a:t>
                      </a:r>
                    </a:p>
                  </a:txBody>
                  <a:tcPr marL="63500" marR="63500" marT="25400" marB="25400" anchor="ctr">
                    <a:solidFill>
                      <a:srgbClr val="FFFFFF"/>
                    </a:solidFill>
                  </a:tcPr>
                </a:tc>
              </a:tr>
              <a:tr h="292608">
                <a:tc>
                  <a:txBody>
                    <a:bodyPr/>
                    <a:lstStyle/>
                    <a:p>
                      <a:r>
                        <a:rPr sz="850" b="1">
                          <a:solidFill>
                            <a:srgbClr val="13294B"/>
                          </a:solidFill>
                          <a:latin typeface="Calibri"/>
                        </a:rPr>
                        <a:t>D3-18</a:t>
                      </a:r>
                    </a:p>
                  </a:txBody>
                  <a:tcPr marL="63500" marR="63500" marT="25400" marB="25400" anchor="ctr">
                    <a:solidFill>
                      <a:srgbClr val="F3F6FA"/>
                    </a:solidFill>
                  </a:tcPr>
                </a:tc>
                <a:tc>
                  <a:txBody>
                    <a:bodyPr/>
                    <a:lstStyle/>
                    <a:p>
                      <a:r>
                        <a:rPr sz="850" b="0">
                          <a:solidFill>
                            <a:srgbClr val="5C6B7A"/>
                          </a:solidFill>
                          <a:latin typeface="Calibri"/>
                        </a:rPr>
                        <a:t>SLM fallback, degradation and circuit-breaking</a:t>
                      </a:r>
                    </a:p>
                  </a:txBody>
                  <a:tcPr marL="63500" marR="63500" marT="25400" marB="25400" anchor="ctr">
                    <a:solidFill>
                      <a:srgbClr val="F3F6FA"/>
                    </a:solidFill>
                  </a:tcPr>
                </a:tc>
                <a:tc>
                  <a:txBody>
                    <a:bodyPr/>
                    <a:lstStyle/>
                    <a:p>
                      <a:r>
                        <a:rPr sz="850" b="0">
                          <a:solidFill>
                            <a:srgbClr val="5C6B7A"/>
                          </a:solidFill>
                          <a:latin typeface="Calibri"/>
                        </a:rPr>
                        <a:t>Accepted</a:t>
                      </a:r>
                    </a:p>
                  </a:txBody>
                  <a:tcPr marL="63500" marR="63500" marT="25400" marB="25400" anchor="ctr">
                    <a:solidFill>
                      <a:srgbClr val="F3F6FA"/>
                    </a:solidFill>
                  </a:tcPr>
                </a:tc>
              </a:tr>
              <a:tr h="292608">
                <a:tc>
                  <a:txBody>
                    <a:bodyPr/>
                    <a:lstStyle/>
                    <a:p>
                      <a:r>
                        <a:rPr sz="850" b="1">
                          <a:solidFill>
                            <a:srgbClr val="13294B"/>
                          </a:solidFill>
                          <a:latin typeface="Calibri"/>
                        </a:rPr>
                        <a:t>D3-19</a:t>
                      </a:r>
                    </a:p>
                  </a:txBody>
                  <a:tcPr marL="63500" marR="63500" marT="25400" marB="25400" anchor="ctr">
                    <a:solidFill>
                      <a:srgbClr val="FFFFFF"/>
                    </a:solidFill>
                  </a:tcPr>
                </a:tc>
                <a:tc>
                  <a:txBody>
                    <a:bodyPr/>
                    <a:lstStyle/>
                    <a:p>
                      <a:r>
                        <a:rPr sz="850" b="0">
                          <a:solidFill>
                            <a:srgbClr val="5C6B7A"/>
                          </a:solidFill>
                          <a:latin typeface="Calibri"/>
                        </a:rPr>
                        <a:t>Streaming strategy and its interaction with s…</a:t>
                      </a:r>
                    </a:p>
                  </a:txBody>
                  <a:tcPr marL="63500" marR="63500" marT="25400" marB="25400" anchor="ctr">
                    <a:solidFill>
                      <a:srgbClr val="FFFFFF"/>
                    </a:solidFill>
                  </a:tcPr>
                </a:tc>
                <a:tc>
                  <a:txBody>
                    <a:bodyPr/>
                    <a:lstStyle/>
                    <a:p>
                      <a:r>
                        <a:rPr sz="850" b="0">
                          <a:solidFill>
                            <a:srgbClr val="5C6B7A"/>
                          </a:solidFill>
                          <a:latin typeface="Calibri"/>
                        </a:rPr>
                        <a:t>Accepted</a:t>
                      </a:r>
                    </a:p>
                  </a:txBody>
                  <a:tcPr marL="63500" marR="63500" marT="25400" marB="25400" anchor="ctr">
                    <a:solidFill>
                      <a:srgbClr val="FFFFFF"/>
                    </a:solidFill>
                  </a:tcPr>
                </a:tc>
              </a:tr>
              <a:tr h="292608">
                <a:tc>
                  <a:txBody>
                    <a:bodyPr/>
                    <a:lstStyle/>
                    <a:p>
                      <a:r>
                        <a:rPr sz="850" b="1">
                          <a:solidFill>
                            <a:srgbClr val="13294B"/>
                          </a:solidFill>
                          <a:latin typeface="Calibri"/>
                        </a:rPr>
                        <a:t>D3-20</a:t>
                      </a:r>
                    </a:p>
                  </a:txBody>
                  <a:tcPr marL="63500" marR="63500" marT="25400" marB="25400" anchor="ctr">
                    <a:solidFill>
                      <a:srgbClr val="F3F6FA"/>
                    </a:solidFill>
                  </a:tcPr>
                </a:tc>
                <a:tc>
                  <a:txBody>
                    <a:bodyPr/>
                    <a:lstStyle/>
                    <a:p>
                      <a:r>
                        <a:rPr sz="850" b="0">
                          <a:solidFill>
                            <a:srgbClr val="5C6B7A"/>
                          </a:solidFill>
                          <a:latin typeface="Calibri"/>
                        </a:rPr>
                        <a:t>RAG scope — knowledge and FAQ only, never bus…</a:t>
                      </a:r>
                    </a:p>
                  </a:txBody>
                  <a:tcPr marL="63500" marR="63500" marT="25400" marB="25400" anchor="ctr">
                    <a:solidFill>
                      <a:srgbClr val="F3F6FA"/>
                    </a:solidFill>
                  </a:tcPr>
                </a:tc>
                <a:tc>
                  <a:txBody>
                    <a:bodyPr/>
                    <a:lstStyle/>
                    <a:p>
                      <a:r>
                        <a:rPr sz="850" b="0">
                          <a:solidFill>
                            <a:srgbClr val="5C6B7A"/>
                          </a:solidFill>
                          <a:latin typeface="Calibri"/>
                        </a:rPr>
                        <a:t>Accepted</a:t>
                      </a:r>
                    </a:p>
                  </a:txBody>
                  <a:tcPr marL="63500" marR="63500" marT="25400" marB="25400" anchor="ctr">
                    <a:solidFill>
                      <a:srgbClr val="F3F6FA"/>
                    </a:solidFill>
                  </a:tcPr>
                </a:tc>
              </a:tr>
              <a:tr h="292608">
                <a:tc>
                  <a:txBody>
                    <a:bodyPr/>
                    <a:lstStyle/>
                    <a:p>
                      <a:r>
                        <a:rPr sz="850" b="1">
                          <a:solidFill>
                            <a:srgbClr val="13294B"/>
                          </a:solidFill>
                          <a:latin typeface="Calibri"/>
                        </a:rPr>
                        <a:t>D3-21</a:t>
                      </a:r>
                    </a:p>
                  </a:txBody>
                  <a:tcPr marL="63500" marR="63500" marT="25400" marB="25400" anchor="ctr">
                    <a:solidFill>
                      <a:srgbClr val="FFFFFF"/>
                    </a:solidFill>
                  </a:tcPr>
                </a:tc>
                <a:tc>
                  <a:txBody>
                    <a:bodyPr/>
                    <a:lstStyle/>
                    <a:p>
                      <a:r>
                        <a:rPr sz="850" b="0">
                          <a:solidFill>
                            <a:srgbClr val="5C6B7A"/>
                          </a:solidFill>
                          <a:latin typeface="Calibri"/>
                        </a:rPr>
                        <a:t>Document ingestion and chunking strategy for …</a:t>
                      </a:r>
                    </a:p>
                  </a:txBody>
                  <a:tcPr marL="63500" marR="63500" marT="25400" marB="25400" anchor="ctr">
                    <a:solidFill>
                      <a:srgbClr val="FFFFFF"/>
                    </a:solidFill>
                  </a:tcPr>
                </a:tc>
                <a:tc>
                  <a:txBody>
                    <a:bodyPr/>
                    <a:lstStyle/>
                    <a:p>
                      <a:r>
                        <a:rPr sz="850" b="0">
                          <a:solidFill>
                            <a:srgbClr val="5C6B7A"/>
                          </a:solidFill>
                          <a:latin typeface="Calibri"/>
                        </a:rPr>
                        <a:t>Accepted</a:t>
                      </a:r>
                    </a:p>
                  </a:txBody>
                  <a:tcPr marL="63500" marR="63500" marT="25400" marB="25400" anchor="ctr">
                    <a:solidFill>
                      <a:srgbClr val="FFFFFF"/>
                    </a:solidFill>
                  </a:tcPr>
                </a:tc>
              </a:tr>
              <a:tr h="292608">
                <a:tc>
                  <a:txBody>
                    <a:bodyPr/>
                    <a:lstStyle/>
                    <a:p>
                      <a:r>
                        <a:rPr sz="850" b="1">
                          <a:solidFill>
                            <a:srgbClr val="13294B"/>
                          </a:solidFill>
                          <a:latin typeface="Calibri"/>
                        </a:rPr>
                        <a:t>D3-22</a:t>
                      </a:r>
                    </a:p>
                  </a:txBody>
                  <a:tcPr marL="63500" marR="63500" marT="25400" marB="25400" anchor="ctr">
                    <a:solidFill>
                      <a:srgbClr val="F3F6FA"/>
                    </a:solidFill>
                  </a:tcPr>
                </a:tc>
                <a:tc>
                  <a:txBody>
                    <a:bodyPr/>
                    <a:lstStyle/>
                    <a:p>
                      <a:r>
                        <a:rPr sz="850" b="0">
                          <a:solidFill>
                            <a:srgbClr val="5C6B7A"/>
                          </a:solidFill>
                          <a:latin typeface="Calibri"/>
                        </a:rPr>
                        <a:t>Retrieval, reranking and mandatory-citation p…</a:t>
                      </a:r>
                    </a:p>
                  </a:txBody>
                  <a:tcPr marL="63500" marR="63500" marT="25400" marB="25400" anchor="ctr">
                    <a:solidFill>
                      <a:srgbClr val="F3F6FA"/>
                    </a:solidFill>
                  </a:tcPr>
                </a:tc>
                <a:tc>
                  <a:txBody>
                    <a:bodyPr/>
                    <a:lstStyle/>
                    <a:p>
                      <a:r>
                        <a:rPr sz="850" b="0">
                          <a:solidFill>
                            <a:srgbClr val="5C6B7A"/>
                          </a:solidFill>
                          <a:latin typeface="Calibri"/>
                        </a:rPr>
                        <a:t>Accepted</a:t>
                      </a:r>
                    </a:p>
                  </a:txBody>
                  <a:tcPr marL="63500" marR="63500" marT="25400" marB="25400" anchor="ctr">
                    <a:solidFill>
                      <a:srgbClr val="F3F6FA"/>
                    </a:solidFill>
                  </a:tcPr>
                </a:tc>
              </a:tr>
              <a:tr h="292608">
                <a:tc>
                  <a:txBody>
                    <a:bodyPr/>
                    <a:lstStyle/>
                    <a:p>
                      <a:r>
                        <a:rPr sz="850" b="1">
                          <a:solidFill>
                            <a:srgbClr val="13294B"/>
                          </a:solidFill>
                          <a:latin typeface="Calibri"/>
                        </a:rPr>
                        <a:t>D3-23</a:t>
                      </a:r>
                    </a:p>
                  </a:txBody>
                  <a:tcPr marL="63500" marR="63500" marT="25400" marB="25400" anchor="ctr">
                    <a:solidFill>
                      <a:srgbClr val="FFFFFF"/>
                    </a:solidFill>
                  </a:tcPr>
                </a:tc>
                <a:tc>
                  <a:txBody>
                    <a:bodyPr/>
                    <a:lstStyle/>
                    <a:p>
                      <a:r>
                        <a:rPr sz="850" b="0">
                          <a:solidFill>
                            <a:srgbClr val="5C6B7A"/>
                          </a:solidFill>
                          <a:latin typeface="Calibri"/>
                        </a:rPr>
                        <a:t>Embedding model selection, versioning and re-…</a:t>
                      </a:r>
                    </a:p>
                  </a:txBody>
                  <a:tcPr marL="63500" marR="63500" marT="25400" marB="25400" anchor="ctr">
                    <a:solidFill>
                      <a:srgbClr val="FFFFFF"/>
                    </a:solidFill>
                  </a:tcPr>
                </a:tc>
                <a:tc>
                  <a:txBody>
                    <a:bodyPr/>
                    <a:lstStyle/>
                    <a:p>
                      <a:r>
                        <a:rPr sz="850" b="0">
                          <a:solidFill>
                            <a:srgbClr val="5C6B7A"/>
                          </a:solidFill>
                          <a:latin typeface="Calibri"/>
                        </a:rPr>
                        <a:t>Proposed ◆</a:t>
                      </a:r>
                    </a:p>
                  </a:txBody>
                  <a:tcPr marL="63500" marR="63500" marT="25400" marB="25400" anchor="ctr">
                    <a:solidFill>
                      <a:srgbClr val="FFFFFF"/>
                    </a:solidFill>
                  </a:tcPr>
                </a:tc>
              </a:tr>
              <a:tr h="292608">
                <a:tc>
                  <a:txBody>
                    <a:bodyPr/>
                    <a:lstStyle/>
                    <a:p>
                      <a:r>
                        <a:rPr sz="850" b="1">
                          <a:solidFill>
                            <a:srgbClr val="13294B"/>
                          </a:solidFill>
                          <a:latin typeface="Calibri"/>
                        </a:rPr>
                        <a:t>D3-24</a:t>
                      </a:r>
                    </a:p>
                  </a:txBody>
                  <a:tcPr marL="63500" marR="63500" marT="25400" marB="25400" anchor="ctr">
                    <a:solidFill>
                      <a:srgbClr val="F3F6FA"/>
                    </a:solidFill>
                  </a:tcPr>
                </a:tc>
                <a:tc>
                  <a:txBody>
                    <a:bodyPr/>
                    <a:lstStyle/>
                    <a:p>
                      <a:r>
                        <a:rPr sz="850" b="0">
                          <a:solidFill>
                            <a:srgbClr val="5C6B7A"/>
                          </a:solidFill>
                          <a:latin typeface="Calibri"/>
                        </a:rPr>
                        <a:t>Vector store selection</a:t>
                      </a:r>
                    </a:p>
                  </a:txBody>
                  <a:tcPr marL="63500" marR="63500" marT="25400" marB="25400" anchor="ctr">
                    <a:solidFill>
                      <a:srgbClr val="F3F6FA"/>
                    </a:solidFill>
                  </a:tcPr>
                </a:tc>
                <a:tc>
                  <a:txBody>
                    <a:bodyPr/>
                    <a:lstStyle/>
                    <a:p>
                      <a:r>
                        <a:rPr sz="850" b="0">
                          <a:solidFill>
                            <a:srgbClr val="5C6B7A"/>
                          </a:solidFill>
                          <a:latin typeface="Calibri"/>
                        </a:rPr>
                        <a:t>Proposed ◆</a:t>
                      </a:r>
                    </a:p>
                  </a:txBody>
                  <a:tcPr marL="63500" marR="63500" marT="25400" marB="25400" anchor="ctr">
                    <a:solidFill>
                      <a:srgbClr val="F3F6FA"/>
                    </a:solidFill>
                  </a:tcPr>
                </a:tc>
              </a:tr>
              <a:tr h="292608">
                <a:tc>
                  <a:txBody>
                    <a:bodyPr/>
                    <a:lstStyle/>
                    <a:p>
                      <a:r>
                        <a:rPr sz="850" b="1">
                          <a:solidFill>
                            <a:srgbClr val="13294B"/>
                          </a:solidFill>
                          <a:latin typeface="Calibri"/>
                        </a:rPr>
                        <a:t>D3-25</a:t>
                      </a:r>
                    </a:p>
                  </a:txBody>
                  <a:tcPr marL="63500" marR="63500" marT="25400" marB="25400" anchor="ctr">
                    <a:solidFill>
                      <a:srgbClr val="FFFFFF"/>
                    </a:solidFill>
                  </a:tcPr>
                </a:tc>
                <a:tc>
                  <a:txBody>
                    <a:bodyPr/>
                    <a:lstStyle/>
                    <a:p>
                      <a:r>
                        <a:rPr sz="850" b="0">
                          <a:solidFill>
                            <a:srgbClr val="5C6B7A"/>
                          </a:solidFill>
                          <a:latin typeface="Calibri"/>
                        </a:rPr>
                        <a:t>Context engineering — assembly order, precede…</a:t>
                      </a:r>
                    </a:p>
                  </a:txBody>
                  <a:tcPr marL="63500" marR="63500" marT="25400" marB="25400" anchor="ctr">
                    <a:solidFill>
                      <a:srgbClr val="FFFFFF"/>
                    </a:solidFill>
                  </a:tcPr>
                </a:tc>
                <a:tc>
                  <a:txBody>
                    <a:bodyPr/>
                    <a:lstStyle/>
                    <a:p>
                      <a:r>
                        <a:rPr sz="850" b="0">
                          <a:solidFill>
                            <a:srgbClr val="5C6B7A"/>
                          </a:solidFill>
                          <a:latin typeface="Calibri"/>
                        </a:rPr>
                        <a:t>Accepted</a:t>
                      </a:r>
                    </a:p>
                  </a:txBody>
                  <a:tcPr marL="63500" marR="63500" marT="25400" marB="25400" anchor="ctr">
                    <a:solidFill>
                      <a:srgbClr val="FFFFFF"/>
                    </a:solidFill>
                  </a:tcPr>
                </a:tc>
              </a:tr>
              <a:tr h="292608">
                <a:tc>
                  <a:txBody>
                    <a:bodyPr/>
                    <a:lstStyle/>
                    <a:p>
                      <a:r>
                        <a:rPr sz="850" b="1">
                          <a:solidFill>
                            <a:srgbClr val="13294B"/>
                          </a:solidFill>
                          <a:latin typeface="Calibri"/>
                        </a:rPr>
                        <a:t>D3-26</a:t>
                      </a:r>
                    </a:p>
                  </a:txBody>
                  <a:tcPr marL="63500" marR="63500" marT="25400" marB="25400" anchor="ctr">
                    <a:solidFill>
                      <a:srgbClr val="F3F6FA"/>
                    </a:solidFill>
                  </a:tcPr>
                </a:tc>
                <a:tc>
                  <a:txBody>
                    <a:bodyPr/>
                    <a:lstStyle/>
                    <a:p>
                      <a:r>
                        <a:rPr sz="850" b="0">
                          <a:solidFill>
                            <a:srgbClr val="5C6B7A"/>
                          </a:solidFill>
                          <a:latin typeface="Calibri"/>
                        </a:rPr>
                        <a:t>RAG retrieval invocation — tool contract, exe…</a:t>
                      </a:r>
                    </a:p>
                  </a:txBody>
                  <a:tcPr marL="63500" marR="63500" marT="25400" marB="25400" anchor="ctr">
                    <a:solidFill>
                      <a:srgbClr val="F3F6FA"/>
                    </a:solidFill>
                  </a:tcPr>
                </a:tc>
                <a:tc>
                  <a:txBody>
                    <a:bodyPr/>
                    <a:lstStyle/>
                    <a:p>
                      <a:r>
                        <a:rPr sz="850" b="0">
                          <a:solidFill>
                            <a:srgbClr val="5C6B7A"/>
                          </a:solidFill>
                          <a:latin typeface="Calibri"/>
                        </a:rPr>
                        <a:t>Accepted</a:t>
                      </a:r>
                    </a:p>
                  </a:txBody>
                  <a:tcPr marL="63500" marR="63500" marT="25400" marB="25400" anchor="ctr">
                    <a:solidFill>
                      <a:srgbClr val="F3F6FA"/>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17</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310896"/>
            <a:ext cx="8641080" cy="274320"/>
          </a:xfrm>
          <a:prstGeom prst="rect">
            <a:avLst/>
          </a:prstGeom>
          <a:noFill/>
        </p:spPr>
        <p:txBody>
          <a:bodyPr wrap="square" anchor="t" lIns="0" rIns="0" tIns="0" bIns="0">
            <a:spAutoFit/>
          </a:bodyPr>
          <a:lstStyle/>
          <a:p>
            <a:pPr algn="l"/>
            <a:r>
              <a:rPr sz="1150" b="1" i="0">
                <a:solidFill>
                  <a:srgbClr val="2E75B6"/>
                </a:solidFill>
                <a:latin typeface="Calibri"/>
              </a:rPr>
              <a:t>DECISION RECORD</a:t>
            </a:r>
          </a:p>
        </p:txBody>
      </p:sp>
      <p:sp>
        <p:nvSpPr>
          <p:cNvPr id="10" name="TextBox 9"/>
          <p:cNvSpPr txBox="1"/>
          <p:nvPr/>
        </p:nvSpPr>
        <p:spPr>
          <a:xfrm>
            <a:off x="1874519" y="566928"/>
            <a:ext cx="9921240" cy="548640"/>
          </a:xfrm>
          <a:prstGeom prst="rect">
            <a:avLst/>
          </a:prstGeom>
          <a:noFill/>
        </p:spPr>
        <p:txBody>
          <a:bodyPr wrap="square" lIns="0" tIns="0">
            <a:spAutoFit/>
          </a:bodyPr>
          <a:lstStyle/>
          <a:p>
            <a:r>
              <a:rPr sz="2700" b="1">
                <a:solidFill>
                  <a:srgbClr val="13294B"/>
                </a:solidFill>
                <a:latin typeface="Cambria"/>
              </a:rPr>
              <a:t>ADR index — AI (D3)  (2/2)</a:t>
            </a:r>
          </a:p>
        </p:txBody>
      </p:sp>
      <p:sp>
        <p:nvSpPr>
          <p:cNvPr id="11" name="TextBox 10"/>
          <p:cNvSpPr txBox="1"/>
          <p:nvPr/>
        </p:nvSpPr>
        <p:spPr>
          <a:xfrm>
            <a:off x="1874519" y="1133856"/>
            <a:ext cx="9921240" cy="365760"/>
          </a:xfrm>
          <a:prstGeom prst="rect">
            <a:avLst/>
          </a:prstGeom>
          <a:noFill/>
        </p:spPr>
        <p:txBody>
          <a:bodyPr wrap="square" anchor="t" lIns="0" rIns="0" tIns="0" bIns="0">
            <a:spAutoFit/>
          </a:bodyPr>
          <a:lstStyle/>
          <a:p>
            <a:pPr algn="l"/>
            <a:r>
              <a:rPr sz="1300" b="0" i="0">
                <a:solidFill>
                  <a:srgbClr val="5C6B7A"/>
                </a:solidFill>
                <a:latin typeface="Calibri"/>
              </a:rPr>
              <a:t>28 decisions in this domain  ·  ◆ = Proposed, awaiting ARB</a:t>
            </a:r>
          </a:p>
        </p:txBody>
      </p:sp>
      <p:graphicFrame>
        <p:nvGraphicFramePr>
          <p:cNvPr id="12" name="Table 11"/>
          <p:cNvGraphicFramePr>
            <a:graphicFrameLocks noGrp="1"/>
          </p:cNvGraphicFramePr>
          <p:nvPr/>
        </p:nvGraphicFramePr>
        <p:xfrm>
          <a:off x="1874519" y="1783080"/>
          <a:ext cx="4800599" cy="877824"/>
        </p:xfrm>
        <a:graphic>
          <a:graphicData uri="http://schemas.openxmlformats.org/drawingml/2006/table">
            <a:tbl>
              <a:tblPr firstRow="1">
                <a:tableStyleId>{5C22544A-7EE6-4342-B048-85BDC9FD1C3A}</a:tableStyleId>
              </a:tblPr>
              <a:tblGrid>
                <a:gridCol w="880844"/>
                <a:gridCol w="2994869"/>
                <a:gridCol w="924886"/>
              </a:tblGrid>
              <a:tr h="292608">
                <a:tc>
                  <a:txBody>
                    <a:bodyPr/>
                    <a:lstStyle/>
                    <a:p>
                      <a:r>
                        <a:rPr sz="850" b="1">
                          <a:solidFill>
                            <a:srgbClr val="FFFFFF"/>
                          </a:solidFill>
                          <a:latin typeface="Calibri"/>
                        </a:rPr>
                        <a:t>ADR</a:t>
                      </a:r>
                    </a:p>
                  </a:txBody>
                  <a:tcPr marL="63500" marR="63500" marT="25400" marB="25400" anchor="ctr">
                    <a:solidFill>
                      <a:srgbClr val="13294B"/>
                    </a:solidFill>
                  </a:tcPr>
                </a:tc>
                <a:tc>
                  <a:txBody>
                    <a:bodyPr/>
                    <a:lstStyle/>
                    <a:p>
                      <a:r>
                        <a:rPr sz="850" b="1">
                          <a:solidFill>
                            <a:srgbClr val="FFFFFF"/>
                          </a:solidFill>
                          <a:latin typeface="Calibri"/>
                        </a:rPr>
                        <a:t>Decision</a:t>
                      </a:r>
                    </a:p>
                  </a:txBody>
                  <a:tcPr marL="63500" marR="63500" marT="25400" marB="25400" anchor="ctr">
                    <a:solidFill>
                      <a:srgbClr val="13294B"/>
                    </a:solidFill>
                  </a:tcPr>
                </a:tc>
                <a:tc>
                  <a:txBody>
                    <a:bodyPr/>
                    <a:lstStyle/>
                    <a:p>
                      <a:r>
                        <a:rPr sz="850" b="1">
                          <a:solidFill>
                            <a:srgbClr val="FFFFFF"/>
                          </a:solidFill>
                          <a:latin typeface="Calibri"/>
                        </a:rPr>
                        <a:t>Status</a:t>
                      </a:r>
                    </a:p>
                  </a:txBody>
                  <a:tcPr marL="63500" marR="63500" marT="25400" marB="25400" anchor="ctr">
                    <a:solidFill>
                      <a:srgbClr val="13294B"/>
                    </a:solidFill>
                  </a:tcPr>
                </a:tc>
              </a:tr>
              <a:tr h="292608">
                <a:tc>
                  <a:txBody>
                    <a:bodyPr/>
                    <a:lstStyle/>
                    <a:p>
                      <a:r>
                        <a:rPr sz="850" b="1">
                          <a:solidFill>
                            <a:srgbClr val="13294B"/>
                          </a:solidFill>
                          <a:latin typeface="Calibri"/>
                        </a:rPr>
                        <a:t>D3-27</a:t>
                      </a:r>
                    </a:p>
                  </a:txBody>
                  <a:tcPr marL="63500" marR="63500" marT="25400" marB="25400" anchor="ctr">
                    <a:solidFill>
                      <a:srgbClr val="F3F6FA"/>
                    </a:solidFill>
                  </a:tcPr>
                </a:tc>
                <a:tc>
                  <a:txBody>
                    <a:bodyPr/>
                    <a:lstStyle/>
                    <a:p>
                      <a:r>
                        <a:rPr sz="850" b="0">
                          <a:solidFill>
                            <a:srgbClr val="5C6B7A"/>
                          </a:solidFill>
                          <a:latin typeface="Calibri"/>
                        </a:rPr>
                        <a:t>Document ingestion trigger mechanism — what s…</a:t>
                      </a:r>
                    </a:p>
                  </a:txBody>
                  <a:tcPr marL="63500" marR="63500" marT="25400" marB="25400" anchor="ctr">
                    <a:solidFill>
                      <a:srgbClr val="F3F6FA"/>
                    </a:solidFill>
                  </a:tcPr>
                </a:tc>
                <a:tc>
                  <a:txBody>
                    <a:bodyPr/>
                    <a:lstStyle/>
                    <a:p>
                      <a:r>
                        <a:rPr sz="850" b="0">
                          <a:solidFill>
                            <a:srgbClr val="5C6B7A"/>
                          </a:solidFill>
                          <a:latin typeface="Calibri"/>
                        </a:rPr>
                        <a:t>Accepted</a:t>
                      </a:r>
                    </a:p>
                  </a:txBody>
                  <a:tcPr marL="63500" marR="63500" marT="25400" marB="25400" anchor="ctr">
                    <a:solidFill>
                      <a:srgbClr val="F3F6FA"/>
                    </a:solidFill>
                  </a:tcPr>
                </a:tc>
              </a:tr>
              <a:tr h="292608">
                <a:tc>
                  <a:txBody>
                    <a:bodyPr/>
                    <a:lstStyle/>
                    <a:p>
                      <a:r>
                        <a:rPr sz="850" b="1">
                          <a:solidFill>
                            <a:srgbClr val="13294B"/>
                          </a:solidFill>
                          <a:latin typeface="Calibri"/>
                        </a:rPr>
                        <a:t>D3-28</a:t>
                      </a:r>
                    </a:p>
                  </a:txBody>
                  <a:tcPr marL="63500" marR="63500" marT="25400" marB="25400" anchor="ctr">
                    <a:solidFill>
                      <a:srgbClr val="FFFFFF"/>
                    </a:solidFill>
                  </a:tcPr>
                </a:tc>
                <a:tc>
                  <a:txBody>
                    <a:bodyPr/>
                    <a:lstStyle/>
                    <a:p>
                      <a:r>
                        <a:rPr sz="850" b="0">
                          <a:solidFill>
                            <a:srgbClr val="5C6B7A"/>
                          </a:solidFill>
                          <a:latin typeface="Calibri"/>
                        </a:rPr>
                        <a:t>Quality-gated runtime refinement loop, model-…</a:t>
                      </a:r>
                    </a:p>
                  </a:txBody>
                  <a:tcPr marL="63500" marR="63500" marT="25400" marB="25400" anchor="ctr">
                    <a:solidFill>
                      <a:srgbClr val="FFFFFF"/>
                    </a:solidFill>
                  </a:tcPr>
                </a:tc>
                <a:tc>
                  <a:txBody>
                    <a:bodyPr/>
                    <a:lstStyle/>
                    <a:p>
                      <a:r>
                        <a:rPr sz="850" b="0">
                          <a:solidFill>
                            <a:srgbClr val="5C6B7A"/>
                          </a:solidFill>
                          <a:latin typeface="Calibri"/>
                        </a:rPr>
                        <a:t>Proposed ◆</a:t>
                      </a:r>
                    </a:p>
                  </a:txBody>
                  <a:tcPr marL="63500" marR="63500" marT="25400" marB="25400"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09344" cy="6858000"/>
          </a:xfrm>
          <a:prstGeom prst="rect">
            <a:avLst/>
          </a:prstGeom>
          <a:solidFill>
            <a:srgbClr val="011E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_crest_white.png"/>
          <p:cNvPicPr>
            <a:picLocks noChangeAspect="1"/>
          </p:cNvPicPr>
          <p:nvPr/>
        </p:nvPicPr>
        <p:blipFill>
          <a:blip r:embed="rId2"/>
          <a:stretch>
            <a:fillRect/>
          </a:stretch>
        </p:blipFill>
        <p:spPr>
          <a:xfrm>
            <a:off x="466344" y="365760"/>
            <a:ext cx="676656" cy="1230479"/>
          </a:xfrm>
          <a:prstGeom prst="rect">
            <a:avLst/>
          </a:prstGeom>
        </p:spPr>
      </p:pic>
      <p:sp>
        <p:nvSpPr>
          <p:cNvPr id="4" name="Rectangle 3"/>
          <p:cNvSpPr/>
          <p:nvPr/>
        </p:nvSpPr>
        <p:spPr>
          <a:xfrm>
            <a:off x="384048" y="1779119"/>
            <a:ext cx="841248" cy="20116"/>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852271"/>
            <a:ext cx="1243584" cy="274320"/>
          </a:xfrm>
          <a:prstGeom prst="rect">
            <a:avLst/>
          </a:prstGeom>
          <a:noFill/>
        </p:spPr>
        <p:txBody>
          <a:bodyPr wrap="square" anchor="t" lIns="0" rIns="0" tIns="0" bIns="0">
            <a:spAutoFit/>
          </a:bodyPr>
          <a:lstStyle/>
          <a:p>
            <a:pPr algn="ctr"/>
            <a:r>
              <a:rPr sz="1300" b="1" i="0">
                <a:solidFill>
                  <a:srgbClr val="FFFFFF"/>
                </a:solidFill>
                <a:latin typeface="Cambria"/>
              </a:rPr>
              <a:t>PFF AI</a:t>
            </a:r>
          </a:p>
        </p:txBody>
      </p:sp>
      <p:sp>
        <p:nvSpPr>
          <p:cNvPr id="6" name="TextBox 5"/>
          <p:cNvSpPr txBox="1"/>
          <p:nvPr/>
        </p:nvSpPr>
        <p:spPr>
          <a:xfrm>
            <a:off x="182880" y="2144879"/>
            <a:ext cx="1243584" cy="274320"/>
          </a:xfrm>
          <a:prstGeom prst="rect">
            <a:avLst/>
          </a:prstGeom>
          <a:noFill/>
        </p:spPr>
        <p:txBody>
          <a:bodyPr wrap="square" anchor="t" lIns="0" rIns="0" tIns="0" bIns="0">
            <a:spAutoFit/>
          </a:bodyPr>
          <a:lstStyle/>
          <a:p>
            <a:pPr algn="ctr"/>
            <a:r>
              <a:rPr sz="850" b="0" i="0">
                <a:solidFill>
                  <a:srgbClr val="8FA6C4"/>
                </a:solidFill>
                <a:latin typeface="Calibri"/>
              </a:rPr>
              <a:t>Enterprise Agentic AI</a:t>
            </a:r>
          </a:p>
        </p:txBody>
      </p:sp>
      <p:sp>
        <p:nvSpPr>
          <p:cNvPr id="7" name="TextBox 6"/>
          <p:cNvSpPr txBox="1"/>
          <p:nvPr/>
        </p:nvSpPr>
        <p:spPr>
          <a:xfrm>
            <a:off x="182880" y="6455664"/>
            <a:ext cx="1243584" cy="274320"/>
          </a:xfrm>
          <a:prstGeom prst="rect">
            <a:avLst/>
          </a:prstGeom>
          <a:noFill/>
        </p:spPr>
        <p:txBody>
          <a:bodyPr wrap="square" anchor="t" lIns="0" rIns="0" tIns="0" bIns="0">
            <a:spAutoFit/>
          </a:bodyPr>
          <a:lstStyle/>
          <a:p>
            <a:pPr algn="ctr"/>
            <a:r>
              <a:rPr sz="1000" b="0" i="0">
                <a:solidFill>
                  <a:srgbClr val="8FA6C4"/>
                </a:solidFill>
                <a:latin typeface="Calibri"/>
              </a:rPr>
              <a:t>18</a:t>
            </a:r>
          </a:p>
        </p:txBody>
      </p:sp>
      <p:sp>
        <p:nvSpPr>
          <p:cNvPr id="8" name="TextBox 7"/>
          <p:cNvSpPr txBox="1"/>
          <p:nvPr/>
        </p:nvSpPr>
        <p:spPr>
          <a:xfrm>
            <a:off x="1874519" y="6510528"/>
            <a:ext cx="5486400" cy="256032"/>
          </a:xfrm>
          <a:prstGeom prst="rect">
            <a:avLst/>
          </a:prstGeom>
          <a:noFill/>
        </p:spPr>
        <p:txBody>
          <a:bodyPr wrap="square" anchor="t" lIns="0" rIns="0" tIns="0" bIns="0">
            <a:spAutoFit/>
          </a:bodyPr>
          <a:lstStyle/>
          <a:p>
            <a:pPr algn="l"/>
            <a:r>
              <a:rPr sz="850" b="0" i="0">
                <a:solidFill>
                  <a:srgbClr val="8FA6C4"/>
                </a:solidFill>
                <a:latin typeface="Calibri"/>
              </a:rPr>
              <a:t>Proprietary &amp; Confidential</a:t>
            </a:r>
          </a:p>
        </p:txBody>
      </p:sp>
      <p:sp>
        <p:nvSpPr>
          <p:cNvPr id="9" name="TextBox 8"/>
          <p:cNvSpPr txBox="1"/>
          <p:nvPr/>
        </p:nvSpPr>
        <p:spPr>
          <a:xfrm>
            <a:off x="1874519" y="2743200"/>
            <a:ext cx="9921240" cy="914400"/>
          </a:xfrm>
          <a:prstGeom prst="rect">
            <a:avLst/>
          </a:prstGeom>
          <a:noFill/>
        </p:spPr>
        <p:txBody>
          <a:bodyPr wrap="square" anchor="t" lIns="0" rIns="0" tIns="0" bIns="0">
            <a:spAutoFit/>
          </a:bodyPr>
          <a:lstStyle/>
          <a:p>
            <a:pPr algn="l"/>
            <a:r>
              <a:rPr sz="3200" b="1" i="0">
                <a:solidFill>
                  <a:srgbClr val="13294B"/>
                </a:solidFill>
                <a:latin typeface="Cambria"/>
              </a:rPr>
              <a:t>AI architecture — summary</a:t>
            </a:r>
          </a:p>
        </p:txBody>
      </p:sp>
      <p:sp>
        <p:nvSpPr>
          <p:cNvPr id="10" name="Rectangle 9"/>
          <p:cNvSpPr/>
          <p:nvPr/>
        </p:nvSpPr>
        <p:spPr>
          <a:xfrm>
            <a:off x="1892807" y="3703320"/>
            <a:ext cx="1554480" cy="45720"/>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74519" y="3931920"/>
            <a:ext cx="9921240" cy="914400"/>
          </a:xfrm>
          <a:prstGeom prst="rect">
            <a:avLst/>
          </a:prstGeom>
          <a:noFill/>
        </p:spPr>
        <p:txBody>
          <a:bodyPr wrap="square" anchor="t" lIns="0" rIns="0" tIns="0" bIns="0">
            <a:spAutoFit/>
          </a:bodyPr>
          <a:lstStyle/>
          <a:p>
            <a:pPr algn="l"/>
            <a:r>
              <a:rPr sz="1600" b="0" i="0">
                <a:solidFill>
                  <a:srgbClr val="5C6B7A"/>
                </a:solidFill>
                <a:latin typeface="Calibri"/>
              </a:rPr>
              <a:t>Bounded agents · layered secure prompts · abstracted reliable SLM · grounded cited RAG · quality-gated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331</Words>
  <Application>Microsoft Office PowerPoint</Application>
  <PresentationFormat>Widescreen</PresentationFormat>
  <Paragraphs>74</Paragraphs>
  <Slides>2</Slides>
  <Notes>2</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Yokesh Kulasekaran</cp:lastModifiedBy>
  <cp:revision>10</cp:revision>
  <dcterms:created xsi:type="dcterms:W3CDTF">2026-08-06T08:59:30Z</dcterms:created>
  <dcterms:modified xsi:type="dcterms:W3CDTF">2026-09-08T09:07:06Z</dcterms:modified>
</cp:coreProperties>
</file>