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ite Background" id="{47C7D9A1-B483-564F-90DC-40E90FE94FBA}">
          <p14:sldIdLst>
            <p14:sldId id="2076137493"/>
            <p14:sldId id="2076137508"/>
            <p14:sldId id="2076137510"/>
            <p14:sldId id="2076137509"/>
            <p14:sldId id="2076137498"/>
            <p14:sldId id="2076137499"/>
            <p14:sldId id="2076137504"/>
            <p14:sldId id="2076137506"/>
            <p14:sldId id="2076137492"/>
            <p14:sldId id="283"/>
            <p14:sldId id="2076137502"/>
          </p14:sldIdLst>
        </p14:section>
        <p14:section name="Black Background" id="{AE4A25D3-49D7-5B43-9FF8-BA2C3021CF5C}">
          <p14:sldIdLst>
            <p14:sldId id="2076137497"/>
            <p14:sldId id="2076137494"/>
            <p14:sldId id="2076137500"/>
            <p14:sldId id="2076137501"/>
            <p14:sldId id="2076137505"/>
            <p14:sldId id="2076137507"/>
            <p14:sldId id="2076137489"/>
            <p14:sldId id="274"/>
            <p14:sldId id="20761375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E84A"/>
    <a:srgbClr val="FED038"/>
    <a:srgbClr val="FE2579"/>
    <a:srgbClr val="5300DB"/>
    <a:srgbClr val="7F19BE"/>
    <a:srgbClr val="2ACCFF"/>
    <a:srgbClr val="0283FF"/>
    <a:srgbClr val="002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4E6FB-0852-E5AF-097D-33BDB00319C8}" v="12" dt="2026-08-21T18:56:47.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A76EA5-AA01-CF46-9942-B3D248EF91A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67986-05CD-0948-B842-65071D871968}" type="slidenum">
              <a:rPr lang="en-US" smtClean="0"/>
              <a:t>‹#›</a:t>
            </a:fld>
            <a:endParaRPr lang="en-US"/>
          </a:p>
        </p:txBody>
      </p:sp>
    </p:spTree>
    <p:extLst>
      <p:ext uri="{BB962C8B-B14F-4D97-AF65-F5344CB8AC3E}">
        <p14:creationId xmlns:p14="http://schemas.microsoft.com/office/powerpoint/2010/main" val="92529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platform is structured and how a request becomes an orchestrated, bounded, observable execution. 21 ADRs in D2.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 Application → Orchestration → Domain → Infrastructure. Dependencies point downward only. Domain code never imports FastAPI, Azure SDK, provider SDKs or DB drivers — this keeps business logic pure and testable.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are capabilities, not deployables. Two runtimes — request and event — over one codebase.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Conversation Manager is a responsibility boundary; the Supervisor is the intent router. Both avoid unbounded loops (D2-11).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LangGraph gives explicit, inspectable orchestration. TypedDict for internal graph state; Pydantic at every data boundary.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Harness is where claims, prompt composition, ERC, memory/cache, tools/MCP, RAG, guardrails and reliability limits are enforced for every agent step. Centralising this is what makes the Golden Rule enforceable in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Bounded everything: parallelism, retries, timeouts, loops. Idempotency keys make retries safe against the enterprise.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Affiliation can wait days for CFA review. State is checkpointed and resumed on a Service Bus event; completed side-effects are never replayed.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is catalog- and contract-driven, versioned, with explicit endpoint resolution and payload binding — no hidden coupling.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Service Bus carries ERC-refresh, workflow-resume and HIL events. Versioned envelopes, at-least-once delivery, idempotent handlers, dead-letter and reconciliation. This is how uncertain outcomes are resolved deterministically.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No-invented-URLs is a concrete anti-hallucination control: links come only from the registry. Full portal-link design is in the info/security decks.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21 application-architecture ADRs — layering, runtime, orchestration, integration and eventing. None open in this domain.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structure and bounded execution make the Golden Rule enforceable and the system observable and reliable.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s://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4.png"/><Relationship Id="rId9" Type="http://schemas.openxmlformats.org/officeDocument/2006/relationships/image" Target="../media/image5.jpeg"/><Relationship Id="rId10" Type="http://schemas.openxmlformats.org/officeDocument/2006/relationships/image" Target="../media/image6.png"/><Relationship Id="rId11"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8.png"/><Relationship Id="rId9" Type="http://schemas.microsoft.com/office/2007/relationships/hdphoto" Target="../media/hdphoto1.wdp"/><Relationship Id="rId10" Type="http://schemas.openxmlformats.org/officeDocument/2006/relationships/image" Target="../media/image9.png"/><Relationship Id="rId11" Type="http://schemas.microsoft.com/office/2007/relationships/hdphoto" Target="../media/hdphoto2.wdp"/><Relationship Id="rId12" Type="http://schemas.openxmlformats.org/officeDocument/2006/relationships/image" Target="../media/image10.png"/><Relationship Id="rId13"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Tidal - White">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0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Add a Title</a:t>
            </a:r>
            <a:endParaRPr lang="en-IN"/>
          </a:p>
        </p:txBody>
      </p:sp>
      <p:sp>
        <p:nvSpPr>
          <p:cNvPr id="13" name="Text Placeholder 16">
            <a:extLst>
              <a:ext uri="{FF2B5EF4-FFF2-40B4-BE49-F238E27FC236}">
                <a16:creationId xmlns:a16="http://schemas.microsoft.com/office/drawing/2014/main" id="{4D0F44B2-EB53-2D96-6B6F-D4A30D67762B}"/>
              </a:ext>
            </a:extLst>
          </p:cNvPr>
          <p:cNvSpPr>
            <a:spLocks noGrp="1"/>
          </p:cNvSpPr>
          <p:nvPr>
            <p:ph type="body" sz="quarter" idx="11" hasCustomPrompt="1"/>
          </p:nvPr>
        </p:nvSpPr>
        <p:spPr>
          <a:xfrm>
            <a:off x="640079" y="6035040"/>
            <a:ext cx="6400800" cy="182880"/>
          </a:xfrm>
          <a:prstGeom prst="rect">
            <a:avLst/>
          </a:prstGeom>
        </p:spPr>
        <p:txBody>
          <a:bodyPr lIns="0">
            <a:noAutofit/>
          </a:bodyPr>
          <a:lstStyle>
            <a:lvl1pPr marL="0" indent="0">
              <a:buNone/>
              <a:defRPr sz="1000" spc="200" baseline="0">
                <a:solidFill>
                  <a:schemeClr val="tx1"/>
                </a:solidFill>
              </a:defRPr>
            </a:lvl1pPr>
          </a:lstStyle>
          <a:p>
            <a:pPr lvl="0"/>
            <a:r>
              <a:rPr lang="en-US"/>
              <a:t>OPTIONAL TEXT</a:t>
            </a:r>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Tree>
    <p:extLst>
      <p:ext uri="{BB962C8B-B14F-4D97-AF65-F5344CB8AC3E}">
        <p14:creationId xmlns:p14="http://schemas.microsoft.com/office/powerpoint/2010/main" val="31941829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Tidal - Black">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5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Click to add a Title</a:t>
            </a:r>
            <a:endParaRPr lang="en-IN"/>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2" name="Text Placeholder 16">
            <a:extLst>
              <a:ext uri="{FF2B5EF4-FFF2-40B4-BE49-F238E27FC236}">
                <a16:creationId xmlns:a16="http://schemas.microsoft.com/office/drawing/2014/main" id="{8C412269-B983-3073-A130-4CC9F5C2596A}"/>
              </a:ext>
            </a:extLst>
          </p:cNvPr>
          <p:cNvSpPr>
            <a:spLocks noGrp="1"/>
          </p:cNvSpPr>
          <p:nvPr>
            <p:ph type="body" sz="quarter" idx="12" hasCustomPrompt="1"/>
          </p:nvPr>
        </p:nvSpPr>
        <p:spPr>
          <a:xfrm>
            <a:off x="640080" y="5900570"/>
            <a:ext cx="6400800" cy="182880"/>
          </a:xfrm>
          <a:prstGeom prst="rect">
            <a:avLst/>
          </a:prstGeom>
        </p:spPr>
        <p:txBody>
          <a:bodyPr lIns="27432">
            <a:noAutofit/>
          </a:bodyPr>
          <a:lstStyle>
            <a:lvl1pPr marL="0" indent="0">
              <a:buNone/>
              <a:defRPr sz="1000" spc="200" baseline="0">
                <a:solidFill>
                  <a:schemeClr val="tx1"/>
                </a:solidFill>
              </a:defRPr>
            </a:lvl1pPr>
          </a:lstStyle>
          <a:p>
            <a:pPr lvl="0"/>
            <a:r>
              <a:rPr lang="en-US"/>
              <a:t>OPTIONAL TEXT</a:t>
            </a:r>
          </a:p>
        </p:txBody>
      </p:sp>
    </p:spTree>
    <p:extLst>
      <p:ext uri="{BB962C8B-B14F-4D97-AF65-F5344CB8AC3E}">
        <p14:creationId xmlns:p14="http://schemas.microsoft.com/office/powerpoint/2010/main" val="131269569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140810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2685571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Black">
    <p:bg>
      <p:bgPr>
        <a:solidFill>
          <a:schemeClr val="tx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6" name="Text Placeholder 2">
            <a:extLst>
              <a:ext uri="{FF2B5EF4-FFF2-40B4-BE49-F238E27FC236}">
                <a16:creationId xmlns:a16="http://schemas.microsoft.com/office/drawing/2014/main" id="{7C1DFA83-DBBD-89EB-FC7F-E419D6F84B4C}"/>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bg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12" name="Group 11">
            <a:extLst>
              <a:ext uri="{FF2B5EF4-FFF2-40B4-BE49-F238E27FC236}">
                <a16:creationId xmlns:a16="http://schemas.microsoft.com/office/drawing/2014/main" id="{7FA077B6-9EEE-CC1F-D5C2-1F9522043CD9}"/>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13" name="Parallelogram 12">
              <a:extLst>
                <a:ext uri="{FF2B5EF4-FFF2-40B4-BE49-F238E27FC236}">
                  <a16:creationId xmlns:a16="http://schemas.microsoft.com/office/drawing/2014/main" id="{9C1D0426-FBF4-DE00-E02C-8D5F2C15D38D}"/>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7C2D95B7-4DFD-C1E7-A6C5-3801A98784F4}"/>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9268492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White">
    <p:bg>
      <p:bgPr>
        <a:solidFill>
          <a:schemeClr val="bg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2">
            <a:extLst>
              <a:ext uri="{FF2B5EF4-FFF2-40B4-BE49-F238E27FC236}">
                <a16:creationId xmlns:a16="http://schemas.microsoft.com/office/drawing/2014/main" id="{CD46454F-EC71-48E1-5357-FB89F2DE283E}"/>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tx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4" name="Group 3">
            <a:extLst>
              <a:ext uri="{FF2B5EF4-FFF2-40B4-BE49-F238E27FC236}">
                <a16:creationId xmlns:a16="http://schemas.microsoft.com/office/drawing/2014/main" id="{5B8EA5A1-39EA-85B7-EDAD-977AF9E75BD1}"/>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5" name="Parallelogram 4">
              <a:extLst>
                <a:ext uri="{FF2B5EF4-FFF2-40B4-BE49-F238E27FC236}">
                  <a16:creationId xmlns:a16="http://schemas.microsoft.com/office/drawing/2014/main" id="{797DAAA4-D1BF-74F7-EDCE-BCC5787E0C3A}"/>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A59C8600-5483-3E2A-648E-BC4B97D127A5}"/>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7686413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de - Black (Title Only)">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3026566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de - White (Title Only)">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spc="0" baseline="0">
                <a:gradFill>
                  <a:gsLst>
                    <a:gs pos="51000">
                      <a:srgbClr val="7E18BE"/>
                    </a:gs>
                    <a:gs pos="0">
                      <a:schemeClr val="tx2"/>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159740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d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74808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2 Lin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1131753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d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366198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2 Lin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598630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nal Slide - White">
    <p:bg>
      <p:bgPr>
        <a:solidFill>
          <a:schemeClr val="bg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hasCustomPrompt="1"/>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tx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Global Headquarters</a:t>
            </a:r>
          </a:p>
          <a:p>
            <a:pPr lvl="0"/>
            <a:r>
              <a:rPr lang="en-US"/>
              <a:t>33 S Wood Ave., 5th Floor</a:t>
            </a:r>
          </a:p>
          <a:p>
            <a:pPr lvl="0"/>
            <a:r>
              <a:rPr lang="en-US"/>
              <a:t>Iselin, NJ 08830</a:t>
            </a:r>
            <a:br>
              <a:rPr lang="en-US"/>
            </a:br>
            <a:r>
              <a:rPr lang="en-US"/>
              <a:t>+1.877.456.9922</a:t>
            </a:r>
            <a:br>
              <a:rPr lang="en-US"/>
            </a:br>
            <a:r>
              <a:rPr lang="en-US" err="1"/>
              <a:t>info@orioninc.com</a:t>
            </a:r>
            <a:r>
              <a:rPr lang="en-US"/>
              <a:t> </a:t>
            </a:r>
          </a:p>
          <a:p>
            <a:pPr lvl="0"/>
            <a:endParaRPr lang="en-US"/>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lum bright="-100000"/>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5" name="TextBox 14">
            <a:extLst>
              <a:ext uri="{FF2B5EF4-FFF2-40B4-BE49-F238E27FC236}">
                <a16:creationId xmlns:a16="http://schemas.microsoft.com/office/drawing/2014/main" id="{2DBC412D-3E01-BD56-691E-4CD8C776D62C}"/>
              </a:ext>
            </a:extLst>
          </p:cNvPr>
          <p:cNvSpPr txBox="1"/>
          <p:nvPr/>
        </p:nvSpPr>
        <p:spPr>
          <a:xfrm>
            <a:off x="8926692" y="4623358"/>
            <a:ext cx="2796879" cy="1292662"/>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rgbClr val="000000"/>
              </a:solidFill>
              <a:effectLst/>
              <a:uLnTx/>
              <a:uFillTx/>
              <a:latin typeface="Arial"/>
              <a:ea typeface="+mn-ea"/>
              <a:cs typeface="Arial"/>
            </a:endParaRPr>
          </a:p>
        </p:txBody>
      </p:sp>
      <p:pic>
        <p:nvPicPr>
          <p:cNvPr id="16" name="Picture 15" descr="Linkedin logo png, Linkedin icon transparent png 18930480 PNG">
            <a:extLst>
              <a:ext uri="{FF2B5EF4-FFF2-40B4-BE49-F238E27FC236}">
                <a16:creationId xmlns:a16="http://schemas.microsoft.com/office/drawing/2014/main" id="{14DEBB42-E32D-1F80-C7F6-EB28422002BC}"/>
              </a:ext>
            </a:extLst>
          </p:cNvPr>
          <p:cNvPicPr>
            <a:picLocks noChangeAspect="1"/>
          </p:cNvPicPr>
          <p:nvPr/>
        </p:nvPicPr>
        <p:blipFill>
          <a:blip r:embed="rId8"/>
          <a:stretch>
            <a:fillRect/>
          </a:stretch>
        </p:blipFill>
        <p:spPr>
          <a:xfrm>
            <a:off x="8684277" y="4944986"/>
            <a:ext cx="329423" cy="329423"/>
          </a:xfrm>
          <a:prstGeom prst="rect">
            <a:avLst/>
          </a:prstGeom>
        </p:spPr>
      </p:pic>
      <p:pic>
        <p:nvPicPr>
          <p:cNvPr id="3" name="Picture 2" descr="Instagram logo Images - Free Download ...">
            <a:extLst>
              <a:ext uri="{FF2B5EF4-FFF2-40B4-BE49-F238E27FC236}">
                <a16:creationId xmlns:a16="http://schemas.microsoft.com/office/drawing/2014/main" id="{9A4352E7-DD4C-74A0-2D68-B71A8ECA8445}"/>
              </a:ext>
            </a:extLst>
          </p:cNvPr>
          <p:cNvPicPr>
            <a:picLocks noChangeAspect="1"/>
          </p:cNvPicPr>
          <p:nvPr userDrawn="1"/>
        </p:nvPicPr>
        <p:blipFill>
          <a:blip r:embed="rId9"/>
          <a:srcRect l="11245" t="11067" r="11955" b="11067"/>
          <a:stretch>
            <a:fillRect/>
          </a:stretch>
        </p:blipFill>
        <p:spPr>
          <a:xfrm>
            <a:off x="8756587" y="5353892"/>
            <a:ext cx="184801" cy="187368"/>
          </a:xfrm>
          <a:prstGeom prst="roundRect">
            <a:avLst>
              <a:gd name="adj" fmla="val 18770"/>
            </a:avLst>
          </a:prstGeom>
        </p:spPr>
      </p:pic>
      <p:pic>
        <p:nvPicPr>
          <p:cNvPr id="10" name="Picture 9" descr="Website - Free web icons">
            <a:extLst>
              <a:ext uri="{FF2B5EF4-FFF2-40B4-BE49-F238E27FC236}">
                <a16:creationId xmlns:a16="http://schemas.microsoft.com/office/drawing/2014/main" id="{2A984760-D481-2F3B-8818-5A11592F296E}"/>
              </a:ext>
            </a:extLst>
          </p:cNvPr>
          <p:cNvPicPr>
            <a:picLocks noChangeAspect="1"/>
          </p:cNvPicPr>
          <p:nvPr userDrawn="1"/>
        </p:nvPicPr>
        <p:blipFill>
          <a:blip r:embed="rId10"/>
          <a:stretch>
            <a:fillRect/>
          </a:stretch>
        </p:blipFill>
        <p:spPr>
          <a:xfrm>
            <a:off x="8739068" y="4664454"/>
            <a:ext cx="218665" cy="218665"/>
          </a:xfrm>
          <a:prstGeom prst="rect">
            <a:avLst/>
          </a:prstGeom>
        </p:spPr>
      </p:pic>
      <p:pic>
        <p:nvPicPr>
          <p:cNvPr id="11" name="Picture 10" descr="File:X icon.svg - Wikimedia Commons">
            <a:extLst>
              <a:ext uri="{FF2B5EF4-FFF2-40B4-BE49-F238E27FC236}">
                <a16:creationId xmlns:a16="http://schemas.microsoft.com/office/drawing/2014/main" id="{786E8E88-AA37-E300-8278-7A04F6116236}"/>
              </a:ext>
            </a:extLst>
          </p:cNvPr>
          <p:cNvPicPr>
            <a:picLocks noChangeAspect="1"/>
          </p:cNvPicPr>
          <p:nvPr userDrawn="1"/>
        </p:nvPicPr>
        <p:blipFill>
          <a:blip r:embed="rId11"/>
          <a:stretch>
            <a:fillRect/>
          </a:stretch>
        </p:blipFill>
        <p:spPr>
          <a:xfrm>
            <a:off x="8746067" y="5669649"/>
            <a:ext cx="199055" cy="199055"/>
          </a:xfrm>
          <a:prstGeom prst="rect">
            <a:avLst/>
          </a:prstGeom>
        </p:spPr>
      </p:pic>
    </p:spTree>
    <p:extLst>
      <p:ext uri="{BB962C8B-B14F-4D97-AF65-F5344CB8AC3E}">
        <p14:creationId xmlns:p14="http://schemas.microsoft.com/office/powerpoint/2010/main" val="1645800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inal Slide - Black">
    <p:bg>
      <p:bgPr>
        <a:solidFill>
          <a:schemeClr val="tx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bg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Click to edit Master text styles</a:t>
            </a:r>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9" name="TextBox 18">
            <a:extLst>
              <a:ext uri="{FF2B5EF4-FFF2-40B4-BE49-F238E27FC236}">
                <a16:creationId xmlns:a16="http://schemas.microsoft.com/office/drawing/2014/main" id="{7F5E76D2-F382-0592-682D-F58FCBC6BA5D}"/>
              </a:ext>
            </a:extLst>
          </p:cNvPr>
          <p:cNvSpPr txBox="1"/>
          <p:nvPr/>
        </p:nvSpPr>
        <p:spPr>
          <a:xfrm>
            <a:off x="8926692" y="4623358"/>
            <a:ext cx="2796879" cy="1323439"/>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chemeClr val="bg1"/>
              </a:solidFill>
              <a:effectLst/>
              <a:uLnTx/>
              <a:uFillTx/>
              <a:latin typeface="Arial"/>
              <a:ea typeface="+mn-ea"/>
              <a:cs typeface="Arial"/>
            </a:endParaRPr>
          </a:p>
        </p:txBody>
      </p:sp>
      <p:pic>
        <p:nvPicPr>
          <p:cNvPr id="23" name="Picture 22" descr="Website - Free web icons">
            <a:extLst>
              <a:ext uri="{FF2B5EF4-FFF2-40B4-BE49-F238E27FC236}">
                <a16:creationId xmlns:a16="http://schemas.microsoft.com/office/drawing/2014/main" id="{85DF9A9A-C543-35B7-2ED8-38EFD74BA7F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8738298" y="4664454"/>
            <a:ext cx="218665" cy="218665"/>
          </a:xfrm>
          <a:prstGeom prst="rect">
            <a:avLst/>
          </a:prstGeom>
        </p:spPr>
      </p:pic>
      <p:pic>
        <p:nvPicPr>
          <p:cNvPr id="24" name="Picture 23" descr="Linkedin - Free social media icons">
            <a:extLst>
              <a:ext uri="{FF2B5EF4-FFF2-40B4-BE49-F238E27FC236}">
                <a16:creationId xmlns:a16="http://schemas.microsoft.com/office/drawing/2014/main" id="{24F6F54C-527F-C0A6-28CD-314A2DB89878}"/>
              </a:ext>
            </a:extLst>
          </p:cNvPr>
          <p:cNvPicPr>
            <a:picLocks noChangeAspect="1"/>
          </p:cNvPicPr>
          <p:nvPr userDrawn="1"/>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8749162" y="5005792"/>
            <a:ext cx="196936" cy="196936"/>
          </a:xfrm>
          <a:prstGeom prst="rect">
            <a:avLst/>
          </a:prstGeom>
        </p:spPr>
      </p:pic>
      <p:pic>
        <p:nvPicPr>
          <p:cNvPr id="25" name="Picture 24" descr="File:CIS-A2K Instagram Icon (Black).svg - Wikimedia Commons">
            <a:extLst>
              <a:ext uri="{FF2B5EF4-FFF2-40B4-BE49-F238E27FC236}">
                <a16:creationId xmlns:a16="http://schemas.microsoft.com/office/drawing/2014/main" id="{F380B0D0-4207-59F4-E678-A11C01D791D8}"/>
              </a:ext>
            </a:extLst>
          </p:cNvPr>
          <p:cNvPicPr>
            <a:picLocks noChangeAspect="1"/>
          </p:cNvPicPr>
          <p:nvPr userDrawn="1"/>
        </p:nvPicPr>
        <p:blipFill>
          <a:blip r:embed="rId12"/>
          <a:stretch>
            <a:fillRect/>
          </a:stretch>
        </p:blipFill>
        <p:spPr>
          <a:xfrm>
            <a:off x="8701083" y="5299211"/>
            <a:ext cx="293095" cy="293095"/>
          </a:xfrm>
          <a:prstGeom prst="rect">
            <a:avLst/>
          </a:prstGeom>
        </p:spPr>
      </p:pic>
      <p:pic>
        <p:nvPicPr>
          <p:cNvPr id="27" name="Picture 26" descr="Twitter x logo Images - Free Download on Freepik">
            <a:extLst>
              <a:ext uri="{FF2B5EF4-FFF2-40B4-BE49-F238E27FC236}">
                <a16:creationId xmlns:a16="http://schemas.microsoft.com/office/drawing/2014/main" id="{FBF43D94-D6E7-9636-C843-CE31B068483E}"/>
              </a:ext>
            </a:extLst>
          </p:cNvPr>
          <p:cNvPicPr>
            <a:picLocks noChangeAspect="1"/>
          </p:cNvPicPr>
          <p:nvPr userDrawn="1"/>
        </p:nvPicPr>
        <p:blipFill>
          <a:blip r:embed="rId13"/>
          <a:srcRect l="17325" t="17471" r="17848" b="17556"/>
          <a:stretch>
            <a:fillRect/>
          </a:stretch>
        </p:blipFill>
        <p:spPr>
          <a:xfrm>
            <a:off x="8759682" y="5686874"/>
            <a:ext cx="175897" cy="176294"/>
          </a:xfrm>
          <a:prstGeom prst="ellipse">
            <a:avLst/>
          </a:prstGeom>
          <a:ln w="3175">
            <a:solidFill>
              <a:schemeClr val="bg2"/>
            </a:solidFill>
          </a:ln>
        </p:spPr>
      </p:pic>
    </p:spTree>
    <p:extLst>
      <p:ext uri="{BB962C8B-B14F-4D97-AF65-F5344CB8AC3E}">
        <p14:creationId xmlns:p14="http://schemas.microsoft.com/office/powerpoint/2010/main" val="12818313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71F5A975-01B0-1E45-A56B-C68FA2410A50}"/>
              </a:ext>
            </a:extLst>
          </p:cNvPr>
          <p:cNvSpPr>
            <a:spLocks noGrp="1"/>
          </p:cNvSpPr>
          <p:nvPr>
            <p:ph type="ftr" sz="quarter" idx="3"/>
          </p:nvPr>
        </p:nvSpPr>
        <p:spPr>
          <a:xfrm>
            <a:off x="609600" y="6413499"/>
            <a:ext cx="4114800" cy="208585"/>
          </a:xfrm>
          <a:prstGeom prst="rect">
            <a:avLst/>
          </a:prstGeom>
        </p:spPr>
        <p:txBody>
          <a:bodyPr vert="horz" lIns="0" tIns="0" rIns="0" bIns="0" rtlCol="0" anchor="b">
            <a:noAutofit/>
          </a:bodyPr>
          <a:lstStyle>
            <a:lvl1pPr algn="l">
              <a:defRPr sz="700" b="0" i="0">
                <a:solidFill>
                  <a:schemeClr val="tx1">
                    <a:tint val="75000"/>
                  </a:schemeClr>
                </a:solidFill>
                <a:latin typeface="Arial" panose="020B0604020202020204" pitchFamily="34" charset="0"/>
                <a:cs typeface="Arial" panose="020B0604020202020204" pitchFamily="34" charset="0"/>
              </a:defRPr>
            </a:lvl1pPr>
          </a:lstStyle>
          <a:p>
            <a:r>
              <a:rPr lang="en-US"/>
              <a:t>Proprietary and Confidential</a:t>
            </a:r>
          </a:p>
        </p:txBody>
      </p:sp>
      <p:sp>
        <p:nvSpPr>
          <p:cNvPr id="5" name="Title Placeholder 4">
            <a:extLst>
              <a:ext uri="{FF2B5EF4-FFF2-40B4-BE49-F238E27FC236}">
                <a16:creationId xmlns:a16="http://schemas.microsoft.com/office/drawing/2014/main" id="{748A1652-E12D-BB40-863C-B183DCEF34DC}"/>
              </a:ext>
            </a:extLst>
          </p:cNvPr>
          <p:cNvSpPr>
            <a:spLocks noGrp="1"/>
          </p:cNvSpPr>
          <p:nvPr>
            <p:ph type="title"/>
          </p:nvPr>
        </p:nvSpPr>
        <p:spPr>
          <a:xfrm>
            <a:off x="609599" y="460376"/>
            <a:ext cx="10972799" cy="312265"/>
          </a:xfrm>
          <a:prstGeom prst="rect">
            <a:avLst/>
          </a:prstGeom>
        </p:spPr>
        <p:txBody>
          <a:bodyPr vert="horz" lIns="0" tIns="0" rIns="0" bIns="0" rtlCol="0" anchor="t">
            <a:spAutoFit/>
          </a:bodyPr>
          <a:lstStyle/>
          <a:p>
            <a:pPr marL="0" lvl="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pPr>
            <a:r>
              <a:rPr lang="en-US"/>
              <a:t>CLICK TO EDIT MASTER TITLE STYLE</a:t>
            </a:r>
          </a:p>
        </p:txBody>
      </p:sp>
      <p:pic>
        <p:nvPicPr>
          <p:cNvPr id="7" name="Picture 6">
            <a:extLst>
              <a:ext uri="{FF2B5EF4-FFF2-40B4-BE49-F238E27FC236}">
                <a16:creationId xmlns:a16="http://schemas.microsoft.com/office/drawing/2014/main" id="{B79AC6D6-695B-DE90-0E74-45050645A13D}"/>
              </a:ext>
            </a:extLst>
          </p:cNvPr>
          <p:cNvPicPr>
            <a:picLocks noChangeAspect="1"/>
          </p:cNvPicPr>
          <p:nvPr userDrawn="1"/>
        </p:nvPicPr>
        <p:blipFill>
          <a:blip r:embed="rId16" cstate="screen">
            <a:alphaModFix amt="40000"/>
            <a:lum bright="70000" contrast="-7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Tree>
    <p:extLst>
      <p:ext uri="{BB962C8B-B14F-4D97-AF65-F5344CB8AC3E}">
        <p14:creationId xmlns:p14="http://schemas.microsoft.com/office/powerpoint/2010/main" val="4115792623"/>
      </p:ext>
    </p:extLst>
  </p:cSld>
  <p:clrMap bg1="lt1" tx1="dk1" bg2="lt2" tx2="dk2" accent1="accent1" accent2="accent2" accent3="accent3" accent4="accent4" accent5="accent5" accent6="accent6" hlink="hlink" folHlink="folHlink"/>
  <p:sldLayoutIdLst>
    <p:sldLayoutId id="2147483665" r:id="rId1"/>
    <p:sldLayoutId id="2147483733" r:id="rId2"/>
    <p:sldLayoutId id="2147483666" r:id="rId3"/>
    <p:sldLayoutId id="2147483667" r:id="rId4"/>
    <p:sldLayoutId id="2147483668" r:id="rId5"/>
    <p:sldLayoutId id="2147483669" r:id="rId6"/>
    <p:sldLayoutId id="2147483672" r:id="rId7"/>
    <p:sldLayoutId id="2147483673" r:id="rId8"/>
    <p:sldLayoutId id="2147483674" r:id="rId9"/>
    <p:sldLayoutId id="2147483787" r:id="rId10"/>
    <p:sldLayoutId id="2147483675" r:id="rId11"/>
    <p:sldLayoutId id="2147483786" r:id="rId12"/>
    <p:sldLayoutId id="2147483691" r:id="rId13"/>
    <p:sldLayoutId id="2147483785" r:id="rId14"/>
  </p:sldLayoutIdLst>
  <p:hf hdr="0" dt="0"/>
  <p:txStyles>
    <p:titleStyle>
      <a:lvl1pPr algn="l" defTabSz="1219170" rtl="0" eaLnBrk="1" latinLnBrk="0" hangingPunct="1">
        <a:lnSpc>
          <a:spcPct val="90000"/>
        </a:lnSpc>
        <a:spcBef>
          <a:spcPct val="0"/>
        </a:spcBef>
        <a:buNone/>
        <a:defRPr lang="en-US" sz="2000" b="1" i="0" kern="1200" spc="0" baseline="0" dirty="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p:titleStyle>
    <p:bodyStyle>
      <a:lvl1pPr marL="18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1pPr>
      <a:lvl2pPr marL="2322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2pPr>
      <a:lvl3pPr marL="462600" indent="0" algn="l" defTabSz="1219170" rtl="0" eaLnBrk="1" latinLnBrk="0" hangingPunct="1">
        <a:lnSpc>
          <a:spcPct val="110000"/>
        </a:lnSpc>
        <a:spcBef>
          <a:spcPts val="400"/>
        </a:spcBef>
        <a:spcAft>
          <a:spcPts val="400"/>
        </a:spcAft>
        <a:buClr>
          <a:schemeClr val="bg2"/>
        </a:buClr>
        <a:buFont typeface="Courier New" panose="02070309020205020404" pitchFamily="49" charset="0"/>
        <a:buNone/>
        <a:tabLst/>
        <a:defRPr sz="2400" b="0" i="0" kern="1200">
          <a:solidFill>
            <a:schemeClr val="tx1"/>
          </a:solidFill>
          <a:latin typeface="+mj-lt"/>
          <a:ea typeface="+mn-ea"/>
          <a:cs typeface="Arial" panose="020B0604020202020204" pitchFamily="34" charset="0"/>
        </a:defRPr>
      </a:lvl3pPr>
      <a:lvl4pPr marL="6930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4pPr>
      <a:lvl5pPr marL="9234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FFFFF"/>
          </p15:clr>
        </p15:guide>
        <p15:guide id="2" pos="7536">
          <p15:clr>
            <a:srgbClr val="FFFFFF"/>
          </p15:clr>
        </p15:guide>
        <p15:guide id="3" orient="horz" pos="4176">
          <p15:clr>
            <a:srgbClr val="547EBF"/>
          </p15:clr>
        </p15:guide>
        <p15:guide id="4" pos="144">
          <p15:clr>
            <a:srgbClr val="FFFFFF"/>
          </p15:clr>
        </p15:guide>
        <p15:guide id="5" pos="288">
          <p15:clr>
            <a:srgbClr val="5ACBF0"/>
          </p15:clr>
        </p15:guide>
        <p15:guide id="6" orient="horz" pos="4032">
          <p15:clr>
            <a:srgbClr val="5ACBF0"/>
          </p15:clr>
        </p15:guide>
        <p15:guide id="7" orient="horz" pos="290">
          <p15:clr>
            <a:srgbClr val="5ACBF0"/>
          </p15:clr>
        </p15:guide>
        <p15:guide id="9" pos="1464">
          <p15:clr>
            <a:srgbClr val="F26B43"/>
          </p15:clr>
        </p15:guide>
        <p15:guide id="10" pos="840">
          <p15:clr>
            <a:srgbClr val="F26B43"/>
          </p15:clr>
        </p15:guide>
        <p15:guide id="11" pos="2063">
          <p15:clr>
            <a:srgbClr val="F26B43"/>
          </p15:clr>
        </p15:guide>
        <p15:guide id="12" pos="2651">
          <p15:clr>
            <a:srgbClr val="F26B43"/>
          </p15:clr>
        </p15:guide>
        <p15:guide id="13" pos="3250">
          <p15:clr>
            <a:srgbClr val="F26B43"/>
          </p15:clr>
        </p15:guide>
        <p15:guide id="14" pos="3835">
          <p15:clr>
            <a:srgbClr val="F26B43"/>
          </p15:clr>
        </p15:guide>
        <p15:guide id="15" pos="4432">
          <p15:clr>
            <a:srgbClr val="F26B43"/>
          </p15:clr>
        </p15:guide>
        <p15:guide id="16" pos="5022">
          <p15:clr>
            <a:srgbClr val="F26B43"/>
          </p15:clr>
        </p15:guide>
        <p15:guide id="17" pos="5620">
          <p15:clr>
            <a:srgbClr val="F26B43"/>
          </p15:clr>
        </p15:guide>
        <p15:guide id="18" pos="6207">
          <p15:clr>
            <a:srgbClr val="F26B43"/>
          </p15:clr>
        </p15:guide>
        <p15:guide id="19" pos="6802">
          <p15:clr>
            <a:srgbClr val="F26B43"/>
          </p15:clr>
        </p15:guide>
        <p15:guide id="20" orient="horz" pos="756">
          <p15:clr>
            <a:srgbClr val="5ACBF0"/>
          </p15:clr>
        </p15:guide>
        <p15:guide id="21" orient="horz" pos="1225">
          <p15:clr>
            <a:srgbClr val="5ACBF0"/>
          </p15:clr>
        </p15:guide>
        <p15:guide id="22" orient="horz" pos="1692">
          <p15:clr>
            <a:srgbClr val="5ACBF0"/>
          </p15:clr>
        </p15:guide>
        <p15:guide id="23" orient="horz" pos="2157">
          <p15:clr>
            <a:srgbClr val="5ACBF0"/>
          </p15:clr>
        </p15:guide>
        <p15:guide id="24" orient="horz" pos="2629">
          <p15:clr>
            <a:srgbClr val="5ACBF0"/>
          </p15:clr>
        </p15:guide>
        <p15:guide id="25" orient="horz" pos="3096">
          <p15:clr>
            <a:srgbClr val="5ACBF0"/>
          </p15:clr>
        </p15:guide>
        <p15:guide id="26" orient="horz" pos="3570">
          <p15:clr>
            <a:srgbClr val="5ACBF0"/>
          </p15:clr>
        </p15:guide>
        <p15:guide id="29" pos="7392">
          <p15:clr>
            <a:srgbClr val="5ACBF0"/>
          </p15:clr>
        </p15:guide>
        <p15:guide id="30" pos="7440">
          <p15:clr>
            <a:srgbClr val="5ACBF0"/>
          </p15:clr>
        </p15:guide>
        <p15:guide id="31" pos="240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02 · Application &amp; Orchestration</a:t>
            </a:r>
          </a:p>
        </p:txBody>
      </p:sp>
      <p:sp>
        <p:nvSpPr>
          <p:cNvPr id="3" name="Text Placeholder 2"/>
          <p:cNvSpPr>
            <a:spLocks noGrp="1"/>
          </p:cNvSpPr>
          <p:nvPr>
            <p:ph type="body" idx="12" sz="quarter"/>
          </p:nvPr>
        </p:nvSpPr>
        <p:spPr/>
        <p:txBody>
          <a:bodyPr/>
          <a:lstStyle/>
          <a:p>
            <a:r>
              <a:rPr>
                <a:solidFill>
                  <a:srgbClr val="D5D5D5"/>
                </a:solidFill>
              </a:rPr>
              <a:t>Layering · runtime · Supervisor · LangGraph · Agent Harness · integration · eventing  (D2, 21 ADRs)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deck covers</a:t>
            </a:r>
          </a:p>
        </p:txBody>
      </p:sp>
      <p:sp>
        <p:nvSpPr>
          <p:cNvPr id="3" name="TextBox 2"/>
          <p:cNvSpPr txBox="1"/>
          <p:nvPr/>
        </p:nvSpPr>
        <p:spPr>
          <a:xfrm>
            <a:off x="8229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Layered architecture &amp; the dependency rule</a:t>
            </a:r>
          </a:p>
          <a:p>
            <a:pPr algn="l">
              <a:spcAft>
                <a:spcPts val="1000"/>
              </a:spcAft>
            </a:pPr>
            <a:r>
              <a:rPr sz="1800" b="1">
                <a:solidFill>
                  <a:srgbClr val="2ACCFF"/>
                </a:solidFill>
                <a:latin typeface="Calibri"/>
              </a:rPr>
              <a:t>▸ </a:t>
            </a:r>
            <a:r>
              <a:rPr sz="1800">
                <a:solidFill>
                  <a:srgbClr val="FFFFFF"/>
                </a:solidFill>
                <a:latin typeface="Calibri"/>
              </a:rPr>
              <a:t>One runtime; agents as logical capabilities; dual runtime</a:t>
            </a:r>
          </a:p>
          <a:p>
            <a:pPr algn="l">
              <a:spcAft>
                <a:spcPts val="1000"/>
              </a:spcAft>
            </a:pPr>
            <a:r>
              <a:rPr sz="1800" b="1">
                <a:solidFill>
                  <a:srgbClr val="2ACCFF"/>
                </a:solidFill>
                <a:latin typeface="Calibri"/>
              </a:rPr>
              <a:t>▸ </a:t>
            </a:r>
            <a:r>
              <a:rPr sz="1800">
                <a:solidFill>
                  <a:srgbClr val="FFFFFF"/>
                </a:solidFill>
                <a:latin typeface="Calibri"/>
              </a:rPr>
              <a:t>Conversation Manager &amp; Supervisor intent routing</a:t>
            </a:r>
          </a:p>
          <a:p>
            <a:pPr algn="l">
              <a:spcAft>
                <a:spcPts val="1000"/>
              </a:spcAft>
            </a:pPr>
            <a:r>
              <a:rPr sz="1800" b="1">
                <a:solidFill>
                  <a:srgbClr val="2ACCFF"/>
                </a:solidFill>
                <a:latin typeface="Calibri"/>
              </a:rPr>
              <a:t>▸ </a:t>
            </a:r>
            <a:r>
              <a:rPr sz="1800">
                <a:solidFill>
                  <a:srgbClr val="FFFFFF"/>
                </a:solidFill>
                <a:latin typeface="Calibri"/>
              </a:rPr>
              <a:t>LangGraph orchestration &amp; graph state</a:t>
            </a:r>
          </a:p>
          <a:p>
            <a:pPr algn="l">
              <a:spcAft>
                <a:spcPts val="1000"/>
              </a:spcAft>
            </a:pPr>
            <a:r>
              <a:rPr sz="1800" b="1">
                <a:solidFill>
                  <a:srgbClr val="2ACCFF"/>
                </a:solidFill>
                <a:latin typeface="Calibri"/>
              </a:rPr>
              <a:t>▸ </a:t>
            </a:r>
            <a:r>
              <a:rPr sz="1800">
                <a:solidFill>
                  <a:srgbClr val="FFFFFF"/>
                </a:solidFill>
                <a:latin typeface="Calibri"/>
              </a:rPr>
              <a:t>Agent Harness — the single execution boundary</a:t>
            </a:r>
          </a:p>
        </p:txBody>
      </p:sp>
      <p:sp>
        <p:nvSpPr>
          <p:cNvPr id="4" name="TextBox 3"/>
          <p:cNvSpPr txBox="1"/>
          <p:nvPr/>
        </p:nvSpPr>
        <p:spPr>
          <a:xfrm>
            <a:off x="63093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Execution model, bounded parallelism &amp; reliability limits</a:t>
            </a:r>
          </a:p>
          <a:p>
            <a:pPr algn="l">
              <a:spcAft>
                <a:spcPts val="1000"/>
              </a:spcAft>
            </a:pPr>
            <a:r>
              <a:rPr sz="1800" b="1">
                <a:solidFill>
                  <a:srgbClr val="2ACCFF"/>
                </a:solidFill>
                <a:latin typeface="Calibri"/>
              </a:rPr>
              <a:t>▸ </a:t>
            </a:r>
            <a:r>
              <a:rPr sz="1800">
                <a:solidFill>
                  <a:srgbClr val="FFFFFF"/>
                </a:solidFill>
                <a:latin typeface="Calibri"/>
              </a:rPr>
              <a:t>Long-running workflows &amp; HIL resume</a:t>
            </a:r>
          </a:p>
          <a:p>
            <a:pPr algn="l">
              <a:spcAft>
                <a:spcPts val="1000"/>
              </a:spcAft>
            </a:pPr>
            <a:r>
              <a:rPr sz="1800" b="1">
                <a:solidFill>
                  <a:srgbClr val="2ACCFF"/>
                </a:solidFill>
                <a:latin typeface="Calibri"/>
              </a:rPr>
              <a:t>▸ </a:t>
            </a:r>
            <a:r>
              <a:rPr sz="1800">
                <a:solidFill>
                  <a:srgbClr val="FFFFFF"/>
                </a:solidFill>
                <a:latin typeface="Calibri"/>
              </a:rPr>
              <a:t>Enterprise integration pattern, contracts &amp; binding</a:t>
            </a:r>
          </a:p>
          <a:p>
            <a:pPr algn="l">
              <a:spcAft>
                <a:spcPts val="1000"/>
              </a:spcAft>
            </a:pPr>
            <a:r>
              <a:rPr sz="1800" b="1">
                <a:solidFill>
                  <a:srgbClr val="2ACCFF"/>
                </a:solidFill>
                <a:latin typeface="Calibri"/>
              </a:rPr>
              <a:t>▸ </a:t>
            </a:r>
            <a:r>
              <a:rPr sz="1800">
                <a:solidFill>
                  <a:srgbClr val="FFFFFF"/>
                </a:solidFill>
                <a:latin typeface="Calibri"/>
              </a:rPr>
              <a:t>Asynchronous eventing — Azure Service Bus</a:t>
            </a:r>
          </a:p>
          <a:p>
            <a:pPr algn="l">
              <a:spcAft>
                <a:spcPts val="1000"/>
              </a:spcAft>
            </a:pPr>
            <a:r>
              <a:rPr sz="1800" b="1">
                <a:solidFill>
                  <a:srgbClr val="2ACCFF"/>
                </a:solidFill>
                <a:latin typeface="Calibri"/>
              </a:rPr>
              <a:t>▸ </a:t>
            </a:r>
            <a:r>
              <a:rPr sz="1800">
                <a:solidFill>
                  <a:srgbClr val="FFFFFF"/>
                </a:solidFill>
                <a:latin typeface="Calibri"/>
              </a:rPr>
              <a:t>Portal-link registry — no invented URLs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Layered architecture &amp; dependency rule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D2-01 · enforced, not conventional</a:t>
            </a:r>
          </a:p>
        </p:txBody>
      </p:sp>
      <p:sp>
        <p:nvSpPr>
          <p:cNvPr id="4" name="Rounded Rectangle 3"/>
          <p:cNvSpPr/>
          <p:nvPr/>
        </p:nvSpPr>
        <p:spPr>
          <a:xfrm>
            <a:off x="822960" y="1783080"/>
            <a:ext cx="8778240" cy="749808"/>
          </a:xfrm>
          <a:prstGeom prst="roundRect">
            <a:avLst/>
          </a:prstGeom>
          <a:solidFill>
            <a:srgbClr val="1E222B"/>
          </a:solidFill>
          <a:ln w="15240">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1051560" y="1883664"/>
            <a:ext cx="3108960" cy="548640"/>
          </a:xfrm>
          <a:prstGeom prst="rect">
            <a:avLst/>
          </a:prstGeom>
          <a:noFill/>
        </p:spPr>
        <p:txBody>
          <a:bodyPr wrap="square" anchor="t" lIns="0" rIns="0" tIns="0" bIns="0">
            <a:spAutoFit/>
          </a:bodyPr>
          <a:lstStyle/>
          <a:p>
            <a:pPr algn="l"/>
            <a:r>
              <a:rPr sz="1700" b="1" i="0">
                <a:solidFill>
                  <a:srgbClr val="2ACCFF"/>
                </a:solidFill>
                <a:latin typeface="Calibri"/>
              </a:rPr>
              <a:t>API</a:t>
            </a:r>
          </a:p>
        </p:txBody>
      </p:sp>
      <p:sp>
        <p:nvSpPr>
          <p:cNvPr id="6" name="TextBox 5"/>
          <p:cNvSpPr txBox="1"/>
          <p:nvPr/>
        </p:nvSpPr>
        <p:spPr>
          <a:xfrm>
            <a:off x="4023360" y="1911095"/>
            <a:ext cx="5394959" cy="548640"/>
          </a:xfrm>
          <a:prstGeom prst="rect">
            <a:avLst/>
          </a:prstGeom>
          <a:noFill/>
        </p:spPr>
        <p:txBody>
          <a:bodyPr wrap="square" anchor="t" lIns="0" rIns="0" tIns="0" bIns="0">
            <a:spAutoFit/>
          </a:bodyPr>
          <a:lstStyle/>
          <a:p>
            <a:pPr algn="l"/>
            <a:r>
              <a:rPr sz="1200" b="0" i="0">
                <a:solidFill>
                  <a:srgbClr val="D5D5D5"/>
                </a:solidFill>
                <a:latin typeface="Calibri"/>
              </a:rPr>
              <a:t>FastAPI — thin boundary: validate → build context → invoke → return</a:t>
            </a:r>
          </a:p>
        </p:txBody>
      </p:sp>
      <p:cxnSp>
        <p:nvCxnSpPr>
          <p:cNvPr id="7" name="Connector 6"/>
          <p:cNvCxnSpPr/>
          <p:nvPr/>
        </p:nvCxnSpPr>
        <p:spPr>
          <a:xfrm>
            <a:off x="9921240" y="2532888"/>
            <a:ext cx="0" cy="164592"/>
          </a:xfrm>
          <a:prstGeom prst="line">
            <a:avLst/>
          </a:prstGeom>
          <a:ln w="12700">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 y="2715768"/>
            <a:ext cx="8778240" cy="749808"/>
          </a:xfrm>
          <a:prstGeom prst="roundRect">
            <a:avLst/>
          </a:prstGeom>
          <a:solidFill>
            <a:srgbClr val="1E222B"/>
          </a:solidFill>
          <a:ln w="15240">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9" name="TextBox 8"/>
          <p:cNvSpPr txBox="1"/>
          <p:nvPr/>
        </p:nvSpPr>
        <p:spPr>
          <a:xfrm>
            <a:off x="1051560" y="2816351"/>
            <a:ext cx="3108960" cy="548640"/>
          </a:xfrm>
          <a:prstGeom prst="rect">
            <a:avLst/>
          </a:prstGeom>
          <a:noFill/>
        </p:spPr>
        <p:txBody>
          <a:bodyPr wrap="square" anchor="t" lIns="0" rIns="0" tIns="0" bIns="0">
            <a:spAutoFit/>
          </a:bodyPr>
          <a:lstStyle/>
          <a:p>
            <a:pPr algn="l"/>
            <a:r>
              <a:rPr sz="1700" b="1" i="0">
                <a:solidFill>
                  <a:srgbClr val="0283FF"/>
                </a:solidFill>
                <a:latin typeface="Calibri"/>
              </a:rPr>
              <a:t>Application</a:t>
            </a:r>
          </a:p>
        </p:txBody>
      </p:sp>
      <p:sp>
        <p:nvSpPr>
          <p:cNvPr id="10" name="TextBox 9"/>
          <p:cNvSpPr txBox="1"/>
          <p:nvPr/>
        </p:nvSpPr>
        <p:spPr>
          <a:xfrm>
            <a:off x="4023360" y="2843784"/>
            <a:ext cx="5394959" cy="548640"/>
          </a:xfrm>
          <a:prstGeom prst="rect">
            <a:avLst/>
          </a:prstGeom>
          <a:noFill/>
        </p:spPr>
        <p:txBody>
          <a:bodyPr wrap="square" anchor="t" lIns="0" rIns="0" tIns="0" bIns="0">
            <a:spAutoFit/>
          </a:bodyPr>
          <a:lstStyle/>
          <a:p>
            <a:pPr algn="l"/>
            <a:r>
              <a:rPr sz="1200" b="0" i="0">
                <a:solidFill>
                  <a:srgbClr val="D5D5D5"/>
                </a:solidFill>
                <a:latin typeface="Calibri"/>
              </a:rPr>
              <a:t>use-case orchestration — services, commands, queries, DTOs</a:t>
            </a:r>
          </a:p>
        </p:txBody>
      </p:sp>
      <p:cxnSp>
        <p:nvCxnSpPr>
          <p:cNvPr id="11" name="Connector 10"/>
          <p:cNvCxnSpPr/>
          <p:nvPr/>
        </p:nvCxnSpPr>
        <p:spPr>
          <a:xfrm>
            <a:off x="9921240" y="3465575"/>
            <a:ext cx="0" cy="164593"/>
          </a:xfrm>
          <a:prstGeom prst="line">
            <a:avLst/>
          </a:prstGeom>
          <a:ln w="12700">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22960" y="3648456"/>
            <a:ext cx="8778240" cy="749808"/>
          </a:xfrm>
          <a:prstGeom prst="roundRect">
            <a:avLst/>
          </a:prstGeom>
          <a:solidFill>
            <a:srgbClr val="1E222B"/>
          </a:solidFill>
          <a:ln w="15240">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3" name="TextBox 12"/>
          <p:cNvSpPr txBox="1"/>
          <p:nvPr/>
        </p:nvSpPr>
        <p:spPr>
          <a:xfrm>
            <a:off x="1051560" y="3749039"/>
            <a:ext cx="3108960" cy="548640"/>
          </a:xfrm>
          <a:prstGeom prst="rect">
            <a:avLst/>
          </a:prstGeom>
          <a:noFill/>
        </p:spPr>
        <p:txBody>
          <a:bodyPr wrap="square" anchor="t" lIns="0" rIns="0" tIns="0" bIns="0">
            <a:spAutoFit/>
          </a:bodyPr>
          <a:lstStyle/>
          <a:p>
            <a:pPr algn="l"/>
            <a:r>
              <a:rPr sz="1700" b="1" i="0">
                <a:solidFill>
                  <a:srgbClr val="48E84A"/>
                </a:solidFill>
                <a:latin typeface="Calibri"/>
              </a:rPr>
              <a:t>Orchestration</a:t>
            </a:r>
          </a:p>
        </p:txBody>
      </p:sp>
      <p:sp>
        <p:nvSpPr>
          <p:cNvPr id="14" name="TextBox 13"/>
          <p:cNvSpPr txBox="1"/>
          <p:nvPr/>
        </p:nvSpPr>
        <p:spPr>
          <a:xfrm>
            <a:off x="4023360" y="3776472"/>
            <a:ext cx="5394959" cy="548640"/>
          </a:xfrm>
          <a:prstGeom prst="rect">
            <a:avLst/>
          </a:prstGeom>
          <a:noFill/>
        </p:spPr>
        <p:txBody>
          <a:bodyPr wrap="square" anchor="t" lIns="0" rIns="0" tIns="0" bIns="0">
            <a:spAutoFit/>
          </a:bodyPr>
          <a:lstStyle/>
          <a:p>
            <a:pPr algn="l"/>
            <a:r>
              <a:rPr sz="1200" b="0" i="0">
                <a:solidFill>
                  <a:srgbClr val="D5D5D5"/>
                </a:solidFill>
                <a:latin typeface="Calibri"/>
              </a:rPr>
              <a:t>Supervisor · LangGraph · Agent Harness</a:t>
            </a:r>
          </a:p>
        </p:txBody>
      </p:sp>
      <p:cxnSp>
        <p:nvCxnSpPr>
          <p:cNvPr id="15" name="Connector 14"/>
          <p:cNvCxnSpPr/>
          <p:nvPr/>
        </p:nvCxnSpPr>
        <p:spPr>
          <a:xfrm>
            <a:off x="9921240" y="4398264"/>
            <a:ext cx="0" cy="164591"/>
          </a:xfrm>
          <a:prstGeom prst="line">
            <a:avLst/>
          </a:prstGeom>
          <a:ln w="12700">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22960" y="4581144"/>
            <a:ext cx="8778240" cy="749808"/>
          </a:xfrm>
          <a:prstGeom prst="roundRect">
            <a:avLst/>
          </a:prstGeom>
          <a:solidFill>
            <a:srgbClr val="1E222B"/>
          </a:solidFill>
          <a:ln w="15240">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7" name="TextBox 16"/>
          <p:cNvSpPr txBox="1"/>
          <p:nvPr/>
        </p:nvSpPr>
        <p:spPr>
          <a:xfrm>
            <a:off x="1051560" y="4681728"/>
            <a:ext cx="3108960" cy="548640"/>
          </a:xfrm>
          <a:prstGeom prst="rect">
            <a:avLst/>
          </a:prstGeom>
          <a:noFill/>
        </p:spPr>
        <p:txBody>
          <a:bodyPr wrap="square" anchor="t" lIns="0" rIns="0" tIns="0" bIns="0">
            <a:spAutoFit/>
          </a:bodyPr>
          <a:lstStyle/>
          <a:p>
            <a:pPr algn="l"/>
            <a:r>
              <a:rPr sz="1700" b="1" i="0">
                <a:solidFill>
                  <a:srgbClr val="7F19BE"/>
                </a:solidFill>
                <a:latin typeface="Calibri"/>
              </a:rPr>
              <a:t>Domain</a:t>
            </a:r>
          </a:p>
        </p:txBody>
      </p:sp>
      <p:sp>
        <p:nvSpPr>
          <p:cNvPr id="18" name="TextBox 17"/>
          <p:cNvSpPr txBox="1"/>
          <p:nvPr/>
        </p:nvSpPr>
        <p:spPr>
          <a:xfrm>
            <a:off x="4023360" y="4709159"/>
            <a:ext cx="5394959" cy="548640"/>
          </a:xfrm>
          <a:prstGeom prst="rect">
            <a:avLst/>
          </a:prstGeom>
          <a:noFill/>
        </p:spPr>
        <p:txBody>
          <a:bodyPr wrap="square" anchor="t" lIns="0" rIns="0" tIns="0" bIns="0">
            <a:spAutoFit/>
          </a:bodyPr>
          <a:lstStyle/>
          <a:p>
            <a:pPr algn="l"/>
            <a:r>
              <a:rPr sz="1200" b="0" i="0">
                <a:solidFill>
                  <a:srgbClr val="D5D5D5"/>
                </a:solidFill>
                <a:latin typeface="Calibri"/>
              </a:rPr>
              <a:t>entities, value objects, state enums — no framework deps</a:t>
            </a:r>
          </a:p>
        </p:txBody>
      </p:sp>
      <p:cxnSp>
        <p:nvCxnSpPr>
          <p:cNvPr id="19" name="Connector 18"/>
          <p:cNvCxnSpPr/>
          <p:nvPr/>
        </p:nvCxnSpPr>
        <p:spPr>
          <a:xfrm>
            <a:off x="9921240" y="5330952"/>
            <a:ext cx="0" cy="164592"/>
          </a:xfrm>
          <a:prstGeom prst="line">
            <a:avLst/>
          </a:prstGeom>
          <a:ln w="12700">
            <a:solidFill>
              <a:srgbClr val="9A9A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2960" y="5513831"/>
            <a:ext cx="8778240" cy="749808"/>
          </a:xfrm>
          <a:prstGeom prst="roundRect">
            <a:avLst/>
          </a:prstGeom>
          <a:solidFill>
            <a:srgbClr val="1E222B"/>
          </a:solidFill>
          <a:ln w="15240">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21" name="TextBox 20"/>
          <p:cNvSpPr txBox="1"/>
          <p:nvPr/>
        </p:nvSpPr>
        <p:spPr>
          <a:xfrm>
            <a:off x="1051560" y="5614416"/>
            <a:ext cx="3108960" cy="548640"/>
          </a:xfrm>
          <a:prstGeom prst="rect">
            <a:avLst/>
          </a:prstGeom>
          <a:noFill/>
        </p:spPr>
        <p:txBody>
          <a:bodyPr wrap="square" anchor="t" lIns="0" rIns="0" tIns="0" bIns="0">
            <a:spAutoFit/>
          </a:bodyPr>
          <a:lstStyle/>
          <a:p>
            <a:pPr algn="l"/>
            <a:r>
              <a:rPr sz="1700" b="1" i="0">
                <a:solidFill>
                  <a:srgbClr val="FE2579"/>
                </a:solidFill>
                <a:latin typeface="Calibri"/>
              </a:rPr>
              <a:t>Infrastructure / Integrations</a:t>
            </a:r>
          </a:p>
        </p:txBody>
      </p:sp>
      <p:sp>
        <p:nvSpPr>
          <p:cNvPr id="22" name="TextBox 21"/>
          <p:cNvSpPr txBox="1"/>
          <p:nvPr/>
        </p:nvSpPr>
        <p:spPr>
          <a:xfrm>
            <a:off x="4023360" y="5641847"/>
            <a:ext cx="5394959" cy="548640"/>
          </a:xfrm>
          <a:prstGeom prst="rect">
            <a:avLst/>
          </a:prstGeom>
          <a:noFill/>
        </p:spPr>
        <p:txBody>
          <a:bodyPr wrap="square" anchor="t" lIns="0" rIns="0" tIns="0" bIns="0">
            <a:spAutoFit/>
          </a:bodyPr>
          <a:lstStyle/>
          <a:p>
            <a:pPr algn="l"/>
            <a:r>
              <a:rPr sz="1200" b="0" i="0">
                <a:solidFill>
                  <a:srgbClr val="D5D5D5"/>
                </a:solidFill>
                <a:latin typeface="Calibri"/>
              </a:rPr>
              <a:t>HTTP client, Azure SDK, providers, DB drivers</a:t>
            </a:r>
          </a:p>
        </p:txBody>
      </p:sp>
      <p:sp>
        <p:nvSpPr>
          <p:cNvPr id="23" name="Rounded Rectangle 22"/>
          <p:cNvSpPr/>
          <p:nvPr/>
        </p:nvSpPr>
        <p:spPr>
          <a:xfrm>
            <a:off x="9829800" y="1783080"/>
            <a:ext cx="1417320" cy="4480560"/>
          </a:xfrm>
          <a:prstGeom prst="roundRect">
            <a:avLst/>
          </a:prstGeom>
          <a:solidFill>
            <a:srgbClr val="14161C"/>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ED038"/>
                </a:solidFill>
                <a:latin typeface="Calibri"/>
              </a:rPr>
              <a:t>Dependency</a:t>
            </a:r>
          </a:p>
          <a:p>
            <a:pPr algn="ctr"/>
            <a:r>
              <a:rPr sz="1300" b="1">
                <a:solidFill>
                  <a:srgbClr val="FED038"/>
                </a:solidFill>
                <a:latin typeface="Calibri"/>
              </a:rPr>
              <a:t>rule:</a:t>
            </a:r>
          </a:p>
          <a:p>
            <a:pPr algn="ctr"/>
            <a:r>
              <a:rPr sz="1300" b="1">
                <a:solidFill>
                  <a:srgbClr val="FED038"/>
                </a:solidFill>
                <a:latin typeface="Calibri"/>
              </a:rPr>
              <a:t>downward</a:t>
            </a:r>
          </a:p>
          <a:p>
            <a:pPr algn="ctr"/>
            <a:r>
              <a:rPr sz="1300" b="1">
                <a:solidFill>
                  <a:srgbClr val="FED038"/>
                </a:solidFill>
                <a:latin typeface="Calibri"/>
              </a:rPr>
              <a:t>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runtime · logical agents · dual runtime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D2-02 / D2-03</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Single runtime</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One LangGraph process hosts all agents as logical capabilities.</a:t>
            </a:r>
          </a:p>
          <a:p>
            <a:pPr algn="l">
              <a:spcAft>
                <a:spcPts val="1200"/>
              </a:spcAft>
            </a:pPr>
            <a:r>
              <a:rPr sz="1500" b="1">
                <a:solidFill>
                  <a:srgbClr val="2ACCFF"/>
                </a:solidFill>
                <a:latin typeface="Calibri"/>
              </a:rPr>
              <a:t>▸ </a:t>
            </a:r>
            <a:r>
              <a:rPr sz="1500">
                <a:solidFill>
                  <a:srgbClr val="FFFFFF"/>
                </a:solidFill>
                <a:latin typeface="Calibri"/>
              </a:rPr>
              <a:t>No microservice-per-agent unless a justified scaling reason exists.</a:t>
            </a:r>
          </a:p>
          <a:p>
            <a:pPr algn="l">
              <a:spcAft>
                <a:spcPts val="1200"/>
              </a:spcAft>
            </a:pPr>
            <a:r>
              <a:rPr sz="1500" b="1">
                <a:solidFill>
                  <a:srgbClr val="2ACCFF"/>
                </a:solidFill>
                <a:latin typeface="Calibri"/>
              </a:rPr>
              <a:t>▸ </a:t>
            </a:r>
            <a:r>
              <a:rPr sz="1500">
                <a:solidFill>
                  <a:srgbClr val="FFFFFF"/>
                </a:solidFill>
                <a:latin typeface="Calibri"/>
              </a:rPr>
              <a:t>Shared harness, config, observability, guardrails.</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Dual runtime</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Request-driven: synchronous chat/workflow path.</a:t>
            </a:r>
          </a:p>
          <a:p>
            <a:pPr algn="l">
              <a:spcAft>
                <a:spcPts val="1200"/>
              </a:spcAft>
            </a:pPr>
            <a:r>
              <a:rPr sz="1500" b="1">
                <a:solidFill>
                  <a:srgbClr val="2ACCFF"/>
                </a:solidFill>
                <a:latin typeface="Calibri"/>
              </a:rPr>
              <a:t>▸ </a:t>
            </a:r>
            <a:r>
              <a:rPr sz="1500">
                <a:solidFill>
                  <a:srgbClr val="FFFFFF"/>
                </a:solidFill>
                <a:latin typeface="Calibri"/>
              </a:rPr>
              <a:t>Event-driven: Service Bus consumers for refresh, resume, HIL.</a:t>
            </a:r>
          </a:p>
          <a:p>
            <a:pPr algn="l">
              <a:spcAft>
                <a:spcPts val="1200"/>
              </a:spcAft>
            </a:pPr>
            <a:r>
              <a:rPr sz="1500" b="1">
                <a:solidFill>
                  <a:srgbClr val="2ACCFF"/>
                </a:solidFill>
                <a:latin typeface="Calibri"/>
              </a:rPr>
              <a:t>▸ </a:t>
            </a:r>
            <a:r>
              <a:rPr sz="1500">
                <a:solidFill>
                  <a:srgbClr val="FFFFFF"/>
                </a:solidFill>
                <a:latin typeface="Calibri"/>
              </a:rPr>
              <a:t>Both share the same domain and integration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Conversation Manager &amp; Supervisor</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D2-04 / D2-05</a:t>
            </a:r>
          </a:p>
        </p:txBody>
      </p:sp>
      <p:sp>
        <p:nvSpPr>
          <p:cNvPr id="4" name="Rounded Rectangle 3"/>
          <p:cNvSpPr/>
          <p:nvPr/>
        </p:nvSpPr>
        <p:spPr>
          <a:xfrm>
            <a:off x="502920" y="2377440"/>
            <a:ext cx="2603753"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Conversation</a:t>
            </a:r>
          </a:p>
          <a:p>
            <a:pPr algn="ctr"/>
            <a:r>
              <a:rPr sz="1200" b="1">
                <a:solidFill>
                  <a:srgbClr val="FFFFFF"/>
                </a:solidFill>
                <a:latin typeface="Calibri"/>
              </a:rPr>
              <a:t>Manager</a:t>
            </a:r>
          </a:p>
          <a:p>
            <a:pPr algn="ctr"/>
            <a:r>
              <a:rPr sz="1200" b="1">
                <a:solidFill>
                  <a:srgbClr val="FFFFFF"/>
                </a:solidFill>
                <a:latin typeface="Calibri"/>
              </a:rPr>
              <a:t>turns · session</a:t>
            </a:r>
          </a:p>
        </p:txBody>
      </p:sp>
      <p:sp>
        <p:nvSpPr>
          <p:cNvPr id="5" name="Rounded Rectangle 4"/>
          <p:cNvSpPr/>
          <p:nvPr/>
        </p:nvSpPr>
        <p:spPr>
          <a:xfrm>
            <a:off x="3362705" y="2377440"/>
            <a:ext cx="2603753" cy="914400"/>
          </a:xfrm>
          <a:prstGeom prst="roundRect">
            <a:avLst/>
          </a:prstGeom>
          <a:solidFill>
            <a:srgbClr val="1E222B"/>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Supervisor</a:t>
            </a:r>
          </a:p>
          <a:p>
            <a:pPr algn="ctr"/>
            <a:r>
              <a:rPr sz="1200" b="1">
                <a:solidFill>
                  <a:srgbClr val="FFFFFF"/>
                </a:solidFill>
                <a:latin typeface="Calibri"/>
              </a:rPr>
              <a:t>intent → candidates</a:t>
            </a:r>
          </a:p>
        </p:txBody>
      </p:sp>
      <p:cxnSp>
        <p:nvCxnSpPr>
          <p:cNvPr id="6" name="Connector 5"/>
          <p:cNvCxnSpPr/>
          <p:nvPr/>
        </p:nvCxnSpPr>
        <p:spPr>
          <a:xfrm>
            <a:off x="3106674" y="2834640"/>
            <a:ext cx="256031"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22491" y="2377440"/>
            <a:ext cx="2603753" cy="91440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LangGraph</a:t>
            </a:r>
          </a:p>
          <a:p>
            <a:pPr algn="ctr"/>
            <a:r>
              <a:rPr sz="1200" b="1">
                <a:solidFill>
                  <a:srgbClr val="FFFFFF"/>
                </a:solidFill>
                <a:latin typeface="Calibri"/>
              </a:rPr>
              <a:t>route to agent</a:t>
            </a:r>
          </a:p>
        </p:txBody>
      </p:sp>
      <p:cxnSp>
        <p:nvCxnSpPr>
          <p:cNvPr id="8" name="Connector 7"/>
          <p:cNvCxnSpPr/>
          <p:nvPr/>
        </p:nvCxnSpPr>
        <p:spPr>
          <a:xfrm>
            <a:off x="5966459"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082277" y="2377440"/>
            <a:ext cx="2603753" cy="914400"/>
          </a:xfrm>
          <a:prstGeom prst="roundRect">
            <a:avLst/>
          </a:prstGeom>
          <a:solidFill>
            <a:srgbClr val="1E222B"/>
          </a:solidFill>
          <a:ln w="15875">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Agent</a:t>
            </a:r>
          </a:p>
          <a:p>
            <a:pPr algn="ctr"/>
            <a:r>
              <a:rPr sz="1200" b="1">
                <a:solidFill>
                  <a:srgbClr val="FFFFFF"/>
                </a:solidFill>
                <a:latin typeface="Calibri"/>
              </a:rPr>
              <a:t>AffiliationAgent</a:t>
            </a:r>
          </a:p>
        </p:txBody>
      </p:sp>
      <p:cxnSp>
        <p:nvCxnSpPr>
          <p:cNvPr id="10" name="Connector 9"/>
          <p:cNvCxnSpPr/>
          <p:nvPr/>
        </p:nvCxnSpPr>
        <p:spPr>
          <a:xfrm>
            <a:off x="8826245"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3840480"/>
            <a:ext cx="10515600" cy="1737360"/>
          </a:xfrm>
          <a:prstGeom prst="rect">
            <a:avLst/>
          </a:prstGeom>
          <a:noFill/>
        </p:spPr>
        <p:txBody>
          <a:bodyPr wrap="square" lIns="0" tIns="0">
            <a:spAutoFit/>
          </a:bodyPr>
          <a:lstStyle/>
          <a:p>
            <a:pPr algn="l">
              <a:spcAft>
                <a:spcPts val="1100"/>
              </a:spcAft>
            </a:pPr>
            <a:r>
              <a:rPr sz="1400" b="1">
                <a:solidFill>
                  <a:srgbClr val="2ACCFF"/>
                </a:solidFill>
                <a:latin typeface="Calibri"/>
              </a:rPr>
              <a:t>▸ </a:t>
            </a:r>
            <a:r>
              <a:rPr sz="1400">
                <a:solidFill>
                  <a:srgbClr val="FFFFFF"/>
                </a:solidFill>
                <a:latin typeface="Calibri"/>
              </a:rPr>
              <a:t>Conversation Manager owns conversation/session boundaries — not business logic.</a:t>
            </a:r>
          </a:p>
          <a:p>
            <a:pPr algn="l">
              <a:spcAft>
                <a:spcPts val="1100"/>
              </a:spcAft>
            </a:pPr>
            <a:r>
              <a:rPr sz="1400" b="1">
                <a:solidFill>
                  <a:srgbClr val="2ACCFF"/>
                </a:solidFill>
                <a:latin typeface="Calibri"/>
              </a:rPr>
              <a:t>▸ </a:t>
            </a:r>
            <a:r>
              <a:rPr sz="1400">
                <a:solidFill>
                  <a:srgbClr val="FFFFFF"/>
                </a:solidFill>
                <a:latin typeface="Calibri"/>
              </a:rPr>
              <a:t>Supervisor classifies intent and selects candidate agents; routing is bounded to avoid loops.</a:t>
            </a:r>
          </a:p>
          <a:p>
            <a:pPr algn="l">
              <a:spcAft>
                <a:spcPts val="1100"/>
              </a:spcAft>
            </a:pPr>
            <a:r>
              <a:rPr sz="1400" b="1">
                <a:solidFill>
                  <a:srgbClr val="2ACCFF"/>
                </a:solidFill>
                <a:latin typeface="Calibri"/>
              </a:rPr>
              <a:t>▸ </a:t>
            </a:r>
            <a:r>
              <a:rPr sz="1400">
                <a:solidFill>
                  <a:srgbClr val="FFFFFF"/>
                </a:solidFill>
                <a:latin typeface="Calibri"/>
              </a:rPr>
              <a:t>Deterministic routing where possible; model-decided only where justified (see deck 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LangGraph orchestration &amp; state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D2-06 / D2-07</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Engine</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LangGraph is the workflow orchestration engine.</a:t>
            </a:r>
          </a:p>
          <a:p>
            <a:pPr algn="l">
              <a:spcAft>
                <a:spcPts val="1200"/>
              </a:spcAft>
            </a:pPr>
            <a:r>
              <a:rPr sz="1500" b="1">
                <a:solidFill>
                  <a:srgbClr val="2ACCFF"/>
                </a:solidFill>
                <a:latin typeface="Calibri"/>
              </a:rPr>
              <a:t>▸ </a:t>
            </a:r>
            <a:r>
              <a:rPr sz="1500">
                <a:solidFill>
                  <a:srgbClr val="FFFFFF"/>
                </a:solidFill>
                <a:latin typeface="Calibri"/>
              </a:rPr>
              <a:t>Nodes = steps; edges = transitions; supports parallel branches &amp; aggregation.</a:t>
            </a:r>
          </a:p>
          <a:p>
            <a:pPr algn="l">
              <a:spcAft>
                <a:spcPts val="1200"/>
              </a:spcAft>
            </a:pPr>
            <a:r>
              <a:rPr sz="1500" b="1">
                <a:solidFill>
                  <a:srgbClr val="2ACCFF"/>
                </a:solidFill>
                <a:latin typeface="Calibri"/>
              </a:rPr>
              <a:t>▸ </a:t>
            </a:r>
            <a:r>
              <a:rPr sz="1500">
                <a:solidFill>
                  <a:srgbClr val="FFFFFF"/>
                </a:solidFill>
                <a:latin typeface="Calibri"/>
              </a:rPr>
              <a:t>Bounded steps, iterations, tool/model calls (deck 08 budgets).</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State typing</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Graph internal state = TypedDict.</a:t>
            </a:r>
          </a:p>
          <a:p>
            <a:pPr algn="l">
              <a:spcAft>
                <a:spcPts val="1200"/>
              </a:spcAft>
            </a:pPr>
            <a:r>
              <a:rPr sz="1500" b="1">
                <a:solidFill>
                  <a:srgbClr val="2ACCFF"/>
                </a:solidFill>
                <a:latin typeface="Calibri"/>
              </a:rPr>
              <a:t>▸ </a:t>
            </a:r>
            <a:r>
              <a:rPr sz="1500">
                <a:solidFill>
                  <a:srgbClr val="FFFFFF"/>
                </a:solidFill>
                <a:latin typeface="Calibri"/>
              </a:rPr>
              <a:t>Every boundary (API/tool/config/event/ERC/SLM) = Pydantic.</a:t>
            </a:r>
          </a:p>
          <a:p>
            <a:pPr algn="l">
              <a:spcAft>
                <a:spcPts val="1200"/>
              </a:spcAft>
            </a:pPr>
            <a:r>
              <a:rPr sz="1500" b="1">
                <a:solidFill>
                  <a:srgbClr val="2ACCFF"/>
                </a:solidFill>
                <a:latin typeface="Calibri"/>
              </a:rPr>
              <a:t>▸ </a:t>
            </a:r>
            <a:r>
              <a:rPr sz="1500">
                <a:solidFill>
                  <a:srgbClr val="FFFFFF"/>
                </a:solidFill>
                <a:latin typeface="Calibri"/>
              </a:rPr>
              <a:t>Four state concepts kept strictly separate.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Harness — single execution boundary</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D2-09 · nothing bypasses it</a:t>
            </a:r>
          </a:p>
        </p:txBody>
      </p:sp>
      <p:sp>
        <p:nvSpPr>
          <p:cNvPr id="4" name="Rounded Rectangle 3"/>
          <p:cNvSpPr/>
          <p:nvPr/>
        </p:nvSpPr>
        <p:spPr>
          <a:xfrm>
            <a:off x="548640" y="1783080"/>
            <a:ext cx="11064240" cy="3108960"/>
          </a:xfrm>
          <a:prstGeom prst="roundRect">
            <a:avLst/>
          </a:prstGeom>
          <a:solidFill>
            <a:srgbClr val="14161C"/>
          </a:solidFill>
          <a:ln w="13970">
            <a:solidFill>
              <a:srgbClr val="5300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777240" y="1874519"/>
            <a:ext cx="10607040" cy="320040"/>
          </a:xfrm>
          <a:prstGeom prst="rect">
            <a:avLst/>
          </a:prstGeom>
          <a:noFill/>
        </p:spPr>
        <p:txBody>
          <a:bodyPr wrap="square" anchor="t" lIns="0" rIns="0" tIns="0" bIns="0">
            <a:spAutoFit/>
          </a:bodyPr>
          <a:lstStyle/>
          <a:p>
            <a:pPr algn="l"/>
            <a:r>
              <a:rPr sz="1300" b="1" i="0">
                <a:solidFill>
                  <a:srgbClr val="5300DB"/>
                </a:solidFill>
                <a:latin typeface="Calibri"/>
              </a:rPr>
              <a:t>AGENT HARNESS — the single execution boundary for every agent step</a:t>
            </a:r>
          </a:p>
        </p:txBody>
      </p:sp>
      <p:sp>
        <p:nvSpPr>
          <p:cNvPr id="6" name="Rounded Rectangle 5"/>
          <p:cNvSpPr/>
          <p:nvPr/>
        </p:nvSpPr>
        <p:spPr>
          <a:xfrm>
            <a:off x="822960" y="2377440"/>
            <a:ext cx="1280160"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Validated</a:t>
            </a:r>
          </a:p>
          <a:p>
            <a:pPr algn="ctr"/>
            <a:r>
              <a:rPr sz="1000" b="1">
                <a:solidFill>
                  <a:srgbClr val="FFFFFF"/>
                </a:solidFill>
                <a:latin typeface="Calibri"/>
              </a:rPr>
              <a:t>claims</a:t>
            </a:r>
          </a:p>
        </p:txBody>
      </p:sp>
      <p:sp>
        <p:nvSpPr>
          <p:cNvPr id="7" name="Rounded Rectangle 6"/>
          <p:cNvSpPr/>
          <p:nvPr/>
        </p:nvSpPr>
        <p:spPr>
          <a:xfrm>
            <a:off x="2203704" y="2377440"/>
            <a:ext cx="1280160" cy="91440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Prompt</a:t>
            </a:r>
          </a:p>
          <a:p>
            <a:pPr algn="ctr"/>
            <a:r>
              <a:rPr sz="1000" b="1">
                <a:solidFill>
                  <a:srgbClr val="FFFFFF"/>
                </a:solidFill>
                <a:latin typeface="Calibri"/>
              </a:rPr>
              <a:t>(composed)</a:t>
            </a:r>
          </a:p>
        </p:txBody>
      </p:sp>
      <p:sp>
        <p:nvSpPr>
          <p:cNvPr id="8" name="Rounded Rectangle 7"/>
          <p:cNvSpPr/>
          <p:nvPr/>
        </p:nvSpPr>
        <p:spPr>
          <a:xfrm>
            <a:off x="3584448" y="2377440"/>
            <a:ext cx="1280160" cy="91440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ERC</a:t>
            </a:r>
          </a:p>
          <a:p>
            <a:pPr algn="ctr"/>
            <a:r>
              <a:rPr sz="1000" b="1">
                <a:solidFill>
                  <a:srgbClr val="FFFFFF"/>
                </a:solidFill>
                <a:latin typeface="Calibri"/>
              </a:rPr>
              <a:t>context</a:t>
            </a:r>
          </a:p>
        </p:txBody>
      </p:sp>
      <p:sp>
        <p:nvSpPr>
          <p:cNvPr id="9" name="Rounded Rectangle 8"/>
          <p:cNvSpPr/>
          <p:nvPr/>
        </p:nvSpPr>
        <p:spPr>
          <a:xfrm>
            <a:off x="4965192" y="2377440"/>
            <a:ext cx="1280160" cy="91440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Memory /</a:t>
            </a:r>
          </a:p>
          <a:p>
            <a:pPr algn="ctr"/>
            <a:r>
              <a:rPr sz="1000" b="1">
                <a:solidFill>
                  <a:srgbClr val="FFFFFF"/>
                </a:solidFill>
                <a:latin typeface="Calibri"/>
              </a:rPr>
              <a:t>cache</a:t>
            </a:r>
          </a:p>
        </p:txBody>
      </p:sp>
      <p:sp>
        <p:nvSpPr>
          <p:cNvPr id="10" name="Rounded Rectangle 9"/>
          <p:cNvSpPr/>
          <p:nvPr/>
        </p:nvSpPr>
        <p:spPr>
          <a:xfrm>
            <a:off x="6345936" y="2377440"/>
            <a:ext cx="1280160" cy="914400"/>
          </a:xfrm>
          <a:prstGeom prst="roundRect">
            <a:avLst/>
          </a:prstGeom>
          <a:solidFill>
            <a:srgbClr val="1E222B"/>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Tools /</a:t>
            </a:r>
          </a:p>
          <a:p>
            <a:pPr algn="ctr"/>
            <a:r>
              <a:rPr sz="1000" b="1">
                <a:solidFill>
                  <a:srgbClr val="FFFFFF"/>
                </a:solidFill>
                <a:latin typeface="Calibri"/>
              </a:rPr>
              <a:t>MCP</a:t>
            </a:r>
          </a:p>
        </p:txBody>
      </p:sp>
      <p:sp>
        <p:nvSpPr>
          <p:cNvPr id="11" name="Rounded Rectangle 10"/>
          <p:cNvSpPr/>
          <p:nvPr/>
        </p:nvSpPr>
        <p:spPr>
          <a:xfrm>
            <a:off x="7726679" y="2377440"/>
            <a:ext cx="1280160" cy="914400"/>
          </a:xfrm>
          <a:prstGeom prst="roundRect">
            <a:avLst/>
          </a:prstGeom>
          <a:solidFill>
            <a:srgbClr val="1E222B"/>
          </a:solidFill>
          <a:ln w="15875">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RAG</a:t>
            </a:r>
          </a:p>
        </p:txBody>
      </p:sp>
      <p:sp>
        <p:nvSpPr>
          <p:cNvPr id="12" name="Rounded Rectangle 11"/>
          <p:cNvSpPr/>
          <p:nvPr/>
        </p:nvSpPr>
        <p:spPr>
          <a:xfrm>
            <a:off x="9107424" y="2377440"/>
            <a:ext cx="1280160" cy="91440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Guardrails</a:t>
            </a:r>
          </a:p>
        </p:txBody>
      </p:sp>
      <p:sp>
        <p:nvSpPr>
          <p:cNvPr id="13" name="Rounded Rectangle 12"/>
          <p:cNvSpPr/>
          <p:nvPr/>
        </p:nvSpPr>
        <p:spPr>
          <a:xfrm>
            <a:off x="10488167" y="2377440"/>
            <a:ext cx="1280160"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000" b="1">
                <a:solidFill>
                  <a:srgbClr val="FFFFFF"/>
                </a:solidFill>
                <a:latin typeface="Calibri"/>
              </a:rPr>
              <a:t>Retry · timeout</a:t>
            </a:r>
          </a:p>
          <a:p>
            <a:pPr algn="ctr"/>
            <a:r>
              <a:rPr sz="1000" b="1">
                <a:solidFill>
                  <a:srgbClr val="FFFFFF"/>
                </a:solidFill>
                <a:latin typeface="Calibri"/>
              </a:rPr>
              <a:t>loop-limits</a:t>
            </a:r>
          </a:p>
        </p:txBody>
      </p:sp>
      <p:sp>
        <p:nvSpPr>
          <p:cNvPr id="14" name="TextBox 13"/>
          <p:cNvSpPr txBox="1"/>
          <p:nvPr/>
        </p:nvSpPr>
        <p:spPr>
          <a:xfrm>
            <a:off x="822960" y="3520440"/>
            <a:ext cx="10515600" cy="822960"/>
          </a:xfrm>
          <a:prstGeom prst="rect">
            <a:avLst/>
          </a:prstGeom>
          <a:noFill/>
        </p:spPr>
        <p:txBody>
          <a:bodyPr wrap="square" anchor="t" lIns="0" rIns="0" tIns="0" bIns="0">
            <a:spAutoFit/>
          </a:bodyPr>
          <a:lstStyle/>
          <a:p>
            <a:pPr algn="l"/>
            <a:r>
              <a:rPr sz="1300" b="0" i="0">
                <a:solidFill>
                  <a:srgbClr val="D5D5D5"/>
                </a:solidFill>
                <a:latin typeface="Calibri"/>
              </a:rPr>
              <a:t>One place enforces claims, prompt composition, context, tool allow-listing, guardrails, and all reliability limits — agents cannot bypass it.</a:t>
            </a:r>
          </a:p>
        </p:txBody>
      </p:sp>
      <p:sp>
        <p:nvSpPr>
          <p:cNvPr id="15" name="Rounded Rectangle 14"/>
          <p:cNvSpPr/>
          <p:nvPr/>
        </p:nvSpPr>
        <p:spPr>
          <a:xfrm>
            <a:off x="822960" y="4160520"/>
            <a:ext cx="2377440" cy="502920"/>
          </a:xfrm>
          <a:prstGeom prst="roundRect">
            <a:avLst/>
          </a:prstGeom>
          <a:solidFill>
            <a:srgbClr val="1E222B"/>
          </a:solidFill>
          <a:ln w="15875">
            <a:solidFill>
              <a:srgbClr val="5300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SLM (HF → vLLM)</a:t>
            </a:r>
          </a:p>
        </p:txBody>
      </p:sp>
      <p:sp>
        <p:nvSpPr>
          <p:cNvPr id="16" name="Rounded Rectangle 15"/>
          <p:cNvSpPr/>
          <p:nvPr/>
        </p:nvSpPr>
        <p:spPr>
          <a:xfrm>
            <a:off x="3383280" y="4160520"/>
            <a:ext cx="4754880" cy="50292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Enterprise APIs / Events (system of record)</a:t>
            </a:r>
          </a:p>
        </p:txBody>
      </p:sp>
      <p:sp>
        <p:nvSpPr>
          <p:cNvPr id="17" name="Rounded Rectangle 16"/>
          <p:cNvSpPr/>
          <p:nvPr/>
        </p:nvSpPr>
        <p:spPr>
          <a:xfrm>
            <a:off x="8321040" y="4160520"/>
            <a:ext cx="3200400" cy="50292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Validated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Execution model &amp; reliability limits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D2-08 / D2-11</a:t>
            </a:r>
          </a:p>
        </p:txBody>
      </p:sp>
      <p:sp>
        <p:nvSpPr>
          <p:cNvPr id="4" name="Rounded Rectangle 3"/>
          <p:cNvSpPr/>
          <p:nvPr/>
        </p:nvSpPr>
        <p:spPr>
          <a:xfrm>
            <a:off x="822960" y="1920240"/>
            <a:ext cx="2430018" cy="1828800"/>
          </a:xfrm>
          <a:prstGeom prst="roundRect">
            <a:avLst/>
          </a:prstGeom>
          <a:solidFill>
            <a:srgbClr val="14161C"/>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1005840" y="2121408"/>
            <a:ext cx="2064257" cy="822960"/>
          </a:xfrm>
          <a:prstGeom prst="rect">
            <a:avLst/>
          </a:prstGeom>
          <a:noFill/>
        </p:spPr>
        <p:txBody>
          <a:bodyPr wrap="square" anchor="t" lIns="0" rIns="0" tIns="0" bIns="0">
            <a:spAutoFit/>
          </a:bodyPr>
          <a:lstStyle/>
          <a:p>
            <a:pPr algn="l"/>
            <a:r>
              <a:rPr sz="2200" b="1" i="0">
                <a:solidFill>
                  <a:srgbClr val="2ACCFF"/>
                </a:solidFill>
                <a:latin typeface="Calibri"/>
              </a:rPr>
              <a:t>Bounded</a:t>
            </a:r>
          </a:p>
          <a:p>
            <a:pPr algn="l"/>
            <a:r>
              <a:rPr sz="2200" b="1" i="0">
                <a:solidFill>
                  <a:srgbClr val="2ACCFF"/>
                </a:solidFill>
                <a:latin typeface="Calibri"/>
              </a:rPr>
              <a:t>parallelism</a:t>
            </a:r>
          </a:p>
        </p:txBody>
      </p:sp>
      <p:sp>
        <p:nvSpPr>
          <p:cNvPr id="6" name="TextBox 5"/>
          <p:cNvSpPr txBox="1"/>
          <p:nvPr/>
        </p:nvSpPr>
        <p:spPr>
          <a:xfrm>
            <a:off x="1005840"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independent branches only</a:t>
            </a:r>
          </a:p>
        </p:txBody>
      </p:sp>
      <p:sp>
        <p:nvSpPr>
          <p:cNvPr id="7" name="Rounded Rectangle 6"/>
          <p:cNvSpPr/>
          <p:nvPr/>
        </p:nvSpPr>
        <p:spPr>
          <a:xfrm>
            <a:off x="3527297" y="1920240"/>
            <a:ext cx="2430018" cy="1828800"/>
          </a:xfrm>
          <a:prstGeom prst="roundRect">
            <a:avLst/>
          </a:prstGeom>
          <a:solidFill>
            <a:srgbClr val="14161C"/>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8" name="TextBox 7"/>
          <p:cNvSpPr txBox="1"/>
          <p:nvPr/>
        </p:nvSpPr>
        <p:spPr>
          <a:xfrm>
            <a:off x="3710177" y="2121408"/>
            <a:ext cx="2064257" cy="822960"/>
          </a:xfrm>
          <a:prstGeom prst="rect">
            <a:avLst/>
          </a:prstGeom>
          <a:noFill/>
        </p:spPr>
        <p:txBody>
          <a:bodyPr wrap="square" anchor="t" lIns="0" rIns="0" tIns="0" bIns="0">
            <a:spAutoFit/>
          </a:bodyPr>
          <a:lstStyle/>
          <a:p>
            <a:pPr algn="l"/>
            <a:r>
              <a:rPr sz="2200" b="1" i="0">
                <a:solidFill>
                  <a:srgbClr val="48E84A"/>
                </a:solidFill>
                <a:latin typeface="Calibri"/>
              </a:rPr>
              <a:t>Idempotency</a:t>
            </a:r>
          </a:p>
        </p:txBody>
      </p:sp>
      <p:sp>
        <p:nvSpPr>
          <p:cNvPr id="9" name="TextBox 8"/>
          <p:cNvSpPr txBox="1"/>
          <p:nvPr/>
        </p:nvSpPr>
        <p:spPr>
          <a:xfrm>
            <a:off x="3710177"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safe retries, no double-execute</a:t>
            </a:r>
          </a:p>
        </p:txBody>
      </p:sp>
      <p:sp>
        <p:nvSpPr>
          <p:cNvPr id="10" name="Rounded Rectangle 9"/>
          <p:cNvSpPr/>
          <p:nvPr/>
        </p:nvSpPr>
        <p:spPr>
          <a:xfrm>
            <a:off x="6231636" y="1920240"/>
            <a:ext cx="2430018" cy="1828800"/>
          </a:xfrm>
          <a:prstGeom prst="roundRect">
            <a:avLst/>
          </a:prstGeom>
          <a:solidFill>
            <a:srgbClr val="14161C"/>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1" name="TextBox 10"/>
          <p:cNvSpPr txBox="1"/>
          <p:nvPr/>
        </p:nvSpPr>
        <p:spPr>
          <a:xfrm>
            <a:off x="6414516" y="2121408"/>
            <a:ext cx="2064257" cy="822960"/>
          </a:xfrm>
          <a:prstGeom prst="rect">
            <a:avLst/>
          </a:prstGeom>
          <a:noFill/>
        </p:spPr>
        <p:txBody>
          <a:bodyPr wrap="square" anchor="t" lIns="0" rIns="0" tIns="0" bIns="0">
            <a:spAutoFit/>
          </a:bodyPr>
          <a:lstStyle/>
          <a:p>
            <a:pPr algn="l"/>
            <a:r>
              <a:rPr sz="2200" b="1" i="0">
                <a:solidFill>
                  <a:srgbClr val="FED038"/>
                </a:solidFill>
                <a:latin typeface="Calibri"/>
              </a:rPr>
              <a:t>Timeouts</a:t>
            </a:r>
          </a:p>
        </p:txBody>
      </p:sp>
      <p:sp>
        <p:nvSpPr>
          <p:cNvPr id="12" name="TextBox 11"/>
          <p:cNvSpPr txBox="1"/>
          <p:nvPr/>
        </p:nvSpPr>
        <p:spPr>
          <a:xfrm>
            <a:off x="6414516"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per dependency &amp; per workflow</a:t>
            </a:r>
          </a:p>
        </p:txBody>
      </p:sp>
      <p:sp>
        <p:nvSpPr>
          <p:cNvPr id="13" name="Rounded Rectangle 12"/>
          <p:cNvSpPr/>
          <p:nvPr/>
        </p:nvSpPr>
        <p:spPr>
          <a:xfrm>
            <a:off x="8935974" y="1920240"/>
            <a:ext cx="2430018" cy="1828800"/>
          </a:xfrm>
          <a:prstGeom prst="roundRect">
            <a:avLst/>
          </a:prstGeom>
          <a:solidFill>
            <a:srgbClr val="14161C"/>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4" name="TextBox 13"/>
          <p:cNvSpPr txBox="1"/>
          <p:nvPr/>
        </p:nvSpPr>
        <p:spPr>
          <a:xfrm>
            <a:off x="9118853" y="2121408"/>
            <a:ext cx="2064257" cy="822960"/>
          </a:xfrm>
          <a:prstGeom prst="rect">
            <a:avLst/>
          </a:prstGeom>
          <a:noFill/>
        </p:spPr>
        <p:txBody>
          <a:bodyPr wrap="square" anchor="t" lIns="0" rIns="0" tIns="0" bIns="0">
            <a:spAutoFit/>
          </a:bodyPr>
          <a:lstStyle/>
          <a:p>
            <a:pPr algn="l"/>
            <a:r>
              <a:rPr sz="2200" b="1" i="0">
                <a:solidFill>
                  <a:srgbClr val="FE2579"/>
                </a:solidFill>
                <a:latin typeface="Calibri"/>
              </a:rPr>
              <a:t>Loop limits</a:t>
            </a:r>
          </a:p>
        </p:txBody>
      </p:sp>
      <p:sp>
        <p:nvSpPr>
          <p:cNvPr id="15" name="TextBox 14"/>
          <p:cNvSpPr txBox="1"/>
          <p:nvPr/>
        </p:nvSpPr>
        <p:spPr>
          <a:xfrm>
            <a:off x="9118853"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max steps / iterations / calls</a:t>
            </a:r>
          </a:p>
        </p:txBody>
      </p:sp>
      <p:sp>
        <p:nvSpPr>
          <p:cNvPr id="16" name="TextBox 15"/>
          <p:cNvSpPr txBox="1"/>
          <p:nvPr/>
        </p:nvSpPr>
        <p:spPr>
          <a:xfrm>
            <a:off x="822960" y="4114800"/>
            <a:ext cx="10515600" cy="155448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Parallelise only with no data/ordering/transaction dependency and within rate limits.</a:t>
            </a:r>
          </a:p>
          <a:p>
            <a:pPr algn="l">
              <a:spcAft>
                <a:spcPts val="1200"/>
              </a:spcAft>
            </a:pPr>
            <a:r>
              <a:rPr sz="1500" b="1">
                <a:solidFill>
                  <a:srgbClr val="2ACCFF"/>
                </a:solidFill>
                <a:latin typeface="Calibri"/>
              </a:rPr>
              <a:t>▸ </a:t>
            </a:r>
            <a:r>
              <a:rPr sz="1500">
                <a:solidFill>
                  <a:srgbClr val="FFFFFF"/>
                </a:solidFill>
                <a:latin typeface="Calibri"/>
              </a:rPr>
              <a:t>Retry budgets are part of capacity planning — retry amplification is designed out (deck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Long-running workflows &amp; HIL resume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D2-10</a:t>
            </a:r>
          </a:p>
        </p:txBody>
      </p:sp>
      <p:sp>
        <p:nvSpPr>
          <p:cNvPr id="4" name="TextBox 3"/>
          <p:cNvSpPr txBox="1"/>
          <p:nvPr/>
        </p:nvSpPr>
        <p:spPr>
          <a:xfrm>
            <a:off x="822960" y="1828800"/>
            <a:ext cx="10515600" cy="3657600"/>
          </a:xfrm>
          <a:prstGeom prst="rect">
            <a:avLst/>
          </a:prstGeom>
          <a:noFill/>
        </p:spPr>
        <p:txBody>
          <a:bodyPr wrap="square" lIns="0" tIns="0">
            <a:spAutoFit/>
          </a:bodyPr>
          <a:lstStyle/>
          <a:p>
            <a:pPr algn="l">
              <a:spcAft>
                <a:spcPts val="1500"/>
              </a:spcAft>
            </a:pPr>
            <a:r>
              <a:rPr sz="1600" b="1">
                <a:solidFill>
                  <a:srgbClr val="2ACCFF"/>
                </a:solidFill>
                <a:latin typeface="Calibri"/>
              </a:rPr>
              <a:t>▸ </a:t>
            </a:r>
            <a:r>
              <a:rPr sz="1600">
                <a:solidFill>
                  <a:srgbClr val="FFFFFF"/>
                </a:solidFill>
                <a:latin typeface="Calibri"/>
              </a:rPr>
              <a:t>Workflows can suspend at a human-in-the-loop point (user confirm, CFA review, payment) and resume later on an event.</a:t>
            </a:r>
          </a:p>
          <a:p>
            <a:pPr algn="l">
              <a:spcAft>
                <a:spcPts val="1500"/>
              </a:spcAft>
            </a:pPr>
            <a:r>
              <a:rPr sz="1600" b="1">
                <a:solidFill>
                  <a:srgbClr val="2ACCFF"/>
                </a:solidFill>
                <a:latin typeface="Calibri"/>
              </a:rPr>
              <a:t>▸ </a:t>
            </a:r>
            <a:r>
              <a:rPr sz="1600">
                <a:solidFill>
                  <a:srgbClr val="FFFFFF"/>
                </a:solidFill>
                <a:latin typeface="Calibri"/>
              </a:rPr>
              <a:t>Workflow/agent state is checkpointed with optimistic concurrency (id + version + expected_version).</a:t>
            </a:r>
          </a:p>
          <a:p>
            <a:pPr algn="l">
              <a:spcAft>
                <a:spcPts val="1500"/>
              </a:spcAft>
            </a:pPr>
            <a:r>
              <a:rPr sz="1600" b="1">
                <a:solidFill>
                  <a:srgbClr val="2ACCFF"/>
                </a:solidFill>
                <a:latin typeface="Calibri"/>
              </a:rPr>
              <a:t>▸ </a:t>
            </a:r>
            <a:r>
              <a:rPr sz="1600">
                <a:solidFill>
                  <a:srgbClr val="FFFFFF"/>
                </a:solidFill>
                <a:latin typeface="Calibri"/>
              </a:rPr>
              <a:t>A resume event re-hydrates state and continues from the exact step — no re-execution of completed side-effects.</a:t>
            </a:r>
          </a:p>
          <a:p>
            <a:pPr algn="l">
              <a:spcAft>
                <a:spcPts val="1500"/>
              </a:spcAft>
            </a:pPr>
            <a:r>
              <a:rPr sz="1600" b="1">
                <a:solidFill>
                  <a:srgbClr val="2ACCFF"/>
                </a:solidFill>
                <a:latin typeface="Calibri"/>
              </a:rPr>
              <a:t>▸ </a:t>
            </a:r>
            <a:r>
              <a:rPr sz="1600">
                <a:solidFill>
                  <a:srgbClr val="FFFFFF"/>
                </a:solidFill>
                <a:latin typeface="Calibri"/>
              </a:rPr>
              <a:t>Adam communicates who/what the workflow is waiting for throughout the pending state.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Enterprise integration</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D2-13 / D2-14 / D2-15 / D2-20 / D2-21</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Pattern &amp; coupling</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Catalog-driven enterprise API clients; typed contracts.</a:t>
            </a:r>
          </a:p>
          <a:p>
            <a:pPr algn="l">
              <a:spcAft>
                <a:spcPts val="1200"/>
              </a:spcAft>
            </a:pPr>
            <a:r>
              <a:rPr sz="1500" b="1">
                <a:solidFill>
                  <a:srgbClr val="2ACCFF"/>
                </a:solidFill>
                <a:latin typeface="Calibri"/>
              </a:rPr>
              <a:t>▸ </a:t>
            </a:r>
            <a:r>
              <a:rPr sz="1500">
                <a:solidFill>
                  <a:srgbClr val="FFFFFF"/>
                </a:solidFill>
                <a:latin typeface="Calibri"/>
              </a:rPr>
              <a:t>Integration matrix defines allowed couplings — no ad-hoc calls.</a:t>
            </a:r>
          </a:p>
          <a:p>
            <a:pPr algn="l">
              <a:spcAft>
                <a:spcPts val="1200"/>
              </a:spcAft>
            </a:pPr>
            <a:r>
              <a:rPr sz="1500" b="1">
                <a:solidFill>
                  <a:srgbClr val="2ACCFF"/>
                </a:solidFill>
                <a:latin typeface="Calibri"/>
              </a:rPr>
              <a:t>▸ </a:t>
            </a:r>
            <a:r>
              <a:rPr sz="1500">
                <a:solidFill>
                  <a:srgbClr val="FFFFFF"/>
                </a:solidFill>
                <a:latin typeface="Calibri"/>
              </a:rPr>
              <a:t>Contract &amp; envelope versioning; backward-compatible evolution.</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Resolution &amp; binding</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Endpoint &amp; environment resolution per stage (D2-20).</a:t>
            </a:r>
          </a:p>
          <a:p>
            <a:pPr algn="l">
              <a:spcAft>
                <a:spcPts val="1200"/>
              </a:spcAft>
            </a:pPr>
            <a:r>
              <a:rPr sz="1500" b="1">
                <a:solidFill>
                  <a:srgbClr val="2ACCFF"/>
                </a:solidFill>
                <a:latin typeface="Calibri"/>
              </a:rPr>
              <a:t>▸ </a:t>
            </a:r>
            <a:r>
              <a:rPr sz="1500">
                <a:solidFill>
                  <a:srgbClr val="FFFFFF"/>
                </a:solidFill>
                <a:latin typeface="Calibri"/>
              </a:rPr>
              <a:t>Request payload parameters sourced &amp; bound explicitly (D2-21).</a:t>
            </a:r>
          </a:p>
          <a:p>
            <a:pPr algn="l">
              <a:spcAft>
                <a:spcPts val="1200"/>
              </a:spcAft>
            </a:pPr>
            <a:r>
              <a:rPr sz="1500" b="1">
                <a:solidFill>
                  <a:srgbClr val="2ACCFF"/>
                </a:solidFill>
                <a:latin typeface="Calibri"/>
              </a:rPr>
              <a:t>▸ </a:t>
            </a:r>
            <a:r>
              <a:rPr sz="1500">
                <a:solidFill>
                  <a:srgbClr val="FFFFFF"/>
                </a:solidFill>
                <a:latin typeface="Calibri"/>
              </a:rPr>
              <a:t>Shared HTTP client: pooling, timeout, retry, tracing.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Asynchronous eventing — Service Bus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D2-16 / D2-17 / D2-18</a:t>
            </a:r>
          </a:p>
        </p:txBody>
      </p:sp>
      <p:sp>
        <p:nvSpPr>
          <p:cNvPr id="4" name="Rounded Rectangle 3"/>
          <p:cNvSpPr/>
          <p:nvPr/>
        </p:nvSpPr>
        <p:spPr>
          <a:xfrm>
            <a:off x="502920" y="2286000"/>
            <a:ext cx="2031796" cy="91440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Producer</a:t>
            </a:r>
          </a:p>
          <a:p>
            <a:pPr algn="ctr"/>
            <a:r>
              <a:rPr sz="1200" b="1">
                <a:solidFill>
                  <a:srgbClr val="FFFFFF"/>
                </a:solidFill>
                <a:latin typeface="Calibri"/>
              </a:rPr>
              <a:t>workflow / enterprise</a:t>
            </a:r>
          </a:p>
        </p:txBody>
      </p:sp>
      <p:sp>
        <p:nvSpPr>
          <p:cNvPr id="5" name="Rounded Rectangle 4"/>
          <p:cNvSpPr/>
          <p:nvPr/>
        </p:nvSpPr>
        <p:spPr>
          <a:xfrm>
            <a:off x="2790748" y="2286000"/>
            <a:ext cx="2031796"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Service Bus</a:t>
            </a:r>
          </a:p>
          <a:p>
            <a:pPr algn="ctr"/>
            <a:r>
              <a:rPr sz="1200" b="1">
                <a:solidFill>
                  <a:srgbClr val="FFFFFF"/>
                </a:solidFill>
                <a:latin typeface="Calibri"/>
              </a:rPr>
              <a:t>queue / topic</a:t>
            </a:r>
          </a:p>
        </p:txBody>
      </p:sp>
      <p:cxnSp>
        <p:nvCxnSpPr>
          <p:cNvPr id="6" name="Connector 5"/>
          <p:cNvCxnSpPr/>
          <p:nvPr/>
        </p:nvCxnSpPr>
        <p:spPr>
          <a:xfrm>
            <a:off x="2534716" y="274320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78577" y="2286000"/>
            <a:ext cx="2031796" cy="91440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Consumer</a:t>
            </a:r>
          </a:p>
          <a:p>
            <a:pPr algn="ctr"/>
            <a:r>
              <a:rPr sz="1200" b="1">
                <a:solidFill>
                  <a:srgbClr val="FFFFFF"/>
                </a:solidFill>
                <a:latin typeface="Calibri"/>
              </a:rPr>
              <a:t>bounded concurrency</a:t>
            </a:r>
          </a:p>
        </p:txBody>
      </p:sp>
      <p:cxnSp>
        <p:nvCxnSpPr>
          <p:cNvPr id="8" name="Connector 7"/>
          <p:cNvCxnSpPr/>
          <p:nvPr/>
        </p:nvCxnSpPr>
        <p:spPr>
          <a:xfrm>
            <a:off x="4822545" y="274320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66406" y="2286000"/>
            <a:ext cx="2031796" cy="914400"/>
          </a:xfrm>
          <a:prstGeom prst="roundRect">
            <a:avLst/>
          </a:prstGeom>
          <a:solidFill>
            <a:srgbClr val="1E222B"/>
          </a:solidFill>
          <a:ln w="15875">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Handler</a:t>
            </a:r>
          </a:p>
          <a:p>
            <a:pPr algn="ctr"/>
            <a:r>
              <a:rPr sz="1200" b="1">
                <a:solidFill>
                  <a:srgbClr val="FFFFFF"/>
                </a:solidFill>
                <a:latin typeface="Calibri"/>
              </a:rPr>
              <a:t>erc-refresh · hil · resume</a:t>
            </a:r>
          </a:p>
        </p:txBody>
      </p:sp>
      <p:cxnSp>
        <p:nvCxnSpPr>
          <p:cNvPr id="10" name="Connector 9"/>
          <p:cNvCxnSpPr/>
          <p:nvPr/>
        </p:nvCxnSpPr>
        <p:spPr>
          <a:xfrm>
            <a:off x="7110374" y="274320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54235" y="2286000"/>
            <a:ext cx="2031796" cy="91440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Reconcile</a:t>
            </a:r>
          </a:p>
          <a:p>
            <a:pPr algn="ctr"/>
            <a:r>
              <a:rPr sz="1200" b="1">
                <a:solidFill>
                  <a:srgbClr val="FFFFFF"/>
                </a:solidFill>
                <a:latin typeface="Calibri"/>
              </a:rPr>
              <a:t>idempotent · dedup</a:t>
            </a:r>
          </a:p>
        </p:txBody>
      </p:sp>
      <p:cxnSp>
        <p:nvCxnSpPr>
          <p:cNvPr id="12" name="Connector 11"/>
          <p:cNvCxnSpPr/>
          <p:nvPr/>
        </p:nvCxnSpPr>
        <p:spPr>
          <a:xfrm>
            <a:off x="9398203" y="274320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00" y="3657600"/>
            <a:ext cx="1828800" cy="50292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Dead-letter</a:t>
            </a:r>
          </a:p>
        </p:txBody>
      </p:sp>
      <p:sp>
        <p:nvSpPr>
          <p:cNvPr id="14" name="TextBox 13"/>
          <p:cNvSpPr txBox="1"/>
          <p:nvPr/>
        </p:nvSpPr>
        <p:spPr>
          <a:xfrm>
            <a:off x="822960" y="4480560"/>
            <a:ext cx="10515600" cy="1554480"/>
          </a:xfrm>
          <a:prstGeom prst="rect">
            <a:avLst/>
          </a:prstGeom>
          <a:noFill/>
        </p:spPr>
        <p:txBody>
          <a:bodyPr wrap="square" lIns="0" tIns="0">
            <a:spAutoFit/>
          </a:bodyPr>
          <a:lstStyle/>
          <a:p>
            <a:pPr algn="l">
              <a:spcAft>
                <a:spcPts val="1100"/>
              </a:spcAft>
            </a:pPr>
            <a:r>
              <a:rPr sz="1400" b="1">
                <a:solidFill>
                  <a:srgbClr val="2ACCFF"/>
                </a:solidFill>
                <a:latin typeface="Calibri"/>
              </a:rPr>
              <a:t>▸ </a:t>
            </a:r>
            <a:r>
              <a:rPr sz="1400">
                <a:solidFill>
                  <a:srgbClr val="FFFFFF"/>
                </a:solidFill>
                <a:latin typeface="Calibri"/>
              </a:rPr>
              <a:t>Versioned event envelope (D2-17); at-least-once delivery with idempotent handlers (D2-18).</a:t>
            </a:r>
          </a:p>
          <a:p>
            <a:pPr algn="l">
              <a:spcAft>
                <a:spcPts val="1100"/>
              </a:spcAft>
            </a:pPr>
            <a:r>
              <a:rPr sz="1400" b="1">
                <a:solidFill>
                  <a:srgbClr val="2ACCFF"/>
                </a:solidFill>
                <a:latin typeface="Calibri"/>
              </a:rPr>
              <a:t>▸ </a:t>
            </a:r>
            <a:r>
              <a:rPr sz="1400">
                <a:solidFill>
                  <a:srgbClr val="FFFFFF"/>
                </a:solidFill>
                <a:latin typeface="Calibri"/>
              </a:rPr>
              <a:t>Reconciliation resolves uncertain transaction outcomes — never a silent guess.</a:t>
            </a:r>
          </a:p>
          <a:p>
            <a:pPr algn="l">
              <a:spcAft>
                <a:spcPts val="1100"/>
              </a:spcAft>
            </a:pPr>
            <a:r>
              <a:rPr sz="1400" b="1">
                <a:solidFill>
                  <a:srgbClr val="2ACCFF"/>
                </a:solidFill>
                <a:latin typeface="Calibri"/>
              </a:rPr>
              <a:t>▸ </a:t>
            </a:r>
            <a:r>
              <a:rPr sz="1400">
                <a:solidFill>
                  <a:srgbClr val="FFFFFF"/>
                </a:solidFill>
                <a:latin typeface="Calibri"/>
              </a:rPr>
              <a:t>Consumer scaling respects enterprise-API and SLM limits (deck 05/07).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Portal links — no invented URLs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D2-19</a:t>
            </a:r>
          </a:p>
        </p:txBody>
      </p:sp>
      <p:sp>
        <p:nvSpPr>
          <p:cNvPr id="4" name="TextBox 3"/>
          <p:cNvSpPr txBox="1"/>
          <p:nvPr/>
        </p:nvSpPr>
        <p:spPr>
          <a:xfrm>
            <a:off x="822960" y="1828800"/>
            <a:ext cx="10515600" cy="2926080"/>
          </a:xfrm>
          <a:prstGeom prst="rect">
            <a:avLst/>
          </a:prstGeom>
          <a:noFill/>
        </p:spPr>
        <p:txBody>
          <a:bodyPr wrap="square" lIns="0" tIns="0">
            <a:spAutoFit/>
          </a:bodyPr>
          <a:lstStyle/>
          <a:p>
            <a:pPr algn="l">
              <a:spcAft>
                <a:spcPts val="1500"/>
              </a:spcAft>
            </a:pPr>
            <a:r>
              <a:rPr sz="1600" b="1">
                <a:solidFill>
                  <a:srgbClr val="2ACCFF"/>
                </a:solidFill>
                <a:latin typeface="Calibri"/>
              </a:rPr>
              <a:t>▸ </a:t>
            </a:r>
            <a:r>
              <a:rPr sz="1600">
                <a:solidFill>
                  <a:srgbClr val="FFFFFF"/>
                </a:solidFill>
                <a:latin typeface="Calibri"/>
              </a:rPr>
              <a:t>Every portal link is resolved through a registered portal-link mechanism — Adam never invents a URL.</a:t>
            </a:r>
          </a:p>
          <a:p>
            <a:pPr algn="l">
              <a:spcAft>
                <a:spcPts val="1500"/>
              </a:spcAft>
            </a:pPr>
            <a:r>
              <a:rPr sz="1600" b="1">
                <a:solidFill>
                  <a:srgbClr val="2ACCFF"/>
                </a:solidFill>
                <a:latin typeface="Calibri"/>
              </a:rPr>
              <a:t>▸ </a:t>
            </a:r>
            <a:r>
              <a:rPr sz="1600">
                <a:solidFill>
                  <a:srgbClr val="FFFFFF"/>
                </a:solidFill>
                <a:latin typeface="Calibri"/>
              </a:rPr>
              <a:t>Links are registry-driven, validated, scoped and (where needed) signed/expiring.</a:t>
            </a:r>
          </a:p>
          <a:p>
            <a:pPr algn="l">
              <a:spcAft>
                <a:spcPts val="1500"/>
              </a:spcAft>
            </a:pPr>
            <a:r>
              <a:rPr sz="1600" b="1">
                <a:solidFill>
                  <a:srgbClr val="2ACCFF"/>
                </a:solidFill>
                <a:latin typeface="Calibri"/>
              </a:rPr>
              <a:t>▸ </a:t>
            </a:r>
            <a:r>
              <a:rPr sz="1600">
                <a:solidFill>
                  <a:srgbClr val="FFFFFF"/>
                </a:solidFill>
                <a:latin typeface="Calibri"/>
              </a:rPr>
              <a:t>Deck 03/06 cover the same principle for IDs, tool results and technical details.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ADR index — Application (D2)</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21 decisions — higher-trust sources always win; ◆ = Proposed, awaiting ARB</a:t>
            </a:r>
          </a:p>
        </p:txBody>
      </p:sp>
      <p:graphicFrame>
        <p:nvGraphicFramePr>
          <p:cNvPr id="4" name="Table 3"/>
          <p:cNvGraphicFramePr>
            <a:graphicFrameLocks noGrp="1"/>
          </p:cNvGraphicFramePr>
          <p:nvPr/>
        </p:nvGraphicFramePr>
        <p:xfrm>
          <a:off x="502920" y="1783080"/>
          <a:ext cx="5486399" cy="4572000"/>
        </p:xfrm>
        <a:graphic>
          <a:graphicData uri="http://schemas.openxmlformats.org/drawingml/2006/table">
            <a:tbl>
              <a:tblPr firstRow="1">
                <a:tableStyleId>{5C22544A-7EE6-4342-B048-85BDC9FD1C3A}</a:tableStyleId>
              </a:tblPr>
              <a:tblGrid>
                <a:gridCol w="973393"/>
                <a:gridCol w="3672348"/>
                <a:gridCol w="840658"/>
              </a:tblGrid>
              <a:tr h="304800">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04800">
                <a:tc>
                  <a:txBody>
                    <a:bodyPr wrap="square"/>
                    <a:lstStyle/>
                    <a:p>
                      <a:r>
                        <a:rPr sz="900" b="1">
                          <a:solidFill>
                            <a:srgbClr val="FFFFFF"/>
                          </a:solidFill>
                          <a:latin typeface="Calibri"/>
                        </a:rPr>
                        <a:t>D2-01</a:t>
                      </a:r>
                    </a:p>
                  </a:txBody>
                  <a:tcPr marL="63500" marR="63500" marT="25400" marB="25400" anchor="ctr">
                    <a:solidFill>
                      <a:srgbClr val="14161C"/>
                    </a:solidFill>
                  </a:tcPr>
                </a:tc>
                <a:tc>
                  <a:txBody>
                    <a:bodyPr wrap="square"/>
                    <a:lstStyle/>
                    <a:p>
                      <a:r>
                        <a:rPr sz="900" b="0">
                          <a:solidFill>
                            <a:srgbClr val="D5D5D5"/>
                          </a:solidFill>
                          <a:latin typeface="Calibri"/>
                        </a:rPr>
                        <a:t>Layered architecture with a mechanically enforced d…</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D2-02</a:t>
                      </a:r>
                    </a:p>
                  </a:txBody>
                  <a:tcPr marL="63500" marR="63500" marT="25400" marB="25400" anchor="ctr">
                    <a:solidFill>
                      <a:srgbClr val="1E222B"/>
                    </a:solidFill>
                  </a:tcPr>
                </a:tc>
                <a:tc>
                  <a:txBody>
                    <a:bodyPr wrap="square"/>
                    <a:lstStyle/>
                    <a:p>
                      <a:r>
                        <a:rPr sz="900" b="0">
                          <a:solidFill>
                            <a:srgbClr val="D5D5D5"/>
                          </a:solidFill>
                          <a:latin typeface="Calibri"/>
                        </a:rPr>
                        <a:t>Single AI runtime with agents as logical capabiliti…</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D2-03</a:t>
                      </a:r>
                    </a:p>
                  </a:txBody>
                  <a:tcPr marL="63500" marR="63500" marT="25400" marB="25400" anchor="ctr">
                    <a:solidFill>
                      <a:srgbClr val="14161C"/>
                    </a:solidFill>
                  </a:tcPr>
                </a:tc>
                <a:tc>
                  <a:txBody>
                    <a:bodyPr wrap="square"/>
                    <a:lstStyle/>
                    <a:p>
                      <a:r>
                        <a:rPr sz="900" b="0">
                          <a:solidFill>
                            <a:srgbClr val="D5D5D5"/>
                          </a:solidFill>
                          <a:latin typeface="Calibri"/>
                        </a:rPr>
                        <a:t>Dual runtime model — request-driven and event-drive…</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D2-04</a:t>
                      </a:r>
                    </a:p>
                  </a:txBody>
                  <a:tcPr marL="63500" marR="63500" marT="25400" marB="25400" anchor="ctr">
                    <a:solidFill>
                      <a:srgbClr val="1E222B"/>
                    </a:solidFill>
                  </a:tcPr>
                </a:tc>
                <a:tc>
                  <a:txBody>
                    <a:bodyPr wrap="square"/>
                    <a:lstStyle/>
                    <a:p>
                      <a:r>
                        <a:rPr sz="900" b="0">
                          <a:solidFill>
                            <a:srgbClr val="D5D5D5"/>
                          </a:solidFill>
                          <a:latin typeface="Calibri"/>
                        </a:rPr>
                        <a:t>Conversation Manager responsibility boundary</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D2-05</a:t>
                      </a:r>
                    </a:p>
                  </a:txBody>
                  <a:tcPr marL="63500" marR="63500" marT="25400" marB="25400" anchor="ctr">
                    <a:solidFill>
                      <a:srgbClr val="14161C"/>
                    </a:solidFill>
                  </a:tcPr>
                </a:tc>
                <a:tc>
                  <a:txBody>
                    <a:bodyPr wrap="square"/>
                    <a:lstStyle/>
                    <a:p>
                      <a:r>
                        <a:rPr sz="900" b="0">
                          <a:solidFill>
                            <a:srgbClr val="D5D5D5"/>
                          </a:solidFill>
                          <a:latin typeface="Calibri"/>
                        </a:rPr>
                        <a:t>Supervisor intent routing, confidence thresholds an…</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D2-06</a:t>
                      </a:r>
                    </a:p>
                  </a:txBody>
                  <a:tcPr marL="63500" marR="63500" marT="25400" marB="25400" anchor="ctr">
                    <a:solidFill>
                      <a:srgbClr val="1E222B"/>
                    </a:solidFill>
                  </a:tcPr>
                </a:tc>
                <a:tc>
                  <a:txBody>
                    <a:bodyPr wrap="square"/>
                    <a:lstStyle/>
                    <a:p>
                      <a:r>
                        <a:rPr sz="900" b="0">
                          <a:solidFill>
                            <a:srgbClr val="D5D5D5"/>
                          </a:solidFill>
                          <a:latin typeface="Calibri"/>
                        </a:rPr>
                        <a:t>Workflow orchestration engine — LangGraph</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D2-07</a:t>
                      </a:r>
                    </a:p>
                  </a:txBody>
                  <a:tcPr marL="63500" marR="63500" marT="25400" marB="25400" anchor="ctr">
                    <a:solidFill>
                      <a:srgbClr val="14161C"/>
                    </a:solidFill>
                  </a:tcPr>
                </a:tc>
                <a:tc>
                  <a:txBody>
                    <a:bodyPr wrap="square"/>
                    <a:lstStyle/>
                    <a:p>
                      <a:r>
                        <a:rPr sz="900" b="0">
                          <a:solidFill>
                            <a:srgbClr val="D5D5D5"/>
                          </a:solidFill>
                          <a:latin typeface="Calibri"/>
                        </a:rPr>
                        <a:t>Graph state representation — TypedDict internally, …</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D2-08</a:t>
                      </a:r>
                    </a:p>
                  </a:txBody>
                  <a:tcPr marL="63500" marR="63500" marT="25400" marB="25400" anchor="ctr">
                    <a:solidFill>
                      <a:srgbClr val="1E222B"/>
                    </a:solidFill>
                  </a:tcPr>
                </a:tc>
                <a:tc>
                  <a:txBody>
                    <a:bodyPr wrap="square"/>
                    <a:lstStyle/>
                    <a:p>
                      <a:r>
                        <a:rPr sz="900" b="0">
                          <a:solidFill>
                            <a:srgbClr val="D5D5D5"/>
                          </a:solidFill>
                          <a:latin typeface="Calibri"/>
                        </a:rPr>
                        <a:t>Sequential, parallel and hybrid execution with boun…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D2-09</a:t>
                      </a:r>
                    </a:p>
                  </a:txBody>
                  <a:tcPr marL="63500" marR="63500" marT="25400" marB="25400" anchor="ctr">
                    <a:solidFill>
                      <a:srgbClr val="14161C"/>
                    </a:solidFill>
                  </a:tcPr>
                </a:tc>
                <a:tc>
                  <a:txBody>
                    <a:bodyPr wrap="square"/>
                    <a:lstStyle/>
                    <a:p>
                      <a:r>
                        <a:rPr sz="900" b="0">
                          <a:solidFill>
                            <a:srgbClr val="D5D5D5"/>
                          </a:solidFill>
                          <a:latin typeface="Calibri"/>
                        </a:rPr>
                        <a:t>Agent Harness as the single controlled execution bo…</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D2-10</a:t>
                      </a:r>
                    </a:p>
                  </a:txBody>
                  <a:tcPr marL="63500" marR="63500" marT="25400" marB="25400" anchor="ctr">
                    <a:solidFill>
                      <a:srgbClr val="1E222B"/>
                    </a:solidFill>
                  </a:tcPr>
                </a:tc>
                <a:tc>
                  <a:txBody>
                    <a:bodyPr wrap="square"/>
                    <a:lstStyle/>
                    <a:p>
                      <a:r>
                        <a:rPr sz="900" b="0">
                          <a:solidFill>
                            <a:srgbClr val="D5D5D5"/>
                          </a:solidFill>
                          <a:latin typeface="Calibri"/>
                        </a:rPr>
                        <a:t>Long-running workflow durability and human-in-the-l…</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D2-11</a:t>
                      </a:r>
                    </a:p>
                  </a:txBody>
                  <a:tcPr marL="63500" marR="63500" marT="25400" marB="25400" anchor="ctr">
                    <a:solidFill>
                      <a:srgbClr val="14161C"/>
                    </a:solidFill>
                  </a:tcPr>
                </a:tc>
                <a:tc>
                  <a:txBody>
                    <a:bodyPr wrap="square"/>
                    <a:lstStyle/>
                    <a:p>
                      <a:r>
                        <a:rPr sz="900" b="0">
                          <a:solidFill>
                            <a:srgbClr val="D5D5D5"/>
                          </a:solidFill>
                          <a:latin typeface="Calibri"/>
                        </a:rPr>
                        <a:t>Workflow idempotency, retry, timeout and loop-limit…</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D2-12</a:t>
                      </a:r>
                    </a:p>
                  </a:txBody>
                  <a:tcPr marL="63500" marR="63500" marT="25400" marB="25400" anchor="ctr">
                    <a:solidFill>
                      <a:srgbClr val="1E222B"/>
                    </a:solidFill>
                  </a:tcPr>
                </a:tc>
                <a:tc>
                  <a:txBody>
                    <a:bodyPr wrap="square"/>
                    <a:lstStyle/>
                    <a:p>
                      <a:r>
                        <a:rPr sz="900" b="0">
                          <a:solidFill>
                            <a:srgbClr val="D5D5D5"/>
                          </a:solidFill>
                          <a:latin typeface="Calibri"/>
                        </a:rPr>
                        <a:t>ERC as the enterprise context boundary</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D2-13</a:t>
                      </a:r>
                    </a:p>
                  </a:txBody>
                  <a:tcPr marL="63500" marR="63500" marT="25400" marB="25400" anchor="ctr">
                    <a:solidFill>
                      <a:srgbClr val="14161C"/>
                    </a:solidFill>
                  </a:tcPr>
                </a:tc>
                <a:tc>
                  <a:txBody>
                    <a:bodyPr wrap="square"/>
                    <a:lstStyle/>
                    <a:p>
                      <a:r>
                        <a:rPr sz="900" b="0">
                          <a:solidFill>
                            <a:srgbClr val="D5D5D5"/>
                          </a:solidFill>
                          <a:latin typeface="Calibri"/>
                        </a:rPr>
                        <a:t>Enterprise integration pattern — API catalogue, too…</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D2-14</a:t>
                      </a:r>
                    </a:p>
                  </a:txBody>
                  <a:tcPr marL="63500" marR="63500" marT="25400" marB="25400" anchor="ctr">
                    <a:solidFill>
                      <a:srgbClr val="1E222B"/>
                    </a:solidFill>
                  </a:tcPr>
                </a:tc>
                <a:tc>
                  <a:txBody>
                    <a:bodyPr wrap="square"/>
                    <a:lstStyle/>
                    <a:p>
                      <a:r>
                        <a:rPr sz="900" b="0">
                          <a:solidFill>
                            <a:srgbClr val="D5D5D5"/>
                          </a:solidFill>
                          <a:latin typeface="Calibri"/>
                        </a:rPr>
                        <a:t>Enterprise integration matrix, service ownership an…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bl>
          </a:graphicData>
        </a:graphic>
      </p:graphicFrame>
      <p:graphicFrame>
        <p:nvGraphicFramePr>
          <p:cNvPr id="5" name="Table 4"/>
          <p:cNvGraphicFramePr>
            <a:graphicFrameLocks noGrp="1"/>
          </p:cNvGraphicFramePr>
          <p:nvPr/>
        </p:nvGraphicFramePr>
        <p:xfrm>
          <a:off x="6263640" y="1783080"/>
          <a:ext cx="5486399" cy="2487168"/>
        </p:xfrm>
        <a:graphic>
          <a:graphicData uri="http://schemas.openxmlformats.org/drawingml/2006/table">
            <a:tbl>
              <a:tblPr firstRow="1">
                <a:tableStyleId>{5C22544A-7EE6-4342-B048-85BDC9FD1C3A}</a:tableStyleId>
              </a:tblPr>
              <a:tblGrid>
                <a:gridCol w="973393"/>
                <a:gridCol w="3672348"/>
                <a:gridCol w="840658"/>
              </a:tblGrid>
              <a:tr h="310896">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10896">
                <a:tc>
                  <a:txBody>
                    <a:bodyPr wrap="square"/>
                    <a:lstStyle/>
                    <a:p>
                      <a:r>
                        <a:rPr sz="900" b="1">
                          <a:solidFill>
                            <a:srgbClr val="FFFFFF"/>
                          </a:solidFill>
                          <a:latin typeface="Calibri"/>
                        </a:rPr>
                        <a:t>D2-15</a:t>
                      </a:r>
                    </a:p>
                  </a:txBody>
                  <a:tcPr marL="63500" marR="63500" marT="25400" marB="25400" anchor="ctr">
                    <a:solidFill>
                      <a:srgbClr val="14161C"/>
                    </a:solidFill>
                  </a:tcPr>
                </a:tc>
                <a:tc>
                  <a:txBody>
                    <a:bodyPr wrap="square"/>
                    <a:lstStyle/>
                    <a:p>
                      <a:r>
                        <a:rPr sz="900" b="0">
                          <a:solidFill>
                            <a:srgbClr val="D5D5D5"/>
                          </a:solidFill>
                          <a:latin typeface="Calibri"/>
                        </a:rPr>
                        <a:t>Enterprise API contract, versioning and compatibili…</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D2-16</a:t>
                      </a:r>
                    </a:p>
                  </a:txBody>
                  <a:tcPr marL="63500" marR="63500" marT="25400" marB="25400" anchor="ctr">
                    <a:solidFill>
                      <a:srgbClr val="1E222B"/>
                    </a:solidFill>
                  </a:tcPr>
                </a:tc>
                <a:tc>
                  <a:txBody>
                    <a:bodyPr wrap="square"/>
                    <a:lstStyle/>
                    <a:p>
                      <a:r>
                        <a:rPr sz="900" b="0">
                          <a:solidFill>
                            <a:srgbClr val="D5D5D5"/>
                          </a:solidFill>
                          <a:latin typeface="Calibri"/>
                        </a:rPr>
                        <a:t>Asynchronous eventing platform — Azure Service Bus,…</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D2-17</a:t>
                      </a:r>
                    </a:p>
                  </a:txBody>
                  <a:tcPr marL="63500" marR="63500" marT="25400" marB="25400" anchor="ctr">
                    <a:solidFill>
                      <a:srgbClr val="14161C"/>
                    </a:solidFill>
                  </a:tcPr>
                </a:tc>
                <a:tc>
                  <a:txBody>
                    <a:bodyPr wrap="square"/>
                    <a:lstStyle/>
                    <a:p>
                      <a:r>
                        <a:rPr sz="900" b="0">
                          <a:solidFill>
                            <a:srgbClr val="D5D5D5"/>
                          </a:solidFill>
                          <a:latin typeface="Calibri"/>
                        </a:rPr>
                        <a:t>Event envelope, schema registry and event contract …</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D2-18</a:t>
                      </a:r>
                    </a:p>
                  </a:txBody>
                  <a:tcPr marL="63500" marR="63500" marT="25400" marB="25400" anchor="ctr">
                    <a:solidFill>
                      <a:srgbClr val="1E222B"/>
                    </a:solidFill>
                  </a:tcPr>
                </a:tc>
                <a:tc>
                  <a:txBody>
                    <a:bodyPr wrap="square"/>
                    <a:lstStyle/>
                    <a:p>
                      <a:r>
                        <a:rPr sz="900" b="0">
                          <a:solidFill>
                            <a:srgbClr val="D5D5D5"/>
                          </a:solidFill>
                          <a:latin typeface="Calibri"/>
                        </a:rPr>
                        <a:t>Message reliability — deduplication, idempotency, d…</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D2-19</a:t>
                      </a:r>
                    </a:p>
                  </a:txBody>
                  <a:tcPr marL="63500" marR="63500" marT="25400" marB="25400" anchor="ctr">
                    <a:solidFill>
                      <a:srgbClr val="14161C"/>
                    </a:solidFill>
                  </a:tcPr>
                </a:tc>
                <a:tc>
                  <a:txBody>
                    <a:bodyPr wrap="square"/>
                    <a:lstStyle/>
                    <a:p>
                      <a:r>
                        <a:rPr sz="900" b="0">
                          <a:solidFill>
                            <a:srgbClr val="D5D5D5"/>
                          </a:solidFill>
                          <a:latin typeface="Calibri"/>
                        </a:rPr>
                        <a:t>Portal link registry and the no-invented-URL enforc…</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D2-20</a:t>
                      </a:r>
                    </a:p>
                  </a:txBody>
                  <a:tcPr marL="63500" marR="63500" marT="25400" marB="25400" anchor="ctr">
                    <a:solidFill>
                      <a:srgbClr val="1E222B"/>
                    </a:solidFill>
                  </a:tcPr>
                </a:tc>
                <a:tc>
                  <a:txBody>
                    <a:bodyPr wrap="square"/>
                    <a:lstStyle/>
                    <a:p>
                      <a:r>
                        <a:rPr sz="900" b="0">
                          <a:solidFill>
                            <a:srgbClr val="D5D5D5"/>
                          </a:solidFill>
                          <a:latin typeface="Calibri"/>
                        </a:rPr>
                        <a:t>Enterprise API endpoint declaration and per-environ…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D2-21</a:t>
                      </a:r>
                    </a:p>
                  </a:txBody>
                  <a:tcPr marL="63500" marR="63500" marT="25400" marB="25400" anchor="ctr">
                    <a:solidFill>
                      <a:srgbClr val="14161C"/>
                    </a:solidFill>
                  </a:tcPr>
                </a:tc>
                <a:tc>
                  <a:txBody>
                    <a:bodyPr wrap="square"/>
                    <a:lstStyle/>
                    <a:p>
                      <a:r>
                        <a:rPr sz="900" b="0">
                          <a:solidFill>
                            <a:srgbClr val="D5D5D5"/>
                          </a:solidFill>
                          <a:latin typeface="Calibri"/>
                        </a:rPr>
                        <a:t>Request payload parameter sourcing and binding</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7" sz="quarter"/>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822960" y="3840480"/>
            <a:ext cx="10515600" cy="914400"/>
          </a:xfrm>
          <a:prstGeom prst="rect">
            <a:avLst/>
          </a:prstGeom>
          <a:noFill/>
        </p:spPr>
        <p:txBody>
          <a:bodyPr wrap="square" anchor="t" lIns="0" rIns="0" tIns="0" bIns="0">
            <a:spAutoFit/>
          </a:bodyPr>
          <a:lstStyle/>
          <a:p>
            <a:pPr algn="l"/>
            <a:r>
              <a:rPr sz="1800" b="0" i="0">
                <a:solidFill>
                  <a:srgbClr val="D5D5D5"/>
                </a:solidFill>
                <a:latin typeface="Calibri"/>
              </a:rPr>
              <a:t>Strict layering · one bounded runtime · a harness nothing bypasses · versioned integration &amp; events</a:t>
            </a:r>
          </a:p>
        </p:txBody>
      </p:sp>
    </p:spTree>
  </p:cSld>
  <p:clrMapOvr>
    <a:masterClrMapping/>
  </p:clrMapOvr>
</p:sld>
</file>

<file path=ppt/theme/theme1.xml><?xml version="1.0" encoding="utf-8"?>
<a:theme xmlns:a="http://schemas.openxmlformats.org/drawingml/2006/main" name="Orion Innovation 2026 Q2">
  <a:themeElements>
    <a:clrScheme name="Custom 1">
      <a:dk1>
        <a:srgbClr val="000000"/>
      </a:dk1>
      <a:lt1>
        <a:srgbClr val="FFFFFF"/>
      </a:lt1>
      <a:dk2>
        <a:srgbClr val="0283FF"/>
      </a:dk2>
      <a:lt2>
        <a:srgbClr val="D5D5D5"/>
      </a:lt2>
      <a:accent1>
        <a:srgbClr val="2ACCFF"/>
      </a:accent1>
      <a:accent2>
        <a:srgbClr val="7F19BE"/>
      </a:accent2>
      <a:accent3>
        <a:srgbClr val="FE2579"/>
      </a:accent3>
      <a:accent4>
        <a:srgbClr val="5300DB"/>
      </a:accent4>
      <a:accent5>
        <a:srgbClr val="FED038"/>
      </a:accent5>
      <a:accent6>
        <a:srgbClr val="48E84A"/>
      </a:accent6>
      <a:hlink>
        <a:srgbClr val="0084FF"/>
      </a:hlink>
      <a:folHlink>
        <a:srgbClr val="3EC4E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CE3E8"/>
        </a:solidFill>
        <a:ln>
          <a:noFill/>
          <a:tailEnd type="none"/>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l">
          <a:lnSpc>
            <a:spcPct val="110000"/>
          </a:lnSpc>
          <a:defRPr sz="1000" b="1" dirty="0" smtClean="0">
            <a:solidFill>
              <a:schemeClr val="tx1"/>
            </a:solidFill>
            <a:effectLst/>
          </a:defRPr>
        </a:defPPr>
      </a:lstStyle>
      <a:style>
        <a:lnRef idx="1">
          <a:schemeClr val="accent1"/>
        </a:lnRef>
        <a:fillRef idx="0">
          <a:schemeClr val="accent1"/>
        </a:fillRef>
        <a:effectRef idx="0">
          <a:schemeClr val="accent1"/>
        </a:effectRef>
        <a:fontRef idx="minor">
          <a:schemeClr val="tx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36000" tIns="36000" rIns="36000" bIns="36000" rtlCol="0">
        <a:spAutoFit/>
      </a:bodyPr>
      <a:lstStyle>
        <a:defPPr marL="183600" indent="-183600" algn="l">
          <a:lnSpc>
            <a:spcPct val="110000"/>
          </a:lnSpc>
          <a:spcBef>
            <a:spcPts val="400"/>
          </a:spcBef>
          <a:spcAft>
            <a:spcPts val="400"/>
          </a:spcAft>
          <a:buClr>
            <a:schemeClr val="bg2"/>
          </a:buClr>
          <a:buFont typeface="Arial" panose="020B0604020202020204" pitchFamily="34" charset="0"/>
          <a:buChar char="•"/>
          <a:defRPr sz="1200" dirty="0"/>
        </a:defPPr>
      </a:lstStyle>
    </a:txDef>
  </a:objectDefaults>
  <a:extraClrSchemeLst/>
  <a:extLst>
    <a:ext uri="{05A4C25C-085E-4340-85A3-A5531E510DB2}">
      <thm15:themeFamily xmlns:thm15="http://schemas.microsoft.com/office/thememl/2012/main" name="Orion Innovation 2025" id="{199926F3-F314-1646-84C3-A3441F686DB8}" vid="{DEFB32A1-EE74-C24D-8093-ED971E6474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5d1f120-0a15-4527-b7f6-5161c5c2159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D5FE873E29E64DB56982258F3E0522" ma:contentTypeVersion="12" ma:contentTypeDescription="Create a new document." ma:contentTypeScope="" ma:versionID="e73da9dc670ce61c4b27620f5ceecb8f">
  <xsd:schema xmlns:xsd="http://www.w3.org/2001/XMLSchema" xmlns:xs="http://www.w3.org/2001/XMLSchema" xmlns:p="http://schemas.microsoft.com/office/2006/metadata/properties" xmlns:ns3="15d1f120-0a15-4527-b7f6-5161c5c21597" targetNamespace="http://schemas.microsoft.com/office/2006/metadata/properties" ma:root="true" ma:fieldsID="1fcf99ee2c82c01c26ba439bc53d9385" ns3:_="">
    <xsd:import namespace="15d1f120-0a15-4527-b7f6-5161c5c2159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1f120-0a15-4527-b7f6-5161c5c2159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830519-BCC5-47D9-B3C0-0E48D727637D}">
  <ds:schemaRefs>
    <ds:schemaRef ds:uri="15d1f120-0a15-4527-b7f6-5161c5c2159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1928388-827E-417D-A9EC-1E4398CC2B14}">
  <ds:schemaRefs>
    <ds:schemaRef ds:uri="http://schemas.microsoft.com/sharepoint/v3/contenttype/forms"/>
  </ds:schemaRefs>
</ds:datastoreItem>
</file>

<file path=customXml/itemProps3.xml><?xml version="1.0" encoding="utf-8"?>
<ds:datastoreItem xmlns:ds="http://schemas.openxmlformats.org/officeDocument/2006/customXml" ds:itemID="{0EE53047-0C68-4513-BD90-36FFCA7892BD}">
  <ds:schemaRefs>
    <ds:schemaRef ds:uri="15d1f120-0a15-4527-b7f6-5161c5c215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11</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Orion Innovation 2026 Q2</vt:lpstr>
      <vt:lpstr>PowerPoint Presentation</vt:lpstr>
      <vt:lpstr>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Sankarankutty Menon</dc:creator>
  <cp:revision>4</cp:revision>
  <dcterms:created xsi:type="dcterms:W3CDTF">2026-01-20T15:10:32Z</dcterms:created>
  <dcterms:modified xsi:type="dcterms:W3CDTF">2026-09-08T07:55:53Z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0x01010042D5FE873E29E64DB56982258F3E0522</vt:lpwstr>
  </property>
</Properties>
</file>