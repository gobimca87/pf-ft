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48AD9-B8F4-A70C-7DDC-1E1556ECAE4E}" v="2" dt="2026-08-06T12:20:33.150"/>
    <p1510:client id="{7F375FFF-E84D-3631-D388-F5B5C76602FD}" v="4" dt="2026-08-06T13:01:42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37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action deck. 145 ADRs are governed; 140 Accepted; 5 remain Proposed with a stated recommendation we build against. We need ARB to ratify them or direct the evidence required.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process (D0-04): recommend → build → produce evidence → ARB sign-off → Accepted.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open decisions, each gated at a build phase; two gate at Phase 8, the rest at 16/20; none are blocked.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ADR-D3-23 Embedding model selection: we build against the recommendation now. Proposed, not Accepted — awaiting Recall@5 ≥ 0.90 evaluation, then ARB sign-off (Phase 8). Ask: ratify, or tell us what evidence you need. A deviation requires a superseding ADR.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ADR-D3-24 Vector store selection: we build against the recommendation now. Proposed, not Accepted — awaiting ARB sign-off (Phase 8). Ask: ratify, or tell us what evidence you need. A deviation requires a superseding ADR.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ADR-D5-10 Self-hosted SLM serving stack: we build against the recommendation now. Proposed, not Accepted — awaiting throughput/latency/quality benchmark on chosen model + SKU, then ARB (Phase 20). Ask: ratify, or tell us what evidence you need. A deviation requires a superseding ADR.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ADR-D3-28 Quality-gated refinement loop: we build against the recommendation now. Proposed, not Accepted — awaiting ARB sign-off (AI Governance Lead on strict-class list) + Phase 20 latency/cost benchmark (Phase 16, 20). Ask: ratify, or tell us what evidence you need. A deviation requires a superseding ADR.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ADR-D6-19 SLM input masking regime: we build against the recommendation now. Proposed, not Accepted — awaiting ARB sign-off (DPO owner, DPIA update) + Phase 20 vault sizing (Phase 6, 20). Ask: ratify, or tell us what evidence you need. A deviation requires a superseding ADR.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Sequenced asks: masking (DPO/DPIA) earliest and most sensitive; the Phase-8 data decisions next; vLLM and refinement follow their Phase-20 benchmarks.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ratify the five decisions or name the evidence needed; endorse the cost model and budget controls; record any challenges to the architecture. Thank you.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pic>
        <p:nvPicPr>
          <p:cNvPr id="8" name="Picture 7" descr="fa_cres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325880"/>
            <a:ext cx="2313063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19" y="16002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DECK 09 ·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74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3294B"/>
                </a:solidFill>
                <a:latin typeface="Cambria"/>
              </a:rPr>
              <a:t>Open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718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2E75B6"/>
                </a:solidFill>
                <a:latin typeface="Cambria"/>
              </a:rPr>
              <a:t>&amp; ARB 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3977639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420624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C6B7A"/>
                </a:solidFill>
                <a:latin typeface="Calibri"/>
              </a:rPr>
              <a:t>The 5 Proposed decisions we need the Architecture Review Board to ratify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ADR-D0-04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How an open decision closes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The governance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2468880"/>
            <a:ext cx="1794052" cy="9601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615184"/>
            <a:ext cx="16111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3294B"/>
                </a:solidFill>
                <a:latin typeface="Cambria"/>
              </a:rPr>
              <a:t>Recommend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044952"/>
            <a:ext cx="16111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C6B7A"/>
                </a:solidFill>
                <a:latin typeface="Calibri"/>
              </a:rPr>
              <a:t>ADR states 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06316" y="2468880"/>
            <a:ext cx="1794052" cy="9601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756" y="2615184"/>
            <a:ext cx="16111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3294B"/>
                </a:solidFill>
                <a:latin typeface="Cambria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7756" y="3044952"/>
            <a:ext cx="16111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C6B7A"/>
                </a:solidFill>
                <a:latin typeface="Calibri"/>
              </a:rPr>
              <a:t>against recommendation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68572" y="2948940"/>
            <a:ext cx="237744" cy="0"/>
          </a:xfrm>
          <a:prstGeom prst="line">
            <a:avLst/>
          </a:prstGeom>
          <a:ln w="2032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38113" y="2468880"/>
            <a:ext cx="1794052" cy="9601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29553" y="2615184"/>
            <a:ext cx="16111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3294B"/>
                </a:solidFill>
                <a:latin typeface="Cambria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9553" y="3044952"/>
            <a:ext cx="16111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C6B7A"/>
                </a:solidFill>
                <a:latin typeface="Calibri"/>
              </a:rPr>
              <a:t>eval / benchmark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00369" y="2948940"/>
            <a:ext cx="237744" cy="0"/>
          </a:xfrm>
          <a:prstGeom prst="line">
            <a:avLst/>
          </a:prstGeom>
          <a:ln w="2032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69910" y="2468880"/>
            <a:ext cx="1794052" cy="9601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1350" y="2615184"/>
            <a:ext cx="16111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3294B"/>
                </a:solidFill>
                <a:latin typeface="Cambria"/>
              </a:rPr>
              <a:t>ARB sign-off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1350" y="3044952"/>
            <a:ext cx="16111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C6B7A"/>
                </a:solidFill>
                <a:latin typeface="Calibri"/>
              </a:rPr>
              <a:t>named approver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32166" y="2948940"/>
            <a:ext cx="237744" cy="0"/>
          </a:xfrm>
          <a:prstGeom prst="line">
            <a:avLst/>
          </a:prstGeom>
          <a:ln w="2032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01707" y="2468880"/>
            <a:ext cx="1794052" cy="9601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3147" y="2615184"/>
            <a:ext cx="16111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3294B"/>
                </a:solidFill>
                <a:latin typeface="Cambria"/>
              </a:rPr>
              <a:t>Accepted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3147" y="3044952"/>
            <a:ext cx="16111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C6B7A"/>
                </a:solidFill>
                <a:latin typeface="Calibri"/>
              </a:rPr>
              <a:t>new version, register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63963" y="2948940"/>
            <a:ext cx="237744" cy="0"/>
          </a:xfrm>
          <a:prstGeom prst="line">
            <a:avLst/>
          </a:prstGeom>
          <a:ln w="2032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74519" y="3931920"/>
            <a:ext cx="99212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Each Proposed ADR carries a complete CMMI-DAR evaluation and a stated recommendation.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We build against the recommendation now; a deviation requires a superseding ADR — never a silent change.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When the evidence lands or the approver signs off, status flips Proposed → Accepted.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145 ADRS · 9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Decision status 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783080"/>
            <a:ext cx="2288286" cy="14173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19" y="2039112"/>
            <a:ext cx="109728" cy="905256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7127" y="2002536"/>
            <a:ext cx="18310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145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7" y="2697480"/>
            <a:ext cx="18310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total governed ADRs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8838" y="1783080"/>
            <a:ext cx="2288286" cy="14173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8838" y="2039112"/>
            <a:ext cx="109728" cy="90525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1446" y="2002536"/>
            <a:ext cx="18310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Cambria"/>
              </a:rPr>
              <a:t>140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1446" y="2697480"/>
            <a:ext cx="18310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Accepted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3156" y="1783080"/>
            <a:ext cx="2288286" cy="14173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63156" y="2039112"/>
            <a:ext cx="109728" cy="905256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5764" y="2002536"/>
            <a:ext cx="18310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5764" y="2697480"/>
            <a:ext cx="18310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Proposed — need ARB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7474" y="1783080"/>
            <a:ext cx="2288286" cy="14173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7474" y="2039112"/>
            <a:ext cx="109728" cy="90525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0082" y="2002536"/>
            <a:ext cx="18310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Cambria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0082" y="2697480"/>
            <a:ext cx="18310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rejected / blocked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874519" y="3566160"/>
          <a:ext cx="9921239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7166"/>
                <a:gridCol w="5619109"/>
                <a:gridCol w="2194964"/>
              </a:tblGrid>
              <a:tr h="3962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Proposed ADR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94B"/>
                          </a:solidFill>
                          <a:latin typeface="Calibri"/>
                        </a:rPr>
                        <a:t>ADR-D3-23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Embedding model (768-dim)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Phase 8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94B"/>
                          </a:solidFill>
                          <a:latin typeface="Calibri"/>
                        </a:rPr>
                        <a:t>ADR-D3-24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Vector store (Azure AI Search)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Phase 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94B"/>
                          </a:solidFill>
                          <a:latin typeface="Calibri"/>
                        </a:rPr>
                        <a:t>ADR-D5-10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Self-hosted SLM (vLLM)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Phase 20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94B"/>
                          </a:solidFill>
                          <a:latin typeface="Calibri"/>
                        </a:rPr>
                        <a:t>ADR-D3-28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Quality-gated refinement loop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Phase 16, 20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94B"/>
                          </a:solidFill>
                          <a:latin typeface="Calibri"/>
                        </a:rPr>
                        <a:t>ADR-D6-19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SLM input masking regime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C6B7A"/>
                          </a:solidFill>
                          <a:latin typeface="Calibri"/>
                        </a:rPr>
                        <a:t>Phase 6, 20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PROPOSED · NEEDS ARB SIGN-OFF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ADR-D3-23 · Embedding model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Build-default recommendation — status Proposed, awaiting the evidence/sign-off named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691640"/>
            <a:ext cx="6400800" cy="4114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1856232"/>
            <a:ext cx="5961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RECOMMENDATION (WORKING DEFAULT)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2350008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596896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HF-hosted general-purpose 768-dim (bge-base-en-v1.5 class); fallback 1024-dim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3099816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346704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Chosen by PFF-FA retrieval evaluation, not reputation (doc 14 §13).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849624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Cost / latency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096512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Dimension drives vector storage cost &amp; recall (deck 03/08).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691640"/>
            <a:ext cx="3108960" cy="1828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AWAITING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9456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3294B"/>
                </a:solidFill>
                <a:latin typeface="Calibri"/>
              </a:rPr>
              <a:t>Recall@5 ≥ 0.90 evaluation, then ARB sign-off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611880"/>
            <a:ext cx="3108960" cy="82296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Gated at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526280"/>
            <a:ext cx="3108960" cy="128016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ASK:  ratify, or direct the evidence you need to ratify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PROPOSED · NEEDS ARB SIGN-OFF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ADR-D3-24 · Vector store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Build-default recommendation — status Proposed, awaiting the evidence/sign-off named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691640"/>
            <a:ext cx="6400800" cy="4114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1856232"/>
            <a:ext cx="5961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RECOMMENDATION (WORKING DEFAULT)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2350008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596896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Azure AI Search (vector + hybrid); fallback pgvector on Azure Postgres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3099816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346704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Managed, hybrid retrieval, Azure-native security &amp; scaling.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849624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Cost / latency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096512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≈ $245/SU/mo; scales with replicas × partitions (deck 08).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691640"/>
            <a:ext cx="3108960" cy="1828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AWAITING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9456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3294B"/>
                </a:solidFill>
                <a:latin typeface="Calibri"/>
              </a:rPr>
              <a:t>ARB sign-off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611880"/>
            <a:ext cx="3108960" cy="82296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Gated at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526280"/>
            <a:ext cx="3108960" cy="128016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ASK:  ratify, or direct the evidence you need to ratify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PROPOSED · NEEDS ARB SIGN-OFF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ADR-D5-10 · Self-hosted SLM serving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Build-default recommendation — status Proposed, awaiting the evidence/sign-off named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691640"/>
            <a:ext cx="6400800" cy="4114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1856232"/>
            <a:ext cx="5961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RECOMMENDATION (WORKING DEFAULT)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2350008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596896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vLLM on AKS GPU; fallbacks Azure ML / TGI / Triton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3099816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346704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Throughput &amp; cost control for the self-hosted target phase.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849624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Cost / latency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096512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Dominant cost line — GPU-hours ÷ tokens (deck 05/08).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691640"/>
            <a:ext cx="3108960" cy="1828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AWAITING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9456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3294B"/>
                </a:solidFill>
                <a:latin typeface="Calibri"/>
              </a:rPr>
              <a:t>throughput/latency/quality benchmark on chosen model + SKU, then ARB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611880"/>
            <a:ext cx="3108960" cy="82296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Gated at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526280"/>
            <a:ext cx="3108960" cy="128016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ASK:  ratify, or direct the evidence you need to ratify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PROPOSED · NEEDS ARB SIGN-OFF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ADR-D3-28 · Quality-gated refinement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Build-default recommendation — status Proposed, awaiting the evidence/sign-off named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691640"/>
            <a:ext cx="6400800" cy="4114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1856232"/>
            <a:ext cx="5961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RECOMMENDATION (WORKING DEFAULT)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2350008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596896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Deterministic score → regenerate/escalate up a bounded model ladder; strict mode for governance-critical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3099816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346704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Runtime quality control, opt-in per task class (config/base/refinement.yaml).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849624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Cost / latency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096512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Trades latency/cost for quality — needs a benchmarked budget (deck 08).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691640"/>
            <a:ext cx="3108960" cy="1828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AWAITING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9456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3294B"/>
                </a:solidFill>
                <a:latin typeface="Calibri"/>
              </a:rPr>
              <a:t>ARB sign-off (AI Governance Lead on strict-class list) + Phase 20 latency/cost benchmark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611880"/>
            <a:ext cx="3108960" cy="82296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Gated at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16,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526280"/>
            <a:ext cx="3108960" cy="128016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ASK:  ratify, or direct the evidence you need to ratify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PROPOSED · NEEDS ARB SIGN-OFF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ADR-D6-19 · SLM input masking regime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Build-default recommendation — status Proposed, awaiting the evidence/sign-off named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691640"/>
            <a:ext cx="6400800" cy="4114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1856232"/>
            <a:ext cx="5961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RECOMMENDATION (WORKING DEFAULT)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2350008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596896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External SLM: mandatory fail-closed mask/tokenise-all; self-hosted: raw or masked; reversible token vault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3099816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346704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Strengthens D6-07 into a testable, binary data-protection default.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849624"/>
            <a:ext cx="5961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Cost / latency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096512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No raw PII/records egress; special-category &amp; children's data hard-blocked (deck 06).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691640"/>
            <a:ext cx="3108960" cy="18288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AWAITING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9456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3294B"/>
                </a:solidFill>
                <a:latin typeface="Calibri"/>
              </a:rPr>
              <a:t>ARB sign-off (DPO owner, DPIA update) + Phase 20 vault sizing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611880"/>
            <a:ext cx="3108960" cy="82296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Gated at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6,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526280"/>
            <a:ext cx="3108960" cy="128016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ASK:  ratify, or direct the evidence you need to ratify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ALIGN SIGN-OFF TO BUILD PHASES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Sequencing — what we need, when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874519" y="1783080"/>
          <a:ext cx="992124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4572000"/>
                <a:gridCol w="397764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Decision(s)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ARB is asked for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94B"/>
                          </a:solidFill>
                          <a:latin typeface="Calibri"/>
                        </a:rPr>
                        <a:t>Phase 6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C6B7A"/>
                          </a:solidFill>
                          <a:latin typeface="Calibri"/>
                        </a:rPr>
                        <a:t>D6-19 masking regime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C6B7A"/>
                          </a:solidFill>
                          <a:latin typeface="Calibri"/>
                        </a:rPr>
                        <a:t>DPO sign-off + DPIA update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94B"/>
                          </a:solidFill>
                          <a:latin typeface="Calibri"/>
                        </a:rPr>
                        <a:t>Phase 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C6B7A"/>
                          </a:solidFill>
                          <a:latin typeface="Calibri"/>
                        </a:rPr>
                        <a:t>D3-23 embedding · D3-24 vector store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C6B7A"/>
                          </a:solidFill>
                          <a:latin typeface="Calibri"/>
                        </a:rPr>
                        <a:t>ratify after Recall@5 eval / ratify now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94B"/>
                          </a:solidFill>
                          <a:latin typeface="Calibri"/>
                        </a:rPr>
                        <a:t>Phase 16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C6B7A"/>
                          </a:solidFill>
                          <a:latin typeface="Calibri"/>
                        </a:rPr>
                        <a:t>D3-28 refinement loop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C6B7A"/>
                          </a:solidFill>
                          <a:latin typeface="Calibri"/>
                        </a:rPr>
                        <a:t>endorse strict-class list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94B"/>
                          </a:solidFill>
                          <a:latin typeface="Calibri"/>
                        </a:rPr>
                        <a:t>Phase 20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C6B7A"/>
                          </a:solidFill>
                          <a:latin typeface="Calibri"/>
                        </a:rPr>
                        <a:t>D5-10 vLLM · D3-28 · D6-19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C6B7A"/>
                          </a:solidFill>
                          <a:latin typeface="Calibri"/>
                        </a:rPr>
                        <a:t>ratify after benchmarks (latency/cost/vault)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74519" y="448056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Earliest need first: the masking regime (Phase 6) and the Phase 8 data decisions are the nearest gates — the vLLM &amp; refinement benchmarks land at Phase 20.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4320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3294B"/>
                </a:solidFill>
                <a:latin typeface="Cambria"/>
              </a:rPr>
              <a:t>What we need from the ARB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7" y="3703320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93192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C6B7A"/>
                </a:solidFill>
                <a:latin typeface="Calibri"/>
              </a:rPr>
              <a:t>Ratify the 5 · or name the evidence · endorse the cost model (deck 08) · note the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Yokesh Kulasekaran</cp:lastModifiedBy>
  <cp:revision>10</cp:revision>
  <dcterms:created xsi:type="dcterms:W3CDTF">2026-08-06T08:59:30Z</dcterms:created>
  <dcterms:modified xsi:type="dcterms:W3CDTF">2026-09-08T09:07:06Z</dcterms:modified>
</cp:coreProperties>
</file>