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948AD9-B8F4-A70C-7DDC-1E1556ECAE4E}" v="2" dt="2026-08-06T12:20:33.150"/>
    <p1510:client id="{7F375FFF-E84D-3631-D388-F5B5C76602FD}" v="4" dt="2026-08-06T13:01:42.9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7376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Why the platform exists, how decisions are governed, the business scope and boundary, the Adam persona, the workflow catalogue, and the value case. 26 ADRs: D0 (4), D1 (12), D8 (10).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Governance first, then scope, persona, workflows, and the value case.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Governance is itself an ADR (D0-01). The ARB is the approving authority; the register keeps open items visible.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single most important constraint, repeated in every spec doc (D1-02/D1-03).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Success = correct, safe progression of real workflows with the AI strictly on the interpret/communicate side of the boundary.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Ownership stays with PFF/WGS. The AI-role column is verbs on the interpret/communicate side — never decide/execute.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Adam is a workflow-first enterprise assistant with a natural commentary tone. Persona controls how Adam communicates, never what the result is.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Human-in-the-loop is explicit and designed — confirmations, CFA review, payment authorisation and external portal steps.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one agent (AffiliationAgent) fully rather than many shallowly.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canonical flow: club checks → select teams &amp; fees → insurance → other products → summary &amp; submit → routing (auto-approve or CFA review HIL) → invoice/payment → COMPLETE → WGS sync. 27 scenarios incl. payment-fail reconciliation. Adam only confirms success when the enterprise confirms it.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Traceability is a first-class governance artifact — requirement → ADR → source doc → impacted path — maintained in the ADR register.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D8 keeps the value case measurable and tied to the decision register.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26 business-domain ADRs. D0 governs the decision process; D1 the business architecture; D8 the value case. None open in this domain.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Takeaway: governed end-to-end, an absolute AI/enterprise boundary, value proven on affiliation first.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pic>
        <p:nvPicPr>
          <p:cNvPr id="8" name="Picture 7" descr="fa_cres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325880"/>
            <a:ext cx="231306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4519" y="16002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DECK 01 · THE FA · PFF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74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3294B"/>
                </a:solidFill>
                <a:latin typeface="Cambria"/>
              </a:rPr>
              <a:t>Business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718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2E75B6"/>
                </a:solidFill>
                <a:latin typeface="Cambria"/>
              </a:rPr>
              <a:t>&amp; 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3977639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206240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5C6B7A"/>
                </a:solidFill>
                <a:latin typeface="Calibri"/>
              </a:rPr>
              <a:t>Governance · scope · persona · workflows · value  —  ADR domains D0 / D1 / D8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What this deck covers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48006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Decision governance — the ADR programme (D0)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The Golden Rule &amp; authoritative-truth precedence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Platform scope, boundary &amp; success definition (D1)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Business capability map &amp; ownership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Adam persona model, access archetypes &amp; charter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783080"/>
            <a:ext cx="48006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Conversational journey &amp; human-in-the-loop touchpoints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Workflow catalogue, phasing &amp; affiliation-first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Club Affiliation — the first end-to-end workflow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Requirements baseline &amp; traceability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Business value, metrics &amp; outcomes (D8)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D0 ·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Decision governance — the ADR programme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Every significant choice is recorded &amp; governed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783080"/>
            <a:ext cx="4800600" cy="41148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3976" y="1947672"/>
            <a:ext cx="43616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E75B6"/>
                </a:solidFill>
                <a:latin typeface="Calibri"/>
              </a:rPr>
              <a:t>HOW DECISIONS ARE MADE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3976" y="2441448"/>
            <a:ext cx="4361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ADR-driven 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688336"/>
            <a:ext cx="43616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D0-01 — architecture decided via versioned ADRs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3191256"/>
            <a:ext cx="4361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Authority &amp; review 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438144"/>
            <a:ext cx="43616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D0-03 — the ARB approves; owners &amp; reviewers named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941063"/>
            <a:ext cx="4361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Lifecycle &amp; supersession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4187952"/>
            <a:ext cx="43616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D0-02 — Proposed → Accepted; never mutate in place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93976" y="4690872"/>
            <a:ext cx="4361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Open-decision register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93976" y="4937760"/>
            <a:ext cx="43616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D0-04 — escalation path for unresolved choices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1874519"/>
            <a:ext cx="480060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145 ADRs across 9 domains — the audit trail of the architecture.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5 remain Proposed with a stated recommendation we build against.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Each ADR carries owner, reviewers, approver (ARB), status, version, source-doc refs and impacted paths.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Deck 09 presents the 5 open decisions for your sign-off.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D1-02 · BINDING CONSTRAINT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The Golden Rule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1737360"/>
            <a:ext cx="9921240" cy="146304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Enterprise systems DECIDE and EXECUTE.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The AI platform INTERPRETS, ORCHESTRATES,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CONTEXTUALISES, EXPLAINS and COMMUNICATES.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383280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Precedence:  Enterprise API / Event  ›  ERC  ›  Cache  ›  RAG  ›  SLM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886200"/>
            <a:ext cx="992124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AI never authenticates/authorizes, re-implements business rules, or writes to the enterprise DB.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 model output is never an authorization decision; unconfirmed transactions are never celebrated.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Agents are logical capabilities in one runtime — not a microservice per agent.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D1-01 / D1-04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Scope, boundary &amp; success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In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Conversational orchestration over PFF for club/county administration.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Interpretation, ERC context, reasoning, controlled tool-calls, communication.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Affiliation workflow end-to-end first; WGS integration on complete.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Out of scope (by rule)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Business/compliance rule re-implementation.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Direct enterprise DB writes; auth decisions.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Inventing portal URLs, IDs, or transaction outcomes.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Exposing raw enterprise/PII to an external SLM.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D1-06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Business capability map &amp; ownership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874519" y="1783080"/>
          <a:ext cx="9921239" cy="4114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30616"/>
                <a:gridCol w="3549801"/>
                <a:gridCol w="3640822"/>
              </a:tblGrid>
              <a:tr h="51435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Owner (system of record)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AI platform role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Club affiliation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PFF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orchestrate, contextualise, communicate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Team &amp; player registration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PFF / WGS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deferred agent — interpret &amp; guide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Insurance (PL / PA)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PFF + providers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gather ERC, explain options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Discipline &amp; GRF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PFF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deferred — status &amp; guidance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Officials &amp; safeguarding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PFF / WGS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check surfacing, no decisions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County cups &amp; competitions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PFF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deferred agent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Payments &amp; invoicing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PFF / PAAS / Xero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narrate state, never confirm unverified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D1-07 / D1-09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Adam persona — model &amp; charter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Workflow-first, with a natural football-commentary tone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Persona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Workflow-first: personality supports completion, never distracts.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Football-commentary tone, used at meaningful moments only.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Enterprise truth overrides persona — always.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Never celebrate an unconfirmed transaction ('GOAL!' only on confirmed success).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Errors &amp; pending/HIL states stay factual and explicit.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Access archetypes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Club Admin — primary affiliation actor.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CFA Admin / reviewer — approvals (HIL).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County &amp; league roles — scoped visibility.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Persona is a versioned prompt layer, reusable across workflows.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D1-08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Conversational journey &amp; HIL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Where humans stay in the loop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246888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615184"/>
            <a:ext cx="12725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Intent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044952"/>
            <a:ext cx="12725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what the user wants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7683" y="246888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9123" y="2615184"/>
            <a:ext cx="12725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Gather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123" y="3044952"/>
            <a:ext cx="12725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ERC context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29940" y="2948940"/>
            <a:ext cx="237743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60848" y="246888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2287" y="2615184"/>
            <a:ext cx="12725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2287" y="3044952"/>
            <a:ext cx="12725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eligibility via enterprise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3104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954012" y="246888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5451" y="2615184"/>
            <a:ext cx="12725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Confirm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5451" y="3044952"/>
            <a:ext cx="12725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HIL checkpoint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716268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647176" y="246888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8616" y="2615184"/>
            <a:ext cx="12725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Execute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8616" y="3044952"/>
            <a:ext cx="12725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enterprise API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09431" y="2948940"/>
            <a:ext cx="237745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0340340" y="246888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31780" y="2615184"/>
            <a:ext cx="12725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3294B"/>
                </a:solidFill>
                <a:latin typeface="Cambria"/>
              </a:rPr>
              <a:t>Communicate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31780" y="3044952"/>
            <a:ext cx="12725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C6B7A"/>
                </a:solidFill>
                <a:latin typeface="Calibri"/>
              </a:rPr>
              <a:t>state + next step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102596" y="294894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874519" y="3931920"/>
            <a:ext cx="99212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HIL touchpoints: user confirmation before submission; CFA review/approval; payment authorisation; external portal actions.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Adam clearly states who/what the workflow is waiting for during pending states.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D1-10 / D1-11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Workflow catalogue &amp; phasing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Affiliation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Catalogue (phased)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Affiliation — built first, end-to-end (Phase 23).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Registration, discipline, accreditation, insurance, officials, league mgmt, approvals — deferred.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Catalogue finalised by a real product decision, not invented.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Why affiliation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Exercises every platform capability: ERC, tools, RAG, SLM, guardrails, eventing, HIL.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Highest business value and clearest success metric.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Proves the architecture before breadth.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D1-05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Club Affiliation — the first E2E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Adam narrates; PFF decides &amp; executes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828800"/>
            <a:ext cx="1810512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Club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checks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04487" y="1828800"/>
            <a:ext cx="1810512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Select teams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+ fees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85031" y="2217420"/>
            <a:ext cx="219456" cy="0"/>
          </a:xfrm>
          <a:prstGeom prst="line">
            <a:avLst/>
          </a:prstGeom>
          <a:ln w="1905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934455" y="1828800"/>
            <a:ext cx="1810512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Insurance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15000" y="2217420"/>
            <a:ext cx="219455" cy="0"/>
          </a:xfrm>
          <a:prstGeom prst="line">
            <a:avLst/>
          </a:prstGeom>
          <a:ln w="1905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964423" y="1828800"/>
            <a:ext cx="1810512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Other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products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744967" y="2217420"/>
            <a:ext cx="219456" cy="0"/>
          </a:xfrm>
          <a:prstGeom prst="line">
            <a:avLst/>
          </a:prstGeom>
          <a:ln w="1905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994392" y="1828800"/>
            <a:ext cx="1810512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Summary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&amp; submit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74936" y="2217420"/>
            <a:ext cx="219456" cy="0"/>
          </a:xfrm>
          <a:prstGeom prst="line">
            <a:avLst/>
          </a:prstGeom>
          <a:ln w="1905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835140" y="2606040"/>
            <a:ext cx="0" cy="64008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874519" y="3063240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  <a:latin typeface="Calibri"/>
              </a:rPr>
              <a:t>ROUTING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74519" y="3383280"/>
            <a:ext cx="2315718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Auto-approve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or CFA review (HIL)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9694" y="3383280"/>
            <a:ext cx="2315718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Invoice /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payment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190237" y="3771900"/>
            <a:ext cx="219457" cy="0"/>
          </a:xfrm>
          <a:prstGeom prst="line">
            <a:avLst/>
          </a:prstGeom>
          <a:ln w="1905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44868" y="3383280"/>
            <a:ext cx="2315718" cy="77724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725412" y="3771900"/>
            <a:ext cx="219456" cy="0"/>
          </a:xfrm>
          <a:prstGeom prst="line">
            <a:avLst/>
          </a:prstGeom>
          <a:ln w="1905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480042" y="3383280"/>
            <a:ext cx="2315718" cy="7772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WGS sync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(national DB)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0586" y="3771900"/>
            <a:ext cx="219456" cy="0"/>
          </a:xfrm>
          <a:prstGeom prst="line">
            <a:avLst/>
          </a:prstGeom>
          <a:ln w="1905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874519" y="4526280"/>
            <a:ext cx="9921240" cy="50292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Affiliation confirmed — only after the enterprise event confirms success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74519" y="5212080"/>
            <a:ext cx="9921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B7A"/>
                </a:solidFill>
                <a:latin typeface="Calibri"/>
              </a:rPr>
              <a:t>27 scenarios covered (auto-approve, CFA approve/reject/cancel, £0, refund, fold, payment-fail reconciliation). Adam narrates state; PFF decides &amp; executes.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D1-12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Requirements &amp; traceability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9921240" cy="3108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A requirements baseline with a stable traceability scheme (WS-refs) links each requirement to the ADRs and source docs that satisfy it.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Every ADR cites its source-doc sections; the decision register and traceability matrix are generated artifacts.</a:t>
            </a:r>
          </a:p>
          <a:p>
            <a:pPr algn="l">
              <a:spcAft>
                <a:spcPts val="15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The ARB can trace any decision back to a business requirement and forward to impacted code paths.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Business value &amp;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Why this is worth building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74519" y="2176272"/>
            <a:ext cx="109728" cy="122529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7127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Faster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7127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guided affiliation, fewer failed pre-checks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18838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8838" y="2176272"/>
            <a:ext cx="109728" cy="122529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11446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Cambria"/>
              </a:rPr>
              <a:t>Fewer errors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1446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ERC-grounded, guardrailed responses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3156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63156" y="2176272"/>
            <a:ext cx="109728" cy="122529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55764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Lower support 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55764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self-service with clear next actions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7474" y="192024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07474" y="2176272"/>
            <a:ext cx="109728" cy="122529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0082" y="2139696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Cambria"/>
              </a:rPr>
              <a:t>Auditable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0082" y="283464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every decision traced &amp; governed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19" y="4023360"/>
            <a:ext cx="99212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D8 frames value, defines success metrics, and keeps a decision-register/traceability link so value claims are measurable.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Cost-per-successful-affiliation (deck 08) is the meaningful unit, not cost-per-request.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DECISION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ADR index — Business &amp; Value (D0 · D1 · D8)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26 decisions in this domain  ·  ◆ = Proposed, awaiting ARB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874519" y="1783080"/>
          <a:ext cx="4800599" cy="4096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0844"/>
                <a:gridCol w="2994869"/>
                <a:gridCol w="924886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D0-01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Adopt an in-repository ADR library with a CMM…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D0-02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ADR identification, status lifecycle, superse…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D0-03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Decision authority model and architecture rev…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D0-04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Open and deferred decision register with a ph…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PFF AI scope boundary — a conversational orch…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The Golden Rule as a binding architectural co…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Authoritative-truth precedence chain for reso…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Business problem framing and measurable succe…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D1-05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Club Affiliation as the first end-to-end refe…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Business capability map and capability owners…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D1-07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Persona model and access archetypes derived f…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Conversational journey design principles and 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D1-09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Adam AI persona charter — football-commentary…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949440" y="1783080"/>
          <a:ext cx="4800599" cy="4096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0844"/>
                <a:gridCol w="2994869"/>
                <a:gridCol w="924886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D1-10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Enterprise workflow catalogue, prioritisation…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Agent catalogue scope — AffiliationAgent only…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D1-12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Functional and non-functional requirements ba…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Cost model and unit economics per conversatio…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D8-02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Build vs buy vs extend for the orchestration 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ROI model and benefit-realisation tracking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D8-04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Business KPI framework and dashboard definiti…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AI quality KPIs — containment, deflection, ac…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D8-06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RAID register and ownership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Decision register and end-to-end traceability…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D8-08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Platform extensibility — how a new agent/work…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D8-09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Multi-county / multi-tenant extensibility str…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D8-10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Vendor lock-in, portability and exit strategy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4320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3294B"/>
                </a:solidFill>
                <a:latin typeface="Cambria"/>
              </a:rPr>
              <a:t>Business architecture —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807" y="3703320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93192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B7A"/>
                </a:solidFill>
                <a:latin typeface="Calibri"/>
              </a:rPr>
              <a:t>Governed decisions · a hard AI/enterprise boundary · affiliation-first · measurable value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331</Words>
  <Application>Microsoft Office PowerPoint</Application>
  <PresentationFormat>Widescreen</PresentationFormat>
  <Paragraphs>74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Yokesh Kulasekaran</cp:lastModifiedBy>
  <cp:revision>10</cp:revision>
  <dcterms:created xsi:type="dcterms:W3CDTF">2026-08-06T08:59:30Z</dcterms:created>
  <dcterms:modified xsi:type="dcterms:W3CDTF">2026-09-08T09:07:06Z</dcterms:modified>
</cp:coreProperties>
</file>