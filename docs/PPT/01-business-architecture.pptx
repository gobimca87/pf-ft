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ite Background" id="{47C7D9A1-B483-564F-90DC-40E90FE94FBA}">
          <p14:sldIdLst>
            <p14:sldId id="2076137493"/>
            <p14:sldId id="2076137508"/>
            <p14:sldId id="2076137510"/>
            <p14:sldId id="2076137509"/>
            <p14:sldId id="2076137498"/>
            <p14:sldId id="2076137499"/>
            <p14:sldId id="2076137504"/>
            <p14:sldId id="2076137506"/>
            <p14:sldId id="2076137492"/>
            <p14:sldId id="283"/>
            <p14:sldId id="2076137502"/>
          </p14:sldIdLst>
        </p14:section>
        <p14:section name="Black Background" id="{AE4A25D3-49D7-5B43-9FF8-BA2C3021CF5C}">
          <p14:sldIdLst>
            <p14:sldId id="2076137497"/>
            <p14:sldId id="2076137494"/>
            <p14:sldId id="2076137500"/>
            <p14:sldId id="2076137501"/>
            <p14:sldId id="2076137505"/>
            <p14:sldId id="2076137507"/>
            <p14:sldId id="2076137489"/>
            <p14:sldId id="274"/>
            <p14:sldId id="20761375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E84A"/>
    <a:srgbClr val="FED038"/>
    <a:srgbClr val="FE2579"/>
    <a:srgbClr val="5300DB"/>
    <a:srgbClr val="7F19BE"/>
    <a:srgbClr val="2ACCFF"/>
    <a:srgbClr val="0283FF"/>
    <a:srgbClr val="002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4E6FB-0852-E5AF-097D-33BDB00319C8}" v="12" dt="2026-08-21T18:56:47.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76EA5-AA01-CF46-9942-B3D248EF91A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67986-05CD-0948-B842-65071D871968}" type="slidenum">
              <a:rPr lang="en-US" smtClean="0"/>
              <a:t>‹#›</a:t>
            </a:fld>
            <a:endParaRPr lang="en-US"/>
          </a:p>
        </p:txBody>
      </p:sp>
    </p:spTree>
    <p:extLst>
      <p:ext uri="{BB962C8B-B14F-4D97-AF65-F5344CB8AC3E}">
        <p14:creationId xmlns:p14="http://schemas.microsoft.com/office/powerpoint/2010/main" val="92529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why the platform exists, how decisions are governed, the business scope and boundary, the Adam persona, the workflow catalogue, and the business-value case. 26 ADRs: D0 (4), D1 (12), D8 (10).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first, then scope, persona, workflows, and the value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itself an ADR (D0-01). The ARB is the approving authority. Nothing is decided informally; the register keeps open items visible.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constraint, repeated in every spec doc and encoded by D1-02/D1-03. Everything else enforces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 correct, safe progression of real business workflows with the AI strictly on the interpret/communicate side of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stays with PFF/WGS. The AI role column is deliberately verbs on the interpret/communicate side — never decide/execute.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Adam is a workflow-first enterprise assistant with a natural commentary tone. SampleWorkflowchat.md is the canonical reference. Persona controls how Adam communicates, never what the result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Human-in-the-loop is explicit and designed, not an afterthought — confirmations, CFA review, payment authorisation and external portal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build one agent (AffiliationAgent) fully rather than many shallowly. D1-11 fixes the first-pass agent catalogue to affiliation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canonical flow (pff_affiliation_e2e_flow.md): club checks → select teams &amp; fees → insurance → other products → summary &amp; submit → routing (auto-approve or CFA review HIL) → invoice/payment → COMPLETE → WGS sync. 27 scenarios including payment-fail reconciliation. Adam only says 'GOAL' when the enterprise confirms.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is a first-class governance artifact — requirement → ADR → source doc → impacted path — maintained in the ADR register.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D8 keeps the value case measurable and tied to the decision register. The right cost unit is per successful outcome.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26 business-domain ADRs. D0 governs the decision process; D1 the business architecture; D8 the value case. None are open in this domain.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business architecture is governed end-to-end, the AI/enterprise boundary is absolute, and we prove value on affiliation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s://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4.png"/><Relationship Id="rId9" Type="http://schemas.openxmlformats.org/officeDocument/2006/relationships/image" Target="../media/image5.jpeg"/><Relationship Id="rId10" Type="http://schemas.openxmlformats.org/officeDocument/2006/relationships/image" Target="../media/image6.png"/><Relationship Id="rId11"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svg"/><Relationship Id="rId4" Type="http://schemas.openxmlformats.org/officeDocument/2006/relationships/hyperlink" Target="http://www.orioninnovation.com/" TargetMode="External"/><Relationship Id="rId5" Type="http://schemas.openxmlformats.org/officeDocument/2006/relationships/hyperlink" Target="http://linkedin.com/company/orioninnovation" TargetMode="External"/><Relationship Id="rId6" Type="http://schemas.openxmlformats.org/officeDocument/2006/relationships/hyperlink" Target="http://www.instagram.com/orion.innovation" TargetMode="External"/><Relationship Id="rId7" Type="http://schemas.openxmlformats.org/officeDocument/2006/relationships/hyperlink" Target="https://x.com/CurrentlyOrion" TargetMode="External"/><Relationship Id="rId8" Type="http://schemas.openxmlformats.org/officeDocument/2006/relationships/image" Target="../media/image8.png"/><Relationship Id="rId9" Type="http://schemas.microsoft.com/office/2007/relationships/hdphoto" Target="../media/hdphoto1.wdp"/><Relationship Id="rId10" Type="http://schemas.openxmlformats.org/officeDocument/2006/relationships/image" Target="../media/image9.png"/><Relationship Id="rId11" Type="http://schemas.microsoft.com/office/2007/relationships/hdphoto" Target="../media/hdphoto2.wdp"/><Relationship Id="rId12" Type="http://schemas.openxmlformats.org/officeDocument/2006/relationships/image" Target="../media/image10.png"/><Relationship Id="rId13"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Tidal - White">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0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Add a Title</a:t>
            </a:r>
            <a:endParaRPr lang="en-IN"/>
          </a:p>
        </p:txBody>
      </p:sp>
      <p:sp>
        <p:nvSpPr>
          <p:cNvPr id="13" name="Text Placeholder 16">
            <a:extLst>
              <a:ext uri="{FF2B5EF4-FFF2-40B4-BE49-F238E27FC236}">
                <a16:creationId xmlns:a16="http://schemas.microsoft.com/office/drawing/2014/main" id="{4D0F44B2-EB53-2D96-6B6F-D4A30D67762B}"/>
              </a:ext>
            </a:extLst>
          </p:cNvPr>
          <p:cNvSpPr>
            <a:spLocks noGrp="1"/>
          </p:cNvSpPr>
          <p:nvPr>
            <p:ph type="body" sz="quarter" idx="11" hasCustomPrompt="1"/>
          </p:nvPr>
        </p:nvSpPr>
        <p:spPr>
          <a:xfrm>
            <a:off x="640079" y="6035040"/>
            <a:ext cx="6400800" cy="182880"/>
          </a:xfrm>
          <a:prstGeom prst="rect">
            <a:avLst/>
          </a:prstGeom>
        </p:spPr>
        <p:txBody>
          <a:bodyPr lIns="0">
            <a:noAutofit/>
          </a:bodyPr>
          <a:lstStyle>
            <a:lvl1pPr marL="0" indent="0">
              <a:buNone/>
              <a:defRPr sz="1000" spc="200" baseline="0">
                <a:solidFill>
                  <a:schemeClr val="tx1"/>
                </a:solidFill>
              </a:defRPr>
            </a:lvl1pPr>
          </a:lstStyle>
          <a:p>
            <a:pPr lvl="0"/>
            <a:r>
              <a:rPr lang="en-US"/>
              <a:t>OPTIONAL TEXT</a:t>
            </a:r>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Tree>
    <p:extLst>
      <p:ext uri="{BB962C8B-B14F-4D97-AF65-F5344CB8AC3E}">
        <p14:creationId xmlns:p14="http://schemas.microsoft.com/office/powerpoint/2010/main" val="3194182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idal - Black">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5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Click to add a Title</a:t>
            </a:r>
            <a:endParaRPr lang="en-IN"/>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2" name="Text Placeholder 16">
            <a:extLst>
              <a:ext uri="{FF2B5EF4-FFF2-40B4-BE49-F238E27FC236}">
                <a16:creationId xmlns:a16="http://schemas.microsoft.com/office/drawing/2014/main" id="{8C412269-B983-3073-A130-4CC9F5C2596A}"/>
              </a:ext>
            </a:extLst>
          </p:cNvPr>
          <p:cNvSpPr>
            <a:spLocks noGrp="1"/>
          </p:cNvSpPr>
          <p:nvPr>
            <p:ph type="body" sz="quarter" idx="12" hasCustomPrompt="1"/>
          </p:nvPr>
        </p:nvSpPr>
        <p:spPr>
          <a:xfrm>
            <a:off x="640080" y="5900570"/>
            <a:ext cx="6400800" cy="182880"/>
          </a:xfrm>
          <a:prstGeom prst="rect">
            <a:avLst/>
          </a:prstGeom>
        </p:spPr>
        <p:txBody>
          <a:bodyPr lIns="27432">
            <a:noAutofit/>
          </a:bodyPr>
          <a:lstStyle>
            <a:lvl1pPr marL="0" indent="0">
              <a:buNone/>
              <a:defRPr sz="1000" spc="200" baseline="0">
                <a:solidFill>
                  <a:schemeClr val="tx1"/>
                </a:solidFill>
              </a:defRPr>
            </a:lvl1pPr>
          </a:lstStyle>
          <a:p>
            <a:pPr lvl="0"/>
            <a:r>
              <a:rPr lang="en-US"/>
              <a:t>OPTIONAL TEXT</a:t>
            </a:r>
          </a:p>
        </p:txBody>
      </p:sp>
    </p:spTree>
    <p:extLst>
      <p:ext uri="{BB962C8B-B14F-4D97-AF65-F5344CB8AC3E}">
        <p14:creationId xmlns:p14="http://schemas.microsoft.com/office/powerpoint/2010/main" val="1312695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140810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26855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Black">
    <p:bg>
      <p:bgPr>
        <a:solidFill>
          <a:schemeClr val="tx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6" name="Text Placeholder 2">
            <a:extLst>
              <a:ext uri="{FF2B5EF4-FFF2-40B4-BE49-F238E27FC236}">
                <a16:creationId xmlns:a16="http://schemas.microsoft.com/office/drawing/2014/main" id="{7C1DFA83-DBBD-89EB-FC7F-E419D6F84B4C}"/>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bg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12" name="Group 11">
            <a:extLst>
              <a:ext uri="{FF2B5EF4-FFF2-40B4-BE49-F238E27FC236}">
                <a16:creationId xmlns:a16="http://schemas.microsoft.com/office/drawing/2014/main" id="{7FA077B6-9EEE-CC1F-D5C2-1F9522043CD9}"/>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13" name="Parallelogram 12">
              <a:extLst>
                <a:ext uri="{FF2B5EF4-FFF2-40B4-BE49-F238E27FC236}">
                  <a16:creationId xmlns:a16="http://schemas.microsoft.com/office/drawing/2014/main" id="{9C1D0426-FBF4-DE00-E02C-8D5F2C15D38D}"/>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7C2D95B7-4DFD-C1E7-A6C5-3801A98784F4}"/>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9268492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White">
    <p:bg>
      <p:bgPr>
        <a:solidFill>
          <a:schemeClr val="bg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2">
            <a:extLst>
              <a:ext uri="{FF2B5EF4-FFF2-40B4-BE49-F238E27FC236}">
                <a16:creationId xmlns:a16="http://schemas.microsoft.com/office/drawing/2014/main" id="{CD46454F-EC71-48E1-5357-FB89F2DE283E}"/>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tx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4" name="Group 3">
            <a:extLst>
              <a:ext uri="{FF2B5EF4-FFF2-40B4-BE49-F238E27FC236}">
                <a16:creationId xmlns:a16="http://schemas.microsoft.com/office/drawing/2014/main" id="{5B8EA5A1-39EA-85B7-EDAD-977AF9E75BD1}"/>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5" name="Parallelogram 4">
              <a:extLst>
                <a:ext uri="{FF2B5EF4-FFF2-40B4-BE49-F238E27FC236}">
                  <a16:creationId xmlns:a16="http://schemas.microsoft.com/office/drawing/2014/main" id="{797DAAA4-D1BF-74F7-EDCE-BCC5787E0C3A}"/>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A59C8600-5483-3E2A-648E-BC4B97D127A5}"/>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7686413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de - Black (Title Only)">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302656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de - White (Title Only)">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spc="0" baseline="0">
                <a:gradFill>
                  <a:gsLst>
                    <a:gs pos="51000">
                      <a:srgbClr val="7E18BE"/>
                    </a:gs>
                    <a:gs pos="0">
                      <a:schemeClr val="tx2"/>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159740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d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74808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2 Lin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113175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d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366198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2 Lin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59863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nal Slide - White">
    <p:bg>
      <p:bgPr>
        <a:solidFill>
          <a:schemeClr val="bg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hasCustomPrompt="1"/>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tx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Global Headquarters</a:t>
            </a:r>
          </a:p>
          <a:p>
            <a:pPr lvl="0"/>
            <a:r>
              <a:rPr lang="en-US"/>
              <a:t>33 S Wood Ave., 5th Floor</a:t>
            </a:r>
          </a:p>
          <a:p>
            <a:pPr lvl="0"/>
            <a:r>
              <a:rPr lang="en-US"/>
              <a:t>Iselin, NJ 08830</a:t>
            </a:r>
            <a:br>
              <a:rPr lang="en-US"/>
            </a:br>
            <a:r>
              <a:rPr lang="en-US"/>
              <a:t>+1.877.456.9922</a:t>
            </a:r>
            <a:br>
              <a:rPr lang="en-US"/>
            </a:br>
            <a:r>
              <a:rPr lang="en-US" err="1"/>
              <a:t>info@orioninc.com</a:t>
            </a:r>
            <a:r>
              <a:rPr lang="en-US"/>
              <a:t> </a:t>
            </a:r>
          </a:p>
          <a:p>
            <a:pPr lvl="0"/>
            <a:endParaRPr lang="en-US"/>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lum bright="-100000"/>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5" name="TextBox 14">
            <a:extLst>
              <a:ext uri="{FF2B5EF4-FFF2-40B4-BE49-F238E27FC236}">
                <a16:creationId xmlns:a16="http://schemas.microsoft.com/office/drawing/2014/main" id="{2DBC412D-3E01-BD56-691E-4CD8C776D62C}"/>
              </a:ext>
            </a:extLst>
          </p:cNvPr>
          <p:cNvSpPr txBox="1"/>
          <p:nvPr/>
        </p:nvSpPr>
        <p:spPr>
          <a:xfrm>
            <a:off x="8926692" y="4623358"/>
            <a:ext cx="2796879" cy="1292662"/>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rgbClr val="000000"/>
              </a:solidFill>
              <a:effectLst/>
              <a:uLnTx/>
              <a:uFillTx/>
              <a:latin typeface="Arial"/>
              <a:ea typeface="+mn-ea"/>
              <a:cs typeface="Arial"/>
            </a:endParaRPr>
          </a:p>
        </p:txBody>
      </p:sp>
      <p:pic>
        <p:nvPicPr>
          <p:cNvPr id="16" name="Picture 15" descr="Linkedin logo png, Linkedin icon transparent png 18930480 PNG">
            <a:extLst>
              <a:ext uri="{FF2B5EF4-FFF2-40B4-BE49-F238E27FC236}">
                <a16:creationId xmlns:a16="http://schemas.microsoft.com/office/drawing/2014/main" id="{14DEBB42-E32D-1F80-C7F6-EB28422002BC}"/>
              </a:ext>
            </a:extLst>
          </p:cNvPr>
          <p:cNvPicPr>
            <a:picLocks noChangeAspect="1"/>
          </p:cNvPicPr>
          <p:nvPr/>
        </p:nvPicPr>
        <p:blipFill>
          <a:blip r:embed="rId8"/>
          <a:stretch>
            <a:fillRect/>
          </a:stretch>
        </p:blipFill>
        <p:spPr>
          <a:xfrm>
            <a:off x="8684277" y="4944986"/>
            <a:ext cx="329423" cy="329423"/>
          </a:xfrm>
          <a:prstGeom prst="rect">
            <a:avLst/>
          </a:prstGeom>
        </p:spPr>
      </p:pic>
      <p:pic>
        <p:nvPicPr>
          <p:cNvPr id="3" name="Picture 2" descr="Instagram logo Images - Free Download ...">
            <a:extLst>
              <a:ext uri="{FF2B5EF4-FFF2-40B4-BE49-F238E27FC236}">
                <a16:creationId xmlns:a16="http://schemas.microsoft.com/office/drawing/2014/main" id="{9A4352E7-DD4C-74A0-2D68-B71A8ECA8445}"/>
              </a:ext>
            </a:extLst>
          </p:cNvPr>
          <p:cNvPicPr>
            <a:picLocks noChangeAspect="1"/>
          </p:cNvPicPr>
          <p:nvPr userDrawn="1"/>
        </p:nvPicPr>
        <p:blipFill>
          <a:blip r:embed="rId9"/>
          <a:srcRect l="11245" t="11067" r="11955" b="11067"/>
          <a:stretch>
            <a:fillRect/>
          </a:stretch>
        </p:blipFill>
        <p:spPr>
          <a:xfrm>
            <a:off x="8756587" y="5353892"/>
            <a:ext cx="184801" cy="187368"/>
          </a:xfrm>
          <a:prstGeom prst="roundRect">
            <a:avLst>
              <a:gd name="adj" fmla="val 18770"/>
            </a:avLst>
          </a:prstGeom>
        </p:spPr>
      </p:pic>
      <p:pic>
        <p:nvPicPr>
          <p:cNvPr id="10" name="Picture 9" descr="Website - Free web icons">
            <a:extLst>
              <a:ext uri="{FF2B5EF4-FFF2-40B4-BE49-F238E27FC236}">
                <a16:creationId xmlns:a16="http://schemas.microsoft.com/office/drawing/2014/main" id="{2A984760-D481-2F3B-8818-5A11592F296E}"/>
              </a:ext>
            </a:extLst>
          </p:cNvPr>
          <p:cNvPicPr>
            <a:picLocks noChangeAspect="1"/>
          </p:cNvPicPr>
          <p:nvPr userDrawn="1"/>
        </p:nvPicPr>
        <p:blipFill>
          <a:blip r:embed="rId10"/>
          <a:stretch>
            <a:fillRect/>
          </a:stretch>
        </p:blipFill>
        <p:spPr>
          <a:xfrm>
            <a:off x="8739068" y="4664454"/>
            <a:ext cx="218665" cy="218665"/>
          </a:xfrm>
          <a:prstGeom prst="rect">
            <a:avLst/>
          </a:prstGeom>
        </p:spPr>
      </p:pic>
      <p:pic>
        <p:nvPicPr>
          <p:cNvPr id="11" name="Picture 10" descr="File:X icon.svg - Wikimedia Commons">
            <a:extLst>
              <a:ext uri="{FF2B5EF4-FFF2-40B4-BE49-F238E27FC236}">
                <a16:creationId xmlns:a16="http://schemas.microsoft.com/office/drawing/2014/main" id="{786E8E88-AA37-E300-8278-7A04F6116236}"/>
              </a:ext>
            </a:extLst>
          </p:cNvPr>
          <p:cNvPicPr>
            <a:picLocks noChangeAspect="1"/>
          </p:cNvPicPr>
          <p:nvPr userDrawn="1"/>
        </p:nvPicPr>
        <p:blipFill>
          <a:blip r:embed="rId11"/>
          <a:stretch>
            <a:fillRect/>
          </a:stretch>
        </p:blipFill>
        <p:spPr>
          <a:xfrm>
            <a:off x="8746067" y="5669649"/>
            <a:ext cx="199055" cy="199055"/>
          </a:xfrm>
          <a:prstGeom prst="rect">
            <a:avLst/>
          </a:prstGeom>
        </p:spPr>
      </p:pic>
    </p:spTree>
    <p:extLst>
      <p:ext uri="{BB962C8B-B14F-4D97-AF65-F5344CB8AC3E}">
        <p14:creationId xmlns:p14="http://schemas.microsoft.com/office/powerpoint/2010/main" val="164580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inal Slide - Black">
    <p:bg>
      <p:bgPr>
        <a:solidFill>
          <a:schemeClr val="tx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bg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Click to edit Master text styles</a:t>
            </a:r>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9" name="TextBox 18">
            <a:extLst>
              <a:ext uri="{FF2B5EF4-FFF2-40B4-BE49-F238E27FC236}">
                <a16:creationId xmlns:a16="http://schemas.microsoft.com/office/drawing/2014/main" id="{7F5E76D2-F382-0592-682D-F58FCBC6BA5D}"/>
              </a:ext>
            </a:extLst>
          </p:cNvPr>
          <p:cNvSpPr txBox="1"/>
          <p:nvPr/>
        </p:nvSpPr>
        <p:spPr>
          <a:xfrm>
            <a:off x="8926692" y="4623358"/>
            <a:ext cx="2796879" cy="1323439"/>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chemeClr val="bg1"/>
              </a:solidFill>
              <a:effectLst/>
              <a:uLnTx/>
              <a:uFillTx/>
              <a:latin typeface="Arial"/>
              <a:ea typeface="+mn-ea"/>
              <a:cs typeface="Arial"/>
            </a:endParaRPr>
          </a:p>
        </p:txBody>
      </p:sp>
      <p:pic>
        <p:nvPicPr>
          <p:cNvPr id="23" name="Picture 22" descr="Website - Free web icons">
            <a:extLst>
              <a:ext uri="{FF2B5EF4-FFF2-40B4-BE49-F238E27FC236}">
                <a16:creationId xmlns:a16="http://schemas.microsoft.com/office/drawing/2014/main" id="{85DF9A9A-C543-35B7-2ED8-38EFD74BA7F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8738298" y="4664454"/>
            <a:ext cx="218665" cy="218665"/>
          </a:xfrm>
          <a:prstGeom prst="rect">
            <a:avLst/>
          </a:prstGeom>
        </p:spPr>
      </p:pic>
      <p:pic>
        <p:nvPicPr>
          <p:cNvPr id="24" name="Picture 23" descr="Linkedin - Free social media icons">
            <a:extLst>
              <a:ext uri="{FF2B5EF4-FFF2-40B4-BE49-F238E27FC236}">
                <a16:creationId xmlns:a16="http://schemas.microsoft.com/office/drawing/2014/main" id="{24F6F54C-527F-C0A6-28CD-314A2DB89878}"/>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749162" y="5005792"/>
            <a:ext cx="196936" cy="196936"/>
          </a:xfrm>
          <a:prstGeom prst="rect">
            <a:avLst/>
          </a:prstGeom>
        </p:spPr>
      </p:pic>
      <p:pic>
        <p:nvPicPr>
          <p:cNvPr id="25" name="Picture 24" descr="File:CIS-A2K Instagram Icon (Black).svg - Wikimedia Commons">
            <a:extLst>
              <a:ext uri="{FF2B5EF4-FFF2-40B4-BE49-F238E27FC236}">
                <a16:creationId xmlns:a16="http://schemas.microsoft.com/office/drawing/2014/main" id="{F380B0D0-4207-59F4-E678-A11C01D791D8}"/>
              </a:ext>
            </a:extLst>
          </p:cNvPr>
          <p:cNvPicPr>
            <a:picLocks noChangeAspect="1"/>
          </p:cNvPicPr>
          <p:nvPr userDrawn="1"/>
        </p:nvPicPr>
        <p:blipFill>
          <a:blip r:embed="rId12"/>
          <a:stretch>
            <a:fillRect/>
          </a:stretch>
        </p:blipFill>
        <p:spPr>
          <a:xfrm>
            <a:off x="8701083" y="5299211"/>
            <a:ext cx="293095" cy="293095"/>
          </a:xfrm>
          <a:prstGeom prst="rect">
            <a:avLst/>
          </a:prstGeom>
        </p:spPr>
      </p:pic>
      <p:pic>
        <p:nvPicPr>
          <p:cNvPr id="27" name="Picture 26" descr="Twitter x logo Images - Free Download on Freepik">
            <a:extLst>
              <a:ext uri="{FF2B5EF4-FFF2-40B4-BE49-F238E27FC236}">
                <a16:creationId xmlns:a16="http://schemas.microsoft.com/office/drawing/2014/main" id="{FBF43D94-D6E7-9636-C843-CE31B068483E}"/>
              </a:ext>
            </a:extLst>
          </p:cNvPr>
          <p:cNvPicPr>
            <a:picLocks noChangeAspect="1"/>
          </p:cNvPicPr>
          <p:nvPr userDrawn="1"/>
        </p:nvPicPr>
        <p:blipFill>
          <a:blip r:embed="rId13"/>
          <a:srcRect l="17325" t="17471" r="17848" b="17556"/>
          <a:stretch>
            <a:fillRect/>
          </a:stretch>
        </p:blipFill>
        <p:spPr>
          <a:xfrm>
            <a:off x="8759682" y="5686874"/>
            <a:ext cx="175897" cy="176294"/>
          </a:xfrm>
          <a:prstGeom prst="ellipse">
            <a:avLst/>
          </a:prstGeom>
          <a:ln w="3175">
            <a:solidFill>
              <a:schemeClr val="bg2"/>
            </a:solidFill>
          </a:ln>
        </p:spPr>
      </p:pic>
    </p:spTree>
    <p:extLst>
      <p:ext uri="{BB962C8B-B14F-4D97-AF65-F5344CB8AC3E}">
        <p14:creationId xmlns:p14="http://schemas.microsoft.com/office/powerpoint/2010/main" val="12818313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1F5A975-01B0-1E45-A56B-C68FA2410A50}"/>
              </a:ext>
            </a:extLst>
          </p:cNvPr>
          <p:cNvSpPr>
            <a:spLocks noGrp="1"/>
          </p:cNvSpPr>
          <p:nvPr>
            <p:ph type="ftr" sz="quarter" idx="3"/>
          </p:nvPr>
        </p:nvSpPr>
        <p:spPr>
          <a:xfrm>
            <a:off x="609600" y="6413499"/>
            <a:ext cx="4114800" cy="208585"/>
          </a:xfrm>
          <a:prstGeom prst="rect">
            <a:avLst/>
          </a:prstGeom>
        </p:spPr>
        <p:txBody>
          <a:bodyPr vert="horz" lIns="0" tIns="0" rIns="0" bIns="0" rtlCol="0" anchor="b">
            <a:noAutofit/>
          </a:bodyPr>
          <a:lstStyle>
            <a:lvl1pPr algn="l">
              <a:defRPr sz="700" b="0" i="0">
                <a:solidFill>
                  <a:schemeClr val="tx1">
                    <a:tint val="75000"/>
                  </a:schemeClr>
                </a:solidFill>
                <a:latin typeface="Arial" panose="020B0604020202020204" pitchFamily="34" charset="0"/>
                <a:cs typeface="Arial" panose="020B0604020202020204" pitchFamily="34" charset="0"/>
              </a:defRPr>
            </a:lvl1pPr>
          </a:lstStyle>
          <a:p>
            <a:r>
              <a:rPr lang="en-US"/>
              <a:t>Proprietary and Confidential</a:t>
            </a:r>
          </a:p>
        </p:txBody>
      </p:sp>
      <p:sp>
        <p:nvSpPr>
          <p:cNvPr id="5" name="Title Placeholder 4">
            <a:extLst>
              <a:ext uri="{FF2B5EF4-FFF2-40B4-BE49-F238E27FC236}">
                <a16:creationId xmlns:a16="http://schemas.microsoft.com/office/drawing/2014/main" id="{748A1652-E12D-BB40-863C-B183DCEF34DC}"/>
              </a:ext>
            </a:extLst>
          </p:cNvPr>
          <p:cNvSpPr>
            <a:spLocks noGrp="1"/>
          </p:cNvSpPr>
          <p:nvPr>
            <p:ph type="title"/>
          </p:nvPr>
        </p:nvSpPr>
        <p:spPr>
          <a:xfrm>
            <a:off x="609599" y="460376"/>
            <a:ext cx="10972799" cy="312265"/>
          </a:xfrm>
          <a:prstGeom prst="rect">
            <a:avLst/>
          </a:prstGeom>
        </p:spPr>
        <p:txBody>
          <a:bodyPr vert="horz" lIns="0" tIns="0" rIns="0" bIns="0" rtlCol="0" anchor="t">
            <a:spAutoFit/>
          </a:bodyPr>
          <a:lstStyle/>
          <a:p>
            <a:pPr marL="0" lvl="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pPr>
            <a:r>
              <a:rPr lang="en-US"/>
              <a:t>CLICK TO EDIT MASTER TITLE STYLE</a:t>
            </a:r>
          </a:p>
        </p:txBody>
      </p:sp>
      <p:pic>
        <p:nvPicPr>
          <p:cNvPr id="7" name="Picture 6">
            <a:extLst>
              <a:ext uri="{FF2B5EF4-FFF2-40B4-BE49-F238E27FC236}">
                <a16:creationId xmlns:a16="http://schemas.microsoft.com/office/drawing/2014/main" id="{B79AC6D6-695B-DE90-0E74-45050645A13D}"/>
              </a:ext>
            </a:extLst>
          </p:cNvPr>
          <p:cNvPicPr>
            <a:picLocks noChangeAspect="1"/>
          </p:cNvPicPr>
          <p:nvPr userDrawn="1"/>
        </p:nvPicPr>
        <p:blipFill>
          <a:blip r:embed="rId16" cstate="screen">
            <a:alphaModFix amt="40000"/>
            <a:lum bright="70000" contrast="-7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Tree>
    <p:extLst>
      <p:ext uri="{BB962C8B-B14F-4D97-AF65-F5344CB8AC3E}">
        <p14:creationId xmlns:p14="http://schemas.microsoft.com/office/powerpoint/2010/main" val="4115792623"/>
      </p:ext>
    </p:extLst>
  </p:cSld>
  <p:clrMap bg1="lt1" tx1="dk1" bg2="lt2" tx2="dk2" accent1="accent1" accent2="accent2" accent3="accent3" accent4="accent4" accent5="accent5" accent6="accent6" hlink="hlink" folHlink="folHlink"/>
  <p:sldLayoutIdLst>
    <p:sldLayoutId id="2147483665" r:id="rId1"/>
    <p:sldLayoutId id="2147483733" r:id="rId2"/>
    <p:sldLayoutId id="2147483666" r:id="rId3"/>
    <p:sldLayoutId id="2147483667" r:id="rId4"/>
    <p:sldLayoutId id="2147483668" r:id="rId5"/>
    <p:sldLayoutId id="2147483669" r:id="rId6"/>
    <p:sldLayoutId id="2147483672" r:id="rId7"/>
    <p:sldLayoutId id="2147483673" r:id="rId8"/>
    <p:sldLayoutId id="2147483674" r:id="rId9"/>
    <p:sldLayoutId id="2147483787" r:id="rId10"/>
    <p:sldLayoutId id="2147483675" r:id="rId11"/>
    <p:sldLayoutId id="2147483786" r:id="rId12"/>
    <p:sldLayoutId id="2147483691" r:id="rId13"/>
    <p:sldLayoutId id="2147483785" r:id="rId14"/>
  </p:sldLayoutIdLst>
  <p:hf hdr="0" dt="0"/>
  <p:txStyles>
    <p:titleStyle>
      <a:lvl1pPr algn="l" defTabSz="1219170" rtl="0" eaLnBrk="1" latinLnBrk="0" hangingPunct="1">
        <a:lnSpc>
          <a:spcPct val="90000"/>
        </a:lnSpc>
        <a:spcBef>
          <a:spcPct val="0"/>
        </a:spcBef>
        <a:buNone/>
        <a:defRPr lang="en-US" sz="2000" b="1" i="0" kern="1200" spc="0" baseline="0" dirty="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p:titleStyle>
    <p:bodyStyle>
      <a:lvl1pPr marL="18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1pPr>
      <a:lvl2pPr marL="2322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2pPr>
      <a:lvl3pPr marL="462600" indent="0" algn="l" defTabSz="1219170" rtl="0" eaLnBrk="1" latinLnBrk="0" hangingPunct="1">
        <a:lnSpc>
          <a:spcPct val="110000"/>
        </a:lnSpc>
        <a:spcBef>
          <a:spcPts val="400"/>
        </a:spcBef>
        <a:spcAft>
          <a:spcPts val="400"/>
        </a:spcAft>
        <a:buClr>
          <a:schemeClr val="bg2"/>
        </a:buClr>
        <a:buFont typeface="Courier New" panose="02070309020205020404" pitchFamily="49" charset="0"/>
        <a:buNone/>
        <a:tabLst/>
        <a:defRPr sz="2400" b="0" i="0" kern="1200">
          <a:solidFill>
            <a:schemeClr val="tx1"/>
          </a:solidFill>
          <a:latin typeface="+mj-lt"/>
          <a:ea typeface="+mn-ea"/>
          <a:cs typeface="Arial" panose="020B0604020202020204" pitchFamily="34" charset="0"/>
        </a:defRPr>
      </a:lvl3pPr>
      <a:lvl4pPr marL="6930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4pPr>
      <a:lvl5pPr marL="9234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FFFFF"/>
          </p15:clr>
        </p15:guide>
        <p15:guide id="2" pos="7536">
          <p15:clr>
            <a:srgbClr val="FFFFFF"/>
          </p15:clr>
        </p15:guide>
        <p15:guide id="3" orient="horz" pos="4176">
          <p15:clr>
            <a:srgbClr val="547EBF"/>
          </p15:clr>
        </p15:guide>
        <p15:guide id="4" pos="144">
          <p15:clr>
            <a:srgbClr val="FFFFFF"/>
          </p15:clr>
        </p15:guide>
        <p15:guide id="5" pos="288">
          <p15:clr>
            <a:srgbClr val="5ACBF0"/>
          </p15:clr>
        </p15:guide>
        <p15:guide id="6" orient="horz" pos="4032">
          <p15:clr>
            <a:srgbClr val="5ACBF0"/>
          </p15:clr>
        </p15:guide>
        <p15:guide id="7" orient="horz" pos="290">
          <p15:clr>
            <a:srgbClr val="5ACBF0"/>
          </p15:clr>
        </p15:guide>
        <p15:guide id="9" pos="1464">
          <p15:clr>
            <a:srgbClr val="F26B43"/>
          </p15:clr>
        </p15:guide>
        <p15:guide id="10" pos="840">
          <p15:clr>
            <a:srgbClr val="F26B43"/>
          </p15:clr>
        </p15:guide>
        <p15:guide id="11" pos="2063">
          <p15:clr>
            <a:srgbClr val="F26B43"/>
          </p15:clr>
        </p15:guide>
        <p15:guide id="12" pos="2651">
          <p15:clr>
            <a:srgbClr val="F26B43"/>
          </p15:clr>
        </p15:guide>
        <p15:guide id="13" pos="3250">
          <p15:clr>
            <a:srgbClr val="F26B43"/>
          </p15:clr>
        </p15:guide>
        <p15:guide id="14" pos="3835">
          <p15:clr>
            <a:srgbClr val="F26B43"/>
          </p15:clr>
        </p15:guide>
        <p15:guide id="15" pos="4432">
          <p15:clr>
            <a:srgbClr val="F26B43"/>
          </p15:clr>
        </p15:guide>
        <p15:guide id="16" pos="5022">
          <p15:clr>
            <a:srgbClr val="F26B43"/>
          </p15:clr>
        </p15:guide>
        <p15:guide id="17" pos="5620">
          <p15:clr>
            <a:srgbClr val="F26B43"/>
          </p15:clr>
        </p15:guide>
        <p15:guide id="18" pos="6207">
          <p15:clr>
            <a:srgbClr val="F26B43"/>
          </p15:clr>
        </p15:guide>
        <p15:guide id="19" pos="6802">
          <p15:clr>
            <a:srgbClr val="F26B43"/>
          </p15:clr>
        </p15:guide>
        <p15:guide id="20" orient="horz" pos="756">
          <p15:clr>
            <a:srgbClr val="5ACBF0"/>
          </p15:clr>
        </p15:guide>
        <p15:guide id="21" orient="horz" pos="1225">
          <p15:clr>
            <a:srgbClr val="5ACBF0"/>
          </p15:clr>
        </p15:guide>
        <p15:guide id="22" orient="horz" pos="1692">
          <p15:clr>
            <a:srgbClr val="5ACBF0"/>
          </p15:clr>
        </p15:guide>
        <p15:guide id="23" orient="horz" pos="2157">
          <p15:clr>
            <a:srgbClr val="5ACBF0"/>
          </p15:clr>
        </p15:guide>
        <p15:guide id="24" orient="horz" pos="2629">
          <p15:clr>
            <a:srgbClr val="5ACBF0"/>
          </p15:clr>
        </p15:guide>
        <p15:guide id="25" orient="horz" pos="3096">
          <p15:clr>
            <a:srgbClr val="5ACBF0"/>
          </p15:clr>
        </p15:guide>
        <p15:guide id="26" orient="horz" pos="3570">
          <p15:clr>
            <a:srgbClr val="5ACBF0"/>
          </p15:clr>
        </p15:guide>
        <p15:guide id="29" pos="7392">
          <p15:clr>
            <a:srgbClr val="5ACBF0"/>
          </p15:clr>
        </p15:guide>
        <p15:guide id="30" pos="7440">
          <p15:clr>
            <a:srgbClr val="5ACBF0"/>
          </p15:clr>
        </p15:guide>
        <p15:guide id="31" pos="240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01 · Business Architecture &amp; Value</a:t>
            </a:r>
          </a:p>
        </p:txBody>
      </p:sp>
      <p:sp>
        <p:nvSpPr>
          <p:cNvPr id="3" name="Text Placeholder 2"/>
          <p:cNvSpPr>
            <a:spLocks noGrp="1"/>
          </p:cNvSpPr>
          <p:nvPr>
            <p:ph type="body" idx="12" sz="quarter"/>
          </p:nvPr>
        </p:nvSpPr>
        <p:spPr/>
        <p:txBody>
          <a:bodyPr/>
          <a:lstStyle/>
          <a:p>
            <a:r>
              <a:rPr>
                <a:solidFill>
                  <a:srgbClr val="D5D5D5"/>
                </a:solidFill>
              </a:rPr>
              <a:t>Governance · scope · persona · workflows · value  (ADR domains D0 / D1 / D8)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deck covers</a:t>
            </a:r>
          </a:p>
        </p:txBody>
      </p:sp>
      <p:sp>
        <p:nvSpPr>
          <p:cNvPr id="3" name="TextBox 2"/>
          <p:cNvSpPr txBox="1"/>
          <p:nvPr/>
        </p:nvSpPr>
        <p:spPr>
          <a:xfrm>
            <a:off x="8229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Decision governance — the ADR programme (D0)</a:t>
            </a:r>
          </a:p>
          <a:p>
            <a:pPr algn="l">
              <a:spcAft>
                <a:spcPts val="1000"/>
              </a:spcAft>
            </a:pPr>
            <a:r>
              <a:rPr sz="1800" b="1">
                <a:solidFill>
                  <a:srgbClr val="2ACCFF"/>
                </a:solidFill>
                <a:latin typeface="Calibri"/>
              </a:rPr>
              <a:t>▸ </a:t>
            </a:r>
            <a:r>
              <a:rPr sz="1800">
                <a:solidFill>
                  <a:srgbClr val="FFFFFF"/>
                </a:solidFill>
                <a:latin typeface="Calibri"/>
              </a:rPr>
              <a:t>The Golden Rule &amp; authoritative-truth precedence</a:t>
            </a:r>
          </a:p>
          <a:p>
            <a:pPr algn="l">
              <a:spcAft>
                <a:spcPts val="1000"/>
              </a:spcAft>
            </a:pPr>
            <a:r>
              <a:rPr sz="1800" b="1">
                <a:solidFill>
                  <a:srgbClr val="2ACCFF"/>
                </a:solidFill>
                <a:latin typeface="Calibri"/>
              </a:rPr>
              <a:t>▸ </a:t>
            </a:r>
            <a:r>
              <a:rPr sz="1800">
                <a:solidFill>
                  <a:srgbClr val="FFFFFF"/>
                </a:solidFill>
                <a:latin typeface="Calibri"/>
              </a:rPr>
              <a:t>Platform scope, boundary &amp; success definition (D1)</a:t>
            </a:r>
          </a:p>
          <a:p>
            <a:pPr algn="l">
              <a:spcAft>
                <a:spcPts val="1000"/>
              </a:spcAft>
            </a:pPr>
            <a:r>
              <a:rPr sz="1800" b="1">
                <a:solidFill>
                  <a:srgbClr val="2ACCFF"/>
                </a:solidFill>
                <a:latin typeface="Calibri"/>
              </a:rPr>
              <a:t>▸ </a:t>
            </a:r>
            <a:r>
              <a:rPr sz="1800">
                <a:solidFill>
                  <a:srgbClr val="FFFFFF"/>
                </a:solidFill>
                <a:latin typeface="Calibri"/>
              </a:rPr>
              <a:t>Business capability map &amp; ownership</a:t>
            </a:r>
          </a:p>
          <a:p>
            <a:pPr algn="l">
              <a:spcAft>
                <a:spcPts val="1000"/>
              </a:spcAft>
            </a:pPr>
            <a:r>
              <a:rPr sz="1800" b="1">
                <a:solidFill>
                  <a:srgbClr val="2ACCFF"/>
                </a:solidFill>
                <a:latin typeface="Calibri"/>
              </a:rPr>
              <a:t>▸ </a:t>
            </a:r>
            <a:r>
              <a:rPr sz="1800">
                <a:solidFill>
                  <a:srgbClr val="FFFFFF"/>
                </a:solidFill>
                <a:latin typeface="Calibri"/>
              </a:rPr>
              <a:t>Adam persona model, access archetypes &amp; charter</a:t>
            </a:r>
          </a:p>
        </p:txBody>
      </p:sp>
      <p:sp>
        <p:nvSpPr>
          <p:cNvPr id="4" name="TextBox 3"/>
          <p:cNvSpPr txBox="1"/>
          <p:nvPr/>
        </p:nvSpPr>
        <p:spPr>
          <a:xfrm>
            <a:off x="6309360" y="1737360"/>
            <a:ext cx="5212080" cy="4389120"/>
          </a:xfrm>
          <a:prstGeom prst="rect">
            <a:avLst/>
          </a:prstGeom>
          <a:noFill/>
        </p:spPr>
        <p:txBody>
          <a:bodyPr wrap="square" lIns="0" tIns="0">
            <a:spAutoFit/>
          </a:bodyPr>
          <a:lstStyle/>
          <a:p>
            <a:pPr algn="l">
              <a:spcAft>
                <a:spcPts val="1000"/>
              </a:spcAft>
            </a:pPr>
            <a:r>
              <a:rPr sz="1800" b="1">
                <a:solidFill>
                  <a:srgbClr val="2ACCFF"/>
                </a:solidFill>
                <a:latin typeface="Calibri"/>
              </a:rPr>
              <a:t>▸ </a:t>
            </a:r>
            <a:r>
              <a:rPr sz="1800">
                <a:solidFill>
                  <a:srgbClr val="FFFFFF"/>
                </a:solidFill>
                <a:latin typeface="Calibri"/>
              </a:rPr>
              <a:t>Conversational journey &amp; human-in-the-loop touchpoints</a:t>
            </a:r>
          </a:p>
          <a:p>
            <a:pPr algn="l">
              <a:spcAft>
                <a:spcPts val="1000"/>
              </a:spcAft>
            </a:pPr>
            <a:r>
              <a:rPr sz="1800" b="1">
                <a:solidFill>
                  <a:srgbClr val="2ACCFF"/>
                </a:solidFill>
                <a:latin typeface="Calibri"/>
              </a:rPr>
              <a:t>▸ </a:t>
            </a:r>
            <a:r>
              <a:rPr sz="1800">
                <a:solidFill>
                  <a:srgbClr val="FFFFFF"/>
                </a:solidFill>
                <a:latin typeface="Calibri"/>
              </a:rPr>
              <a:t>Workflow catalogue, phasing &amp; affiliation-first</a:t>
            </a:r>
          </a:p>
          <a:p>
            <a:pPr algn="l">
              <a:spcAft>
                <a:spcPts val="1000"/>
              </a:spcAft>
            </a:pPr>
            <a:r>
              <a:rPr sz="1800" b="1">
                <a:solidFill>
                  <a:srgbClr val="2ACCFF"/>
                </a:solidFill>
                <a:latin typeface="Calibri"/>
              </a:rPr>
              <a:t>▸ </a:t>
            </a:r>
            <a:r>
              <a:rPr sz="1800">
                <a:solidFill>
                  <a:srgbClr val="FFFFFF"/>
                </a:solidFill>
                <a:latin typeface="Calibri"/>
              </a:rPr>
              <a:t>Club Affiliation — the first end-to-end workflow</a:t>
            </a:r>
          </a:p>
          <a:p>
            <a:pPr algn="l">
              <a:spcAft>
                <a:spcPts val="1000"/>
              </a:spcAft>
            </a:pPr>
            <a:r>
              <a:rPr sz="1800" b="1">
                <a:solidFill>
                  <a:srgbClr val="2ACCFF"/>
                </a:solidFill>
                <a:latin typeface="Calibri"/>
              </a:rPr>
              <a:t>▸ </a:t>
            </a:r>
            <a:r>
              <a:rPr sz="1800">
                <a:solidFill>
                  <a:srgbClr val="FFFFFF"/>
                </a:solidFill>
                <a:latin typeface="Calibri"/>
              </a:rPr>
              <a:t>Requirements baseline &amp; traceability</a:t>
            </a:r>
          </a:p>
          <a:p>
            <a:pPr algn="l">
              <a:spcAft>
                <a:spcPts val="1000"/>
              </a:spcAft>
            </a:pPr>
            <a:r>
              <a:rPr sz="1800" b="1">
                <a:solidFill>
                  <a:srgbClr val="2ACCFF"/>
                </a:solidFill>
                <a:latin typeface="Calibri"/>
              </a:rPr>
              <a:t>▸ </a:t>
            </a:r>
            <a:r>
              <a:rPr sz="1800">
                <a:solidFill>
                  <a:srgbClr val="FFFFFF"/>
                </a:solidFill>
                <a:latin typeface="Calibri"/>
              </a:rPr>
              <a:t>Business value, metrics &amp; outcomes (D8)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 governance — the ADR programme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D0 · every significant choice is recorded &amp; governed</a:t>
            </a:r>
          </a:p>
        </p:txBody>
      </p:sp>
      <p:sp>
        <p:nvSpPr>
          <p:cNvPr id="4" name="Rounded Rectangle 3"/>
          <p:cNvSpPr/>
          <p:nvPr/>
        </p:nvSpPr>
        <p:spPr>
          <a:xfrm>
            <a:off x="822960" y="1783080"/>
            <a:ext cx="5212080" cy="4206240"/>
          </a:xfrm>
          <a:prstGeom prst="roundRect">
            <a:avLst/>
          </a:prstGeom>
          <a:solidFill>
            <a:srgbClr val="14161C"/>
          </a:solidFill>
          <a:ln w="13970">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24128" y="1920240"/>
            <a:ext cx="4809744" cy="365760"/>
          </a:xfrm>
          <a:prstGeom prst="rect">
            <a:avLst/>
          </a:prstGeom>
          <a:noFill/>
        </p:spPr>
        <p:txBody>
          <a:bodyPr wrap="square" anchor="t" lIns="0" rIns="0" tIns="0" bIns="0">
            <a:spAutoFit/>
          </a:bodyPr>
          <a:lstStyle/>
          <a:p>
            <a:pPr algn="l"/>
            <a:r>
              <a:rPr sz="1400" b="1" i="0">
                <a:solidFill>
                  <a:srgbClr val="2ACCFF"/>
                </a:solidFill>
                <a:latin typeface="Calibri"/>
              </a:rPr>
              <a:t>How decisions are made</a:t>
            </a:r>
          </a:p>
        </p:txBody>
      </p:sp>
      <p:sp>
        <p:nvSpPr>
          <p:cNvPr id="6" name="TextBox 5"/>
          <p:cNvSpPr txBox="1"/>
          <p:nvPr/>
        </p:nvSpPr>
        <p:spPr>
          <a:xfrm>
            <a:off x="1024128" y="2404872"/>
            <a:ext cx="4809744" cy="274320"/>
          </a:xfrm>
          <a:prstGeom prst="rect">
            <a:avLst/>
          </a:prstGeom>
          <a:noFill/>
        </p:spPr>
        <p:txBody>
          <a:bodyPr wrap="square" anchor="t" lIns="0" rIns="0" tIns="0" bIns="0">
            <a:spAutoFit/>
          </a:bodyPr>
          <a:lstStyle/>
          <a:p>
            <a:pPr algn="l"/>
            <a:r>
              <a:rPr sz="1200" b="1" i="0">
                <a:solidFill>
                  <a:srgbClr val="FFFFFF"/>
                </a:solidFill>
                <a:latin typeface="Calibri"/>
              </a:rPr>
              <a:t>ADR-driven governance</a:t>
            </a:r>
          </a:p>
        </p:txBody>
      </p:sp>
      <p:sp>
        <p:nvSpPr>
          <p:cNvPr id="7" name="TextBox 6"/>
          <p:cNvSpPr txBox="1"/>
          <p:nvPr/>
        </p:nvSpPr>
        <p:spPr>
          <a:xfrm>
            <a:off x="1024128" y="2660904"/>
            <a:ext cx="4809744" cy="457200"/>
          </a:xfrm>
          <a:prstGeom prst="rect">
            <a:avLst/>
          </a:prstGeom>
          <a:noFill/>
        </p:spPr>
        <p:txBody>
          <a:bodyPr wrap="square" anchor="t" lIns="0" rIns="0" tIns="0" bIns="0">
            <a:spAutoFit/>
          </a:bodyPr>
          <a:lstStyle/>
          <a:p>
            <a:pPr algn="l"/>
            <a:r>
              <a:rPr sz="1100" b="0" i="0">
                <a:solidFill>
                  <a:srgbClr val="D5D5D5"/>
                </a:solidFill>
                <a:latin typeface="Calibri"/>
              </a:rPr>
              <a:t>D0-01 — architecture decided via versioned ADRs</a:t>
            </a:r>
          </a:p>
        </p:txBody>
      </p:sp>
      <p:sp>
        <p:nvSpPr>
          <p:cNvPr id="8" name="TextBox 7"/>
          <p:cNvSpPr txBox="1"/>
          <p:nvPr/>
        </p:nvSpPr>
        <p:spPr>
          <a:xfrm>
            <a:off x="1024128" y="3118104"/>
            <a:ext cx="4809744" cy="274320"/>
          </a:xfrm>
          <a:prstGeom prst="rect">
            <a:avLst/>
          </a:prstGeom>
          <a:noFill/>
        </p:spPr>
        <p:txBody>
          <a:bodyPr wrap="square" anchor="t" lIns="0" rIns="0" tIns="0" bIns="0">
            <a:spAutoFit/>
          </a:bodyPr>
          <a:lstStyle/>
          <a:p>
            <a:pPr algn="l"/>
            <a:r>
              <a:rPr sz="1200" b="1" i="0">
                <a:solidFill>
                  <a:srgbClr val="FFFFFF"/>
                </a:solidFill>
                <a:latin typeface="Calibri"/>
              </a:rPr>
              <a:t>Authority &amp; review board</a:t>
            </a:r>
          </a:p>
        </p:txBody>
      </p:sp>
      <p:sp>
        <p:nvSpPr>
          <p:cNvPr id="9" name="TextBox 8"/>
          <p:cNvSpPr txBox="1"/>
          <p:nvPr/>
        </p:nvSpPr>
        <p:spPr>
          <a:xfrm>
            <a:off x="1024128" y="3374136"/>
            <a:ext cx="4809744" cy="457200"/>
          </a:xfrm>
          <a:prstGeom prst="rect">
            <a:avLst/>
          </a:prstGeom>
          <a:noFill/>
        </p:spPr>
        <p:txBody>
          <a:bodyPr wrap="square" anchor="t" lIns="0" rIns="0" tIns="0" bIns="0">
            <a:spAutoFit/>
          </a:bodyPr>
          <a:lstStyle/>
          <a:p>
            <a:pPr algn="l"/>
            <a:r>
              <a:rPr sz="1100" b="0" i="0">
                <a:solidFill>
                  <a:srgbClr val="D5D5D5"/>
                </a:solidFill>
                <a:latin typeface="Calibri"/>
              </a:rPr>
              <a:t>D0-03 — the ARB approves; owners &amp; reviewers named</a:t>
            </a:r>
          </a:p>
        </p:txBody>
      </p:sp>
      <p:sp>
        <p:nvSpPr>
          <p:cNvPr id="10" name="TextBox 9"/>
          <p:cNvSpPr txBox="1"/>
          <p:nvPr/>
        </p:nvSpPr>
        <p:spPr>
          <a:xfrm>
            <a:off x="1024128" y="3831336"/>
            <a:ext cx="4809744" cy="274320"/>
          </a:xfrm>
          <a:prstGeom prst="rect">
            <a:avLst/>
          </a:prstGeom>
          <a:noFill/>
        </p:spPr>
        <p:txBody>
          <a:bodyPr wrap="square" anchor="t" lIns="0" rIns="0" tIns="0" bIns="0">
            <a:spAutoFit/>
          </a:bodyPr>
          <a:lstStyle/>
          <a:p>
            <a:pPr algn="l"/>
            <a:r>
              <a:rPr sz="1200" b="1" i="0">
                <a:solidFill>
                  <a:srgbClr val="FFFFFF"/>
                </a:solidFill>
                <a:latin typeface="Calibri"/>
              </a:rPr>
              <a:t>Lifecycle &amp; supersession</a:t>
            </a:r>
          </a:p>
        </p:txBody>
      </p:sp>
      <p:sp>
        <p:nvSpPr>
          <p:cNvPr id="11" name="TextBox 10"/>
          <p:cNvSpPr txBox="1"/>
          <p:nvPr/>
        </p:nvSpPr>
        <p:spPr>
          <a:xfrm>
            <a:off x="1024128" y="4087368"/>
            <a:ext cx="4809744" cy="457200"/>
          </a:xfrm>
          <a:prstGeom prst="rect">
            <a:avLst/>
          </a:prstGeom>
          <a:noFill/>
        </p:spPr>
        <p:txBody>
          <a:bodyPr wrap="square" anchor="t" lIns="0" rIns="0" tIns="0" bIns="0">
            <a:spAutoFit/>
          </a:bodyPr>
          <a:lstStyle/>
          <a:p>
            <a:pPr algn="l"/>
            <a:r>
              <a:rPr sz="1100" b="0" i="0">
                <a:solidFill>
                  <a:srgbClr val="D5D5D5"/>
                </a:solidFill>
                <a:latin typeface="Calibri"/>
              </a:rPr>
              <a:t>D0-02 — Proposed → Accepted; never mutate in place</a:t>
            </a:r>
          </a:p>
        </p:txBody>
      </p:sp>
      <p:sp>
        <p:nvSpPr>
          <p:cNvPr id="12" name="TextBox 11"/>
          <p:cNvSpPr txBox="1"/>
          <p:nvPr/>
        </p:nvSpPr>
        <p:spPr>
          <a:xfrm>
            <a:off x="1024128" y="4544568"/>
            <a:ext cx="4809744" cy="274320"/>
          </a:xfrm>
          <a:prstGeom prst="rect">
            <a:avLst/>
          </a:prstGeom>
          <a:noFill/>
        </p:spPr>
        <p:txBody>
          <a:bodyPr wrap="square" anchor="t" lIns="0" rIns="0" tIns="0" bIns="0">
            <a:spAutoFit/>
          </a:bodyPr>
          <a:lstStyle/>
          <a:p>
            <a:pPr algn="l"/>
            <a:r>
              <a:rPr sz="1200" b="1" i="0">
                <a:solidFill>
                  <a:srgbClr val="FFFFFF"/>
                </a:solidFill>
                <a:latin typeface="Calibri"/>
              </a:rPr>
              <a:t>Open-decision register</a:t>
            </a:r>
          </a:p>
        </p:txBody>
      </p:sp>
      <p:sp>
        <p:nvSpPr>
          <p:cNvPr id="13" name="TextBox 12"/>
          <p:cNvSpPr txBox="1"/>
          <p:nvPr/>
        </p:nvSpPr>
        <p:spPr>
          <a:xfrm>
            <a:off x="1024128" y="4800600"/>
            <a:ext cx="4809744" cy="457200"/>
          </a:xfrm>
          <a:prstGeom prst="rect">
            <a:avLst/>
          </a:prstGeom>
          <a:noFill/>
        </p:spPr>
        <p:txBody>
          <a:bodyPr wrap="square" anchor="t" lIns="0" rIns="0" tIns="0" bIns="0">
            <a:spAutoFit/>
          </a:bodyPr>
          <a:lstStyle/>
          <a:p>
            <a:pPr algn="l"/>
            <a:r>
              <a:rPr sz="1100" b="0" i="0">
                <a:solidFill>
                  <a:srgbClr val="D5D5D5"/>
                </a:solidFill>
                <a:latin typeface="Calibri"/>
              </a:rPr>
              <a:t>D0-04 — escalation path for unresolved choices</a:t>
            </a:r>
          </a:p>
        </p:txBody>
      </p:sp>
      <p:sp>
        <p:nvSpPr>
          <p:cNvPr id="14" name="TextBox 13"/>
          <p:cNvSpPr txBox="1"/>
          <p:nvPr/>
        </p:nvSpPr>
        <p:spPr>
          <a:xfrm>
            <a:off x="6263640" y="1920240"/>
            <a:ext cx="5120640" cy="4023360"/>
          </a:xfrm>
          <a:prstGeom prst="rect">
            <a:avLst/>
          </a:prstGeom>
          <a:noFill/>
        </p:spPr>
        <p:txBody>
          <a:bodyPr wrap="square" lIns="0" tIns="0">
            <a:spAutoFit/>
          </a:bodyPr>
          <a:lstStyle/>
          <a:p>
            <a:pPr algn="l">
              <a:spcAft>
                <a:spcPts val="1400"/>
              </a:spcAft>
            </a:pPr>
            <a:r>
              <a:rPr sz="1500" b="1">
                <a:solidFill>
                  <a:srgbClr val="2ACCFF"/>
                </a:solidFill>
                <a:latin typeface="Calibri"/>
              </a:rPr>
              <a:t>▸ </a:t>
            </a:r>
            <a:r>
              <a:rPr sz="1500">
                <a:solidFill>
                  <a:srgbClr val="FFFFFF"/>
                </a:solidFill>
                <a:latin typeface="Calibri"/>
              </a:rPr>
              <a:t>145 ADRs across 9 domains — the audit trail of the architecture.</a:t>
            </a:r>
          </a:p>
          <a:p>
            <a:pPr algn="l">
              <a:spcAft>
                <a:spcPts val="1400"/>
              </a:spcAft>
            </a:pPr>
            <a:r>
              <a:rPr sz="1500" b="1">
                <a:solidFill>
                  <a:srgbClr val="2ACCFF"/>
                </a:solidFill>
                <a:latin typeface="Calibri"/>
              </a:rPr>
              <a:t>▸ </a:t>
            </a:r>
            <a:r>
              <a:rPr sz="1500">
                <a:solidFill>
                  <a:srgbClr val="FFFFFF"/>
                </a:solidFill>
                <a:latin typeface="Calibri"/>
              </a:rPr>
              <a:t>5 remain Proposed with a stated recommendation we build against.</a:t>
            </a:r>
          </a:p>
          <a:p>
            <a:pPr algn="l">
              <a:spcAft>
                <a:spcPts val="1400"/>
              </a:spcAft>
            </a:pPr>
            <a:r>
              <a:rPr sz="1500" b="1">
                <a:solidFill>
                  <a:srgbClr val="2ACCFF"/>
                </a:solidFill>
                <a:latin typeface="Calibri"/>
              </a:rPr>
              <a:t>▸ </a:t>
            </a:r>
            <a:r>
              <a:rPr sz="1500">
                <a:solidFill>
                  <a:srgbClr val="FFFFFF"/>
                </a:solidFill>
                <a:latin typeface="Calibri"/>
              </a:rPr>
              <a:t>Each ADR carries owner, reviewers, approver (ARB), status, version, source-doc refs and impacted paths.</a:t>
            </a:r>
          </a:p>
          <a:p>
            <a:pPr algn="l">
              <a:spcAft>
                <a:spcPts val="1400"/>
              </a:spcAft>
            </a:pPr>
            <a:r>
              <a:rPr sz="1500" b="1">
                <a:solidFill>
                  <a:srgbClr val="2ACCFF"/>
                </a:solidFill>
                <a:latin typeface="Calibri"/>
              </a:rPr>
              <a:t>▸ </a:t>
            </a:r>
            <a:r>
              <a:rPr sz="1500">
                <a:solidFill>
                  <a:srgbClr val="FFFFFF"/>
                </a:solidFill>
                <a:latin typeface="Calibri"/>
              </a:rPr>
              <a:t>Deck 09 presents the 5 open decisions for your sign-off.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Golden Rule</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D1-02 · the binding architectural constraint</a:t>
            </a:r>
          </a:p>
        </p:txBody>
      </p:sp>
      <p:sp>
        <p:nvSpPr>
          <p:cNvPr id="4" name="Rounded Rectangle 3"/>
          <p:cNvSpPr/>
          <p:nvPr/>
        </p:nvSpPr>
        <p:spPr>
          <a:xfrm>
            <a:off x="1188720" y="1783080"/>
            <a:ext cx="9784080" cy="169164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2100" b="1">
                <a:solidFill>
                  <a:srgbClr val="FFFFFF"/>
                </a:solidFill>
                <a:latin typeface="Calibri"/>
              </a:rPr>
              <a:t>Enterprise systems DECIDE and EXECUTE.</a:t>
            </a:r>
          </a:p>
          <a:p>
            <a:pPr algn="ctr"/>
            <a:r>
              <a:rPr sz="2100" b="1">
                <a:solidFill>
                  <a:srgbClr val="FFFFFF"/>
                </a:solidFill>
                <a:latin typeface="Calibri"/>
              </a:rPr>
              <a:t>The AI platform INTERPRETS, ORCHESTRATES,</a:t>
            </a:r>
          </a:p>
          <a:p>
            <a:pPr algn="ctr"/>
            <a:r>
              <a:rPr sz="2100" b="1">
                <a:solidFill>
                  <a:srgbClr val="FFFFFF"/>
                </a:solidFill>
                <a:latin typeface="Calibri"/>
              </a:rPr>
              <a:t>CONTEXTUALISES, EXPLAINS and COMMUNICATES.</a:t>
            </a:r>
          </a:p>
        </p:txBody>
      </p:sp>
      <p:sp>
        <p:nvSpPr>
          <p:cNvPr id="5" name="TextBox 4"/>
          <p:cNvSpPr txBox="1"/>
          <p:nvPr/>
        </p:nvSpPr>
        <p:spPr>
          <a:xfrm>
            <a:off x="1188720" y="3703320"/>
            <a:ext cx="9784080" cy="365760"/>
          </a:xfrm>
          <a:prstGeom prst="rect">
            <a:avLst/>
          </a:prstGeom>
          <a:noFill/>
        </p:spPr>
        <p:txBody>
          <a:bodyPr wrap="square" anchor="t" lIns="0" rIns="0" tIns="0" bIns="0">
            <a:spAutoFit/>
          </a:bodyPr>
          <a:lstStyle/>
          <a:p>
            <a:pPr algn="l"/>
            <a:r>
              <a:rPr sz="1500" b="1" i="0">
                <a:solidFill>
                  <a:srgbClr val="2ACCFF"/>
                </a:solidFill>
                <a:latin typeface="Calibri"/>
              </a:rPr>
              <a:t>Precedence:  Enterprise API / Event  ›  ERC  ›  Cache  ›  RAG  ›  SLM output</a:t>
            </a:r>
          </a:p>
        </p:txBody>
      </p:sp>
      <p:sp>
        <p:nvSpPr>
          <p:cNvPr id="6" name="TextBox 5"/>
          <p:cNvSpPr txBox="1"/>
          <p:nvPr/>
        </p:nvSpPr>
        <p:spPr>
          <a:xfrm>
            <a:off x="1188720" y="4206240"/>
            <a:ext cx="9784080" cy="1828800"/>
          </a:xfrm>
          <a:prstGeom prst="rect">
            <a:avLst/>
          </a:prstGeom>
          <a:noFill/>
        </p:spPr>
        <p:txBody>
          <a:bodyPr wrap="square" lIns="0" tIns="0">
            <a:spAutoFit/>
          </a:bodyPr>
          <a:lstStyle/>
          <a:p>
            <a:pPr algn="l">
              <a:spcAft>
                <a:spcPts val="1200"/>
              </a:spcAft>
            </a:pPr>
            <a:r>
              <a:rPr sz="1400" b="1">
                <a:solidFill>
                  <a:srgbClr val="2ACCFF"/>
                </a:solidFill>
                <a:latin typeface="Calibri"/>
              </a:rPr>
              <a:t>▸ </a:t>
            </a:r>
            <a:r>
              <a:rPr sz="1400">
                <a:solidFill>
                  <a:srgbClr val="FFFFFF"/>
                </a:solidFill>
                <a:latin typeface="Calibri"/>
              </a:rPr>
              <a:t>AI never authenticates/authorizes, re-implements business rules, or writes to the enterprise DB.</a:t>
            </a:r>
          </a:p>
          <a:p>
            <a:pPr algn="l">
              <a:spcAft>
                <a:spcPts val="1200"/>
              </a:spcAft>
            </a:pPr>
            <a:r>
              <a:rPr sz="1400" b="1">
                <a:solidFill>
                  <a:srgbClr val="2ACCFF"/>
                </a:solidFill>
                <a:latin typeface="Calibri"/>
              </a:rPr>
              <a:t>▸ </a:t>
            </a:r>
            <a:r>
              <a:rPr sz="1400">
                <a:solidFill>
                  <a:srgbClr val="FFFFFF"/>
                </a:solidFill>
                <a:latin typeface="Calibri"/>
              </a:rPr>
              <a:t>A model output is never an authorization decision; unconfirmed transactions are never celebrated.</a:t>
            </a:r>
          </a:p>
          <a:p>
            <a:pPr algn="l">
              <a:spcAft>
                <a:spcPts val="1200"/>
              </a:spcAft>
            </a:pPr>
            <a:r>
              <a:rPr sz="1400" b="1">
                <a:solidFill>
                  <a:srgbClr val="2ACCFF"/>
                </a:solidFill>
                <a:latin typeface="Calibri"/>
              </a:rPr>
              <a:t>▸ </a:t>
            </a:r>
            <a:r>
              <a:rPr sz="1400">
                <a:solidFill>
                  <a:srgbClr val="FFFFFF"/>
                </a:solidFill>
                <a:latin typeface="Calibri"/>
              </a:rPr>
              <a:t>Agents are logical capabilities in one runtime — not a microservice per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 boundary &amp; success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D1-01 / D1-04 · what is in and out</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In scope</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Conversational orchestration over PFF for club/county administration.</a:t>
            </a:r>
          </a:p>
          <a:p>
            <a:pPr algn="l">
              <a:spcAft>
                <a:spcPts val="1200"/>
              </a:spcAft>
            </a:pPr>
            <a:r>
              <a:rPr sz="1500" b="1">
                <a:solidFill>
                  <a:srgbClr val="2ACCFF"/>
                </a:solidFill>
                <a:latin typeface="Calibri"/>
              </a:rPr>
              <a:t>▸ </a:t>
            </a:r>
            <a:r>
              <a:rPr sz="1500">
                <a:solidFill>
                  <a:srgbClr val="FFFFFF"/>
                </a:solidFill>
                <a:latin typeface="Calibri"/>
              </a:rPr>
              <a:t>Interpretation, ERC context, reasoning, controlled tool-calls, communication.</a:t>
            </a:r>
          </a:p>
          <a:p>
            <a:pPr algn="l">
              <a:spcAft>
                <a:spcPts val="1200"/>
              </a:spcAft>
            </a:pPr>
            <a:r>
              <a:rPr sz="1500" b="1">
                <a:solidFill>
                  <a:srgbClr val="2ACCFF"/>
                </a:solidFill>
                <a:latin typeface="Calibri"/>
              </a:rPr>
              <a:t>▸ </a:t>
            </a:r>
            <a:r>
              <a:rPr sz="1500">
                <a:solidFill>
                  <a:srgbClr val="FFFFFF"/>
                </a:solidFill>
                <a:latin typeface="Calibri"/>
              </a:rPr>
              <a:t>Affiliation workflow end-to-end first; WGS integration on complete.</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Out of scope (by rule)</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Business/compliance rule re-implementation.</a:t>
            </a:r>
          </a:p>
          <a:p>
            <a:pPr algn="l">
              <a:spcAft>
                <a:spcPts val="1200"/>
              </a:spcAft>
            </a:pPr>
            <a:r>
              <a:rPr sz="1500" b="1">
                <a:solidFill>
                  <a:srgbClr val="2ACCFF"/>
                </a:solidFill>
                <a:latin typeface="Calibri"/>
              </a:rPr>
              <a:t>▸ </a:t>
            </a:r>
            <a:r>
              <a:rPr sz="1500">
                <a:solidFill>
                  <a:srgbClr val="FFFFFF"/>
                </a:solidFill>
                <a:latin typeface="Calibri"/>
              </a:rPr>
              <a:t>Direct enterprise DB writes; auth decisions.</a:t>
            </a:r>
          </a:p>
          <a:p>
            <a:pPr algn="l">
              <a:spcAft>
                <a:spcPts val="1200"/>
              </a:spcAft>
            </a:pPr>
            <a:r>
              <a:rPr sz="1500" b="1">
                <a:solidFill>
                  <a:srgbClr val="2ACCFF"/>
                </a:solidFill>
                <a:latin typeface="Calibri"/>
              </a:rPr>
              <a:t>▸ </a:t>
            </a:r>
            <a:r>
              <a:rPr sz="1500">
                <a:solidFill>
                  <a:srgbClr val="FFFFFF"/>
                </a:solidFill>
                <a:latin typeface="Calibri"/>
              </a:rPr>
              <a:t>Inventing portal URLs, IDs, or transaction outcomes.</a:t>
            </a:r>
          </a:p>
          <a:p>
            <a:pPr algn="l">
              <a:spcAft>
                <a:spcPts val="1200"/>
              </a:spcAft>
            </a:pPr>
            <a:r>
              <a:rPr sz="1500" b="1">
                <a:solidFill>
                  <a:srgbClr val="2ACCFF"/>
                </a:solidFill>
                <a:latin typeface="Calibri"/>
              </a:rPr>
              <a:t>▸ </a:t>
            </a:r>
            <a:r>
              <a:rPr sz="1500">
                <a:solidFill>
                  <a:srgbClr val="FFFFFF"/>
                </a:solidFill>
                <a:latin typeface="Calibri"/>
              </a:rPr>
              <a:t>Exposing raw enterprise/PII to an external SLM.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capability map &amp; ownership</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D1-06</a:t>
            </a:r>
          </a:p>
        </p:txBody>
      </p:sp>
      <p:graphicFrame>
        <p:nvGraphicFramePr>
          <p:cNvPr id="4" name="Table 3"/>
          <p:cNvGraphicFramePr>
            <a:graphicFrameLocks noGrp="1"/>
          </p:cNvGraphicFramePr>
          <p:nvPr/>
        </p:nvGraphicFramePr>
        <p:xfrm>
          <a:off x="822960" y="1783080"/>
          <a:ext cx="10515600" cy="4206240"/>
        </p:xfrm>
        <a:graphic>
          <a:graphicData uri="http://schemas.openxmlformats.org/drawingml/2006/table">
            <a:tbl>
              <a:tblPr firstRow="1">
                <a:tableStyleId>{5C22544A-7EE6-4342-B048-85BDC9FD1C3A}</a:tableStyleId>
              </a:tblPr>
              <a:tblGrid>
                <a:gridCol w="2743200"/>
                <a:gridCol w="3840480"/>
                <a:gridCol w="3931920"/>
              </a:tblGrid>
              <a:tr h="525780">
                <a:tc>
                  <a:txBody>
                    <a:bodyPr wrap="square"/>
                    <a:lstStyle/>
                    <a:p>
                      <a:r>
                        <a:rPr sz="1200" b="1">
                          <a:solidFill>
                            <a:srgbClr val="FFFFFF"/>
                          </a:solidFill>
                          <a:latin typeface="Calibri"/>
                        </a:rPr>
                        <a:t>Capability</a:t>
                      </a:r>
                    </a:p>
                  </a:txBody>
                  <a:tcPr marL="63500" marR="63500" marT="25400" marB="25400" anchor="ctr">
                    <a:solidFill>
                      <a:srgbClr val="7F19BE"/>
                    </a:solidFill>
                  </a:tcPr>
                </a:tc>
                <a:tc>
                  <a:txBody>
                    <a:bodyPr wrap="square"/>
                    <a:lstStyle/>
                    <a:p>
                      <a:r>
                        <a:rPr sz="1200" b="1">
                          <a:solidFill>
                            <a:srgbClr val="FFFFFF"/>
                          </a:solidFill>
                          <a:latin typeface="Calibri"/>
                        </a:rPr>
                        <a:t>Owner (system of record)</a:t>
                      </a:r>
                    </a:p>
                  </a:txBody>
                  <a:tcPr marL="63500" marR="63500" marT="25400" marB="25400" anchor="ctr">
                    <a:solidFill>
                      <a:srgbClr val="7F19BE"/>
                    </a:solidFill>
                  </a:tcPr>
                </a:tc>
                <a:tc>
                  <a:txBody>
                    <a:bodyPr wrap="square"/>
                    <a:lstStyle/>
                    <a:p>
                      <a:r>
                        <a:rPr sz="1200" b="1">
                          <a:solidFill>
                            <a:srgbClr val="FFFFFF"/>
                          </a:solidFill>
                          <a:latin typeface="Calibri"/>
                        </a:rPr>
                        <a:t>AI platform role</a:t>
                      </a:r>
                    </a:p>
                  </a:txBody>
                  <a:tcPr marL="63500" marR="63500" marT="25400" marB="25400" anchor="ctr">
                    <a:solidFill>
                      <a:srgbClr val="7F19BE"/>
                    </a:solidFill>
                  </a:tcPr>
                </a:tc>
              </a:tr>
              <a:tr h="525780">
                <a:tc>
                  <a:txBody>
                    <a:bodyPr wrap="square"/>
                    <a:lstStyle/>
                    <a:p>
                      <a:r>
                        <a:rPr sz="1200" b="1">
                          <a:solidFill>
                            <a:srgbClr val="FFFFFF"/>
                          </a:solidFill>
                          <a:latin typeface="Calibri"/>
                        </a:rPr>
                        <a:t>Club affiliation</a:t>
                      </a:r>
                    </a:p>
                  </a:txBody>
                  <a:tcPr marL="63500" marR="63500" marT="25400" marB="25400" anchor="ctr">
                    <a:solidFill>
                      <a:srgbClr val="14161C"/>
                    </a:solidFill>
                  </a:tcPr>
                </a:tc>
                <a:tc>
                  <a:txBody>
                    <a:bodyPr wrap="square"/>
                    <a:lstStyle/>
                    <a:p>
                      <a:r>
                        <a:rPr sz="1200" b="0">
                          <a:solidFill>
                            <a:srgbClr val="D5D5D5"/>
                          </a:solidFill>
                          <a:latin typeface="Calibri"/>
                        </a:rPr>
                        <a:t>PFF</a:t>
                      </a:r>
                    </a:p>
                  </a:txBody>
                  <a:tcPr marL="63500" marR="63500" marT="25400" marB="25400" anchor="ctr">
                    <a:solidFill>
                      <a:srgbClr val="14161C"/>
                    </a:solidFill>
                  </a:tcPr>
                </a:tc>
                <a:tc>
                  <a:txBody>
                    <a:bodyPr wrap="square"/>
                    <a:lstStyle/>
                    <a:p>
                      <a:r>
                        <a:rPr sz="1200" b="0">
                          <a:solidFill>
                            <a:srgbClr val="D5D5D5"/>
                          </a:solidFill>
                          <a:latin typeface="Calibri"/>
                        </a:rPr>
                        <a:t>orchestrate, contextualise, communicate</a:t>
                      </a:r>
                    </a:p>
                  </a:txBody>
                  <a:tcPr marL="63500" marR="63500" marT="25400" marB="25400" anchor="ctr">
                    <a:solidFill>
                      <a:srgbClr val="14161C"/>
                    </a:solidFill>
                  </a:tcPr>
                </a:tc>
              </a:tr>
              <a:tr h="525780">
                <a:tc>
                  <a:txBody>
                    <a:bodyPr wrap="square"/>
                    <a:lstStyle/>
                    <a:p>
                      <a:r>
                        <a:rPr sz="1200" b="1">
                          <a:solidFill>
                            <a:srgbClr val="FFFFFF"/>
                          </a:solidFill>
                          <a:latin typeface="Calibri"/>
                        </a:rPr>
                        <a:t>Team &amp; player registration</a:t>
                      </a:r>
                    </a:p>
                  </a:txBody>
                  <a:tcPr marL="63500" marR="63500" marT="25400" marB="25400" anchor="ctr">
                    <a:solidFill>
                      <a:srgbClr val="1E222B"/>
                    </a:solidFill>
                  </a:tcPr>
                </a:tc>
                <a:tc>
                  <a:txBody>
                    <a:bodyPr wrap="square"/>
                    <a:lstStyle/>
                    <a:p>
                      <a:r>
                        <a:rPr sz="1200" b="0">
                          <a:solidFill>
                            <a:srgbClr val="D5D5D5"/>
                          </a:solidFill>
                          <a:latin typeface="Calibri"/>
                        </a:rPr>
                        <a:t>PFF / WGS</a:t>
                      </a:r>
                    </a:p>
                  </a:txBody>
                  <a:tcPr marL="63500" marR="63500" marT="25400" marB="25400" anchor="ctr">
                    <a:solidFill>
                      <a:srgbClr val="1E222B"/>
                    </a:solidFill>
                  </a:tcPr>
                </a:tc>
                <a:tc>
                  <a:txBody>
                    <a:bodyPr wrap="square"/>
                    <a:lstStyle/>
                    <a:p>
                      <a:r>
                        <a:rPr sz="1200" b="0">
                          <a:solidFill>
                            <a:srgbClr val="D5D5D5"/>
                          </a:solidFill>
                          <a:latin typeface="Calibri"/>
                        </a:rPr>
                        <a:t>deferred agent — interpret &amp; guide</a:t>
                      </a:r>
                    </a:p>
                  </a:txBody>
                  <a:tcPr marL="63500" marR="63500" marT="25400" marB="25400" anchor="ctr">
                    <a:solidFill>
                      <a:srgbClr val="1E222B"/>
                    </a:solidFill>
                  </a:tcPr>
                </a:tc>
              </a:tr>
              <a:tr h="525780">
                <a:tc>
                  <a:txBody>
                    <a:bodyPr wrap="square"/>
                    <a:lstStyle/>
                    <a:p>
                      <a:r>
                        <a:rPr sz="1200" b="1">
                          <a:solidFill>
                            <a:srgbClr val="FFFFFF"/>
                          </a:solidFill>
                          <a:latin typeface="Calibri"/>
                        </a:rPr>
                        <a:t>Insurance (PL / PA)</a:t>
                      </a:r>
                    </a:p>
                  </a:txBody>
                  <a:tcPr marL="63500" marR="63500" marT="25400" marB="25400" anchor="ctr">
                    <a:solidFill>
                      <a:srgbClr val="14161C"/>
                    </a:solidFill>
                  </a:tcPr>
                </a:tc>
                <a:tc>
                  <a:txBody>
                    <a:bodyPr wrap="square"/>
                    <a:lstStyle/>
                    <a:p>
                      <a:r>
                        <a:rPr sz="1200" b="0">
                          <a:solidFill>
                            <a:srgbClr val="D5D5D5"/>
                          </a:solidFill>
                          <a:latin typeface="Calibri"/>
                        </a:rPr>
                        <a:t>PFF + providers</a:t>
                      </a:r>
                    </a:p>
                  </a:txBody>
                  <a:tcPr marL="63500" marR="63500" marT="25400" marB="25400" anchor="ctr">
                    <a:solidFill>
                      <a:srgbClr val="14161C"/>
                    </a:solidFill>
                  </a:tcPr>
                </a:tc>
                <a:tc>
                  <a:txBody>
                    <a:bodyPr wrap="square"/>
                    <a:lstStyle/>
                    <a:p>
                      <a:r>
                        <a:rPr sz="1200" b="0">
                          <a:solidFill>
                            <a:srgbClr val="D5D5D5"/>
                          </a:solidFill>
                          <a:latin typeface="Calibri"/>
                        </a:rPr>
                        <a:t>gather ERC, explain options</a:t>
                      </a:r>
                    </a:p>
                  </a:txBody>
                  <a:tcPr marL="63500" marR="63500" marT="25400" marB="25400" anchor="ctr">
                    <a:solidFill>
                      <a:srgbClr val="14161C"/>
                    </a:solidFill>
                  </a:tcPr>
                </a:tc>
              </a:tr>
              <a:tr h="525780">
                <a:tc>
                  <a:txBody>
                    <a:bodyPr wrap="square"/>
                    <a:lstStyle/>
                    <a:p>
                      <a:r>
                        <a:rPr sz="1200" b="1">
                          <a:solidFill>
                            <a:srgbClr val="FFFFFF"/>
                          </a:solidFill>
                          <a:latin typeface="Calibri"/>
                        </a:rPr>
                        <a:t>Discipline &amp; GRF</a:t>
                      </a:r>
                    </a:p>
                  </a:txBody>
                  <a:tcPr marL="63500" marR="63500" marT="25400" marB="25400" anchor="ctr">
                    <a:solidFill>
                      <a:srgbClr val="1E222B"/>
                    </a:solidFill>
                  </a:tcPr>
                </a:tc>
                <a:tc>
                  <a:txBody>
                    <a:bodyPr wrap="square"/>
                    <a:lstStyle/>
                    <a:p>
                      <a:r>
                        <a:rPr sz="1200" b="0">
                          <a:solidFill>
                            <a:srgbClr val="D5D5D5"/>
                          </a:solidFill>
                          <a:latin typeface="Calibri"/>
                        </a:rPr>
                        <a:t>PFF</a:t>
                      </a:r>
                    </a:p>
                  </a:txBody>
                  <a:tcPr marL="63500" marR="63500" marT="25400" marB="25400" anchor="ctr">
                    <a:solidFill>
                      <a:srgbClr val="1E222B"/>
                    </a:solidFill>
                  </a:tcPr>
                </a:tc>
                <a:tc>
                  <a:txBody>
                    <a:bodyPr wrap="square"/>
                    <a:lstStyle/>
                    <a:p>
                      <a:r>
                        <a:rPr sz="1200" b="0">
                          <a:solidFill>
                            <a:srgbClr val="D5D5D5"/>
                          </a:solidFill>
                          <a:latin typeface="Calibri"/>
                        </a:rPr>
                        <a:t>deferred — status &amp; guidance</a:t>
                      </a:r>
                    </a:p>
                  </a:txBody>
                  <a:tcPr marL="63500" marR="63500" marT="25400" marB="25400" anchor="ctr">
                    <a:solidFill>
                      <a:srgbClr val="1E222B"/>
                    </a:solidFill>
                  </a:tcPr>
                </a:tc>
              </a:tr>
              <a:tr h="525780">
                <a:tc>
                  <a:txBody>
                    <a:bodyPr wrap="square"/>
                    <a:lstStyle/>
                    <a:p>
                      <a:r>
                        <a:rPr sz="1200" b="1">
                          <a:solidFill>
                            <a:srgbClr val="FFFFFF"/>
                          </a:solidFill>
                          <a:latin typeface="Calibri"/>
                        </a:rPr>
                        <a:t>Officials &amp; safeguarding</a:t>
                      </a:r>
                    </a:p>
                  </a:txBody>
                  <a:tcPr marL="63500" marR="63500" marT="25400" marB="25400" anchor="ctr">
                    <a:solidFill>
                      <a:srgbClr val="14161C"/>
                    </a:solidFill>
                  </a:tcPr>
                </a:tc>
                <a:tc>
                  <a:txBody>
                    <a:bodyPr wrap="square"/>
                    <a:lstStyle/>
                    <a:p>
                      <a:r>
                        <a:rPr sz="1200" b="0">
                          <a:solidFill>
                            <a:srgbClr val="D5D5D5"/>
                          </a:solidFill>
                          <a:latin typeface="Calibri"/>
                        </a:rPr>
                        <a:t>PFF / WGS</a:t>
                      </a:r>
                    </a:p>
                  </a:txBody>
                  <a:tcPr marL="63500" marR="63500" marT="25400" marB="25400" anchor="ctr">
                    <a:solidFill>
                      <a:srgbClr val="14161C"/>
                    </a:solidFill>
                  </a:tcPr>
                </a:tc>
                <a:tc>
                  <a:txBody>
                    <a:bodyPr wrap="square"/>
                    <a:lstStyle/>
                    <a:p>
                      <a:r>
                        <a:rPr sz="1200" b="0">
                          <a:solidFill>
                            <a:srgbClr val="D5D5D5"/>
                          </a:solidFill>
                          <a:latin typeface="Calibri"/>
                        </a:rPr>
                        <a:t>check surfacing, no decisions</a:t>
                      </a:r>
                    </a:p>
                  </a:txBody>
                  <a:tcPr marL="63500" marR="63500" marT="25400" marB="25400" anchor="ctr">
                    <a:solidFill>
                      <a:srgbClr val="14161C"/>
                    </a:solidFill>
                  </a:tcPr>
                </a:tc>
              </a:tr>
              <a:tr h="525780">
                <a:tc>
                  <a:txBody>
                    <a:bodyPr wrap="square"/>
                    <a:lstStyle/>
                    <a:p>
                      <a:r>
                        <a:rPr sz="1200" b="1">
                          <a:solidFill>
                            <a:srgbClr val="FFFFFF"/>
                          </a:solidFill>
                          <a:latin typeface="Calibri"/>
                        </a:rPr>
                        <a:t>County cups &amp; competitions</a:t>
                      </a:r>
                    </a:p>
                  </a:txBody>
                  <a:tcPr marL="63500" marR="63500" marT="25400" marB="25400" anchor="ctr">
                    <a:solidFill>
                      <a:srgbClr val="1E222B"/>
                    </a:solidFill>
                  </a:tcPr>
                </a:tc>
                <a:tc>
                  <a:txBody>
                    <a:bodyPr wrap="square"/>
                    <a:lstStyle/>
                    <a:p>
                      <a:r>
                        <a:rPr sz="1200" b="0">
                          <a:solidFill>
                            <a:srgbClr val="D5D5D5"/>
                          </a:solidFill>
                          <a:latin typeface="Calibri"/>
                        </a:rPr>
                        <a:t>PFF</a:t>
                      </a:r>
                    </a:p>
                  </a:txBody>
                  <a:tcPr marL="63500" marR="63500" marT="25400" marB="25400" anchor="ctr">
                    <a:solidFill>
                      <a:srgbClr val="1E222B"/>
                    </a:solidFill>
                  </a:tcPr>
                </a:tc>
                <a:tc>
                  <a:txBody>
                    <a:bodyPr wrap="square"/>
                    <a:lstStyle/>
                    <a:p>
                      <a:r>
                        <a:rPr sz="1200" b="0">
                          <a:solidFill>
                            <a:srgbClr val="D5D5D5"/>
                          </a:solidFill>
                          <a:latin typeface="Calibri"/>
                        </a:rPr>
                        <a:t>deferred agent</a:t>
                      </a:r>
                    </a:p>
                  </a:txBody>
                  <a:tcPr marL="63500" marR="63500" marT="25400" marB="25400" anchor="ctr">
                    <a:solidFill>
                      <a:srgbClr val="1E222B"/>
                    </a:solidFill>
                  </a:tcPr>
                </a:tc>
              </a:tr>
              <a:tr h="525780">
                <a:tc>
                  <a:txBody>
                    <a:bodyPr wrap="square"/>
                    <a:lstStyle/>
                    <a:p>
                      <a:r>
                        <a:rPr sz="1200" b="1">
                          <a:solidFill>
                            <a:srgbClr val="FFFFFF"/>
                          </a:solidFill>
                          <a:latin typeface="Calibri"/>
                        </a:rPr>
                        <a:t>Payments &amp; invoicing</a:t>
                      </a:r>
                    </a:p>
                  </a:txBody>
                  <a:tcPr marL="63500" marR="63500" marT="25400" marB="25400" anchor="ctr">
                    <a:solidFill>
                      <a:srgbClr val="14161C"/>
                    </a:solidFill>
                  </a:tcPr>
                </a:tc>
                <a:tc>
                  <a:txBody>
                    <a:bodyPr wrap="square"/>
                    <a:lstStyle/>
                    <a:p>
                      <a:r>
                        <a:rPr sz="1200" b="0">
                          <a:solidFill>
                            <a:srgbClr val="D5D5D5"/>
                          </a:solidFill>
                          <a:latin typeface="Calibri"/>
                        </a:rPr>
                        <a:t>PFF / PAAS / Xero</a:t>
                      </a:r>
                    </a:p>
                  </a:txBody>
                  <a:tcPr marL="63500" marR="63500" marT="25400" marB="25400" anchor="ctr">
                    <a:solidFill>
                      <a:srgbClr val="14161C"/>
                    </a:solidFill>
                  </a:tcPr>
                </a:tc>
                <a:tc>
                  <a:txBody>
                    <a:bodyPr wrap="square"/>
                    <a:lstStyle/>
                    <a:p>
                      <a:r>
                        <a:rPr sz="1200" b="0">
                          <a:solidFill>
                            <a:srgbClr val="D5D5D5"/>
                          </a:solidFill>
                          <a:latin typeface="Calibri"/>
                        </a:rPr>
                        <a:t>narrate state, never confirm unverified</a:t>
                      </a:r>
                    </a:p>
                  </a:txBody>
                  <a:tcPr marL="63500" marR="63500" marT="25400" marB="25400" anchor="ctr">
                    <a:solidFill>
                      <a:srgbClr val="14161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Adam persona — model &amp; charter</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D1-07 / D1-09 · workflow-first, football-commentary tone</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Persona rules</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Workflow-first: personality supports completion, never distracts.</a:t>
            </a:r>
          </a:p>
          <a:p>
            <a:pPr algn="l">
              <a:spcAft>
                <a:spcPts val="1200"/>
              </a:spcAft>
            </a:pPr>
            <a:r>
              <a:rPr sz="1500" b="1">
                <a:solidFill>
                  <a:srgbClr val="2ACCFF"/>
                </a:solidFill>
                <a:latin typeface="Calibri"/>
              </a:rPr>
              <a:t>▸ </a:t>
            </a:r>
            <a:r>
              <a:rPr sz="1500">
                <a:solidFill>
                  <a:srgbClr val="FFFFFF"/>
                </a:solidFill>
                <a:latin typeface="Calibri"/>
              </a:rPr>
              <a:t>Football-commentary tone, used at meaningful moments only.</a:t>
            </a:r>
          </a:p>
          <a:p>
            <a:pPr algn="l">
              <a:spcAft>
                <a:spcPts val="1200"/>
              </a:spcAft>
            </a:pPr>
            <a:r>
              <a:rPr sz="1500" b="1">
                <a:solidFill>
                  <a:srgbClr val="2ACCFF"/>
                </a:solidFill>
                <a:latin typeface="Calibri"/>
              </a:rPr>
              <a:t>▸ </a:t>
            </a:r>
            <a:r>
              <a:rPr sz="1500">
                <a:solidFill>
                  <a:srgbClr val="FFFFFF"/>
                </a:solidFill>
                <a:latin typeface="Calibri"/>
              </a:rPr>
              <a:t>Enterprise truth overrides persona — always.</a:t>
            </a:r>
          </a:p>
          <a:p>
            <a:pPr algn="l">
              <a:spcAft>
                <a:spcPts val="1200"/>
              </a:spcAft>
            </a:pPr>
            <a:r>
              <a:rPr sz="1500" b="1">
                <a:solidFill>
                  <a:srgbClr val="2ACCFF"/>
                </a:solidFill>
                <a:latin typeface="Calibri"/>
              </a:rPr>
              <a:t>▸ </a:t>
            </a:r>
            <a:r>
              <a:rPr sz="1500">
                <a:solidFill>
                  <a:srgbClr val="FFFFFF"/>
                </a:solidFill>
                <a:latin typeface="Calibri"/>
              </a:rPr>
              <a:t>Never celebrate an unconfirmed transaction ('GOAL!' only on confirmed success).</a:t>
            </a:r>
          </a:p>
          <a:p>
            <a:pPr algn="l">
              <a:spcAft>
                <a:spcPts val="1200"/>
              </a:spcAft>
            </a:pPr>
            <a:r>
              <a:rPr sz="1500" b="1">
                <a:solidFill>
                  <a:srgbClr val="2ACCFF"/>
                </a:solidFill>
                <a:latin typeface="Calibri"/>
              </a:rPr>
              <a:t>▸ </a:t>
            </a:r>
            <a:r>
              <a:rPr sz="1500">
                <a:solidFill>
                  <a:srgbClr val="FFFFFF"/>
                </a:solidFill>
                <a:latin typeface="Calibri"/>
              </a:rPr>
              <a:t>Errors &amp; pending/HIL states stay factual and explicit.</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Access archetypes</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Club Admin — primary affiliation actor.</a:t>
            </a:r>
          </a:p>
          <a:p>
            <a:pPr algn="l">
              <a:spcAft>
                <a:spcPts val="1200"/>
              </a:spcAft>
            </a:pPr>
            <a:r>
              <a:rPr sz="1500" b="1">
                <a:solidFill>
                  <a:srgbClr val="2ACCFF"/>
                </a:solidFill>
                <a:latin typeface="Calibri"/>
              </a:rPr>
              <a:t>▸ </a:t>
            </a:r>
            <a:r>
              <a:rPr sz="1500">
                <a:solidFill>
                  <a:srgbClr val="FFFFFF"/>
                </a:solidFill>
                <a:latin typeface="Calibri"/>
              </a:rPr>
              <a:t>CFA Admin / reviewer — approvals (HIL).</a:t>
            </a:r>
          </a:p>
          <a:p>
            <a:pPr algn="l">
              <a:spcAft>
                <a:spcPts val="1200"/>
              </a:spcAft>
            </a:pPr>
            <a:r>
              <a:rPr sz="1500" b="1">
                <a:solidFill>
                  <a:srgbClr val="2ACCFF"/>
                </a:solidFill>
                <a:latin typeface="Calibri"/>
              </a:rPr>
              <a:t>▸ </a:t>
            </a:r>
            <a:r>
              <a:rPr sz="1500">
                <a:solidFill>
                  <a:srgbClr val="FFFFFF"/>
                </a:solidFill>
                <a:latin typeface="Calibri"/>
              </a:rPr>
              <a:t>County &amp; league roles — scoped visibility.</a:t>
            </a:r>
          </a:p>
          <a:p>
            <a:pPr algn="l">
              <a:spcAft>
                <a:spcPts val="1200"/>
              </a:spcAft>
            </a:pPr>
            <a:r>
              <a:rPr sz="1500" b="1">
                <a:solidFill>
                  <a:srgbClr val="2ACCFF"/>
                </a:solidFill>
                <a:latin typeface="Calibri"/>
              </a:rPr>
              <a:t>▸ </a:t>
            </a:r>
            <a:r>
              <a:rPr sz="1500">
                <a:solidFill>
                  <a:srgbClr val="FFFFFF"/>
                </a:solidFill>
                <a:latin typeface="Calibri"/>
              </a:rPr>
              <a:t>Persona is a versioned prompt layer, reusable across workflows.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Conversational journey &amp; HIL</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D1-08 · where humans stay in the loop</a:t>
            </a:r>
          </a:p>
        </p:txBody>
      </p:sp>
      <p:sp>
        <p:nvSpPr>
          <p:cNvPr id="4" name="Rounded Rectangle 3"/>
          <p:cNvSpPr/>
          <p:nvPr/>
        </p:nvSpPr>
        <p:spPr>
          <a:xfrm>
            <a:off x="502920" y="2377440"/>
            <a:ext cx="1650491" cy="91440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Intent</a:t>
            </a:r>
          </a:p>
          <a:p>
            <a:pPr algn="ctr"/>
            <a:r>
              <a:rPr sz="1200" b="1">
                <a:solidFill>
                  <a:srgbClr val="FFFFFF"/>
                </a:solidFill>
                <a:latin typeface="Calibri"/>
              </a:rPr>
              <a:t>what the user wants</a:t>
            </a:r>
          </a:p>
        </p:txBody>
      </p:sp>
      <p:sp>
        <p:nvSpPr>
          <p:cNvPr id="5" name="Rounded Rectangle 4"/>
          <p:cNvSpPr/>
          <p:nvPr/>
        </p:nvSpPr>
        <p:spPr>
          <a:xfrm>
            <a:off x="2409444" y="2377440"/>
            <a:ext cx="1650491" cy="91440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Gather</a:t>
            </a:r>
          </a:p>
          <a:p>
            <a:pPr algn="ctr"/>
            <a:r>
              <a:rPr sz="1200" b="1">
                <a:solidFill>
                  <a:srgbClr val="FFFFFF"/>
                </a:solidFill>
                <a:latin typeface="Calibri"/>
              </a:rPr>
              <a:t>ERC context</a:t>
            </a:r>
          </a:p>
        </p:txBody>
      </p:sp>
      <p:cxnSp>
        <p:nvCxnSpPr>
          <p:cNvPr id="6" name="Connector 5"/>
          <p:cNvCxnSpPr/>
          <p:nvPr/>
        </p:nvCxnSpPr>
        <p:spPr>
          <a:xfrm>
            <a:off x="2153411"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15968" y="2377440"/>
            <a:ext cx="1650491" cy="91440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Reason</a:t>
            </a:r>
          </a:p>
          <a:p>
            <a:pPr algn="ctr"/>
            <a:r>
              <a:rPr sz="1200" b="1">
                <a:solidFill>
                  <a:srgbClr val="FFFFFF"/>
                </a:solidFill>
                <a:latin typeface="Calibri"/>
              </a:rPr>
              <a:t>eligibility via enterprise</a:t>
            </a:r>
          </a:p>
        </p:txBody>
      </p:sp>
      <p:cxnSp>
        <p:nvCxnSpPr>
          <p:cNvPr id="8" name="Connector 7"/>
          <p:cNvCxnSpPr/>
          <p:nvPr/>
        </p:nvCxnSpPr>
        <p:spPr>
          <a:xfrm>
            <a:off x="4059935"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22492" y="2377440"/>
            <a:ext cx="1650491" cy="91440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Confirm</a:t>
            </a:r>
          </a:p>
          <a:p>
            <a:pPr algn="ctr"/>
            <a:r>
              <a:rPr sz="1200" b="1">
                <a:solidFill>
                  <a:srgbClr val="FFFFFF"/>
                </a:solidFill>
                <a:latin typeface="Calibri"/>
              </a:rPr>
              <a:t>HIL checkpoint</a:t>
            </a:r>
          </a:p>
        </p:txBody>
      </p:sp>
      <p:cxnSp>
        <p:nvCxnSpPr>
          <p:cNvPr id="10" name="Connector 9"/>
          <p:cNvCxnSpPr/>
          <p:nvPr/>
        </p:nvCxnSpPr>
        <p:spPr>
          <a:xfrm>
            <a:off x="5966459"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29016" y="2377440"/>
            <a:ext cx="1650491" cy="91440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Execute</a:t>
            </a:r>
          </a:p>
          <a:p>
            <a:pPr algn="ctr"/>
            <a:r>
              <a:rPr sz="1200" b="1">
                <a:solidFill>
                  <a:srgbClr val="FFFFFF"/>
                </a:solidFill>
                <a:latin typeface="Calibri"/>
              </a:rPr>
              <a:t>enterprise API</a:t>
            </a:r>
          </a:p>
        </p:txBody>
      </p:sp>
      <p:cxnSp>
        <p:nvCxnSpPr>
          <p:cNvPr id="12" name="Connector 11"/>
          <p:cNvCxnSpPr/>
          <p:nvPr/>
        </p:nvCxnSpPr>
        <p:spPr>
          <a:xfrm>
            <a:off x="7872983" y="2834640"/>
            <a:ext cx="256033"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035540" y="2377440"/>
            <a:ext cx="1650491" cy="914400"/>
          </a:xfrm>
          <a:prstGeom prst="roundRect">
            <a:avLst/>
          </a:prstGeom>
          <a:solidFill>
            <a:srgbClr val="1E222B"/>
          </a:solidFill>
          <a:ln w="15875">
            <a:solidFill>
              <a:srgbClr val="5300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Communicate</a:t>
            </a:r>
          </a:p>
          <a:p>
            <a:pPr algn="ctr"/>
            <a:r>
              <a:rPr sz="1200" b="1">
                <a:solidFill>
                  <a:srgbClr val="FFFFFF"/>
                </a:solidFill>
                <a:latin typeface="Calibri"/>
              </a:rPr>
              <a:t>state + next step</a:t>
            </a:r>
          </a:p>
        </p:txBody>
      </p:sp>
      <p:cxnSp>
        <p:nvCxnSpPr>
          <p:cNvPr id="14" name="Connector 13"/>
          <p:cNvCxnSpPr/>
          <p:nvPr/>
        </p:nvCxnSpPr>
        <p:spPr>
          <a:xfrm>
            <a:off x="9779508" y="2834640"/>
            <a:ext cx="256032" cy="0"/>
          </a:xfrm>
          <a:prstGeom prst="line">
            <a:avLst/>
          </a:prstGeom>
          <a:ln w="1905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840480"/>
            <a:ext cx="10515600" cy="164592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HIL touchpoints: user confirmation before submission; CFA review/approval; payment authorisation; external portal actions.</a:t>
            </a:r>
          </a:p>
          <a:p>
            <a:pPr algn="l">
              <a:spcAft>
                <a:spcPts val="1200"/>
              </a:spcAft>
            </a:pPr>
            <a:r>
              <a:rPr sz="1500" b="1">
                <a:solidFill>
                  <a:srgbClr val="2ACCFF"/>
                </a:solidFill>
                <a:latin typeface="Calibri"/>
              </a:rPr>
              <a:t>▸ </a:t>
            </a:r>
            <a:r>
              <a:rPr sz="1500">
                <a:solidFill>
                  <a:srgbClr val="FFFFFF"/>
                </a:solidFill>
                <a:latin typeface="Calibri"/>
              </a:rPr>
              <a:t>Adam clearly states who/what the workflow is waiting for during pending states.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catalogue &amp; phasing</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D1-10 / D1-11 · affiliation first</a:t>
            </a:r>
          </a:p>
        </p:txBody>
      </p:sp>
      <p:sp>
        <p:nvSpPr>
          <p:cNvPr id="4" name="TextBox 3"/>
          <p:cNvSpPr txBox="1"/>
          <p:nvPr/>
        </p:nvSpPr>
        <p:spPr>
          <a:xfrm>
            <a:off x="82296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Catalogue (phased)</a:t>
            </a:r>
          </a:p>
        </p:txBody>
      </p:sp>
      <p:sp>
        <p:nvSpPr>
          <p:cNvPr id="5" name="TextBox 4"/>
          <p:cNvSpPr txBox="1"/>
          <p:nvPr/>
        </p:nvSpPr>
        <p:spPr>
          <a:xfrm>
            <a:off x="82296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Affiliation — built first, end-to-end (Phase 23).</a:t>
            </a:r>
          </a:p>
          <a:p>
            <a:pPr algn="l">
              <a:spcAft>
                <a:spcPts val="1200"/>
              </a:spcAft>
            </a:pPr>
            <a:r>
              <a:rPr sz="1500" b="1">
                <a:solidFill>
                  <a:srgbClr val="2ACCFF"/>
                </a:solidFill>
                <a:latin typeface="Calibri"/>
              </a:rPr>
              <a:t>▸ </a:t>
            </a:r>
            <a:r>
              <a:rPr sz="1500">
                <a:solidFill>
                  <a:srgbClr val="FFFFFF"/>
                </a:solidFill>
                <a:latin typeface="Calibri"/>
              </a:rPr>
              <a:t>Registration, discipline, accreditation, insurance, officials, league management, approvals — deferred.</a:t>
            </a:r>
          </a:p>
          <a:p>
            <a:pPr algn="l">
              <a:spcAft>
                <a:spcPts val="1200"/>
              </a:spcAft>
            </a:pPr>
            <a:r>
              <a:rPr sz="1500" b="1">
                <a:solidFill>
                  <a:srgbClr val="2ACCFF"/>
                </a:solidFill>
                <a:latin typeface="Calibri"/>
              </a:rPr>
              <a:t>▸ </a:t>
            </a:r>
            <a:r>
              <a:rPr sz="1500">
                <a:solidFill>
                  <a:srgbClr val="FFFFFF"/>
                </a:solidFill>
                <a:latin typeface="Calibri"/>
              </a:rPr>
              <a:t>Catalogue finalised by a real product decision, not invented.</a:t>
            </a:r>
          </a:p>
        </p:txBody>
      </p:sp>
      <p:sp>
        <p:nvSpPr>
          <p:cNvPr id="6" name="TextBox 5"/>
          <p:cNvSpPr txBox="1"/>
          <p:nvPr/>
        </p:nvSpPr>
        <p:spPr>
          <a:xfrm>
            <a:off x="6263640" y="1737360"/>
            <a:ext cx="5120640" cy="365760"/>
          </a:xfrm>
          <a:prstGeom prst="rect">
            <a:avLst/>
          </a:prstGeom>
          <a:noFill/>
        </p:spPr>
        <p:txBody>
          <a:bodyPr wrap="square" anchor="t" lIns="0" rIns="0" tIns="0" bIns="0">
            <a:spAutoFit/>
          </a:bodyPr>
          <a:lstStyle/>
          <a:p>
            <a:pPr algn="l"/>
            <a:r>
              <a:rPr sz="1500" b="1" i="0">
                <a:solidFill>
                  <a:srgbClr val="2ACCFF"/>
                </a:solidFill>
                <a:latin typeface="Calibri"/>
              </a:rPr>
              <a:t>Why affiliation first</a:t>
            </a:r>
          </a:p>
        </p:txBody>
      </p:sp>
      <p:sp>
        <p:nvSpPr>
          <p:cNvPr id="7" name="TextBox 6"/>
          <p:cNvSpPr txBox="1"/>
          <p:nvPr/>
        </p:nvSpPr>
        <p:spPr>
          <a:xfrm>
            <a:off x="6263640" y="2194560"/>
            <a:ext cx="5120640" cy="420624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Exercises every platform capability: ERC, tools, RAG, SLM, guardrails, eventing, HIL.</a:t>
            </a:r>
          </a:p>
          <a:p>
            <a:pPr algn="l">
              <a:spcAft>
                <a:spcPts val="1200"/>
              </a:spcAft>
            </a:pPr>
            <a:r>
              <a:rPr sz="1500" b="1">
                <a:solidFill>
                  <a:srgbClr val="2ACCFF"/>
                </a:solidFill>
                <a:latin typeface="Calibri"/>
              </a:rPr>
              <a:t>▸ </a:t>
            </a:r>
            <a:r>
              <a:rPr sz="1500">
                <a:solidFill>
                  <a:srgbClr val="FFFFFF"/>
                </a:solidFill>
                <a:latin typeface="Calibri"/>
              </a:rPr>
              <a:t>Highest business value and clearest success metric.</a:t>
            </a:r>
          </a:p>
          <a:p>
            <a:pPr algn="l">
              <a:spcAft>
                <a:spcPts val="1200"/>
              </a:spcAft>
            </a:pPr>
            <a:r>
              <a:rPr sz="1500" b="1">
                <a:solidFill>
                  <a:srgbClr val="2ACCFF"/>
                </a:solidFill>
                <a:latin typeface="Calibri"/>
              </a:rPr>
              <a:t>▸ </a:t>
            </a:r>
            <a:r>
              <a:rPr sz="1500">
                <a:solidFill>
                  <a:srgbClr val="FFFFFF"/>
                </a:solidFill>
                <a:latin typeface="Calibri"/>
              </a:rPr>
              <a:t>Proves the architecture before breadth.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Club Affiliation — the first E2E workflow</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D1-05 · Adam narrates; PFF decides &amp; executes</a:t>
            </a:r>
          </a:p>
        </p:txBody>
      </p:sp>
      <p:sp>
        <p:nvSpPr>
          <p:cNvPr id="4" name="Rounded Rectangle 3"/>
          <p:cNvSpPr/>
          <p:nvPr/>
        </p:nvSpPr>
        <p:spPr>
          <a:xfrm>
            <a:off x="502920" y="1828800"/>
            <a:ext cx="1965960" cy="77724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Club</a:t>
            </a:r>
          </a:p>
          <a:p>
            <a:pPr algn="ctr"/>
            <a:r>
              <a:rPr sz="1200" b="1">
                <a:solidFill>
                  <a:srgbClr val="FFFFFF"/>
                </a:solidFill>
                <a:latin typeface="Calibri"/>
              </a:rPr>
              <a:t>checks</a:t>
            </a:r>
          </a:p>
        </p:txBody>
      </p:sp>
      <p:sp>
        <p:nvSpPr>
          <p:cNvPr id="5" name="Rounded Rectangle 4"/>
          <p:cNvSpPr/>
          <p:nvPr/>
        </p:nvSpPr>
        <p:spPr>
          <a:xfrm>
            <a:off x="2779776" y="1828800"/>
            <a:ext cx="1965960" cy="77724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Select teams</a:t>
            </a:r>
          </a:p>
          <a:p>
            <a:pPr algn="ctr"/>
            <a:r>
              <a:rPr sz="1200" b="1">
                <a:solidFill>
                  <a:srgbClr val="FFFFFF"/>
                </a:solidFill>
                <a:latin typeface="Calibri"/>
              </a:rPr>
              <a:t>+ fees</a:t>
            </a:r>
          </a:p>
        </p:txBody>
      </p:sp>
      <p:cxnSp>
        <p:nvCxnSpPr>
          <p:cNvPr id="6" name="Connector 5"/>
          <p:cNvCxnSpPr/>
          <p:nvPr/>
        </p:nvCxnSpPr>
        <p:spPr>
          <a:xfrm>
            <a:off x="2468880" y="221742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56631" y="1828800"/>
            <a:ext cx="1965960" cy="77724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Insurance</a:t>
            </a:r>
          </a:p>
        </p:txBody>
      </p:sp>
      <p:cxnSp>
        <p:nvCxnSpPr>
          <p:cNvPr id="8" name="Connector 7"/>
          <p:cNvCxnSpPr/>
          <p:nvPr/>
        </p:nvCxnSpPr>
        <p:spPr>
          <a:xfrm>
            <a:off x="4745736" y="2217420"/>
            <a:ext cx="310895"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33488" y="1828800"/>
            <a:ext cx="1965960" cy="777240"/>
          </a:xfrm>
          <a:prstGeom prst="roundRect">
            <a:avLst/>
          </a:prstGeom>
          <a:solidFill>
            <a:srgbClr val="1E222B"/>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Other</a:t>
            </a:r>
          </a:p>
          <a:p>
            <a:pPr algn="ctr"/>
            <a:r>
              <a:rPr sz="1200" b="1">
                <a:solidFill>
                  <a:srgbClr val="FFFFFF"/>
                </a:solidFill>
                <a:latin typeface="Calibri"/>
              </a:rPr>
              <a:t>products</a:t>
            </a:r>
          </a:p>
        </p:txBody>
      </p:sp>
      <p:cxnSp>
        <p:nvCxnSpPr>
          <p:cNvPr id="10" name="Connector 9"/>
          <p:cNvCxnSpPr/>
          <p:nvPr/>
        </p:nvCxnSpPr>
        <p:spPr>
          <a:xfrm>
            <a:off x="7022592" y="221742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10344" y="1828800"/>
            <a:ext cx="1965960" cy="777240"/>
          </a:xfrm>
          <a:prstGeom prst="roundRect">
            <a:avLst/>
          </a:prstGeom>
          <a:solidFill>
            <a:srgbClr val="1E222B"/>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Summary</a:t>
            </a:r>
          </a:p>
          <a:p>
            <a:pPr algn="ctr"/>
            <a:r>
              <a:rPr sz="1200" b="1">
                <a:solidFill>
                  <a:srgbClr val="FFFFFF"/>
                </a:solidFill>
                <a:latin typeface="Calibri"/>
              </a:rPr>
              <a:t>&amp; submit</a:t>
            </a:r>
          </a:p>
        </p:txBody>
      </p:sp>
      <p:cxnSp>
        <p:nvCxnSpPr>
          <p:cNvPr id="12" name="Connector 11"/>
          <p:cNvCxnSpPr/>
          <p:nvPr/>
        </p:nvCxnSpPr>
        <p:spPr>
          <a:xfrm>
            <a:off x="9299448" y="221742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93324" y="2606040"/>
            <a:ext cx="0" cy="640080"/>
          </a:xfrm>
          <a:prstGeom prst="line">
            <a:avLst/>
          </a:prstGeom>
          <a:ln w="20320">
            <a:solidFill>
              <a:srgbClr val="FED03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3063240"/>
            <a:ext cx="2743200" cy="274320"/>
          </a:xfrm>
          <a:prstGeom prst="rect">
            <a:avLst/>
          </a:prstGeom>
          <a:noFill/>
        </p:spPr>
        <p:txBody>
          <a:bodyPr wrap="square" anchor="t" lIns="0" rIns="0" tIns="0" bIns="0">
            <a:spAutoFit/>
          </a:bodyPr>
          <a:lstStyle/>
          <a:p>
            <a:pPr algn="l"/>
            <a:r>
              <a:rPr sz="1100" b="1" i="0">
                <a:solidFill>
                  <a:srgbClr val="FE2579"/>
                </a:solidFill>
                <a:latin typeface="Calibri"/>
              </a:rPr>
              <a:t>ROUTING</a:t>
            </a:r>
          </a:p>
        </p:txBody>
      </p:sp>
      <p:sp>
        <p:nvSpPr>
          <p:cNvPr id="15" name="Rounded Rectangle 14"/>
          <p:cNvSpPr/>
          <p:nvPr/>
        </p:nvSpPr>
        <p:spPr>
          <a:xfrm>
            <a:off x="502920" y="3383280"/>
            <a:ext cx="2468880" cy="777240"/>
          </a:xfrm>
          <a:prstGeom prst="roundRect">
            <a:avLst/>
          </a:prstGeom>
          <a:solidFill>
            <a:srgbClr val="1E222B"/>
          </a:solidFill>
          <a:ln w="15875">
            <a:solidFill>
              <a:srgbClr val="FE2579"/>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Auto-approve</a:t>
            </a:r>
          </a:p>
          <a:p>
            <a:pPr algn="ctr"/>
            <a:r>
              <a:rPr sz="1200" b="1">
                <a:solidFill>
                  <a:srgbClr val="FFFFFF"/>
                </a:solidFill>
                <a:latin typeface="Calibri"/>
              </a:rPr>
              <a:t>or CFA review (HIL)</a:t>
            </a:r>
          </a:p>
        </p:txBody>
      </p:sp>
      <p:sp>
        <p:nvSpPr>
          <p:cNvPr id="16" name="Rounded Rectangle 15"/>
          <p:cNvSpPr/>
          <p:nvPr/>
        </p:nvSpPr>
        <p:spPr>
          <a:xfrm>
            <a:off x="3282696" y="3383280"/>
            <a:ext cx="2468880" cy="777240"/>
          </a:xfrm>
          <a:prstGeom prst="roundRect">
            <a:avLst/>
          </a:prstGeom>
          <a:solidFill>
            <a:srgbClr val="1E222B"/>
          </a:solidFill>
          <a:ln w="15875">
            <a:solidFill>
              <a:srgbClr val="0283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Invoice /</a:t>
            </a:r>
          </a:p>
          <a:p>
            <a:pPr algn="ctr"/>
            <a:r>
              <a:rPr sz="1200" b="1">
                <a:solidFill>
                  <a:srgbClr val="FFFFFF"/>
                </a:solidFill>
                <a:latin typeface="Calibri"/>
              </a:rPr>
              <a:t>payment</a:t>
            </a:r>
          </a:p>
        </p:txBody>
      </p:sp>
      <p:cxnSp>
        <p:nvCxnSpPr>
          <p:cNvPr id="17" name="Connector 16"/>
          <p:cNvCxnSpPr/>
          <p:nvPr/>
        </p:nvCxnSpPr>
        <p:spPr>
          <a:xfrm>
            <a:off x="2971800" y="377190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62472" y="3383280"/>
            <a:ext cx="2468880" cy="777240"/>
          </a:xfrm>
          <a:prstGeom prst="roundRect">
            <a:avLst/>
          </a:prstGeom>
          <a:solidFill>
            <a:srgbClr val="1E222B"/>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COMPLETE</a:t>
            </a:r>
          </a:p>
        </p:txBody>
      </p:sp>
      <p:cxnSp>
        <p:nvCxnSpPr>
          <p:cNvPr id="19" name="Connector 18"/>
          <p:cNvCxnSpPr/>
          <p:nvPr/>
        </p:nvCxnSpPr>
        <p:spPr>
          <a:xfrm>
            <a:off x="5751576" y="377190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42248" y="3383280"/>
            <a:ext cx="2468880" cy="777240"/>
          </a:xfrm>
          <a:prstGeom prst="roundRect">
            <a:avLst/>
          </a:prstGeom>
          <a:solidFill>
            <a:srgbClr val="1E222B"/>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200" b="1">
                <a:solidFill>
                  <a:srgbClr val="FFFFFF"/>
                </a:solidFill>
                <a:latin typeface="Calibri"/>
              </a:rPr>
              <a:t>WGS sync</a:t>
            </a:r>
          </a:p>
          <a:p>
            <a:pPr algn="ctr"/>
            <a:r>
              <a:rPr sz="1200" b="1">
                <a:solidFill>
                  <a:srgbClr val="FFFFFF"/>
                </a:solidFill>
                <a:latin typeface="Calibri"/>
              </a:rPr>
              <a:t>(national DB)</a:t>
            </a:r>
          </a:p>
        </p:txBody>
      </p:sp>
      <p:cxnSp>
        <p:nvCxnSpPr>
          <p:cNvPr id="21" name="Connector 20"/>
          <p:cNvCxnSpPr/>
          <p:nvPr/>
        </p:nvCxnSpPr>
        <p:spPr>
          <a:xfrm>
            <a:off x="8531352" y="3771900"/>
            <a:ext cx="310896" cy="0"/>
          </a:xfrm>
          <a:prstGeom prst="line">
            <a:avLst/>
          </a:prstGeom>
          <a:ln w="17780">
            <a:solidFill>
              <a:srgbClr val="D5D5D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 y="4526280"/>
            <a:ext cx="10789920" cy="548640"/>
          </a:xfrm>
          <a:prstGeom prst="roundRect">
            <a:avLst/>
          </a:prstGeom>
          <a:solidFill>
            <a:srgbClr val="14161C"/>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48E84A"/>
                </a:solidFill>
                <a:latin typeface="Calibri"/>
              </a:rPr>
              <a:t>GOAL!  affiliation confirmed — only after the enterprise event confirms success</a:t>
            </a:r>
          </a:p>
        </p:txBody>
      </p:sp>
      <p:sp>
        <p:nvSpPr>
          <p:cNvPr id="23" name="TextBox 22"/>
          <p:cNvSpPr txBox="1"/>
          <p:nvPr/>
        </p:nvSpPr>
        <p:spPr>
          <a:xfrm>
            <a:off x="502920" y="5257800"/>
            <a:ext cx="10789920" cy="548640"/>
          </a:xfrm>
          <a:prstGeom prst="rect">
            <a:avLst/>
          </a:prstGeom>
          <a:noFill/>
        </p:spPr>
        <p:txBody>
          <a:bodyPr wrap="square" anchor="t" lIns="0" rIns="0" tIns="0" bIns="0">
            <a:spAutoFit/>
          </a:bodyPr>
          <a:lstStyle/>
          <a:p>
            <a:pPr algn="l"/>
            <a:r>
              <a:rPr sz="1200" b="0" i="0">
                <a:solidFill>
                  <a:srgbClr val="D5D5D5"/>
                </a:solidFill>
                <a:latin typeface="Calibri"/>
              </a:rPr>
              <a:t>27 scenarios covered (auto-approve, CFA approve/reject/cancel, £0, refund, fold, payment-fail reconciliation). Adam narrates state; PFF decides &amp; executes.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Requirements &amp; traceability</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D1-12</a:t>
            </a:r>
          </a:p>
        </p:txBody>
      </p:sp>
      <p:sp>
        <p:nvSpPr>
          <p:cNvPr id="4" name="TextBox 3"/>
          <p:cNvSpPr txBox="1"/>
          <p:nvPr/>
        </p:nvSpPr>
        <p:spPr>
          <a:xfrm>
            <a:off x="822960" y="1828800"/>
            <a:ext cx="10515600" cy="3200400"/>
          </a:xfrm>
          <a:prstGeom prst="rect">
            <a:avLst/>
          </a:prstGeom>
          <a:noFill/>
        </p:spPr>
        <p:txBody>
          <a:bodyPr wrap="square" lIns="0" tIns="0">
            <a:spAutoFit/>
          </a:bodyPr>
          <a:lstStyle/>
          <a:p>
            <a:pPr algn="l">
              <a:spcAft>
                <a:spcPts val="1600"/>
              </a:spcAft>
            </a:pPr>
            <a:r>
              <a:rPr sz="1600" b="1">
                <a:solidFill>
                  <a:srgbClr val="2ACCFF"/>
                </a:solidFill>
                <a:latin typeface="Calibri"/>
              </a:rPr>
              <a:t>▸ </a:t>
            </a:r>
            <a:r>
              <a:rPr sz="1600">
                <a:solidFill>
                  <a:srgbClr val="FFFFFF"/>
                </a:solidFill>
                <a:latin typeface="Calibri"/>
              </a:rPr>
              <a:t>A requirements baseline with a stable traceability scheme (WS-refs) links each requirement to the ADRs and source docs that satisfy it.</a:t>
            </a:r>
          </a:p>
          <a:p>
            <a:pPr algn="l">
              <a:spcAft>
                <a:spcPts val="1600"/>
              </a:spcAft>
            </a:pPr>
            <a:r>
              <a:rPr sz="1600" b="1">
                <a:solidFill>
                  <a:srgbClr val="2ACCFF"/>
                </a:solidFill>
                <a:latin typeface="Calibri"/>
              </a:rPr>
              <a:t>▸ </a:t>
            </a:r>
            <a:r>
              <a:rPr sz="1600">
                <a:solidFill>
                  <a:srgbClr val="FFFFFF"/>
                </a:solidFill>
                <a:latin typeface="Calibri"/>
              </a:rPr>
              <a:t>Every ADR cites its source-doc sections; the decision register and traceability matrix are generated artifacts.</a:t>
            </a:r>
          </a:p>
          <a:p>
            <a:pPr algn="l">
              <a:spcAft>
                <a:spcPts val="1600"/>
              </a:spcAft>
            </a:pPr>
            <a:r>
              <a:rPr sz="1600" b="1">
                <a:solidFill>
                  <a:srgbClr val="2ACCFF"/>
                </a:solidFill>
                <a:latin typeface="Calibri"/>
              </a:rPr>
              <a:t>▸ </a:t>
            </a:r>
            <a:r>
              <a:rPr sz="1600">
                <a:solidFill>
                  <a:srgbClr val="FFFFFF"/>
                </a:solidFill>
                <a:latin typeface="Calibri"/>
              </a:rPr>
              <a:t>This lets the ARB trace any decision back to a business requirement and forward to impacted code paths.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value &amp; outcomes</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D8 · why this is worth building</a:t>
            </a:r>
          </a:p>
        </p:txBody>
      </p:sp>
      <p:sp>
        <p:nvSpPr>
          <p:cNvPr id="4" name="Rounded Rectangle 3"/>
          <p:cNvSpPr/>
          <p:nvPr/>
        </p:nvSpPr>
        <p:spPr>
          <a:xfrm>
            <a:off x="822960" y="1920240"/>
            <a:ext cx="2430018" cy="1828800"/>
          </a:xfrm>
          <a:prstGeom prst="roundRect">
            <a:avLst/>
          </a:prstGeom>
          <a:solidFill>
            <a:srgbClr val="14161C"/>
          </a:solidFill>
          <a:ln w="15875">
            <a:solidFill>
              <a:srgbClr val="2ACC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5" name="TextBox 4"/>
          <p:cNvSpPr txBox="1"/>
          <p:nvPr/>
        </p:nvSpPr>
        <p:spPr>
          <a:xfrm>
            <a:off x="1005840" y="2121408"/>
            <a:ext cx="2064257" cy="822960"/>
          </a:xfrm>
          <a:prstGeom prst="rect">
            <a:avLst/>
          </a:prstGeom>
          <a:noFill/>
        </p:spPr>
        <p:txBody>
          <a:bodyPr wrap="square" anchor="t" lIns="0" rIns="0" tIns="0" bIns="0">
            <a:spAutoFit/>
          </a:bodyPr>
          <a:lstStyle/>
          <a:p>
            <a:pPr algn="l"/>
            <a:r>
              <a:rPr sz="2200" b="1" i="0">
                <a:solidFill>
                  <a:srgbClr val="2ACCFF"/>
                </a:solidFill>
                <a:latin typeface="Calibri"/>
              </a:rPr>
              <a:t>Faster</a:t>
            </a:r>
          </a:p>
        </p:txBody>
      </p:sp>
      <p:sp>
        <p:nvSpPr>
          <p:cNvPr id="6" name="TextBox 5"/>
          <p:cNvSpPr txBox="1"/>
          <p:nvPr/>
        </p:nvSpPr>
        <p:spPr>
          <a:xfrm>
            <a:off x="1005840"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guided affiliation, fewer failed pre-checks</a:t>
            </a:r>
          </a:p>
        </p:txBody>
      </p:sp>
      <p:sp>
        <p:nvSpPr>
          <p:cNvPr id="7" name="Rounded Rectangle 6"/>
          <p:cNvSpPr/>
          <p:nvPr/>
        </p:nvSpPr>
        <p:spPr>
          <a:xfrm>
            <a:off x="3527297" y="1920240"/>
            <a:ext cx="2430018" cy="1828800"/>
          </a:xfrm>
          <a:prstGeom prst="roundRect">
            <a:avLst/>
          </a:prstGeom>
          <a:solidFill>
            <a:srgbClr val="14161C"/>
          </a:solidFill>
          <a:ln w="15875">
            <a:solidFill>
              <a:srgbClr val="48E84A"/>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8" name="TextBox 7"/>
          <p:cNvSpPr txBox="1"/>
          <p:nvPr/>
        </p:nvSpPr>
        <p:spPr>
          <a:xfrm>
            <a:off x="3710177" y="2121408"/>
            <a:ext cx="2064257" cy="822960"/>
          </a:xfrm>
          <a:prstGeom prst="rect">
            <a:avLst/>
          </a:prstGeom>
          <a:noFill/>
        </p:spPr>
        <p:txBody>
          <a:bodyPr wrap="square" anchor="t" lIns="0" rIns="0" tIns="0" bIns="0">
            <a:spAutoFit/>
          </a:bodyPr>
          <a:lstStyle/>
          <a:p>
            <a:pPr algn="l"/>
            <a:r>
              <a:rPr sz="2200" b="1" i="0">
                <a:solidFill>
                  <a:srgbClr val="48E84A"/>
                </a:solidFill>
                <a:latin typeface="Calibri"/>
              </a:rPr>
              <a:t>Fewer errors</a:t>
            </a:r>
          </a:p>
        </p:txBody>
      </p:sp>
      <p:sp>
        <p:nvSpPr>
          <p:cNvPr id="9" name="TextBox 8"/>
          <p:cNvSpPr txBox="1"/>
          <p:nvPr/>
        </p:nvSpPr>
        <p:spPr>
          <a:xfrm>
            <a:off x="3710177"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ERC-grounded, guardrailed responses</a:t>
            </a:r>
          </a:p>
        </p:txBody>
      </p:sp>
      <p:sp>
        <p:nvSpPr>
          <p:cNvPr id="10" name="Rounded Rectangle 9"/>
          <p:cNvSpPr/>
          <p:nvPr/>
        </p:nvSpPr>
        <p:spPr>
          <a:xfrm>
            <a:off x="6231636" y="1920240"/>
            <a:ext cx="2430018" cy="1828800"/>
          </a:xfrm>
          <a:prstGeom prst="roundRect">
            <a:avLst/>
          </a:prstGeom>
          <a:solidFill>
            <a:srgbClr val="14161C"/>
          </a:solidFill>
          <a:ln w="15875">
            <a:solidFill>
              <a:srgbClr val="7F19BE"/>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1" name="TextBox 10"/>
          <p:cNvSpPr txBox="1"/>
          <p:nvPr/>
        </p:nvSpPr>
        <p:spPr>
          <a:xfrm>
            <a:off x="6414516" y="2121408"/>
            <a:ext cx="2064257" cy="822960"/>
          </a:xfrm>
          <a:prstGeom prst="rect">
            <a:avLst/>
          </a:prstGeom>
          <a:noFill/>
        </p:spPr>
        <p:txBody>
          <a:bodyPr wrap="square" anchor="t" lIns="0" rIns="0" tIns="0" bIns="0">
            <a:spAutoFit/>
          </a:bodyPr>
          <a:lstStyle/>
          <a:p>
            <a:pPr algn="l"/>
            <a:r>
              <a:rPr sz="2200" b="1" i="0">
                <a:solidFill>
                  <a:srgbClr val="7F19BE"/>
                </a:solidFill>
                <a:latin typeface="Calibri"/>
              </a:rPr>
              <a:t>Lower support load</a:t>
            </a:r>
          </a:p>
        </p:txBody>
      </p:sp>
      <p:sp>
        <p:nvSpPr>
          <p:cNvPr id="12" name="TextBox 11"/>
          <p:cNvSpPr txBox="1"/>
          <p:nvPr/>
        </p:nvSpPr>
        <p:spPr>
          <a:xfrm>
            <a:off x="6414516"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self-service with clear next actions</a:t>
            </a:r>
          </a:p>
        </p:txBody>
      </p:sp>
      <p:sp>
        <p:nvSpPr>
          <p:cNvPr id="13" name="Rounded Rectangle 12"/>
          <p:cNvSpPr/>
          <p:nvPr/>
        </p:nvSpPr>
        <p:spPr>
          <a:xfrm>
            <a:off x="8935974" y="1920240"/>
            <a:ext cx="2430018" cy="1828800"/>
          </a:xfrm>
          <a:prstGeom prst="roundRect">
            <a:avLst/>
          </a:prstGeom>
          <a:solidFill>
            <a:srgbClr val="14161C"/>
          </a:solidFill>
          <a:ln w="15875">
            <a:solidFill>
              <a:srgbClr val="FED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r>
              <a:rPr sz="1300" b="1">
                <a:solidFill>
                  <a:srgbClr val="FFFFFF"/>
                </a:solidFill>
                <a:latin typeface="Calibri"/>
              </a:rPr>
              <a:t/>
            </a:r>
          </a:p>
        </p:txBody>
      </p:sp>
      <p:sp>
        <p:nvSpPr>
          <p:cNvPr id="14" name="TextBox 13"/>
          <p:cNvSpPr txBox="1"/>
          <p:nvPr/>
        </p:nvSpPr>
        <p:spPr>
          <a:xfrm>
            <a:off x="9118853" y="2121408"/>
            <a:ext cx="2064257" cy="822960"/>
          </a:xfrm>
          <a:prstGeom prst="rect">
            <a:avLst/>
          </a:prstGeom>
          <a:noFill/>
        </p:spPr>
        <p:txBody>
          <a:bodyPr wrap="square" anchor="t" lIns="0" rIns="0" tIns="0" bIns="0">
            <a:spAutoFit/>
          </a:bodyPr>
          <a:lstStyle/>
          <a:p>
            <a:pPr algn="l"/>
            <a:r>
              <a:rPr sz="2200" b="1" i="0">
                <a:solidFill>
                  <a:srgbClr val="FED038"/>
                </a:solidFill>
                <a:latin typeface="Calibri"/>
              </a:rPr>
              <a:t>Auditable</a:t>
            </a:r>
          </a:p>
        </p:txBody>
      </p:sp>
      <p:sp>
        <p:nvSpPr>
          <p:cNvPr id="15" name="TextBox 14"/>
          <p:cNvSpPr txBox="1"/>
          <p:nvPr/>
        </p:nvSpPr>
        <p:spPr>
          <a:xfrm>
            <a:off x="9118853" y="2852928"/>
            <a:ext cx="2064257" cy="822959"/>
          </a:xfrm>
          <a:prstGeom prst="rect">
            <a:avLst/>
          </a:prstGeom>
          <a:noFill/>
        </p:spPr>
        <p:txBody>
          <a:bodyPr wrap="square" anchor="t" lIns="0" rIns="0" tIns="0" bIns="0">
            <a:spAutoFit/>
          </a:bodyPr>
          <a:lstStyle/>
          <a:p>
            <a:pPr algn="l"/>
            <a:r>
              <a:rPr sz="1200" b="0" i="0">
                <a:solidFill>
                  <a:srgbClr val="D5D5D5"/>
                </a:solidFill>
                <a:latin typeface="Calibri"/>
              </a:rPr>
              <a:t>every decision traced &amp; governed</a:t>
            </a:r>
          </a:p>
        </p:txBody>
      </p:sp>
      <p:sp>
        <p:nvSpPr>
          <p:cNvPr id="16" name="TextBox 15"/>
          <p:cNvSpPr txBox="1"/>
          <p:nvPr/>
        </p:nvSpPr>
        <p:spPr>
          <a:xfrm>
            <a:off x="822960" y="4114800"/>
            <a:ext cx="10515600" cy="1645920"/>
          </a:xfrm>
          <a:prstGeom prst="rect">
            <a:avLst/>
          </a:prstGeom>
          <a:noFill/>
        </p:spPr>
        <p:txBody>
          <a:bodyPr wrap="square" lIns="0" tIns="0">
            <a:spAutoFit/>
          </a:bodyPr>
          <a:lstStyle/>
          <a:p>
            <a:pPr algn="l">
              <a:spcAft>
                <a:spcPts val="1200"/>
              </a:spcAft>
            </a:pPr>
            <a:r>
              <a:rPr sz="1500" b="1">
                <a:solidFill>
                  <a:srgbClr val="2ACCFF"/>
                </a:solidFill>
                <a:latin typeface="Calibri"/>
              </a:rPr>
              <a:t>▸ </a:t>
            </a:r>
            <a:r>
              <a:rPr sz="1500">
                <a:solidFill>
                  <a:srgbClr val="FFFFFF"/>
                </a:solidFill>
                <a:latin typeface="Calibri"/>
              </a:rPr>
              <a:t>D8 frames value, defines success metrics, and keeps a decision-register/traceability link so value claims are measurable.</a:t>
            </a:r>
          </a:p>
          <a:p>
            <a:pPr algn="l">
              <a:spcAft>
                <a:spcPts val="1200"/>
              </a:spcAft>
            </a:pPr>
            <a:r>
              <a:rPr sz="1500" b="1">
                <a:solidFill>
                  <a:srgbClr val="2ACCFF"/>
                </a:solidFill>
                <a:latin typeface="Calibri"/>
              </a:rPr>
              <a:t>▸ </a:t>
            </a:r>
            <a:r>
              <a:rPr sz="1500">
                <a:solidFill>
                  <a:srgbClr val="FFFFFF"/>
                </a:solidFill>
                <a:latin typeface="Calibri"/>
              </a:rPr>
              <a:t>Cost-per-successful-affiliation (deck 08) is the meaningful unit, not cost-per-request.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ADR index — Business &amp; Value (D0 · D1 · D8)</a:t>
            </a:r>
          </a:p>
        </p:txBody>
      </p:sp>
      <p:sp>
        <p:nvSpPr>
          <p:cNvPr id="3" name="TextBox 2"/>
          <p:cNvSpPr txBox="1"/>
          <p:nvPr/>
        </p:nvSpPr>
        <p:spPr>
          <a:xfrm>
            <a:off x="822960" y="1234440"/>
            <a:ext cx="10515600" cy="457200"/>
          </a:xfrm>
          <a:prstGeom prst="rect">
            <a:avLst/>
          </a:prstGeom>
          <a:noFill/>
        </p:spPr>
        <p:txBody>
          <a:bodyPr wrap="square" anchor="t" lIns="0" rIns="0" tIns="0" bIns="0">
            <a:spAutoFit/>
          </a:bodyPr>
          <a:lstStyle/>
          <a:p>
            <a:pPr algn="l"/>
            <a:r>
              <a:rPr sz="1500" b="1" i="0">
                <a:solidFill>
                  <a:srgbClr val="2ACCFF"/>
                </a:solidFill>
                <a:latin typeface="Calibri"/>
              </a:rPr>
              <a:t>26 decisions — higher-trust sources always win; ◆ = Proposed, awaiting ARB</a:t>
            </a:r>
          </a:p>
        </p:txBody>
      </p:sp>
      <p:graphicFrame>
        <p:nvGraphicFramePr>
          <p:cNvPr id="4" name="Table 3"/>
          <p:cNvGraphicFramePr>
            <a:graphicFrameLocks noGrp="1"/>
          </p:cNvGraphicFramePr>
          <p:nvPr/>
        </p:nvGraphicFramePr>
        <p:xfrm>
          <a:off x="502920" y="1783080"/>
          <a:ext cx="5486399" cy="4572000"/>
        </p:xfrm>
        <a:graphic>
          <a:graphicData uri="http://schemas.openxmlformats.org/drawingml/2006/table">
            <a:tbl>
              <a:tblPr firstRow="1">
                <a:tableStyleId>{5C22544A-7EE6-4342-B048-85BDC9FD1C3A}</a:tableStyleId>
              </a:tblPr>
              <a:tblGrid>
                <a:gridCol w="973393"/>
                <a:gridCol w="3672348"/>
                <a:gridCol w="840658"/>
              </a:tblGrid>
              <a:tr h="304800">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04800">
                <a:tc>
                  <a:txBody>
                    <a:bodyPr wrap="square"/>
                    <a:lstStyle/>
                    <a:p>
                      <a:r>
                        <a:rPr sz="900" b="1">
                          <a:solidFill>
                            <a:srgbClr val="FFFFFF"/>
                          </a:solidFill>
                          <a:latin typeface="Calibri"/>
                        </a:rPr>
                        <a:t>D0-01</a:t>
                      </a:r>
                    </a:p>
                  </a:txBody>
                  <a:tcPr marL="63500" marR="63500" marT="25400" marB="25400" anchor="ctr">
                    <a:solidFill>
                      <a:srgbClr val="14161C"/>
                    </a:solidFill>
                  </a:tcPr>
                </a:tc>
                <a:tc>
                  <a:txBody>
                    <a:bodyPr wrap="square"/>
                    <a:lstStyle/>
                    <a:p>
                      <a:r>
                        <a:rPr sz="900" b="0">
                          <a:solidFill>
                            <a:srgbClr val="D5D5D5"/>
                          </a:solidFill>
                          <a:latin typeface="Calibri"/>
                        </a:rPr>
                        <a:t>Adopt an in-repository ADR library with a CMMI DAR-…</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D0-02</a:t>
                      </a:r>
                    </a:p>
                  </a:txBody>
                  <a:tcPr marL="63500" marR="63500" marT="25400" marB="25400" anchor="ctr">
                    <a:solidFill>
                      <a:srgbClr val="1E222B"/>
                    </a:solidFill>
                  </a:tcPr>
                </a:tc>
                <a:tc>
                  <a:txBody>
                    <a:bodyPr wrap="square"/>
                    <a:lstStyle/>
                    <a:p>
                      <a:r>
                        <a:rPr sz="900" b="0">
                          <a:solidFill>
                            <a:srgbClr val="D5D5D5"/>
                          </a:solidFill>
                          <a:latin typeface="Calibri"/>
                        </a:rPr>
                        <a:t>ADR identification, status lifecycle, supersession …</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D0-03</a:t>
                      </a:r>
                    </a:p>
                  </a:txBody>
                  <a:tcPr marL="63500" marR="63500" marT="25400" marB="25400" anchor="ctr">
                    <a:solidFill>
                      <a:srgbClr val="14161C"/>
                    </a:solidFill>
                  </a:tcPr>
                </a:tc>
                <a:tc>
                  <a:txBody>
                    <a:bodyPr wrap="square"/>
                    <a:lstStyle/>
                    <a:p>
                      <a:r>
                        <a:rPr sz="900" b="0">
                          <a:solidFill>
                            <a:srgbClr val="D5D5D5"/>
                          </a:solidFill>
                          <a:latin typeface="Calibri"/>
                        </a:rPr>
                        <a:t>Decision authority model and architecture review ca…</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D0-04</a:t>
                      </a:r>
                    </a:p>
                  </a:txBody>
                  <a:tcPr marL="63500" marR="63500" marT="25400" marB="25400" anchor="ctr">
                    <a:solidFill>
                      <a:srgbClr val="1E222B"/>
                    </a:solidFill>
                  </a:tcPr>
                </a:tc>
                <a:tc>
                  <a:txBody>
                    <a:bodyPr wrap="square"/>
                    <a:lstStyle/>
                    <a:p>
                      <a:r>
                        <a:rPr sz="900" b="0">
                          <a:solidFill>
                            <a:srgbClr val="D5D5D5"/>
                          </a:solidFill>
                          <a:latin typeface="Calibri"/>
                        </a:rPr>
                        <a:t>Open and deferred decision register with a phase-ga…</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D1-01</a:t>
                      </a:r>
                    </a:p>
                  </a:txBody>
                  <a:tcPr marL="63500" marR="63500" marT="25400" marB="25400" anchor="ctr">
                    <a:solidFill>
                      <a:srgbClr val="14161C"/>
                    </a:solidFill>
                  </a:tcPr>
                </a:tc>
                <a:tc>
                  <a:txBody>
                    <a:bodyPr wrap="square"/>
                    <a:lstStyle/>
                    <a:p>
                      <a:r>
                        <a:rPr sz="900" b="0">
                          <a:solidFill>
                            <a:srgbClr val="D5D5D5"/>
                          </a:solidFill>
                          <a:latin typeface="Calibri"/>
                        </a:rPr>
                        <a:t>PFF AI scope boundary — a conversational orchestrat…</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D1-02</a:t>
                      </a:r>
                    </a:p>
                  </a:txBody>
                  <a:tcPr marL="63500" marR="63500" marT="25400" marB="25400" anchor="ctr">
                    <a:solidFill>
                      <a:srgbClr val="1E222B"/>
                    </a:solidFill>
                  </a:tcPr>
                </a:tc>
                <a:tc>
                  <a:txBody>
                    <a:bodyPr wrap="square"/>
                    <a:lstStyle/>
                    <a:p>
                      <a:r>
                        <a:rPr sz="900" b="0">
                          <a:solidFill>
                            <a:srgbClr val="D5D5D5"/>
                          </a:solidFill>
                          <a:latin typeface="Calibri"/>
                        </a:rPr>
                        <a:t>The Golden Rule as a binding architectural constrai…</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D1-03</a:t>
                      </a:r>
                    </a:p>
                  </a:txBody>
                  <a:tcPr marL="63500" marR="63500" marT="25400" marB="25400" anchor="ctr">
                    <a:solidFill>
                      <a:srgbClr val="14161C"/>
                    </a:solidFill>
                  </a:tcPr>
                </a:tc>
                <a:tc>
                  <a:txBody>
                    <a:bodyPr wrap="square"/>
                    <a:lstStyle/>
                    <a:p>
                      <a:r>
                        <a:rPr sz="900" b="0">
                          <a:solidFill>
                            <a:srgbClr val="D5D5D5"/>
                          </a:solidFill>
                          <a:latin typeface="Calibri"/>
                        </a:rPr>
                        <a:t>Authoritative-truth precedence chain for resolving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D1-04</a:t>
                      </a:r>
                    </a:p>
                  </a:txBody>
                  <a:tcPr marL="63500" marR="63500" marT="25400" marB="25400" anchor="ctr">
                    <a:solidFill>
                      <a:srgbClr val="1E222B"/>
                    </a:solidFill>
                  </a:tcPr>
                </a:tc>
                <a:tc>
                  <a:txBody>
                    <a:bodyPr wrap="square"/>
                    <a:lstStyle/>
                    <a:p>
                      <a:r>
                        <a:rPr sz="900" b="0">
                          <a:solidFill>
                            <a:srgbClr val="D5D5D5"/>
                          </a:solidFill>
                          <a:latin typeface="Calibri"/>
                        </a:rPr>
                        <a:t>Business problem framing and measurable success def…</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D1-05</a:t>
                      </a:r>
                    </a:p>
                  </a:txBody>
                  <a:tcPr marL="63500" marR="63500" marT="25400" marB="25400" anchor="ctr">
                    <a:solidFill>
                      <a:srgbClr val="14161C"/>
                    </a:solidFill>
                  </a:tcPr>
                </a:tc>
                <a:tc>
                  <a:txBody>
                    <a:bodyPr wrap="square"/>
                    <a:lstStyle/>
                    <a:p>
                      <a:r>
                        <a:rPr sz="900" b="0">
                          <a:solidFill>
                            <a:srgbClr val="D5D5D5"/>
                          </a:solidFill>
                          <a:latin typeface="Calibri"/>
                        </a:rPr>
                        <a:t>Club Affiliation as the first end-to-end reference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D1-06</a:t>
                      </a:r>
                    </a:p>
                  </a:txBody>
                  <a:tcPr marL="63500" marR="63500" marT="25400" marB="25400" anchor="ctr">
                    <a:solidFill>
                      <a:srgbClr val="1E222B"/>
                    </a:solidFill>
                  </a:tcPr>
                </a:tc>
                <a:tc>
                  <a:txBody>
                    <a:bodyPr wrap="square"/>
                    <a:lstStyle/>
                    <a:p>
                      <a:r>
                        <a:rPr sz="900" b="0">
                          <a:solidFill>
                            <a:srgbClr val="D5D5D5"/>
                          </a:solidFill>
                          <a:latin typeface="Calibri"/>
                        </a:rPr>
                        <a:t>Business capability map and capability ownership mo…</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D1-07</a:t>
                      </a:r>
                    </a:p>
                  </a:txBody>
                  <a:tcPr marL="63500" marR="63500" marT="25400" marB="25400" anchor="ctr">
                    <a:solidFill>
                      <a:srgbClr val="14161C"/>
                    </a:solidFill>
                  </a:tcPr>
                </a:tc>
                <a:tc>
                  <a:txBody>
                    <a:bodyPr wrap="square"/>
                    <a:lstStyle/>
                    <a:p>
                      <a:r>
                        <a:rPr sz="900" b="0">
                          <a:solidFill>
                            <a:srgbClr val="D5D5D5"/>
                          </a:solidFill>
                          <a:latin typeface="Calibri"/>
                        </a:rPr>
                        <a:t>Persona model and access archetypes derived from en…</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D1-08</a:t>
                      </a:r>
                    </a:p>
                  </a:txBody>
                  <a:tcPr marL="63500" marR="63500" marT="25400" marB="25400" anchor="ctr">
                    <a:solidFill>
                      <a:srgbClr val="1E222B"/>
                    </a:solidFill>
                  </a:tcPr>
                </a:tc>
                <a:tc>
                  <a:txBody>
                    <a:bodyPr wrap="square"/>
                    <a:lstStyle/>
                    <a:p>
                      <a:r>
                        <a:rPr sz="900" b="0">
                          <a:solidFill>
                            <a:srgbClr val="D5D5D5"/>
                          </a:solidFill>
                          <a:latin typeface="Calibri"/>
                        </a:rPr>
                        <a:t>Conversational journey design principles and human-…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04800">
                <a:tc>
                  <a:txBody>
                    <a:bodyPr wrap="square"/>
                    <a:lstStyle/>
                    <a:p>
                      <a:r>
                        <a:rPr sz="900" b="1">
                          <a:solidFill>
                            <a:srgbClr val="FFFFFF"/>
                          </a:solidFill>
                          <a:latin typeface="Calibri"/>
                        </a:rPr>
                        <a:t>D1-09</a:t>
                      </a:r>
                    </a:p>
                  </a:txBody>
                  <a:tcPr marL="63500" marR="63500" marT="25400" marB="25400" anchor="ctr">
                    <a:solidFill>
                      <a:srgbClr val="14161C"/>
                    </a:solidFill>
                  </a:tcPr>
                </a:tc>
                <a:tc>
                  <a:txBody>
                    <a:bodyPr wrap="square"/>
                    <a:lstStyle/>
                    <a:p>
                      <a:r>
                        <a:rPr sz="900" b="0">
                          <a:solidFill>
                            <a:srgbClr val="D5D5D5"/>
                          </a:solidFill>
                          <a:latin typeface="Calibri"/>
                        </a:rPr>
                        <a:t>Adam AI persona charter — football-commentary tone …</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04800">
                <a:tc>
                  <a:txBody>
                    <a:bodyPr wrap="square"/>
                    <a:lstStyle/>
                    <a:p>
                      <a:r>
                        <a:rPr sz="900" b="1">
                          <a:solidFill>
                            <a:srgbClr val="FFFFFF"/>
                          </a:solidFill>
                          <a:latin typeface="Calibri"/>
                        </a:rPr>
                        <a:t>D1-10</a:t>
                      </a:r>
                    </a:p>
                  </a:txBody>
                  <a:tcPr marL="63500" marR="63500" marT="25400" marB="25400" anchor="ctr">
                    <a:solidFill>
                      <a:srgbClr val="1E222B"/>
                    </a:solidFill>
                  </a:tcPr>
                </a:tc>
                <a:tc>
                  <a:txBody>
                    <a:bodyPr wrap="square"/>
                    <a:lstStyle/>
                    <a:p>
                      <a:r>
                        <a:rPr sz="900" b="0">
                          <a:solidFill>
                            <a:srgbClr val="D5D5D5"/>
                          </a:solidFill>
                          <a:latin typeface="Calibri"/>
                        </a:rPr>
                        <a:t>Enterprise workflow catalogue, prioritisation and p…</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graphicFrame>
        <p:nvGraphicFramePr>
          <p:cNvPr id="5" name="Table 4"/>
          <p:cNvGraphicFramePr>
            <a:graphicFrameLocks noGrp="1"/>
          </p:cNvGraphicFramePr>
          <p:nvPr/>
        </p:nvGraphicFramePr>
        <p:xfrm>
          <a:off x="6263640" y="1783080"/>
          <a:ext cx="5486399" cy="4041648"/>
        </p:xfrm>
        <a:graphic>
          <a:graphicData uri="http://schemas.openxmlformats.org/drawingml/2006/table">
            <a:tbl>
              <a:tblPr firstRow="1">
                <a:tableStyleId>{5C22544A-7EE6-4342-B048-85BDC9FD1C3A}</a:tableStyleId>
              </a:tblPr>
              <a:tblGrid>
                <a:gridCol w="973393"/>
                <a:gridCol w="3672348"/>
                <a:gridCol w="840658"/>
              </a:tblGrid>
              <a:tr h="310896">
                <a:tc>
                  <a:txBody>
                    <a:bodyPr wrap="square"/>
                    <a:lstStyle/>
                    <a:p>
                      <a:r>
                        <a:rPr sz="900" b="1">
                          <a:solidFill>
                            <a:srgbClr val="FFFFFF"/>
                          </a:solidFill>
                          <a:latin typeface="Calibri"/>
                        </a:rPr>
                        <a:t>ADR</a:t>
                      </a:r>
                    </a:p>
                  </a:txBody>
                  <a:tcPr marL="63500" marR="63500" marT="25400" marB="25400" anchor="ctr">
                    <a:solidFill>
                      <a:srgbClr val="7F19BE"/>
                    </a:solidFill>
                  </a:tcPr>
                </a:tc>
                <a:tc>
                  <a:txBody>
                    <a:bodyPr wrap="square"/>
                    <a:lstStyle/>
                    <a:p>
                      <a:r>
                        <a:rPr sz="900" b="1">
                          <a:solidFill>
                            <a:srgbClr val="FFFFFF"/>
                          </a:solidFill>
                          <a:latin typeface="Calibri"/>
                        </a:rPr>
                        <a:t>Decision</a:t>
                      </a:r>
                    </a:p>
                  </a:txBody>
                  <a:tcPr marL="63500" marR="63500" marT="25400" marB="25400" anchor="ctr">
                    <a:solidFill>
                      <a:srgbClr val="7F19BE"/>
                    </a:solidFill>
                  </a:tcPr>
                </a:tc>
                <a:tc>
                  <a:txBody>
                    <a:bodyPr wrap="square"/>
                    <a:lstStyle/>
                    <a:p>
                      <a:r>
                        <a:rPr sz="900" b="1">
                          <a:solidFill>
                            <a:srgbClr val="FFFFFF"/>
                          </a:solidFill>
                          <a:latin typeface="Calibri"/>
                        </a:rPr>
                        <a:t>Status</a:t>
                      </a:r>
                    </a:p>
                  </a:txBody>
                  <a:tcPr marL="63500" marR="63500" marT="25400" marB="25400" anchor="ctr">
                    <a:solidFill>
                      <a:srgbClr val="7F19BE"/>
                    </a:solidFill>
                  </a:tcPr>
                </a:tc>
              </a:tr>
              <a:tr h="310896">
                <a:tc>
                  <a:txBody>
                    <a:bodyPr wrap="square"/>
                    <a:lstStyle/>
                    <a:p>
                      <a:r>
                        <a:rPr sz="900" b="1">
                          <a:solidFill>
                            <a:srgbClr val="FFFFFF"/>
                          </a:solidFill>
                          <a:latin typeface="Calibri"/>
                        </a:rPr>
                        <a:t>D1-11</a:t>
                      </a:r>
                    </a:p>
                  </a:txBody>
                  <a:tcPr marL="63500" marR="63500" marT="25400" marB="25400" anchor="ctr">
                    <a:solidFill>
                      <a:srgbClr val="14161C"/>
                    </a:solidFill>
                  </a:tcPr>
                </a:tc>
                <a:tc>
                  <a:txBody>
                    <a:bodyPr wrap="square"/>
                    <a:lstStyle/>
                    <a:p>
                      <a:r>
                        <a:rPr sz="900" b="0">
                          <a:solidFill>
                            <a:srgbClr val="D5D5D5"/>
                          </a:solidFill>
                          <a:latin typeface="Calibri"/>
                        </a:rPr>
                        <a:t>Agent catalogue scope — AffiliationAgent only in th…</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D1-12</a:t>
                      </a:r>
                    </a:p>
                  </a:txBody>
                  <a:tcPr marL="63500" marR="63500" marT="25400" marB="25400" anchor="ctr">
                    <a:solidFill>
                      <a:srgbClr val="1E222B"/>
                    </a:solidFill>
                  </a:tcPr>
                </a:tc>
                <a:tc>
                  <a:txBody>
                    <a:bodyPr wrap="square"/>
                    <a:lstStyle/>
                    <a:p>
                      <a:r>
                        <a:rPr sz="900" b="0">
                          <a:solidFill>
                            <a:srgbClr val="D5D5D5"/>
                          </a:solidFill>
                          <a:latin typeface="Calibri"/>
                        </a:rPr>
                        <a:t>Functional and non-functional requirements baseline…</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D8-01</a:t>
                      </a:r>
                    </a:p>
                  </a:txBody>
                  <a:tcPr marL="63500" marR="63500" marT="25400" marB="25400" anchor="ctr">
                    <a:solidFill>
                      <a:srgbClr val="14161C"/>
                    </a:solidFill>
                  </a:tcPr>
                </a:tc>
                <a:tc>
                  <a:txBody>
                    <a:bodyPr wrap="square"/>
                    <a:lstStyle/>
                    <a:p>
                      <a:r>
                        <a:rPr sz="900" b="0">
                          <a:solidFill>
                            <a:srgbClr val="D5D5D5"/>
                          </a:solidFill>
                          <a:latin typeface="Calibri"/>
                        </a:rPr>
                        <a:t>Cost model and unit economics per conversation / wo…</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D8-02</a:t>
                      </a:r>
                    </a:p>
                  </a:txBody>
                  <a:tcPr marL="63500" marR="63500" marT="25400" marB="25400" anchor="ctr">
                    <a:solidFill>
                      <a:srgbClr val="1E222B"/>
                    </a:solidFill>
                  </a:tcPr>
                </a:tc>
                <a:tc>
                  <a:txBody>
                    <a:bodyPr wrap="square"/>
                    <a:lstStyle/>
                    <a:p>
                      <a:r>
                        <a:rPr sz="900" b="0">
                          <a:solidFill>
                            <a:srgbClr val="D5D5D5"/>
                          </a:solidFill>
                          <a:latin typeface="Calibri"/>
                        </a:rPr>
                        <a:t>Build vs buy vs extend for the orchestration layer</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D8-03</a:t>
                      </a:r>
                    </a:p>
                  </a:txBody>
                  <a:tcPr marL="63500" marR="63500" marT="25400" marB="25400" anchor="ctr">
                    <a:solidFill>
                      <a:srgbClr val="14161C"/>
                    </a:solidFill>
                  </a:tcPr>
                </a:tc>
                <a:tc>
                  <a:txBody>
                    <a:bodyPr wrap="square"/>
                    <a:lstStyle/>
                    <a:p>
                      <a:r>
                        <a:rPr sz="900" b="0">
                          <a:solidFill>
                            <a:srgbClr val="D5D5D5"/>
                          </a:solidFill>
                          <a:latin typeface="Calibri"/>
                        </a:rPr>
                        <a:t>ROI model and benefit-realisation tracking</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D8-04</a:t>
                      </a:r>
                    </a:p>
                  </a:txBody>
                  <a:tcPr marL="63500" marR="63500" marT="25400" marB="25400" anchor="ctr">
                    <a:solidFill>
                      <a:srgbClr val="1E222B"/>
                    </a:solidFill>
                  </a:tcPr>
                </a:tc>
                <a:tc>
                  <a:txBody>
                    <a:bodyPr wrap="square"/>
                    <a:lstStyle/>
                    <a:p>
                      <a:r>
                        <a:rPr sz="900" b="0">
                          <a:solidFill>
                            <a:srgbClr val="D5D5D5"/>
                          </a:solidFill>
                          <a:latin typeface="Calibri"/>
                        </a:rPr>
                        <a:t>Business KPI framework and dashboard definition</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D8-05</a:t>
                      </a:r>
                    </a:p>
                  </a:txBody>
                  <a:tcPr marL="63500" marR="63500" marT="25400" marB="25400" anchor="ctr">
                    <a:solidFill>
                      <a:srgbClr val="14161C"/>
                    </a:solidFill>
                  </a:tcPr>
                </a:tc>
                <a:tc>
                  <a:txBody>
                    <a:bodyPr wrap="square"/>
                    <a:lstStyle/>
                    <a:p>
                      <a:r>
                        <a:rPr sz="900" b="0">
                          <a:solidFill>
                            <a:srgbClr val="D5D5D5"/>
                          </a:solidFill>
                          <a:latin typeface="Calibri"/>
                        </a:rPr>
                        <a:t>AI quality KPIs — containment, deflection, accuracy…</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D8-06</a:t>
                      </a:r>
                    </a:p>
                  </a:txBody>
                  <a:tcPr marL="63500" marR="63500" marT="25400" marB="25400" anchor="ctr">
                    <a:solidFill>
                      <a:srgbClr val="1E222B"/>
                    </a:solidFill>
                  </a:tcPr>
                </a:tc>
                <a:tc>
                  <a:txBody>
                    <a:bodyPr wrap="square"/>
                    <a:lstStyle/>
                    <a:p>
                      <a:r>
                        <a:rPr sz="900" b="0">
                          <a:solidFill>
                            <a:srgbClr val="D5D5D5"/>
                          </a:solidFill>
                          <a:latin typeface="Calibri"/>
                        </a:rPr>
                        <a:t>RAID register and ownership</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D8-07</a:t>
                      </a:r>
                    </a:p>
                  </a:txBody>
                  <a:tcPr marL="63500" marR="63500" marT="25400" marB="25400" anchor="ctr">
                    <a:solidFill>
                      <a:srgbClr val="14161C"/>
                    </a:solidFill>
                  </a:tcPr>
                </a:tc>
                <a:tc>
                  <a:txBody>
                    <a:bodyPr wrap="square"/>
                    <a:lstStyle/>
                    <a:p>
                      <a:r>
                        <a:rPr sz="900" b="0">
                          <a:solidFill>
                            <a:srgbClr val="D5D5D5"/>
                          </a:solidFill>
                          <a:latin typeface="Calibri"/>
                        </a:rPr>
                        <a:t>Decision register and end-to-end traceability model</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D8-08</a:t>
                      </a:r>
                    </a:p>
                  </a:txBody>
                  <a:tcPr marL="63500" marR="63500" marT="25400" marB="25400" anchor="ctr">
                    <a:solidFill>
                      <a:srgbClr val="1E222B"/>
                    </a:solidFill>
                  </a:tcPr>
                </a:tc>
                <a:tc>
                  <a:txBody>
                    <a:bodyPr wrap="square"/>
                    <a:lstStyle/>
                    <a:p>
                      <a:r>
                        <a:rPr sz="900" b="0">
                          <a:solidFill>
                            <a:srgbClr val="D5D5D5"/>
                          </a:solidFill>
                          <a:latin typeface="Calibri"/>
                        </a:rPr>
                        <a:t>Platform extensibility — how a new agent/workflow i…</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r h="310896">
                <a:tc>
                  <a:txBody>
                    <a:bodyPr wrap="square"/>
                    <a:lstStyle/>
                    <a:p>
                      <a:r>
                        <a:rPr sz="900" b="1">
                          <a:solidFill>
                            <a:srgbClr val="FFFFFF"/>
                          </a:solidFill>
                          <a:latin typeface="Calibri"/>
                        </a:rPr>
                        <a:t>D8-09</a:t>
                      </a:r>
                    </a:p>
                  </a:txBody>
                  <a:tcPr marL="63500" marR="63500" marT="25400" marB="25400" anchor="ctr">
                    <a:solidFill>
                      <a:srgbClr val="14161C"/>
                    </a:solidFill>
                  </a:tcPr>
                </a:tc>
                <a:tc>
                  <a:txBody>
                    <a:bodyPr wrap="square"/>
                    <a:lstStyle/>
                    <a:p>
                      <a:r>
                        <a:rPr sz="900" b="0">
                          <a:solidFill>
                            <a:srgbClr val="D5D5D5"/>
                          </a:solidFill>
                          <a:latin typeface="Calibri"/>
                        </a:rPr>
                        <a:t>Multi-county / multi-tenant extensibility strategy</a:t>
                      </a:r>
                    </a:p>
                  </a:txBody>
                  <a:tcPr marL="63500" marR="63500" marT="25400" marB="25400" anchor="ctr">
                    <a:solidFill>
                      <a:srgbClr val="14161C"/>
                    </a:solidFill>
                  </a:tcPr>
                </a:tc>
                <a:tc>
                  <a:txBody>
                    <a:bodyPr wrap="square"/>
                    <a:lstStyle/>
                    <a:p>
                      <a:r>
                        <a:rPr sz="900" b="0">
                          <a:solidFill>
                            <a:srgbClr val="D5D5D5"/>
                          </a:solidFill>
                          <a:latin typeface="Calibri"/>
                        </a:rPr>
                        <a:t>✓ Acc</a:t>
                      </a:r>
                    </a:p>
                  </a:txBody>
                  <a:tcPr marL="63500" marR="63500" marT="25400" marB="25400" anchor="ctr">
                    <a:solidFill>
                      <a:srgbClr val="14161C"/>
                    </a:solidFill>
                  </a:tcPr>
                </a:tc>
              </a:tr>
              <a:tr h="310896">
                <a:tc>
                  <a:txBody>
                    <a:bodyPr wrap="square"/>
                    <a:lstStyle/>
                    <a:p>
                      <a:r>
                        <a:rPr sz="900" b="1">
                          <a:solidFill>
                            <a:srgbClr val="FFFFFF"/>
                          </a:solidFill>
                          <a:latin typeface="Calibri"/>
                        </a:rPr>
                        <a:t>D8-10</a:t>
                      </a:r>
                    </a:p>
                  </a:txBody>
                  <a:tcPr marL="63500" marR="63500" marT="25400" marB="25400" anchor="ctr">
                    <a:solidFill>
                      <a:srgbClr val="1E222B"/>
                    </a:solidFill>
                  </a:tcPr>
                </a:tc>
                <a:tc>
                  <a:txBody>
                    <a:bodyPr wrap="square"/>
                    <a:lstStyle/>
                    <a:p>
                      <a:r>
                        <a:rPr sz="900" b="0">
                          <a:solidFill>
                            <a:srgbClr val="D5D5D5"/>
                          </a:solidFill>
                          <a:latin typeface="Calibri"/>
                        </a:rPr>
                        <a:t>Vendor lock-in, portability and exit strategy</a:t>
                      </a:r>
                    </a:p>
                  </a:txBody>
                  <a:tcPr marL="63500" marR="63500" marT="25400" marB="25400" anchor="ctr">
                    <a:solidFill>
                      <a:srgbClr val="1E222B"/>
                    </a:solidFill>
                  </a:tcPr>
                </a:tc>
                <a:tc>
                  <a:txBody>
                    <a:bodyPr wrap="square"/>
                    <a:lstStyle/>
                    <a:p>
                      <a:r>
                        <a:rPr sz="900" b="0">
                          <a:solidFill>
                            <a:srgbClr val="D5D5D5"/>
                          </a:solidFill>
                          <a:latin typeface="Calibri"/>
                        </a:rPr>
                        <a:t>✓ Acc</a:t>
                      </a:r>
                    </a:p>
                  </a:txBody>
                  <a:tcPr marL="63500" marR="63500" marT="25400" marB="25400" anchor="ctr">
                    <a:solidFill>
                      <a:srgbClr val="1E222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7" sz="quarter"/>
          </p:nvPr>
        </p:nvSpPr>
        <p:spPr/>
        <p:txBody>
          <a:bodyPr/>
          <a:lstStyle/>
          <a:p/>
        </p:txBody>
      </p:sp>
      <p:sp>
        <p:nvSpPr>
          <p:cNvPr id="3" name="Text Placeholder 2"/>
          <p:cNvSpPr>
            <a:spLocks noGrp="1"/>
          </p:cNvSpPr>
          <p:nvPr>
            <p:ph type="body" idx="13" sz="quarter"/>
          </p:nvPr>
        </p:nvSpPr>
        <p:spPr/>
        <p:txBody>
          <a:bodyPr/>
          <a:lstStyle/>
          <a:p/>
        </p:txBody>
      </p:sp>
      <p:sp>
        <p:nvSpPr>
          <p:cNvPr id="4" name="TextBox 3"/>
          <p:cNvSpPr txBox="1"/>
          <p:nvPr/>
        </p:nvSpPr>
        <p:spPr>
          <a:xfrm>
            <a:off x="822960" y="3840480"/>
            <a:ext cx="10515600" cy="914400"/>
          </a:xfrm>
          <a:prstGeom prst="rect">
            <a:avLst/>
          </a:prstGeom>
          <a:noFill/>
        </p:spPr>
        <p:txBody>
          <a:bodyPr wrap="square" anchor="t" lIns="0" rIns="0" tIns="0" bIns="0">
            <a:spAutoFit/>
          </a:bodyPr>
          <a:lstStyle/>
          <a:p>
            <a:pPr algn="l"/>
            <a:r>
              <a:rPr sz="1800" b="0" i="0">
                <a:solidFill>
                  <a:srgbClr val="D5D5D5"/>
                </a:solidFill>
                <a:latin typeface="Calibri"/>
              </a:rPr>
              <a:t>Governed decisions · a hard AI/enterprise boundary · affiliation-first · measurable value</a:t>
            </a:r>
          </a:p>
        </p:txBody>
      </p:sp>
    </p:spTree>
  </p:cSld>
  <p:clrMapOvr>
    <a:masterClrMapping/>
  </p:clrMapOvr>
</p:sld>
</file>

<file path=ppt/theme/theme1.xml><?xml version="1.0" encoding="utf-8"?>
<a:theme xmlns:a="http://schemas.openxmlformats.org/drawingml/2006/main" name="Orion Innovation 2026 Q2">
  <a:themeElements>
    <a:clrScheme name="Custom 1">
      <a:dk1>
        <a:srgbClr val="000000"/>
      </a:dk1>
      <a:lt1>
        <a:srgbClr val="FFFFFF"/>
      </a:lt1>
      <a:dk2>
        <a:srgbClr val="0283FF"/>
      </a:dk2>
      <a:lt2>
        <a:srgbClr val="D5D5D5"/>
      </a:lt2>
      <a:accent1>
        <a:srgbClr val="2ACCFF"/>
      </a:accent1>
      <a:accent2>
        <a:srgbClr val="7F19BE"/>
      </a:accent2>
      <a:accent3>
        <a:srgbClr val="FE2579"/>
      </a:accent3>
      <a:accent4>
        <a:srgbClr val="5300DB"/>
      </a:accent4>
      <a:accent5>
        <a:srgbClr val="FED038"/>
      </a:accent5>
      <a:accent6>
        <a:srgbClr val="48E84A"/>
      </a:accent6>
      <a:hlink>
        <a:srgbClr val="0084FF"/>
      </a:hlink>
      <a:folHlink>
        <a:srgbClr val="3EC4E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CE3E8"/>
        </a:solidFill>
        <a:ln>
          <a:noFill/>
          <a:tailEnd type="none"/>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l">
          <a:lnSpc>
            <a:spcPct val="110000"/>
          </a:lnSpc>
          <a:defRPr sz="1000" b="1" dirty="0" smtClean="0">
            <a:solidFill>
              <a:schemeClr val="tx1"/>
            </a:solidFill>
            <a:effectLst/>
          </a:defRPr>
        </a:defPPr>
      </a:lstStyle>
      <a:style>
        <a:lnRef idx="1">
          <a:schemeClr val="accent1"/>
        </a:lnRef>
        <a:fillRef idx="0">
          <a:schemeClr val="accent1"/>
        </a:fillRef>
        <a:effectRef idx="0">
          <a:schemeClr val="accent1"/>
        </a:effectRef>
        <a:fontRef idx="minor">
          <a:schemeClr val="tx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36000" tIns="36000" rIns="36000" bIns="36000" rtlCol="0">
        <a:spAutoFit/>
      </a:bodyPr>
      <a:lstStyle>
        <a:defPPr marL="183600" indent="-183600" algn="l">
          <a:lnSpc>
            <a:spcPct val="110000"/>
          </a:lnSpc>
          <a:spcBef>
            <a:spcPts val="400"/>
          </a:spcBef>
          <a:spcAft>
            <a:spcPts val="400"/>
          </a:spcAft>
          <a:buClr>
            <a:schemeClr val="bg2"/>
          </a:buClr>
          <a:buFont typeface="Arial" panose="020B0604020202020204" pitchFamily="34" charset="0"/>
          <a:buChar char="•"/>
          <a:defRPr sz="1200" dirty="0"/>
        </a:defPPr>
      </a:lstStyle>
    </a:txDef>
  </a:objectDefaults>
  <a:extraClrSchemeLst/>
  <a:extLst>
    <a:ext uri="{05A4C25C-085E-4340-85A3-A5531E510DB2}">
      <thm15:themeFamily xmlns:thm15="http://schemas.microsoft.com/office/thememl/2012/main" name="Orion Innovation 2025" id="{199926F3-F314-1646-84C3-A3441F686DB8}" vid="{DEFB32A1-EE74-C24D-8093-ED971E64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5d1f120-0a15-4527-b7f6-5161c5c215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5FE873E29E64DB56982258F3E0522" ma:contentTypeVersion="12" ma:contentTypeDescription="Create a new document." ma:contentTypeScope="" ma:versionID="e73da9dc670ce61c4b27620f5ceecb8f">
  <xsd:schema xmlns:xsd="http://www.w3.org/2001/XMLSchema" xmlns:xs="http://www.w3.org/2001/XMLSchema" xmlns:p="http://schemas.microsoft.com/office/2006/metadata/properties" xmlns:ns3="15d1f120-0a15-4527-b7f6-5161c5c21597" targetNamespace="http://schemas.microsoft.com/office/2006/metadata/properties" ma:root="true" ma:fieldsID="1fcf99ee2c82c01c26ba439bc53d9385" ns3:_="">
    <xsd:import namespace="15d1f120-0a15-4527-b7f6-5161c5c2159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1f120-0a15-4527-b7f6-5161c5c2159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30519-BCC5-47D9-B3C0-0E48D727637D}">
  <ds:schemaRefs>
    <ds:schemaRef ds:uri="15d1f120-0a15-4527-b7f6-5161c5c215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928388-827E-417D-A9EC-1E4398CC2B14}">
  <ds:schemaRefs>
    <ds:schemaRef ds:uri="http://schemas.microsoft.com/sharepoint/v3/contenttype/forms"/>
  </ds:schemaRefs>
</ds:datastoreItem>
</file>

<file path=customXml/itemProps3.xml><?xml version="1.0" encoding="utf-8"?>
<ds:datastoreItem xmlns:ds="http://schemas.openxmlformats.org/officeDocument/2006/customXml" ds:itemID="{0EE53047-0C68-4513-BD90-36FFCA7892BD}">
  <ds:schemaRefs>
    <ds:schemaRef ds:uri="15d1f120-0a15-4527-b7f6-5161c5c215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11</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Orion Innovation 2026 Q2</vt:lpstr>
      <vt:lpstr>PowerPoint Presentation</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Sankarankutty Menon</dc:creator>
  <cp:revision>4</cp:revision>
  <dcterms:created xsi:type="dcterms:W3CDTF">2026-01-20T15:10:32Z</dcterms:created>
  <dcterms:modified xsi:type="dcterms:W3CDTF">2026-09-08T07:55:53Z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0x01010042D5FE873E29E64DB56982258F3E0522</vt:lpwstr>
  </property>
</Properties>
</file>