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2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2948AD9-B8F4-A70C-7DDC-1E1556ECAE4E}" v="2" dt="2026-08-06T12:20:33.150"/>
    <p1510:client id="{7F375FFF-E84D-3631-D388-F5B5C76602FD}" v="4" dt="2026-08-06T13:01:42.93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63" d="100"/>
          <a:sy n="63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microsoft.com/office/2015/10/relationships/revisionInfo" Target="revisionInfo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073761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Why the platform exists, how decisions are governed, the business scope and boundary, the PFF Chat AI persona, the workflow catalogue, and the value case. 26 ADRs: D0 (4), D1 (12), D8 (10).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Governance first, then scope, persona, workflows, and the value case.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Governance is itself an ADR (D0-01). The ARB is the approving authority; the register keeps open items visible.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single most important constraint, repeated in every spec doc (D1-02/D1-03).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Success = correct, safe progression of real workflows with the AI strictly on the interpret/communicate side of the boundary.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Ownership stays with PFF/WGS. The AI-role column is verbs on the interpret/communicate side — never decide/execute.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PFF Chat AI is a workflow-first enterprise assistant with a natural commentary tone. Persona controls how PFF Chat AI communicates, never what the result is.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Human-in-the-loop is explicit and designed — confirmations, CFA review, payment authorisation and external portal steps.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build one agent (AffiliationAgent) fully rather than many shallowly.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canonical flow: club checks → select teams &amp; fees → insurance → other products → summary &amp; submit → routing (auto-approve or CFA review HIL) → invoice/payment → COMPLETE → WGS sync. 27 scenarios incl. payment-fail reconciliation. PFF Chat AI only confirms success when the enterprise confirms it.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Traceability is a first-class governance artifact — requirement → ADR → source doc → impacted path — maintained in the ADR register.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D8 keeps the value case measurable and tied to the decision register.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All 26 business-domain ADRs. D0 governs the decision process; D1 the business architecture; D8 the value case. None open in this domain.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Takeaway: governed end-to-end, an absolute AI/enterprise boundary, value proven on affiliation first.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pic>
        <p:nvPicPr>
          <p:cNvPr id="8" name="Picture 7" descr="fa_crest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0" y="1325880"/>
            <a:ext cx="2313063" cy="4206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874519" y="1600200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2E75B6"/>
                </a:solidFill>
                <a:latin typeface="Calibri"/>
              </a:rPr>
              <a:t>DECK 01 · THE FA · PFF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057400"/>
            <a:ext cx="7680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13294B"/>
                </a:solidFill>
                <a:latin typeface="Cambria"/>
              </a:rPr>
              <a:t>Business Architecture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971800"/>
            <a:ext cx="7680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2E75B6"/>
                </a:solidFill>
                <a:latin typeface="Cambria"/>
              </a:rPr>
              <a:t>&amp; Value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92807" y="3977639"/>
            <a:ext cx="1554480" cy="457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74519" y="4206240"/>
            <a:ext cx="7680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5C6B7A"/>
                </a:solidFill>
                <a:latin typeface="Calibri"/>
              </a:rPr>
              <a:t>Governance · scope · persona · workflows · value  —  ADR domains D0 / D1 / D8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AGENDA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What this deck covers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783080"/>
            <a:ext cx="4800600" cy="4206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Decision governance — the ADR programme (D0)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The Golden Rule &amp; authoritative-truth precedence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Platform scope, boundary &amp; success definition (D1)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Business capability map &amp; ownership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PFF Chat AI persona model, access archetypes &amp; charter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1783080"/>
            <a:ext cx="4800600" cy="4206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Conversational journey &amp; human-in-the-loop touchpoints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Workflow catalogue, phasing &amp; affiliation-first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Club Affiliation — the first end-to-end workflow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Requirements baseline &amp; traceability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Business value, metrics &amp; outcomes (D8)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D0 · GOVERNANCE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Decision governance — the ADR programme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133856"/>
            <a:ext cx="9921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C6B7A"/>
                </a:solidFill>
                <a:latin typeface="Calibri"/>
              </a:rPr>
              <a:t>Every significant choice is recorded &amp; governed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74519" y="1783080"/>
            <a:ext cx="4800600" cy="411480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93976" y="1947672"/>
            <a:ext cx="43616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E75B6"/>
                </a:solidFill>
                <a:latin typeface="Calibri"/>
              </a:rPr>
              <a:t>HOW DECISIONS ARE MADE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93976" y="2441448"/>
            <a:ext cx="43616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3294B"/>
                </a:solidFill>
                <a:latin typeface="Calibri"/>
              </a:rPr>
              <a:t>ADR-driven governance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93976" y="2688336"/>
            <a:ext cx="43616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7A"/>
                </a:solidFill>
                <a:latin typeface="Calibri"/>
              </a:rPr>
              <a:t>D0-01 — architecture decided via versioned ADRs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93976" y="3191256"/>
            <a:ext cx="43616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3294B"/>
                </a:solidFill>
                <a:latin typeface="Calibri"/>
              </a:rPr>
              <a:t>Authority &amp; review board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93976" y="3438144"/>
            <a:ext cx="43616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7A"/>
                </a:solidFill>
                <a:latin typeface="Calibri"/>
              </a:rPr>
              <a:t>D0-03 — the ARB approves; owners &amp; reviewers named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93976" y="3941063"/>
            <a:ext cx="43616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3294B"/>
                </a:solidFill>
                <a:latin typeface="Calibri"/>
              </a:rPr>
              <a:t>Lifecycle &amp; supersession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93976" y="4187952"/>
            <a:ext cx="43616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7A"/>
                </a:solidFill>
                <a:latin typeface="Calibri"/>
              </a:rPr>
              <a:t>D0-02 — Proposed → Accepted; never mutate in place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93976" y="4690872"/>
            <a:ext cx="43616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3294B"/>
                </a:solidFill>
                <a:latin typeface="Calibri"/>
              </a:rPr>
              <a:t>Open-decision register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93976" y="4937760"/>
            <a:ext cx="43616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7A"/>
                </a:solidFill>
                <a:latin typeface="Calibri"/>
              </a:rPr>
              <a:t>D0-04 — escalation path for unresolved choices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1874519"/>
            <a:ext cx="4800600" cy="3931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13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145 ADRs across 9 domains — the audit trail of the architecture.</a:t>
            </a:r>
          </a:p>
          <a:p>
            <a:pPr algn="l">
              <a:spcAft>
                <a:spcPts val="13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5 remain Proposed with a stated recommendation we build against.</a:t>
            </a:r>
          </a:p>
          <a:p>
            <a:pPr algn="l">
              <a:spcAft>
                <a:spcPts val="13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Each ADR carries owner, reviewers, approver (ARB), status, version, source-doc refs and impacted paths.</a:t>
            </a:r>
          </a:p>
          <a:p>
            <a:pPr algn="l">
              <a:spcAft>
                <a:spcPts val="13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Deck 09 presents the 5 open decisions for your sign-off.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D1-02 · BINDING CONSTRAINT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The Golden Rule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74519" y="1737360"/>
            <a:ext cx="9921240" cy="1463040"/>
          </a:xfrm>
          <a:prstGeom prst="round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Enterprise systems DECIDE and EXECUTE.</a:t>
            </a:r>
          </a:p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The AI platform INTERPRETS, ORCHESTRATES,</a:t>
            </a:r>
          </a:p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CONTEXTUALISES, EXPLAINS and COMMUNICATES.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383280"/>
            <a:ext cx="9921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2E75B6"/>
                </a:solidFill>
                <a:latin typeface="Calibri"/>
              </a:rPr>
              <a:t>Precedence:  Enterprise API / Event  ›  ERC  ›  Cache  ›  RAG  ›  SLM output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3886200"/>
            <a:ext cx="9921240" cy="1828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AI never authenticates/authorizes, re-implements business rules, or writes to the enterprise DB.</a:t>
            </a:r>
          </a:p>
          <a:p>
            <a:pPr algn="l">
              <a:spcAft>
                <a:spcPts val="12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A model output is never an authorization decision; unconfirmed transactions are never celebrated.</a:t>
            </a:r>
          </a:p>
          <a:p>
            <a:pPr algn="l">
              <a:spcAft>
                <a:spcPts val="12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Agents are logical capabilities in one runtime — not a microservice per agent.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D1-01 / D1-04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Scope, boundary &amp; success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6916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E75B6"/>
                </a:solidFill>
                <a:latin typeface="Calibri"/>
              </a:rPr>
              <a:t>In scope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148840"/>
            <a:ext cx="4846320" cy="4206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Conversational orchestration over PFF for club/county administration.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Interpretation, ERC context, reasoning, controlled tool-calls, communication.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Affiliation workflow end-to-end first; WGS integration on complete.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16916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E75B6"/>
                </a:solidFill>
                <a:latin typeface="Calibri"/>
              </a:rPr>
              <a:t>Out of scope (by rule)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2148840"/>
            <a:ext cx="4846320" cy="4206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Business/compliance rule re-implementation.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Direct enterprise DB writes; auth decisions.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Inventing portal URLs, IDs, or transaction outcomes.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Exposing raw enterprise/PII to an external SLM.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D1-06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Business capability map &amp; ownership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1874519" y="1783080"/>
          <a:ext cx="9921239" cy="41148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30616"/>
                <a:gridCol w="3549801"/>
                <a:gridCol w="3640822"/>
              </a:tblGrid>
              <a:tr h="51435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Capability</a:t>
                      </a:r>
                    </a:p>
                  </a:txBody>
                  <a:tcPr marL="63500" marR="63500" marT="25400" marB="25400" anchor="ctr"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Owner (system of record)</a:t>
                      </a:r>
                    </a:p>
                  </a:txBody>
                  <a:tcPr marL="63500" marR="63500" marT="25400" marB="25400" anchor="ctr"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AI platform role</a:t>
                      </a:r>
                    </a:p>
                  </a:txBody>
                  <a:tcPr marL="63500" marR="63500" marT="25400" marB="25400" anchor="ctr">
                    <a:solidFill>
                      <a:srgbClr val="13294B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3294B"/>
                          </a:solidFill>
                          <a:latin typeface="Calibri"/>
                        </a:rPr>
                        <a:t>Club affiliation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5C6B7A"/>
                          </a:solidFill>
                          <a:latin typeface="Calibri"/>
                        </a:rPr>
                        <a:t>PFF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5C6B7A"/>
                          </a:solidFill>
                          <a:latin typeface="Calibri"/>
                        </a:rPr>
                        <a:t>orchestrate, contextualise, communicate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3294B"/>
                          </a:solidFill>
                          <a:latin typeface="Calibri"/>
                        </a:rPr>
                        <a:t>Team &amp; player registration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5C6B7A"/>
                          </a:solidFill>
                          <a:latin typeface="Calibri"/>
                        </a:rPr>
                        <a:t>PFF / WGS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5C6B7A"/>
                          </a:solidFill>
                          <a:latin typeface="Calibri"/>
                        </a:rPr>
                        <a:t>deferred agent — interpret &amp; guide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3294B"/>
                          </a:solidFill>
                          <a:latin typeface="Calibri"/>
                        </a:rPr>
                        <a:t>Insurance (PL / PA)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5C6B7A"/>
                          </a:solidFill>
                          <a:latin typeface="Calibri"/>
                        </a:rPr>
                        <a:t>PFF + providers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5C6B7A"/>
                          </a:solidFill>
                          <a:latin typeface="Calibri"/>
                        </a:rPr>
                        <a:t>gather ERC, explain options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3294B"/>
                          </a:solidFill>
                          <a:latin typeface="Calibri"/>
                        </a:rPr>
                        <a:t>Discipline &amp; GRF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5C6B7A"/>
                          </a:solidFill>
                          <a:latin typeface="Calibri"/>
                        </a:rPr>
                        <a:t>PFF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5C6B7A"/>
                          </a:solidFill>
                          <a:latin typeface="Calibri"/>
                        </a:rPr>
                        <a:t>deferred — status &amp; guidance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3294B"/>
                          </a:solidFill>
                          <a:latin typeface="Calibri"/>
                        </a:rPr>
                        <a:t>Officials &amp; safeguarding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5C6B7A"/>
                          </a:solidFill>
                          <a:latin typeface="Calibri"/>
                        </a:rPr>
                        <a:t>PFF / WGS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5C6B7A"/>
                          </a:solidFill>
                          <a:latin typeface="Calibri"/>
                        </a:rPr>
                        <a:t>check surfacing, no decisions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3294B"/>
                          </a:solidFill>
                          <a:latin typeface="Calibri"/>
                        </a:rPr>
                        <a:t>County cups &amp; competitions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5C6B7A"/>
                          </a:solidFill>
                          <a:latin typeface="Calibri"/>
                        </a:rPr>
                        <a:t>PFF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5C6B7A"/>
                          </a:solidFill>
                          <a:latin typeface="Calibri"/>
                        </a:rPr>
                        <a:t>deferred agent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3294B"/>
                          </a:solidFill>
                          <a:latin typeface="Calibri"/>
                        </a:rPr>
                        <a:t>Payments &amp; invoicing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5C6B7A"/>
                          </a:solidFill>
                          <a:latin typeface="Calibri"/>
                        </a:rPr>
                        <a:t>PFF / PAAS / Xero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5C6B7A"/>
                          </a:solidFill>
                          <a:latin typeface="Calibri"/>
                        </a:rPr>
                        <a:t>narrate state, never confirm unverified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D1-07 / D1-09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PFF Chat AI persona — model &amp; charter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133856"/>
            <a:ext cx="9921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C6B7A"/>
                </a:solidFill>
                <a:latin typeface="Calibri"/>
              </a:rPr>
              <a:t>Workflow-first, with a natural football-commentary tone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16916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E75B6"/>
                </a:solidFill>
                <a:latin typeface="Calibri"/>
              </a:rPr>
              <a:t>Persona rules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148840"/>
            <a:ext cx="4846320" cy="4206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Workflow-first: personality supports completion, never distracts.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Football-commentary tone, used at meaningful moments only.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Enterprise truth overrides persona — always.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Never celebrate an unconfirmed transaction ('GOAL!' only on confirmed success).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Errors &amp; pending/HIL states stay factual and explicit.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16916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E75B6"/>
                </a:solidFill>
                <a:latin typeface="Calibri"/>
              </a:rPr>
              <a:t>Access archetypes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2148840"/>
            <a:ext cx="4846320" cy="4206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Club Admin — primary affiliation actor.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CFA Admin / reviewer — approvals (HIL).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County &amp; league roles — scoped visibility.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Persona is a versioned prompt layer, reusable across workflows.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D1-08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Conversational journey &amp; HIL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133856"/>
            <a:ext cx="9921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C6B7A"/>
                </a:solidFill>
                <a:latin typeface="Calibri"/>
              </a:rPr>
              <a:t>Where humans stay in the loop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74519" y="2468880"/>
            <a:ext cx="1455420" cy="96012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65960" y="2615184"/>
            <a:ext cx="12725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3294B"/>
                </a:solidFill>
                <a:latin typeface="Cambria"/>
              </a:rPr>
              <a:t>Intent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5960" y="3044952"/>
            <a:ext cx="12725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5C6B7A"/>
                </a:solidFill>
                <a:latin typeface="Calibri"/>
              </a:rPr>
              <a:t>what the user wants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67683" y="2468880"/>
            <a:ext cx="1455420" cy="96012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9123" y="2615184"/>
            <a:ext cx="12725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3294B"/>
                </a:solidFill>
                <a:latin typeface="Cambria"/>
              </a:rPr>
              <a:t>Gather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9123" y="3044952"/>
            <a:ext cx="12725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5C6B7A"/>
                </a:solidFill>
                <a:latin typeface="Calibri"/>
              </a:rPr>
              <a:t>ERC context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329940" y="2948940"/>
            <a:ext cx="237743" cy="0"/>
          </a:xfrm>
          <a:prstGeom prst="line">
            <a:avLst/>
          </a:prstGeom>
          <a:ln w="20320">
            <a:solidFill>
              <a:srgbClr val="2E75B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260848" y="2468880"/>
            <a:ext cx="1455420" cy="96012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52287" y="2615184"/>
            <a:ext cx="12725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3294B"/>
                </a:solidFill>
                <a:latin typeface="Cambria"/>
              </a:rPr>
              <a:t>Reason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52287" y="3044952"/>
            <a:ext cx="12725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5C6B7A"/>
                </a:solidFill>
                <a:latin typeface="Calibri"/>
              </a:rPr>
              <a:t>eligibility via enterprise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023104" y="2948940"/>
            <a:ext cx="237744" cy="0"/>
          </a:xfrm>
          <a:prstGeom prst="line">
            <a:avLst/>
          </a:prstGeom>
          <a:ln w="20320">
            <a:solidFill>
              <a:srgbClr val="2E75B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6954012" y="2468880"/>
            <a:ext cx="1455420" cy="96012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45451" y="2615184"/>
            <a:ext cx="12725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3294B"/>
                </a:solidFill>
                <a:latin typeface="Cambria"/>
              </a:rPr>
              <a:t>Confirm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5451" y="3044952"/>
            <a:ext cx="12725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5C6B7A"/>
                </a:solidFill>
                <a:latin typeface="Calibri"/>
              </a:rPr>
              <a:t>HIL checkpoint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716268" y="2948940"/>
            <a:ext cx="237744" cy="0"/>
          </a:xfrm>
          <a:prstGeom prst="line">
            <a:avLst/>
          </a:prstGeom>
          <a:ln w="20320">
            <a:solidFill>
              <a:srgbClr val="2E75B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647176" y="2468880"/>
            <a:ext cx="1455420" cy="96012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38616" y="2615184"/>
            <a:ext cx="12725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3294B"/>
                </a:solidFill>
                <a:latin typeface="Cambria"/>
              </a:rPr>
              <a:t>Execute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38616" y="3044952"/>
            <a:ext cx="12725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5C6B7A"/>
                </a:solidFill>
                <a:latin typeface="Calibri"/>
              </a:rPr>
              <a:t>enterprise API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409431" y="2948940"/>
            <a:ext cx="237745" cy="0"/>
          </a:xfrm>
          <a:prstGeom prst="line">
            <a:avLst/>
          </a:prstGeom>
          <a:ln w="20320">
            <a:solidFill>
              <a:srgbClr val="2E75B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10340340" y="2468880"/>
            <a:ext cx="1455420" cy="96012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431780" y="2615184"/>
            <a:ext cx="12725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3294B"/>
                </a:solidFill>
                <a:latin typeface="Cambria"/>
              </a:rPr>
              <a:t>Communicate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31780" y="3044952"/>
            <a:ext cx="12725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5C6B7A"/>
                </a:solidFill>
                <a:latin typeface="Calibri"/>
              </a:rPr>
              <a:t>state + next step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10102596" y="2948940"/>
            <a:ext cx="237744" cy="0"/>
          </a:xfrm>
          <a:prstGeom prst="line">
            <a:avLst/>
          </a:prstGeom>
          <a:ln w="20320">
            <a:solidFill>
              <a:srgbClr val="2E75B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1874519" y="3931920"/>
            <a:ext cx="9921240" cy="1645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HIL touchpoints: user confirmation before submission; CFA review/approval; payment authorisation; external portal actions.</a:t>
            </a:r>
          </a:p>
          <a:p>
            <a:pPr algn="l">
              <a:spcAft>
                <a:spcPts val="12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PFF Chat AI clearly states who/what the workflow is waiting for during pending states.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D1-10 / D1-11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Workflow catalogue &amp; phasing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133856"/>
            <a:ext cx="9921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C6B7A"/>
                </a:solidFill>
                <a:latin typeface="Calibri"/>
              </a:rPr>
              <a:t>Affiliation first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16916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E75B6"/>
                </a:solidFill>
                <a:latin typeface="Calibri"/>
              </a:rPr>
              <a:t>Catalogue (phased)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148840"/>
            <a:ext cx="4846320" cy="4206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Affiliation — built first, end-to-end (Phase 23).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Registration, discipline, accreditation, insurance, officials, league mgmt, approvals — deferred.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Catalogue finalised by a real product decision, not invented.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16916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E75B6"/>
                </a:solidFill>
                <a:latin typeface="Calibri"/>
              </a:rPr>
              <a:t>Why affiliation first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2148840"/>
            <a:ext cx="4846320" cy="4206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Exercises every platform capability: ERC, tools, RAG, SLM, guardrails, eventing, HIL.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Highest business value and clearest success metric.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Proves the architecture before breadth.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D1-05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Club Affiliation — the first E2E workflow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133856"/>
            <a:ext cx="9921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C6B7A"/>
                </a:solidFill>
                <a:latin typeface="Calibri"/>
              </a:rPr>
              <a:t>PFF Chat AI narrates; PFF decides &amp; executes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74519" y="1828800"/>
            <a:ext cx="1810512" cy="77724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150" b="1">
                <a:solidFill>
                  <a:srgbClr val="13294B"/>
                </a:solidFill>
                <a:latin typeface="Calibri"/>
              </a:rPr>
              <a:t>Club</a:t>
            </a:r>
          </a:p>
          <a:p>
            <a:pPr algn="ctr"/>
            <a:r>
              <a:rPr sz="1150" b="1">
                <a:solidFill>
                  <a:srgbClr val="13294B"/>
                </a:solidFill>
                <a:latin typeface="Calibri"/>
              </a:rPr>
              <a:t>checks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04487" y="1828800"/>
            <a:ext cx="1810512" cy="77724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150" b="1">
                <a:solidFill>
                  <a:srgbClr val="13294B"/>
                </a:solidFill>
                <a:latin typeface="Calibri"/>
              </a:rPr>
              <a:t>Select teams</a:t>
            </a:r>
          </a:p>
          <a:p>
            <a:pPr algn="ctr"/>
            <a:r>
              <a:rPr sz="1150" b="1">
                <a:solidFill>
                  <a:srgbClr val="13294B"/>
                </a:solidFill>
                <a:latin typeface="Calibri"/>
              </a:rPr>
              <a:t>+ fees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85031" y="2217420"/>
            <a:ext cx="219456" cy="0"/>
          </a:xfrm>
          <a:prstGeom prst="line">
            <a:avLst/>
          </a:prstGeom>
          <a:ln w="19050">
            <a:solidFill>
              <a:srgbClr val="2E75B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934455" y="1828800"/>
            <a:ext cx="1810512" cy="77724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150" b="1">
                <a:solidFill>
                  <a:srgbClr val="13294B"/>
                </a:solidFill>
                <a:latin typeface="Calibri"/>
              </a:rPr>
              <a:t>Insurance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715000" y="2217420"/>
            <a:ext cx="219455" cy="0"/>
          </a:xfrm>
          <a:prstGeom prst="line">
            <a:avLst/>
          </a:prstGeom>
          <a:ln w="19050">
            <a:solidFill>
              <a:srgbClr val="2E75B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964423" y="1828800"/>
            <a:ext cx="1810512" cy="77724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150" b="1">
                <a:solidFill>
                  <a:srgbClr val="13294B"/>
                </a:solidFill>
                <a:latin typeface="Calibri"/>
              </a:rPr>
              <a:t>Other</a:t>
            </a:r>
          </a:p>
          <a:p>
            <a:pPr algn="ctr"/>
            <a:r>
              <a:rPr sz="1150" b="1">
                <a:solidFill>
                  <a:srgbClr val="13294B"/>
                </a:solidFill>
                <a:latin typeface="Calibri"/>
              </a:rPr>
              <a:t>products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744967" y="2217420"/>
            <a:ext cx="219456" cy="0"/>
          </a:xfrm>
          <a:prstGeom prst="line">
            <a:avLst/>
          </a:prstGeom>
          <a:ln w="19050">
            <a:solidFill>
              <a:srgbClr val="2E75B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994392" y="1828800"/>
            <a:ext cx="1810512" cy="77724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150" b="1">
                <a:solidFill>
                  <a:srgbClr val="13294B"/>
                </a:solidFill>
                <a:latin typeface="Calibri"/>
              </a:rPr>
              <a:t>Summary</a:t>
            </a:r>
          </a:p>
          <a:p>
            <a:pPr algn="ctr"/>
            <a:r>
              <a:rPr sz="1150" b="1">
                <a:solidFill>
                  <a:srgbClr val="13294B"/>
                </a:solidFill>
                <a:latin typeface="Calibri"/>
              </a:rPr>
              <a:t>&amp; submit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774936" y="2217420"/>
            <a:ext cx="219456" cy="0"/>
          </a:xfrm>
          <a:prstGeom prst="line">
            <a:avLst/>
          </a:prstGeom>
          <a:ln w="19050">
            <a:solidFill>
              <a:srgbClr val="2E75B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835140" y="2606040"/>
            <a:ext cx="0" cy="640080"/>
          </a:xfrm>
          <a:prstGeom prst="line">
            <a:avLst/>
          </a:prstGeom>
          <a:ln w="20320">
            <a:solidFill>
              <a:srgbClr val="2E75B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874519" y="3063240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E75B6"/>
                </a:solidFill>
                <a:latin typeface="Calibri"/>
              </a:rPr>
              <a:t>ROUTING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874519" y="3383280"/>
            <a:ext cx="2315718" cy="77724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150" b="1">
                <a:solidFill>
                  <a:srgbClr val="13294B"/>
                </a:solidFill>
                <a:latin typeface="Calibri"/>
              </a:rPr>
              <a:t>Auto-approve</a:t>
            </a:r>
          </a:p>
          <a:p>
            <a:pPr algn="ctr"/>
            <a:r>
              <a:rPr sz="1150" b="1">
                <a:solidFill>
                  <a:srgbClr val="13294B"/>
                </a:solidFill>
                <a:latin typeface="Calibri"/>
              </a:rPr>
              <a:t>or CFA review (HIL)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09694" y="3383280"/>
            <a:ext cx="2315718" cy="77724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150" b="1">
                <a:solidFill>
                  <a:srgbClr val="13294B"/>
                </a:solidFill>
                <a:latin typeface="Calibri"/>
              </a:rPr>
              <a:t>Invoice /</a:t>
            </a:r>
          </a:p>
          <a:p>
            <a:pPr algn="ctr"/>
            <a:r>
              <a:rPr sz="1150" b="1">
                <a:solidFill>
                  <a:srgbClr val="13294B"/>
                </a:solidFill>
                <a:latin typeface="Calibri"/>
              </a:rPr>
              <a:t>payment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190237" y="3771900"/>
            <a:ext cx="219457" cy="0"/>
          </a:xfrm>
          <a:prstGeom prst="line">
            <a:avLst/>
          </a:prstGeom>
          <a:ln w="19050">
            <a:solidFill>
              <a:srgbClr val="2E75B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944868" y="3383280"/>
            <a:ext cx="2315718" cy="777240"/>
          </a:xfrm>
          <a:prstGeom prst="round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COMPLETE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725412" y="3771900"/>
            <a:ext cx="219456" cy="0"/>
          </a:xfrm>
          <a:prstGeom prst="line">
            <a:avLst/>
          </a:prstGeom>
          <a:ln w="19050">
            <a:solidFill>
              <a:srgbClr val="2E75B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480042" y="3383280"/>
            <a:ext cx="2315718" cy="77724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150" b="1">
                <a:solidFill>
                  <a:srgbClr val="13294B"/>
                </a:solidFill>
                <a:latin typeface="Calibri"/>
              </a:rPr>
              <a:t>WGS sync</a:t>
            </a:r>
          </a:p>
          <a:p>
            <a:pPr algn="ctr"/>
            <a:r>
              <a:rPr sz="1150" b="1">
                <a:solidFill>
                  <a:srgbClr val="13294B"/>
                </a:solidFill>
                <a:latin typeface="Calibri"/>
              </a:rPr>
              <a:t>(national DB)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60586" y="3771900"/>
            <a:ext cx="219456" cy="0"/>
          </a:xfrm>
          <a:prstGeom prst="line">
            <a:avLst/>
          </a:prstGeom>
          <a:ln w="19050">
            <a:solidFill>
              <a:srgbClr val="2E75B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1874519" y="4526280"/>
            <a:ext cx="9921240" cy="502920"/>
          </a:xfrm>
          <a:prstGeom prst="round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Affiliation confirmed — only after the enterprise event confirms success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74519" y="5212080"/>
            <a:ext cx="9921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C6B7A"/>
                </a:solidFill>
                <a:latin typeface="Calibri"/>
              </a:rPr>
              <a:t>27 scenarios covered (auto-approve, CFA approve/reject/cancel, £0, refund, fold, payment-fail reconciliation). PFF Chat AI narrates state; PFF decides &amp; executes.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D1-12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Requirements &amp; traceability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783080"/>
            <a:ext cx="9921240" cy="31089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1500"/>
              </a:spcAft>
            </a:pPr>
            <a:r>
              <a:rPr sz="1600" b="1">
                <a:solidFill>
                  <a:srgbClr val="2E75B6"/>
                </a:solidFill>
                <a:latin typeface="Calibri"/>
              </a:rPr>
              <a:t>▪  </a:t>
            </a:r>
            <a:r>
              <a:rPr sz="1600">
                <a:solidFill>
                  <a:srgbClr val="13294B"/>
                </a:solidFill>
                <a:latin typeface="Calibri"/>
              </a:rPr>
              <a:t>A requirements baseline with a stable traceability scheme (WS-refs) links each requirement to the ADRs and source docs that satisfy it.</a:t>
            </a:r>
          </a:p>
          <a:p>
            <a:pPr algn="l">
              <a:spcAft>
                <a:spcPts val="1500"/>
              </a:spcAft>
            </a:pPr>
            <a:r>
              <a:rPr sz="1600" b="1">
                <a:solidFill>
                  <a:srgbClr val="2E75B6"/>
                </a:solidFill>
                <a:latin typeface="Calibri"/>
              </a:rPr>
              <a:t>▪  </a:t>
            </a:r>
            <a:r>
              <a:rPr sz="1600">
                <a:solidFill>
                  <a:srgbClr val="13294B"/>
                </a:solidFill>
                <a:latin typeface="Calibri"/>
              </a:rPr>
              <a:t>Every ADR cites its source-doc sections; the decision register and traceability matrix are generated artifacts.</a:t>
            </a:r>
          </a:p>
          <a:p>
            <a:pPr algn="l">
              <a:spcAft>
                <a:spcPts val="1500"/>
              </a:spcAft>
            </a:pPr>
            <a:r>
              <a:rPr sz="1600" b="1">
                <a:solidFill>
                  <a:srgbClr val="2E75B6"/>
                </a:solidFill>
                <a:latin typeface="Calibri"/>
              </a:rPr>
              <a:t>▪  </a:t>
            </a:r>
            <a:r>
              <a:rPr sz="1600">
                <a:solidFill>
                  <a:srgbClr val="13294B"/>
                </a:solidFill>
                <a:latin typeface="Calibri"/>
              </a:rPr>
              <a:t>The ARB can trace any decision back to a business requirement and forward to impacted code paths.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D8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Business value &amp; outcomes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133856"/>
            <a:ext cx="9921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C6B7A"/>
                </a:solidFill>
                <a:latin typeface="Calibri"/>
              </a:rPr>
              <a:t>Why this is worth building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74519" y="1920240"/>
            <a:ext cx="2288286" cy="173736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874519" y="2176272"/>
            <a:ext cx="109728" cy="1225295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67127" y="2139696"/>
            <a:ext cx="183108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3294B"/>
                </a:solidFill>
                <a:latin typeface="Cambria"/>
              </a:rPr>
              <a:t>Faster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67127" y="2834640"/>
            <a:ext cx="1831086" cy="777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7A"/>
                </a:solidFill>
                <a:latin typeface="Calibri"/>
              </a:rPr>
              <a:t>guided affiliation, fewer failed pre-checks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18838" y="1920240"/>
            <a:ext cx="2288286" cy="173736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18838" y="2176272"/>
            <a:ext cx="109728" cy="1225295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11446" y="2139696"/>
            <a:ext cx="183108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2E75B6"/>
                </a:solidFill>
                <a:latin typeface="Cambria"/>
              </a:rPr>
              <a:t>Fewer errors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11446" y="2834640"/>
            <a:ext cx="1831086" cy="777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7A"/>
                </a:solidFill>
                <a:latin typeface="Calibri"/>
              </a:rPr>
              <a:t>ERC-grounded, guardrailed responses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63156" y="1920240"/>
            <a:ext cx="2288286" cy="173736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963156" y="2176272"/>
            <a:ext cx="109728" cy="1225295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55764" y="2139696"/>
            <a:ext cx="183108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3294B"/>
                </a:solidFill>
                <a:latin typeface="Cambria"/>
              </a:rPr>
              <a:t>Lower support load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55764" y="2834640"/>
            <a:ext cx="1831086" cy="777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7A"/>
                </a:solidFill>
                <a:latin typeface="Calibri"/>
              </a:rPr>
              <a:t>self-service with clear next actions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507474" y="1920240"/>
            <a:ext cx="2288286" cy="173736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507474" y="2176272"/>
            <a:ext cx="109728" cy="1225295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00082" y="2139696"/>
            <a:ext cx="183108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2E75B6"/>
                </a:solidFill>
                <a:latin typeface="Cambria"/>
              </a:rPr>
              <a:t>Auditable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00082" y="2834640"/>
            <a:ext cx="1831086" cy="777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7A"/>
                </a:solidFill>
                <a:latin typeface="Calibri"/>
              </a:rPr>
              <a:t>every decision traced &amp; governed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74519" y="4023360"/>
            <a:ext cx="9921240" cy="1645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D8 frames value, defines success metrics, and keeps a decision-register/traceability link so value claims are measurable.</a:t>
            </a:r>
          </a:p>
          <a:p>
            <a:pPr algn="l">
              <a:spcAft>
                <a:spcPts val="12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Cost-per-successful-affiliation (deck 08) is the meaningful unit, not cost-per-request.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DECISION RECORD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ADR index — Business &amp; Value (D0 · D1 · D8)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133856"/>
            <a:ext cx="9921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C6B7A"/>
                </a:solidFill>
                <a:latin typeface="Calibri"/>
              </a:rPr>
              <a:t>26 decisions in this domain  ·  ◆ = Proposed, awaiting ARB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874519" y="1783080"/>
          <a:ext cx="4800599" cy="409651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880844"/>
                <a:gridCol w="2994869"/>
                <a:gridCol w="924886"/>
              </a:tblGrid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</a:t>
                      </a:r>
                    </a:p>
                  </a:txBody>
                  <a:tcPr marL="63500" marR="63500" marT="25400" marB="25400" anchor="ctr"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Decision</a:t>
                      </a:r>
                    </a:p>
                  </a:txBody>
                  <a:tcPr marL="63500" marR="63500" marT="25400" marB="25400" anchor="ctr"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63500" marR="63500" marT="25400" marB="25400" anchor="ctr">
                    <a:solidFill>
                      <a:srgbClr val="13294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D0-01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Adopt an in-repository ADR library with a CMM…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D0-02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ADR identification, status lifecycle, superse…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D0-03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Decision authority model and architecture rev…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D0-04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Open and deferred decision register with a ph…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D1-01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PFF AI scope boundary — a conversational orch…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D1-02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The Golden Rule as a binding architectural co…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D1-03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Authoritative-truth precedence chain for reso…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D1-04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Business problem framing and measurable succe…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D1-05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Club Affiliation as the first end-to-end refe…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D1-06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Business capability map and capability owners…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D1-07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Persona model and access archetypes derived f…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D1-08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Conversational journey design principles and …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D1-09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PFF Chat AI persona charter — football-commen…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949440" y="1783080"/>
          <a:ext cx="4800599" cy="409651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880844"/>
                <a:gridCol w="2994869"/>
                <a:gridCol w="924886"/>
              </a:tblGrid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</a:t>
                      </a:r>
                    </a:p>
                  </a:txBody>
                  <a:tcPr marL="63500" marR="63500" marT="25400" marB="25400" anchor="ctr"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Decision</a:t>
                      </a:r>
                    </a:p>
                  </a:txBody>
                  <a:tcPr marL="63500" marR="63500" marT="25400" marB="25400" anchor="ctr"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63500" marR="63500" marT="25400" marB="25400" anchor="ctr">
                    <a:solidFill>
                      <a:srgbClr val="13294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D1-10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Enterprise workflow catalogue, prioritisation…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D1-11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Agent catalogue scope — AffiliationAgent only…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D1-12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Functional and non-functional requirements ba…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D8-01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Cost model and unit economics per conversatio…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D8-02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Build vs buy vs extend for the orchestration …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D8-03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ROI model and benefit-realisation tracking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D8-04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Business KPI framework and dashboard definiti…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D8-05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AI quality KPIs — containment, deflection, ac…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D8-06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RAID register and ownership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D8-07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Decision register and end-to-end traceability…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D8-08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Platform extensibility — how a new agent/work…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D8-09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Multi-county / multi-tenant extensibility str…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D8-10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Vendor lock-in, portability and exit strategy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743200"/>
            <a:ext cx="9921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3294B"/>
                </a:solidFill>
                <a:latin typeface="Cambria"/>
              </a:rPr>
              <a:t>Business architecture — summary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92807" y="3703320"/>
            <a:ext cx="1554480" cy="457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74519" y="3931920"/>
            <a:ext cx="9921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5C6B7A"/>
                </a:solidFill>
                <a:latin typeface="Calibri"/>
              </a:rPr>
              <a:t>Governed decisions · a hard AI/enterprise boundary · affiliation-first · measurable value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331</Words>
  <Application>Microsoft Office PowerPoint</Application>
  <PresentationFormat>Widescreen</PresentationFormat>
  <Paragraphs>74</Paragraphs>
  <Slides>2</Slides>
  <Notes>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3" baseType="lpstr">
      <vt:lpstr>Office Theme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Yokesh Kulasekaran</cp:lastModifiedBy>
  <cp:revision>10</cp:revision>
  <dcterms:created xsi:type="dcterms:W3CDTF">2026-08-06T08:59:30Z</dcterms:created>
  <dcterms:modified xsi:type="dcterms:W3CDTF">2026-09-08T09:07:06Z</dcterms:modified>
</cp:coreProperties>
</file>