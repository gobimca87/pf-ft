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10"/>
    <p:sldId id="27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ite Background" id="{47C7D9A1-B483-564F-90DC-40E90FE94FBA}">
          <p14:sldIdLst>
            <p14:sldId id="2076137493"/>
            <p14:sldId id="2076137508"/>
            <p14:sldId id="2076137510"/>
            <p14:sldId id="2076137509"/>
            <p14:sldId id="2076137498"/>
            <p14:sldId id="2076137499"/>
            <p14:sldId id="2076137504"/>
            <p14:sldId id="2076137506"/>
            <p14:sldId id="2076137492"/>
            <p14:sldId id="283"/>
            <p14:sldId id="2076137502"/>
          </p14:sldIdLst>
        </p14:section>
        <p14:section name="Black Background" id="{AE4A25D3-49D7-5B43-9FF8-BA2C3021CF5C}">
          <p14:sldIdLst>
            <p14:sldId id="2076137497"/>
            <p14:sldId id="2076137494"/>
            <p14:sldId id="2076137500"/>
            <p14:sldId id="2076137501"/>
            <p14:sldId id="2076137505"/>
            <p14:sldId id="2076137507"/>
            <p14:sldId id="2076137489"/>
            <p14:sldId id="274"/>
            <p14:sldId id="207613750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E84A"/>
    <a:srgbClr val="FED038"/>
    <a:srgbClr val="FE2579"/>
    <a:srgbClr val="5300DB"/>
    <a:srgbClr val="7F19BE"/>
    <a:srgbClr val="2ACCFF"/>
    <a:srgbClr val="0283FF"/>
    <a:srgbClr val="002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84E6FB-0852-E5AF-097D-33BDB00319C8}" v="12" dt="2026-08-21T18:56:47.2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9" Type="http://schemas.openxmlformats.org/officeDocument/2006/relationships/slide" Target="slides/slide16.xml"/><Relationship Id="rId10" Type="http://schemas.openxmlformats.org/officeDocument/2006/relationships/slide" Target="slides/slide15.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A76EA5-AA01-CF46-9942-B3D248EF91A4}"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67986-05CD-0948-B842-65071D871968}" type="slidenum">
              <a:rPr lang="en-US" smtClean="0"/>
              <a:t>‹#›</a:t>
            </a:fld>
            <a:endParaRPr lang="en-US"/>
          </a:p>
        </p:txBody>
      </p:sp>
    </p:spTree>
    <p:extLst>
      <p:ext uri="{BB962C8B-B14F-4D97-AF65-F5344CB8AC3E}">
        <p14:creationId xmlns:p14="http://schemas.microsoft.com/office/powerpoint/2010/main" val="925294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platform is run, observed, tested and evolved safely. Covers docs 21 (evaluation), 22 (testing), 23 (engineering agents), 24 (observability/resilience), 27 (dev standards), 28 (ops runbook). 18 ADRs in D7.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complementary layers: platform observability (Azure Monitor / App Insights / Log Analytics) and AI-specific observability (Langfuse: traces, prompts, tokens, cost). Langfuse is also the source for AI cost telemetry in deck 08.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Correlation IDs make the whole distributed flow traceable; logs are structured and redacted by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PlatformError root with typed subclasses gives uniform error handling, logging and user messaging across the whole platform.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Resilience is designed in: bounded retries, timeouts, circuit breakers, backpressure — feeding capacity and cost planning.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SLIs/SLOs and error budgets make reliability measurable and govern how fast we change; alerts are severity-tiered with defined escalation.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 enforces lint/type/test and the SonarQube gate; CD uses rolling by default, canary for AI-artifact changes, blue/green for GPU or index cutovers.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disciplined branch/versioning model and a release train that versions code and AI artifacts together as immutable bundles.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LLMOps: prompts/agents/models/indexes are authored, evaluated against golden datasets, promoted as bundles, observed in Langfuse, and improved from production telemetry.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 evaluation with golden datasets and LLM-as-judge, gating releases on quality/groundedness/safety regressions. Not the same as runtime refinement.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spans classic layers and AI-specific layers (RAG, embeddings, vector, SLM, prompts, guardrails, adversarial) plus security/perf/resilience/regression/e2e.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agents accelerate the team within explicit guardrails — they never replace human review or release gates.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clear support model, an incident process with runbooks, and DR/continuity plans covering state and artifact recovery.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18 operations ADRs — observability, resilience, SLO, CI/CD, LLMOps, testing, engineering agents, incident and DR. None open in this domain.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platform is observable, resilient, release-gated and continuously evaluated — safe to operate and safe to change.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3.svg"/><Relationship Id="rId4" Type="http://schemas.openxmlformats.org/officeDocument/2006/relationships/hyperlink" Target="https://www.orioninnovation.com/" TargetMode="External"/><Relationship Id="rId5" Type="http://schemas.openxmlformats.org/officeDocument/2006/relationships/hyperlink" Target="http://linkedin.com/company/orioninnovation" TargetMode="External"/><Relationship Id="rId6" Type="http://schemas.openxmlformats.org/officeDocument/2006/relationships/hyperlink" Target="http://www.instagram.com/orion.innovation" TargetMode="External"/><Relationship Id="rId7" Type="http://schemas.openxmlformats.org/officeDocument/2006/relationships/hyperlink" Target="https://x.com/CurrentlyOrion" TargetMode="External"/><Relationship Id="rId8" Type="http://schemas.openxmlformats.org/officeDocument/2006/relationships/image" Target="../media/image4.png"/><Relationship Id="rId9" Type="http://schemas.openxmlformats.org/officeDocument/2006/relationships/image" Target="../media/image5.jpeg"/><Relationship Id="rId10" Type="http://schemas.openxmlformats.org/officeDocument/2006/relationships/image" Target="../media/image6.png"/><Relationship Id="rId11"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3.svg"/><Relationship Id="rId4" Type="http://schemas.openxmlformats.org/officeDocument/2006/relationships/hyperlink" Target="http://www.orioninnovation.com/" TargetMode="External"/><Relationship Id="rId5" Type="http://schemas.openxmlformats.org/officeDocument/2006/relationships/hyperlink" Target="http://linkedin.com/company/orioninnovation" TargetMode="External"/><Relationship Id="rId6" Type="http://schemas.openxmlformats.org/officeDocument/2006/relationships/hyperlink" Target="http://www.instagram.com/orion.innovation" TargetMode="External"/><Relationship Id="rId7" Type="http://schemas.openxmlformats.org/officeDocument/2006/relationships/hyperlink" Target="https://x.com/CurrentlyOrion" TargetMode="External"/><Relationship Id="rId8" Type="http://schemas.openxmlformats.org/officeDocument/2006/relationships/image" Target="../media/image8.png"/><Relationship Id="rId9" Type="http://schemas.microsoft.com/office/2007/relationships/hdphoto" Target="../media/hdphoto1.wdp"/><Relationship Id="rId10" Type="http://schemas.openxmlformats.org/officeDocument/2006/relationships/image" Target="../media/image9.png"/><Relationship Id="rId11" Type="http://schemas.microsoft.com/office/2007/relationships/hdphoto" Target="../media/hdphoto2.wdp"/><Relationship Id="rId12" Type="http://schemas.openxmlformats.org/officeDocument/2006/relationships/image" Target="../media/image10.png"/><Relationship Id="rId13"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 Tidal - White">
    <p:bg>
      <p:bgPr>
        <a:solidFill>
          <a:schemeClr val="bg1"/>
        </a:solidFill>
        <a:effectLst/>
      </p:bgPr>
    </p:bg>
    <p:spTree>
      <p:nvGrpSpPr>
        <p:cNvPr id="1" name="Shape 9"/>
        <p:cNvGrpSpPr/>
        <p:nvPr/>
      </p:nvGrpSpPr>
      <p:grpSpPr>
        <a:xfrm>
          <a:off x="0" y="0"/>
          <a:ext cx="0" cy="0"/>
          <a:chOff x="0" y="0"/>
          <a:chExt cx="0" cy="0"/>
        </a:xfrm>
      </p:grpSpPr>
      <p:pic>
        <p:nvPicPr>
          <p:cNvPr id="5" name="Picture 4" descr="A rainbow colored spiral&#10;&#10;AI-generated content may be incorrect.">
            <a:extLst>
              <a:ext uri="{FF2B5EF4-FFF2-40B4-BE49-F238E27FC236}">
                <a16:creationId xmlns:a16="http://schemas.microsoft.com/office/drawing/2014/main" id="{C31497DC-9E48-8E84-1AD5-F534ADDF7D63}"/>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31" name="Shape 10"/>
          <p:cNvSpPr txBox="1">
            <a:spLocks noGrp="1"/>
          </p:cNvSpPr>
          <p:nvPr>
            <p:ph type="ctrTitle" hasCustomPrompt="1"/>
          </p:nvPr>
        </p:nvSpPr>
        <p:spPr>
          <a:xfrm>
            <a:off x="640080" y="2926080"/>
            <a:ext cx="6400800" cy="2739614"/>
          </a:xfrm>
          <a:prstGeom prst="rect">
            <a:avLst/>
          </a:prstGeom>
        </p:spPr>
        <p:txBody>
          <a:bodyPr lIns="0" tIns="0" rIns="0" bIns="0" anchor="b" anchorCtr="0">
            <a:noAutofit/>
          </a:bodyPr>
          <a:lstStyle>
            <a:lvl1pPr marR="0" lvl="0" algn="l" rtl="0">
              <a:lnSpc>
                <a:spcPct val="80000"/>
              </a:lnSpc>
              <a:spcBef>
                <a:spcPts val="0"/>
              </a:spcBef>
              <a:spcAft>
                <a:spcPts val="0"/>
              </a:spcAft>
              <a:buClr>
                <a:srgbClr val="FFFFFF"/>
              </a:buClr>
              <a:buSzPct val="100000"/>
              <a:buNone/>
              <a:defRPr lang="en-IN" sz="5400" b="1" i="0" u="none" strike="noStrike" cap="none" spc="-100" baseline="0" dirty="0">
                <a:solidFill>
                  <a:schemeClr val="tx1"/>
                </a:solidFill>
                <a:latin typeface="Arial" panose="020B0604020202020204" pitchFamily="34" charset="0"/>
                <a:ea typeface="Tahoma" panose="020B0604030504040204" pitchFamily="34" charset="0"/>
                <a:cs typeface="Arial" panose="020B0604020202020204" pitchFamily="34" charset="0"/>
                <a:sym typeface="Arial"/>
              </a:defRPr>
            </a:lvl1pPr>
            <a:lvl2pPr lvl="1" algn="ctr">
              <a:spcBef>
                <a:spcPts val="0"/>
              </a:spcBef>
              <a:buClr>
                <a:srgbClr val="FFFFFF"/>
              </a:buClr>
              <a:buSzPct val="100000"/>
              <a:defRPr sz="6400">
                <a:solidFill>
                  <a:srgbClr val="FFFFFF"/>
                </a:solidFill>
              </a:defRPr>
            </a:lvl2pPr>
            <a:lvl3pPr lvl="2" algn="ctr">
              <a:spcBef>
                <a:spcPts val="0"/>
              </a:spcBef>
              <a:buClr>
                <a:srgbClr val="FFFFFF"/>
              </a:buClr>
              <a:buSzPct val="100000"/>
              <a:defRPr sz="6400">
                <a:solidFill>
                  <a:srgbClr val="FFFFFF"/>
                </a:solidFill>
              </a:defRPr>
            </a:lvl3pPr>
            <a:lvl4pPr lvl="3" algn="ctr">
              <a:spcBef>
                <a:spcPts val="0"/>
              </a:spcBef>
              <a:buClr>
                <a:srgbClr val="FFFFFF"/>
              </a:buClr>
              <a:buSzPct val="100000"/>
              <a:defRPr sz="6400">
                <a:solidFill>
                  <a:srgbClr val="FFFFFF"/>
                </a:solidFill>
              </a:defRPr>
            </a:lvl4pPr>
            <a:lvl5pPr lvl="4" algn="ctr">
              <a:spcBef>
                <a:spcPts val="0"/>
              </a:spcBef>
              <a:buClr>
                <a:srgbClr val="FFFFFF"/>
              </a:buClr>
              <a:buSzPct val="100000"/>
              <a:defRPr sz="6400">
                <a:solidFill>
                  <a:srgbClr val="FFFFFF"/>
                </a:solidFill>
              </a:defRPr>
            </a:lvl5pPr>
            <a:lvl6pPr lvl="5" algn="ctr">
              <a:spcBef>
                <a:spcPts val="0"/>
              </a:spcBef>
              <a:buClr>
                <a:srgbClr val="FFFFFF"/>
              </a:buClr>
              <a:buSzPct val="100000"/>
              <a:defRPr sz="6400">
                <a:solidFill>
                  <a:srgbClr val="FFFFFF"/>
                </a:solidFill>
              </a:defRPr>
            </a:lvl6pPr>
            <a:lvl7pPr lvl="6" algn="ctr">
              <a:spcBef>
                <a:spcPts val="0"/>
              </a:spcBef>
              <a:buClr>
                <a:srgbClr val="FFFFFF"/>
              </a:buClr>
              <a:buSzPct val="100000"/>
              <a:defRPr sz="6400">
                <a:solidFill>
                  <a:srgbClr val="FFFFFF"/>
                </a:solidFill>
              </a:defRPr>
            </a:lvl7pPr>
            <a:lvl8pPr lvl="7" algn="ctr">
              <a:spcBef>
                <a:spcPts val="0"/>
              </a:spcBef>
              <a:buClr>
                <a:srgbClr val="FFFFFF"/>
              </a:buClr>
              <a:buSzPct val="100000"/>
              <a:defRPr sz="6400">
                <a:solidFill>
                  <a:srgbClr val="FFFFFF"/>
                </a:solidFill>
              </a:defRPr>
            </a:lvl8pPr>
            <a:lvl9pPr lvl="8" algn="ctr">
              <a:spcBef>
                <a:spcPts val="0"/>
              </a:spcBef>
              <a:buClr>
                <a:srgbClr val="FFFFFF"/>
              </a:buClr>
              <a:buSzPct val="100000"/>
              <a:defRPr sz="6400">
                <a:solidFill>
                  <a:srgbClr val="FFFFFF"/>
                </a:solidFill>
              </a:defRPr>
            </a:lvl9pPr>
          </a:lstStyle>
          <a:p>
            <a:r>
              <a:rPr lang="en-US"/>
              <a:t>Add a Title</a:t>
            </a:r>
            <a:endParaRPr lang="en-IN"/>
          </a:p>
        </p:txBody>
      </p:sp>
      <p:sp>
        <p:nvSpPr>
          <p:cNvPr id="13" name="Text Placeholder 16">
            <a:extLst>
              <a:ext uri="{FF2B5EF4-FFF2-40B4-BE49-F238E27FC236}">
                <a16:creationId xmlns:a16="http://schemas.microsoft.com/office/drawing/2014/main" id="{4D0F44B2-EB53-2D96-6B6F-D4A30D67762B}"/>
              </a:ext>
            </a:extLst>
          </p:cNvPr>
          <p:cNvSpPr>
            <a:spLocks noGrp="1"/>
          </p:cNvSpPr>
          <p:nvPr>
            <p:ph type="body" sz="quarter" idx="11" hasCustomPrompt="1"/>
          </p:nvPr>
        </p:nvSpPr>
        <p:spPr>
          <a:xfrm>
            <a:off x="640079" y="6035040"/>
            <a:ext cx="6400800" cy="182880"/>
          </a:xfrm>
          <a:prstGeom prst="rect">
            <a:avLst/>
          </a:prstGeom>
        </p:spPr>
        <p:txBody>
          <a:bodyPr lIns="0">
            <a:noAutofit/>
          </a:bodyPr>
          <a:lstStyle>
            <a:lvl1pPr marL="0" indent="0">
              <a:buNone/>
              <a:defRPr sz="1000" spc="200" baseline="0">
                <a:solidFill>
                  <a:schemeClr val="tx1"/>
                </a:solidFill>
              </a:defRPr>
            </a:lvl1pPr>
          </a:lstStyle>
          <a:p>
            <a:pPr lvl="0"/>
            <a:r>
              <a:rPr lang="en-US"/>
              <a:t>OPTIONAL TEXT</a:t>
            </a:r>
          </a:p>
        </p:txBody>
      </p:sp>
      <p:pic>
        <p:nvPicPr>
          <p:cNvPr id="18" name="Graphic 17">
            <a:extLst>
              <a:ext uri="{FF2B5EF4-FFF2-40B4-BE49-F238E27FC236}">
                <a16:creationId xmlns:a16="http://schemas.microsoft.com/office/drawing/2014/main" id="{5E78190D-6770-3FCB-BE18-AF4B96912A2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Tree>
    <p:extLst>
      <p:ext uri="{BB962C8B-B14F-4D97-AF65-F5344CB8AC3E}">
        <p14:creationId xmlns:p14="http://schemas.microsoft.com/office/powerpoint/2010/main" val="319418299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Tidal - Black">
    <p:bg>
      <p:bgPr>
        <a:solidFill>
          <a:schemeClr val="bg1"/>
        </a:solidFill>
        <a:effectLst/>
      </p:bgPr>
    </p:bg>
    <p:spTree>
      <p:nvGrpSpPr>
        <p:cNvPr id="1" name="Shape 9"/>
        <p:cNvGrpSpPr/>
        <p:nvPr/>
      </p:nvGrpSpPr>
      <p:grpSpPr>
        <a:xfrm>
          <a:off x="0" y="0"/>
          <a:ext cx="0" cy="0"/>
          <a:chOff x="0" y="0"/>
          <a:chExt cx="0" cy="0"/>
        </a:xfrm>
      </p:grpSpPr>
      <p:pic>
        <p:nvPicPr>
          <p:cNvPr id="5" name="Picture 4" descr="A rainbow colored spiral&#10;&#10;AI-generated content may be incorrect.">
            <a:extLst>
              <a:ext uri="{FF2B5EF4-FFF2-40B4-BE49-F238E27FC236}">
                <a16:creationId xmlns:a16="http://schemas.microsoft.com/office/drawing/2014/main" id="{C31497DC-9E48-8E84-1AD5-F534ADDF7D63}"/>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31" name="Shape 10"/>
          <p:cNvSpPr txBox="1">
            <a:spLocks noGrp="1"/>
          </p:cNvSpPr>
          <p:nvPr>
            <p:ph type="ctrTitle" hasCustomPrompt="1"/>
          </p:nvPr>
        </p:nvSpPr>
        <p:spPr>
          <a:xfrm>
            <a:off x="640080" y="2926080"/>
            <a:ext cx="6400800" cy="2739614"/>
          </a:xfrm>
          <a:prstGeom prst="rect">
            <a:avLst/>
          </a:prstGeom>
        </p:spPr>
        <p:txBody>
          <a:bodyPr lIns="0" tIns="0" rIns="0" bIns="0" anchor="b" anchorCtr="0">
            <a:noAutofit/>
          </a:bodyPr>
          <a:lstStyle>
            <a:lvl1pPr marR="0" lvl="0" algn="l" rtl="0">
              <a:lnSpc>
                <a:spcPct val="80000"/>
              </a:lnSpc>
              <a:spcBef>
                <a:spcPts val="0"/>
              </a:spcBef>
              <a:spcAft>
                <a:spcPts val="0"/>
              </a:spcAft>
              <a:buClr>
                <a:srgbClr val="FFFFFF"/>
              </a:buClr>
              <a:buSzPct val="100000"/>
              <a:buNone/>
              <a:defRPr lang="en-IN" sz="5400" b="1" i="0" u="none" strike="noStrike" cap="none" spc="-150" baseline="0" dirty="0">
                <a:solidFill>
                  <a:schemeClr val="tx1"/>
                </a:solidFill>
                <a:latin typeface="Arial" panose="020B0604020202020204" pitchFamily="34" charset="0"/>
                <a:ea typeface="Tahoma" panose="020B0604030504040204" pitchFamily="34" charset="0"/>
                <a:cs typeface="Arial" panose="020B0604020202020204" pitchFamily="34" charset="0"/>
                <a:sym typeface="Arial"/>
              </a:defRPr>
            </a:lvl1pPr>
            <a:lvl2pPr lvl="1" algn="ctr">
              <a:spcBef>
                <a:spcPts val="0"/>
              </a:spcBef>
              <a:buClr>
                <a:srgbClr val="FFFFFF"/>
              </a:buClr>
              <a:buSzPct val="100000"/>
              <a:defRPr sz="6400">
                <a:solidFill>
                  <a:srgbClr val="FFFFFF"/>
                </a:solidFill>
              </a:defRPr>
            </a:lvl2pPr>
            <a:lvl3pPr lvl="2" algn="ctr">
              <a:spcBef>
                <a:spcPts val="0"/>
              </a:spcBef>
              <a:buClr>
                <a:srgbClr val="FFFFFF"/>
              </a:buClr>
              <a:buSzPct val="100000"/>
              <a:defRPr sz="6400">
                <a:solidFill>
                  <a:srgbClr val="FFFFFF"/>
                </a:solidFill>
              </a:defRPr>
            </a:lvl3pPr>
            <a:lvl4pPr lvl="3" algn="ctr">
              <a:spcBef>
                <a:spcPts val="0"/>
              </a:spcBef>
              <a:buClr>
                <a:srgbClr val="FFFFFF"/>
              </a:buClr>
              <a:buSzPct val="100000"/>
              <a:defRPr sz="6400">
                <a:solidFill>
                  <a:srgbClr val="FFFFFF"/>
                </a:solidFill>
              </a:defRPr>
            </a:lvl4pPr>
            <a:lvl5pPr lvl="4" algn="ctr">
              <a:spcBef>
                <a:spcPts val="0"/>
              </a:spcBef>
              <a:buClr>
                <a:srgbClr val="FFFFFF"/>
              </a:buClr>
              <a:buSzPct val="100000"/>
              <a:defRPr sz="6400">
                <a:solidFill>
                  <a:srgbClr val="FFFFFF"/>
                </a:solidFill>
              </a:defRPr>
            </a:lvl5pPr>
            <a:lvl6pPr lvl="5" algn="ctr">
              <a:spcBef>
                <a:spcPts val="0"/>
              </a:spcBef>
              <a:buClr>
                <a:srgbClr val="FFFFFF"/>
              </a:buClr>
              <a:buSzPct val="100000"/>
              <a:defRPr sz="6400">
                <a:solidFill>
                  <a:srgbClr val="FFFFFF"/>
                </a:solidFill>
              </a:defRPr>
            </a:lvl6pPr>
            <a:lvl7pPr lvl="6" algn="ctr">
              <a:spcBef>
                <a:spcPts val="0"/>
              </a:spcBef>
              <a:buClr>
                <a:srgbClr val="FFFFFF"/>
              </a:buClr>
              <a:buSzPct val="100000"/>
              <a:defRPr sz="6400">
                <a:solidFill>
                  <a:srgbClr val="FFFFFF"/>
                </a:solidFill>
              </a:defRPr>
            </a:lvl7pPr>
            <a:lvl8pPr lvl="7" algn="ctr">
              <a:spcBef>
                <a:spcPts val="0"/>
              </a:spcBef>
              <a:buClr>
                <a:srgbClr val="FFFFFF"/>
              </a:buClr>
              <a:buSzPct val="100000"/>
              <a:defRPr sz="6400">
                <a:solidFill>
                  <a:srgbClr val="FFFFFF"/>
                </a:solidFill>
              </a:defRPr>
            </a:lvl8pPr>
            <a:lvl9pPr lvl="8" algn="ctr">
              <a:spcBef>
                <a:spcPts val="0"/>
              </a:spcBef>
              <a:buClr>
                <a:srgbClr val="FFFFFF"/>
              </a:buClr>
              <a:buSzPct val="100000"/>
              <a:defRPr sz="6400">
                <a:solidFill>
                  <a:srgbClr val="FFFFFF"/>
                </a:solidFill>
              </a:defRPr>
            </a:lvl9pPr>
          </a:lstStyle>
          <a:p>
            <a:r>
              <a:rPr lang="en-US"/>
              <a:t>Click to add a Title</a:t>
            </a:r>
            <a:endParaRPr lang="en-IN"/>
          </a:p>
        </p:txBody>
      </p:sp>
      <p:pic>
        <p:nvPicPr>
          <p:cNvPr id="18" name="Graphic 17">
            <a:extLst>
              <a:ext uri="{FF2B5EF4-FFF2-40B4-BE49-F238E27FC236}">
                <a16:creationId xmlns:a16="http://schemas.microsoft.com/office/drawing/2014/main" id="{5E78190D-6770-3FCB-BE18-AF4B96912A2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2" name="Text Placeholder 16">
            <a:extLst>
              <a:ext uri="{FF2B5EF4-FFF2-40B4-BE49-F238E27FC236}">
                <a16:creationId xmlns:a16="http://schemas.microsoft.com/office/drawing/2014/main" id="{8C412269-B983-3073-A130-4CC9F5C2596A}"/>
              </a:ext>
            </a:extLst>
          </p:cNvPr>
          <p:cNvSpPr>
            <a:spLocks noGrp="1"/>
          </p:cNvSpPr>
          <p:nvPr>
            <p:ph type="body" sz="quarter" idx="12" hasCustomPrompt="1"/>
          </p:nvPr>
        </p:nvSpPr>
        <p:spPr>
          <a:xfrm>
            <a:off x="640080" y="5900570"/>
            <a:ext cx="6400800" cy="182880"/>
          </a:xfrm>
          <a:prstGeom prst="rect">
            <a:avLst/>
          </a:prstGeom>
        </p:spPr>
        <p:txBody>
          <a:bodyPr lIns="27432">
            <a:noAutofit/>
          </a:bodyPr>
          <a:lstStyle>
            <a:lvl1pPr marL="0" indent="0">
              <a:buNone/>
              <a:defRPr sz="1000" spc="200" baseline="0">
                <a:solidFill>
                  <a:schemeClr val="tx1"/>
                </a:solidFill>
              </a:defRPr>
            </a:lvl1pPr>
          </a:lstStyle>
          <a:p>
            <a:pPr lvl="0"/>
            <a:r>
              <a:rPr lang="en-US"/>
              <a:t>OPTIONAL TEXT</a:t>
            </a:r>
          </a:p>
        </p:txBody>
      </p:sp>
    </p:spTree>
    <p:extLst>
      <p:ext uri="{BB962C8B-B14F-4D97-AF65-F5344CB8AC3E}">
        <p14:creationId xmlns:p14="http://schemas.microsoft.com/office/powerpoint/2010/main" val="1312695694"/>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457200"/>
            <a:ext cx="10972800" cy="640080"/>
          </a:xfrm>
          <a:prstGeom prst="rect">
            <a:avLst/>
          </a:prstGeom>
        </p:spPr>
        <p:txBody>
          <a:bodyPr lIns="0" tIns="0" rIns="0" bIns="0"/>
          <a:lstStyle>
            <a:lvl1pPr marL="0" indent="0">
              <a:buNone/>
              <a:defRPr sz="3600" b="1" i="0" spc="-150" baseline="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Agenda</a:t>
            </a:r>
          </a:p>
        </p:txBody>
      </p:sp>
    </p:spTree>
    <p:extLst>
      <p:ext uri="{BB962C8B-B14F-4D97-AF65-F5344CB8AC3E}">
        <p14:creationId xmlns:p14="http://schemas.microsoft.com/office/powerpoint/2010/main" val="1408102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457200"/>
            <a:ext cx="10972800" cy="640080"/>
          </a:xfrm>
          <a:prstGeom prst="rect">
            <a:avLst/>
          </a:prstGeom>
        </p:spPr>
        <p:txBody>
          <a:bodyPr lIns="0" tIns="0" rIns="0" bIns="0"/>
          <a:lstStyle>
            <a:lvl1pPr marL="0" indent="0">
              <a:buNone/>
              <a:defRPr sz="3600" b="1" i="0" spc="-150" baseline="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Agenda</a:t>
            </a:r>
          </a:p>
        </p:txBody>
      </p:sp>
    </p:spTree>
    <p:extLst>
      <p:ext uri="{BB962C8B-B14F-4D97-AF65-F5344CB8AC3E}">
        <p14:creationId xmlns:p14="http://schemas.microsoft.com/office/powerpoint/2010/main" val="2685571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OI - Black">
    <p:bg>
      <p:bgPr>
        <a:solidFill>
          <a:schemeClr val="tx1"/>
        </a:solidFill>
        <a:effectLst/>
      </p:bgPr>
    </p:bg>
    <p:spTree>
      <p:nvGrpSpPr>
        <p:cNvPr id="1" name="Shape 1205"/>
        <p:cNvGrpSpPr/>
        <p:nvPr/>
      </p:nvGrpSpPr>
      <p:grpSpPr>
        <a:xfrm>
          <a:off x="0" y="0"/>
          <a:ext cx="0" cy="0"/>
          <a:chOff x="0" y="0"/>
          <a:chExt cx="0" cy="0"/>
        </a:xfrm>
      </p:grpSpPr>
      <p:sp>
        <p:nvSpPr>
          <p:cNvPr id="10" name="TextBox 9"/>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11" name="Rectangle 10"/>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6" name="Text Placeholder 2">
            <a:extLst>
              <a:ext uri="{FF2B5EF4-FFF2-40B4-BE49-F238E27FC236}">
                <a16:creationId xmlns:a16="http://schemas.microsoft.com/office/drawing/2014/main" id="{7C1DFA83-DBBD-89EB-FC7F-E419D6F84B4C}"/>
              </a:ext>
            </a:extLst>
          </p:cNvPr>
          <p:cNvSpPr>
            <a:spLocks noGrp="1"/>
          </p:cNvSpPr>
          <p:nvPr>
            <p:ph type="body" sz="quarter" idx="10" hasCustomPrompt="1"/>
          </p:nvPr>
        </p:nvSpPr>
        <p:spPr>
          <a:xfrm>
            <a:off x="3810000" y="3124200"/>
            <a:ext cx="6993082" cy="685800"/>
          </a:xfrm>
          <a:prstGeom prst="rect">
            <a:avLst/>
          </a:prstGeom>
        </p:spPr>
        <p:txBody>
          <a:bodyPr lIns="0" tIns="0" rIns="0" bIns="0" anchor="ctr" anchorCtr="0">
            <a:spAutoFit/>
          </a:bodyPr>
          <a:lstStyle>
            <a:lvl1pPr marL="0" indent="0" algn="l">
              <a:lnSpc>
                <a:spcPct val="90000"/>
              </a:lnSpc>
              <a:spcBef>
                <a:spcPts val="0"/>
              </a:spcBef>
              <a:spcAft>
                <a:spcPts val="0"/>
              </a:spcAft>
              <a:buNone/>
              <a:defRPr sz="4800" b="1" spc="-100" baseline="0">
                <a:solidFill>
                  <a:schemeClr val="bg1"/>
                </a:solidFill>
              </a:defRPr>
            </a:lvl1pPr>
            <a:lvl2pPr marL="304792" indent="0">
              <a:buNone/>
              <a:defRPr>
                <a:solidFill>
                  <a:schemeClr val="bg1"/>
                </a:solidFill>
              </a:defRPr>
            </a:lvl2pPr>
            <a:lvl3pPr marL="609585" indent="0">
              <a:buNone/>
              <a:defRPr>
                <a:solidFill>
                  <a:schemeClr val="bg1"/>
                </a:solidFill>
              </a:defRPr>
            </a:lvl3pPr>
            <a:lvl4pPr marL="914377" indent="0">
              <a:buNone/>
              <a:defRPr>
                <a:solidFill>
                  <a:schemeClr val="bg1"/>
                </a:solidFill>
              </a:defRPr>
            </a:lvl4pPr>
            <a:lvl5pPr marL="1219170" indent="0">
              <a:buNone/>
              <a:defRPr>
                <a:solidFill>
                  <a:schemeClr val="bg1"/>
                </a:solidFill>
              </a:defRPr>
            </a:lvl5pPr>
          </a:lstStyle>
          <a:p>
            <a:pPr lvl="0"/>
            <a:r>
              <a:rPr lang="en-IN"/>
              <a:t>Section Divider Title</a:t>
            </a:r>
            <a:endParaRPr lang="en-US"/>
          </a:p>
        </p:txBody>
      </p:sp>
      <p:grpSp>
        <p:nvGrpSpPr>
          <p:cNvPr id="12" name="Group 11">
            <a:extLst>
              <a:ext uri="{FF2B5EF4-FFF2-40B4-BE49-F238E27FC236}">
                <a16:creationId xmlns:a16="http://schemas.microsoft.com/office/drawing/2014/main" id="{7FA077B6-9EEE-CC1F-D5C2-1F9522043CD9}"/>
              </a:ext>
            </a:extLst>
          </p:cNvPr>
          <p:cNvGrpSpPr/>
          <p:nvPr userDrawn="1"/>
        </p:nvGrpSpPr>
        <p:grpSpPr bwMode="black">
          <a:xfrm>
            <a:off x="-1600200" y="1789679"/>
            <a:ext cx="5180058" cy="3220764"/>
            <a:chOff x="-2477006" y="951186"/>
            <a:chExt cx="7970296" cy="4955628"/>
          </a:xfrm>
          <a:gradFill flip="none" rotWithShape="1">
            <a:gsLst>
              <a:gs pos="50000">
                <a:srgbClr val="7E18BE"/>
              </a:gs>
              <a:gs pos="0">
                <a:srgbClr val="0084FF"/>
              </a:gs>
              <a:gs pos="80000">
                <a:srgbClr val="FF5E86"/>
              </a:gs>
            </a:gsLst>
            <a:lin ang="2700000" scaled="1"/>
            <a:tileRect/>
          </a:gradFill>
        </p:grpSpPr>
        <p:sp>
          <p:nvSpPr>
            <p:cNvPr id="13" name="Parallelogram 12">
              <a:extLst>
                <a:ext uri="{FF2B5EF4-FFF2-40B4-BE49-F238E27FC236}">
                  <a16:creationId xmlns:a16="http://schemas.microsoft.com/office/drawing/2014/main" id="{9C1D0426-FBF4-DE00-E02C-8D5F2C15D38D}"/>
                </a:ext>
              </a:extLst>
            </p:cNvPr>
            <p:cNvSpPr/>
            <p:nvPr/>
          </p:nvSpPr>
          <p:spPr bwMode="black">
            <a:xfrm>
              <a:off x="2389726" y="987972"/>
              <a:ext cx="3103564" cy="4918842"/>
            </a:xfrm>
            <a:prstGeom prst="parallelogram">
              <a:avLst>
                <a:gd name="adj" fmla="val 5444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lock Arc 13">
              <a:extLst>
                <a:ext uri="{FF2B5EF4-FFF2-40B4-BE49-F238E27FC236}">
                  <a16:creationId xmlns:a16="http://schemas.microsoft.com/office/drawing/2014/main" id="{7C2D95B7-4DFD-C1E7-A6C5-3801A98784F4}"/>
                </a:ext>
              </a:extLst>
            </p:cNvPr>
            <p:cNvSpPr/>
            <p:nvPr/>
          </p:nvSpPr>
          <p:spPr bwMode="black">
            <a:xfrm rot="5400000">
              <a:off x="-2477006" y="951186"/>
              <a:ext cx="4955627" cy="4955627"/>
            </a:xfrm>
            <a:prstGeom prst="blockArc">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grpSp>
    </p:spTree>
    <p:extLst>
      <p:ext uri="{BB962C8B-B14F-4D97-AF65-F5344CB8AC3E}">
        <p14:creationId xmlns:p14="http://schemas.microsoft.com/office/powerpoint/2010/main" val="392684923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Divider OI - White">
    <p:bg>
      <p:bgPr>
        <a:solidFill>
          <a:schemeClr val="bg1"/>
        </a:solidFill>
        <a:effectLst/>
      </p:bgPr>
    </p:bg>
    <p:spTree>
      <p:nvGrpSpPr>
        <p:cNvPr id="1" name="Shape 1205"/>
        <p:cNvGrpSpPr/>
        <p:nvPr/>
      </p:nvGrpSpPr>
      <p:grpSpPr>
        <a:xfrm>
          <a:off x="0" y="0"/>
          <a:ext cx="0" cy="0"/>
          <a:chOff x="0" y="0"/>
          <a:chExt cx="0" cy="0"/>
        </a:xfrm>
      </p:grpSpPr>
      <p:sp>
        <p:nvSpPr>
          <p:cNvPr id="10" name="TextBox 9"/>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11" name="Rectangle 10"/>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2">
            <a:extLst>
              <a:ext uri="{FF2B5EF4-FFF2-40B4-BE49-F238E27FC236}">
                <a16:creationId xmlns:a16="http://schemas.microsoft.com/office/drawing/2014/main" id="{CD46454F-EC71-48E1-5357-FB89F2DE283E}"/>
              </a:ext>
            </a:extLst>
          </p:cNvPr>
          <p:cNvSpPr>
            <a:spLocks noGrp="1"/>
          </p:cNvSpPr>
          <p:nvPr>
            <p:ph type="body" sz="quarter" idx="10" hasCustomPrompt="1"/>
          </p:nvPr>
        </p:nvSpPr>
        <p:spPr>
          <a:xfrm>
            <a:off x="3810000" y="3124200"/>
            <a:ext cx="6993082" cy="685800"/>
          </a:xfrm>
          <a:prstGeom prst="rect">
            <a:avLst/>
          </a:prstGeom>
        </p:spPr>
        <p:txBody>
          <a:bodyPr lIns="0" tIns="0" rIns="0" bIns="0" anchor="ctr" anchorCtr="0">
            <a:spAutoFit/>
          </a:bodyPr>
          <a:lstStyle>
            <a:lvl1pPr marL="0" indent="0" algn="l">
              <a:lnSpc>
                <a:spcPct val="90000"/>
              </a:lnSpc>
              <a:spcBef>
                <a:spcPts val="0"/>
              </a:spcBef>
              <a:spcAft>
                <a:spcPts val="0"/>
              </a:spcAft>
              <a:buNone/>
              <a:defRPr sz="4800" b="1" spc="-100" baseline="0">
                <a:solidFill>
                  <a:schemeClr val="tx1"/>
                </a:solidFill>
              </a:defRPr>
            </a:lvl1pPr>
            <a:lvl2pPr marL="304792" indent="0">
              <a:buNone/>
              <a:defRPr>
                <a:solidFill>
                  <a:schemeClr val="bg1"/>
                </a:solidFill>
              </a:defRPr>
            </a:lvl2pPr>
            <a:lvl3pPr marL="609585" indent="0">
              <a:buNone/>
              <a:defRPr>
                <a:solidFill>
                  <a:schemeClr val="bg1"/>
                </a:solidFill>
              </a:defRPr>
            </a:lvl3pPr>
            <a:lvl4pPr marL="914377" indent="0">
              <a:buNone/>
              <a:defRPr>
                <a:solidFill>
                  <a:schemeClr val="bg1"/>
                </a:solidFill>
              </a:defRPr>
            </a:lvl4pPr>
            <a:lvl5pPr marL="1219170" indent="0">
              <a:buNone/>
              <a:defRPr>
                <a:solidFill>
                  <a:schemeClr val="bg1"/>
                </a:solidFill>
              </a:defRPr>
            </a:lvl5pPr>
          </a:lstStyle>
          <a:p>
            <a:pPr lvl="0"/>
            <a:r>
              <a:rPr lang="en-IN"/>
              <a:t>Section Divider Title</a:t>
            </a:r>
            <a:endParaRPr lang="en-US"/>
          </a:p>
        </p:txBody>
      </p:sp>
      <p:grpSp>
        <p:nvGrpSpPr>
          <p:cNvPr id="4" name="Group 3">
            <a:extLst>
              <a:ext uri="{FF2B5EF4-FFF2-40B4-BE49-F238E27FC236}">
                <a16:creationId xmlns:a16="http://schemas.microsoft.com/office/drawing/2014/main" id="{5B8EA5A1-39EA-85B7-EDAD-977AF9E75BD1}"/>
              </a:ext>
            </a:extLst>
          </p:cNvPr>
          <p:cNvGrpSpPr/>
          <p:nvPr userDrawn="1"/>
        </p:nvGrpSpPr>
        <p:grpSpPr bwMode="black">
          <a:xfrm>
            <a:off x="-1600200" y="1789679"/>
            <a:ext cx="5180058" cy="3220764"/>
            <a:chOff x="-2477006" y="951186"/>
            <a:chExt cx="7970296" cy="4955628"/>
          </a:xfrm>
          <a:gradFill flip="none" rotWithShape="1">
            <a:gsLst>
              <a:gs pos="50000">
                <a:srgbClr val="7E18BE"/>
              </a:gs>
              <a:gs pos="0">
                <a:srgbClr val="0084FF"/>
              </a:gs>
              <a:gs pos="80000">
                <a:srgbClr val="FF5E86"/>
              </a:gs>
            </a:gsLst>
            <a:lin ang="2700000" scaled="1"/>
            <a:tileRect/>
          </a:gradFill>
        </p:grpSpPr>
        <p:sp>
          <p:nvSpPr>
            <p:cNvPr id="5" name="Parallelogram 4">
              <a:extLst>
                <a:ext uri="{FF2B5EF4-FFF2-40B4-BE49-F238E27FC236}">
                  <a16:creationId xmlns:a16="http://schemas.microsoft.com/office/drawing/2014/main" id="{797DAAA4-D1BF-74F7-EDCE-BCC5787E0C3A}"/>
                </a:ext>
              </a:extLst>
            </p:cNvPr>
            <p:cNvSpPr/>
            <p:nvPr/>
          </p:nvSpPr>
          <p:spPr bwMode="black">
            <a:xfrm>
              <a:off x="2389726" y="987972"/>
              <a:ext cx="3103564" cy="4918842"/>
            </a:xfrm>
            <a:prstGeom prst="parallelogram">
              <a:avLst>
                <a:gd name="adj" fmla="val 5444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Block Arc 5">
              <a:extLst>
                <a:ext uri="{FF2B5EF4-FFF2-40B4-BE49-F238E27FC236}">
                  <a16:creationId xmlns:a16="http://schemas.microsoft.com/office/drawing/2014/main" id="{A59C8600-5483-3E2A-648E-BC4B97D127A5}"/>
                </a:ext>
              </a:extLst>
            </p:cNvPr>
            <p:cNvSpPr/>
            <p:nvPr/>
          </p:nvSpPr>
          <p:spPr bwMode="black">
            <a:xfrm rot="5400000">
              <a:off x="-2477006" y="951186"/>
              <a:ext cx="4955627" cy="4955627"/>
            </a:xfrm>
            <a:prstGeom prst="blockArc">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grpSp>
    </p:spTree>
    <p:extLst>
      <p:ext uri="{BB962C8B-B14F-4D97-AF65-F5344CB8AC3E}">
        <p14:creationId xmlns:p14="http://schemas.microsoft.com/office/powerpoint/2010/main" val="376864138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Wide - Black (Title Only)">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Tree>
    <p:extLst>
      <p:ext uri="{BB962C8B-B14F-4D97-AF65-F5344CB8AC3E}">
        <p14:creationId xmlns:p14="http://schemas.microsoft.com/office/powerpoint/2010/main" val="3026566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Wide - White (Title Only)">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spc="0" baseline="0">
                <a:gradFill>
                  <a:gsLst>
                    <a:gs pos="51000">
                      <a:srgbClr val="7E18BE"/>
                    </a:gs>
                    <a:gs pos="0">
                      <a:schemeClr val="tx2"/>
                    </a:gs>
                    <a:gs pos="97000">
                      <a:srgbClr val="FF5E86"/>
                    </a:gs>
                  </a:gsLst>
                  <a:lin ang="0" scaled="1"/>
                </a:gradFill>
              </a:defRPr>
            </a:lvl1pPr>
          </a:lstStyle>
          <a:p>
            <a:r>
              <a:rPr lang="en-US"/>
              <a:t>Click To Edit Master Title Style</a:t>
            </a:r>
          </a:p>
        </p:txBody>
      </p:sp>
    </p:spTree>
    <p:extLst>
      <p:ext uri="{BB962C8B-B14F-4D97-AF65-F5344CB8AC3E}">
        <p14:creationId xmlns:p14="http://schemas.microsoft.com/office/powerpoint/2010/main" val="159740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Wide With Subtitle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975360"/>
            <a:ext cx="10972800" cy="312265"/>
          </a:xfrm>
          <a:prstGeom prst="rect">
            <a:avLst/>
          </a:prstGeom>
        </p:spPr>
        <p:txBody>
          <a:bodyPr lIns="0" tIns="0" rIns="0" bIns="0">
            <a:spAutoFit/>
          </a:bodyPr>
          <a:lstStyle>
            <a:lvl1pPr marL="0" indent="0">
              <a:buNone/>
              <a:defRPr sz="2000" b="1" i="0" spc="-50" baseline="0">
                <a:solidFill>
                  <a:schemeClr val="bg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748087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2 Line With Subtitle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1320928"/>
            <a:ext cx="10972800" cy="312265"/>
          </a:xfrm>
          <a:prstGeom prst="rect">
            <a:avLst/>
          </a:prstGeom>
        </p:spPr>
        <p:txBody>
          <a:bodyPr lIns="0" tIns="0" rIns="0" bIns="0">
            <a:spAutoFit/>
          </a:bodyPr>
          <a:lstStyle>
            <a:lvl1pPr marL="0" indent="0">
              <a:buNone/>
              <a:defRPr sz="2000" b="1" i="0" spc="-50" baseline="0">
                <a:solidFill>
                  <a:schemeClr val="bg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1131753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Wide With Subtitle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975360"/>
            <a:ext cx="10972800" cy="312265"/>
          </a:xfrm>
          <a:prstGeom prst="rect">
            <a:avLst/>
          </a:prstGeom>
        </p:spPr>
        <p:txBody>
          <a:bodyPr lIns="0" tIns="0" rIns="0" bIns="0">
            <a:spAutoFit/>
          </a:bodyPr>
          <a:lstStyle>
            <a:lvl1pPr marL="0" indent="0">
              <a:buNone/>
              <a:defRPr sz="2000" b="1" i="0" spc="-50" baseline="0">
                <a:solidFill>
                  <a:schemeClr val="tx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36619878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2 Line With Subtitle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1320928"/>
            <a:ext cx="10972800" cy="312265"/>
          </a:xfrm>
          <a:prstGeom prst="rect">
            <a:avLst/>
          </a:prstGeom>
        </p:spPr>
        <p:txBody>
          <a:bodyPr lIns="0" tIns="0" rIns="0" bIns="0">
            <a:spAutoFit/>
          </a:bodyPr>
          <a:lstStyle>
            <a:lvl1pPr marL="0" indent="0">
              <a:buNone/>
              <a:defRPr sz="2000" b="1" i="0" spc="-50" baseline="0">
                <a:solidFill>
                  <a:schemeClr val="tx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5986300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inal Slide - White">
    <p:bg>
      <p:bgPr>
        <a:solidFill>
          <a:schemeClr val="bg1"/>
        </a:solidFill>
        <a:effectLst/>
      </p:bgPr>
    </p:bg>
    <p:spTree>
      <p:nvGrpSpPr>
        <p:cNvPr id="1" name="Shape 186"/>
        <p:cNvGrpSpPr/>
        <p:nvPr/>
      </p:nvGrpSpPr>
      <p:grpSpPr>
        <a:xfrm>
          <a:off x="0" y="0"/>
          <a:ext cx="0" cy="0"/>
          <a:chOff x="0" y="0"/>
          <a:chExt cx="0" cy="0"/>
        </a:xfrm>
      </p:grpSpPr>
      <p:sp>
        <p:nvSpPr>
          <p:cNvPr id="7" name="TextBox 6"/>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6" name="Text Placeholder 2">
            <a:extLst>
              <a:ext uri="{FF2B5EF4-FFF2-40B4-BE49-F238E27FC236}">
                <a16:creationId xmlns:a16="http://schemas.microsoft.com/office/drawing/2014/main" id="{9D535178-0C9A-2F44-8057-64ED548EEC7C}"/>
              </a:ext>
            </a:extLst>
          </p:cNvPr>
          <p:cNvSpPr>
            <a:spLocks noGrp="1"/>
          </p:cNvSpPr>
          <p:nvPr>
            <p:ph type="body" sz="quarter" idx="17" hasCustomPrompt="1"/>
          </p:nvPr>
        </p:nvSpPr>
        <p:spPr>
          <a:xfrm>
            <a:off x="609600" y="1576678"/>
            <a:ext cx="10972800" cy="822960"/>
          </a:xfrm>
          <a:prstGeom prst="rect">
            <a:avLst/>
          </a:prstGeom>
        </p:spPr>
        <p:txBody>
          <a:bodyPr vert="horz" lIns="0" tIns="0" rIns="0" bIns="0" rtlCol="0" anchor="b" anchorCtr="0">
            <a:noAutofit/>
          </a:bodyPr>
          <a:lstStyle>
            <a:lvl1pPr>
              <a:defRPr lang="en-US" sz="6000" b="1" spc="-200" baseline="0" dirty="0">
                <a:gradFill flip="none" rotWithShape="1">
                  <a:gsLst>
                    <a:gs pos="70000">
                      <a:srgbClr val="7E18BE"/>
                    </a:gs>
                    <a:gs pos="0">
                      <a:srgbClr val="0084FF"/>
                    </a:gs>
                    <a:gs pos="100000">
                      <a:srgbClr val="FF5E86"/>
                    </a:gs>
                  </a:gsLst>
                  <a:lin ang="0" scaled="1"/>
                  <a:tileRect/>
                </a:gradFill>
                <a:latin typeface="Arial" panose="020B0604020202020204" pitchFamily="34" charset="0"/>
                <a:ea typeface="Tahoma" panose="020B0604030504040204" pitchFamily="34" charset="0"/>
              </a:defRPr>
            </a:lvl1pPr>
          </a:lstStyle>
          <a:p>
            <a:pPr marL="0" lvl="0">
              <a:lnSpc>
                <a:spcPct val="100000"/>
              </a:lnSpc>
              <a:spcBef>
                <a:spcPts val="0"/>
              </a:spcBef>
              <a:spcAft>
                <a:spcPts val="800"/>
              </a:spcAft>
              <a:buClr>
                <a:srgbClr val="FFFFFF"/>
              </a:buClr>
              <a:buSzPct val="100000"/>
            </a:pPr>
            <a:r>
              <a:rPr lang="en-US"/>
              <a:t>Thank You</a:t>
            </a:r>
          </a:p>
        </p:txBody>
      </p:sp>
      <p:sp>
        <p:nvSpPr>
          <p:cNvPr id="8" name="Rectangle 7"/>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4">
            <a:extLst>
              <a:ext uri="{FF2B5EF4-FFF2-40B4-BE49-F238E27FC236}">
                <a16:creationId xmlns:a16="http://schemas.microsoft.com/office/drawing/2014/main" id="{BD4C0092-F7F0-5342-87F2-01D44BC7018D}"/>
              </a:ext>
            </a:extLst>
          </p:cNvPr>
          <p:cNvSpPr>
            <a:spLocks noGrp="1"/>
          </p:cNvSpPr>
          <p:nvPr>
            <p:ph type="body" sz="quarter" idx="13" hasCustomPrompt="1"/>
          </p:nvPr>
        </p:nvSpPr>
        <p:spPr>
          <a:xfrm>
            <a:off x="609600" y="2755806"/>
            <a:ext cx="10972800" cy="1555097"/>
          </a:xfrm>
          <a:prstGeom prst="rect">
            <a:avLst/>
          </a:prstGeom>
        </p:spPr>
        <p:txBody>
          <a:bodyPr>
            <a:noAutofit/>
          </a:bodyPr>
          <a:lstStyle>
            <a:lvl1pPr marL="7937" indent="0">
              <a:lnSpc>
                <a:spcPct val="120000"/>
              </a:lnSpc>
              <a:spcBef>
                <a:spcPts val="0"/>
              </a:spcBef>
              <a:buClr>
                <a:schemeClr val="bg2"/>
              </a:buClr>
              <a:buFont typeface="Arial" panose="020B0604020202020204" pitchFamily="34" charset="0"/>
              <a:buNone/>
              <a:tabLst/>
              <a:defRPr sz="1400" b="0" i="0">
                <a:solidFill>
                  <a:schemeClr val="tx1"/>
                </a:solidFill>
                <a:latin typeface="Arial" panose="020B0604020202020204" pitchFamily="34" charset="0"/>
                <a:cs typeface="Arial" panose="020B0604020202020204" pitchFamily="34" charset="0"/>
              </a:defRPr>
            </a:lvl1pPr>
            <a:lvl2pPr>
              <a:buClr>
                <a:schemeClr val="bg1">
                  <a:lumMod val="75000"/>
                </a:schemeClr>
              </a:buClr>
              <a:defRPr b="0" i="0">
                <a:latin typeface="Arial" panose="020B0604020202020204" pitchFamily="34" charset="0"/>
                <a:cs typeface="Arial" panose="020B0604020202020204" pitchFamily="34" charset="0"/>
              </a:defRPr>
            </a:lvl2pPr>
            <a:lvl3pPr>
              <a:buClr>
                <a:schemeClr val="bg1">
                  <a:lumMod val="75000"/>
                </a:schemeClr>
              </a:buClr>
              <a:defRPr b="0" i="0">
                <a:latin typeface="Arial" panose="020B0604020202020204" pitchFamily="34" charset="0"/>
                <a:cs typeface="Arial" panose="020B0604020202020204" pitchFamily="34" charset="0"/>
              </a:defRPr>
            </a:lvl3pPr>
            <a:lvl4pPr>
              <a:buClr>
                <a:schemeClr val="bg1">
                  <a:lumMod val="75000"/>
                </a:schemeClr>
              </a:buClr>
              <a:defRPr b="0" i="0">
                <a:latin typeface="Arial" panose="020B0604020202020204" pitchFamily="34" charset="0"/>
                <a:cs typeface="Arial" panose="020B0604020202020204" pitchFamily="34" charset="0"/>
              </a:defRPr>
            </a:lvl4pPr>
            <a:lvl5pPr>
              <a:buClr>
                <a:schemeClr val="bg1">
                  <a:lumMod val="75000"/>
                </a:schemeClr>
              </a:buClr>
              <a:defRPr b="0" i="0">
                <a:latin typeface="Arial" panose="020B0604020202020204" pitchFamily="34" charset="0"/>
                <a:cs typeface="Arial" panose="020B0604020202020204" pitchFamily="34" charset="0"/>
              </a:defRPr>
            </a:lvl5pPr>
          </a:lstStyle>
          <a:p>
            <a:pPr lvl="0"/>
            <a:r>
              <a:rPr lang="en-US"/>
              <a:t>Global Headquarters</a:t>
            </a:r>
          </a:p>
          <a:p>
            <a:pPr lvl="0"/>
            <a:r>
              <a:rPr lang="en-US"/>
              <a:t>33 S Wood Ave., 5th Floor</a:t>
            </a:r>
          </a:p>
          <a:p>
            <a:pPr lvl="0"/>
            <a:r>
              <a:rPr lang="en-US"/>
              <a:t>Iselin, NJ 08830</a:t>
            </a:r>
            <a:br>
              <a:rPr lang="en-US"/>
            </a:br>
            <a:r>
              <a:rPr lang="en-US"/>
              <a:t>+1.877.456.9922</a:t>
            </a:r>
            <a:br>
              <a:rPr lang="en-US"/>
            </a:br>
            <a:r>
              <a:rPr lang="en-US" err="1"/>
              <a:t>info@orioninc.com</a:t>
            </a:r>
            <a:r>
              <a:rPr lang="en-US"/>
              <a:t> </a:t>
            </a:r>
          </a:p>
          <a:p>
            <a:pPr lvl="0"/>
            <a:endParaRPr lang="en-US"/>
          </a:p>
        </p:txBody>
      </p:sp>
      <p:pic>
        <p:nvPicPr>
          <p:cNvPr id="4" name="Picture 3">
            <a:extLst>
              <a:ext uri="{FF2B5EF4-FFF2-40B4-BE49-F238E27FC236}">
                <a16:creationId xmlns:a16="http://schemas.microsoft.com/office/drawing/2014/main" id="{101F921E-1ACF-8082-C243-157B41C5D742}"/>
              </a:ext>
            </a:extLst>
          </p:cNvPr>
          <p:cNvPicPr>
            <a:picLocks noChangeAspect="1"/>
          </p:cNvPicPr>
          <p:nvPr/>
        </p:nvPicPr>
        <p:blipFill>
          <a:blip r:embed="rId2" cstate="screen">
            <a:duotone>
              <a:schemeClr val="bg2">
                <a:shade val="45000"/>
                <a:satMod val="135000"/>
              </a:schemeClr>
              <a:prstClr val="white"/>
            </a:duotone>
            <a:alphaModFix amt="4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
        <p:nvSpPr>
          <p:cNvPr id="5" name="Rectangle 4">
            <a:extLst>
              <a:ext uri="{FF2B5EF4-FFF2-40B4-BE49-F238E27FC236}">
                <a16:creationId xmlns:a16="http://schemas.microsoft.com/office/drawing/2014/main" id="{54790109-C748-0CDA-8478-EFF7F8330807}"/>
              </a:ext>
            </a:extLst>
          </p:cNvPr>
          <p:cNvSpPr/>
          <p:nvPr/>
        </p:nvSpPr>
        <p:spPr>
          <a:xfrm>
            <a:off x="609600" y="4636593"/>
            <a:ext cx="7326385" cy="1552080"/>
          </a:xfrm>
          <a:prstGeom prst="rect">
            <a:avLst/>
          </a:prstGeom>
        </p:spPr>
        <p:txBody>
          <a:bodyPr wrap="square" lIns="0" tIns="0" rIns="0" bIns="0" anchor="t">
            <a:noAutofit/>
          </a:bodyPr>
          <a:lstStyle/>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1" i="0" u="none" strike="noStrike" kern="1200" cap="none" spc="0" normalizeH="0" baseline="0" noProof="0">
                <a:ln>
                  <a:noFill/>
                </a:ln>
                <a:solidFill>
                  <a:srgbClr val="7F7F7F"/>
                </a:solidFill>
                <a:effectLst/>
                <a:uLnTx/>
                <a:uFillTx/>
                <a:latin typeface="Arial"/>
                <a:ea typeface="+mn-ea"/>
                <a:cs typeface="Arial"/>
              </a:rPr>
              <a:t>Disclaimer: </a:t>
            </a:r>
            <a:r>
              <a:rPr kumimoji="0" lang="en-GB" sz="900" b="0" i="0" u="none" strike="noStrike" kern="1200" cap="none" spc="0" normalizeH="0" baseline="0" noProof="0">
                <a:ln>
                  <a:noFill/>
                </a:ln>
                <a:solidFill>
                  <a:srgbClr val="7F7F7F"/>
                </a:solidFill>
                <a:effectLst/>
                <a:uLnTx/>
                <a:uFillTx/>
                <a:latin typeface="Arial"/>
                <a:ea typeface="+mn-ea"/>
                <a:cs typeface="Arial"/>
              </a:rPr>
              <a:t>This document is for informational purposes only and is subject to change without notice. This document and its content herein are believed to be accurate as of its date of publication. However, Orion Systems Integrators, LLC (herein referred as Orion) makes no guarantee, representations or warranties with regard to the enclosed information and specifically disclaims the implied warranties of fitness for a particular purpose and merchantability. As each user of Orion services is likely to be unique in their requirements in the use of such software solutions and their business processes, users of this document are always advised to discuss the content of this document with their Orion representatives. </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Orion</a:t>
            </a:r>
            <a:r>
              <a:rPr kumimoji="0" lang="en-GB" sz="900" b="0" i="0" u="none" strike="noStrike" kern="1200" cap="none" spc="0" normalizeH="0" baseline="30000" noProof="0">
                <a:ln>
                  <a:noFill/>
                </a:ln>
                <a:solidFill>
                  <a:srgbClr val="7F7F7F"/>
                </a:solidFill>
                <a:effectLst/>
                <a:uLnTx/>
                <a:uFillTx/>
                <a:latin typeface="Arial"/>
                <a:ea typeface="+mn-ea"/>
                <a:cs typeface="Arial"/>
              </a:rPr>
              <a:t>SM</a:t>
            </a:r>
            <a:r>
              <a:rPr kumimoji="0" lang="en-GB" sz="900" b="0" i="0" u="none" strike="noStrike" kern="1200" cap="none" spc="0" normalizeH="0" baseline="0" noProof="0">
                <a:ln>
                  <a:noFill/>
                </a:ln>
                <a:solidFill>
                  <a:srgbClr val="7F7F7F"/>
                </a:solidFill>
                <a:effectLst/>
                <a:uLnTx/>
                <a:uFillTx/>
                <a:latin typeface="Arial"/>
                <a:ea typeface="+mn-ea"/>
                <a:cs typeface="Arial"/>
              </a:rPr>
              <a:t>,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OI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logo, and the O</a:t>
            </a:r>
            <a:r>
              <a:rPr kumimoji="0" lang="en-GB" sz="900" b="1" i="0" u="none" strike="noStrike" kern="1200" cap="none" spc="0" normalizeH="0" baseline="0" noProof="0">
                <a:ln>
                  <a:noFill/>
                </a:ln>
                <a:solidFill>
                  <a:srgbClr val="7F7F7F"/>
                </a:solidFill>
                <a:effectLst/>
                <a:uLnTx/>
                <a:uFillTx/>
                <a:latin typeface="Arial"/>
                <a:ea typeface="+mn-ea"/>
                <a:cs typeface="Arial"/>
              </a:rPr>
              <a:t>/</a:t>
            </a:r>
            <a:r>
              <a:rPr kumimoji="0" lang="en-GB" sz="900" b="0" i="0" u="none" strike="noStrike" kern="1200" cap="none" spc="0" normalizeH="0" baseline="30000" noProof="0">
                <a:ln>
                  <a:noFill/>
                </a:ln>
                <a:solidFill>
                  <a:srgbClr val="7F7F7F"/>
                </a:solidFill>
                <a:effectLst/>
                <a:uLnTx/>
                <a:uFillTx/>
                <a:latin typeface="Arial"/>
                <a:ea typeface="+mn-ea"/>
                <a:cs typeface="Arial"/>
              </a:rPr>
              <a:t>SM </a:t>
            </a:r>
            <a:r>
              <a:rPr kumimoji="0" lang="en-GB" sz="900" b="0" i="0" u="none" strike="noStrike" kern="1200" cap="none" spc="0" normalizeH="0" baseline="0" noProof="0">
                <a:ln>
                  <a:noFill/>
                </a:ln>
                <a:solidFill>
                  <a:srgbClr val="7F7F7F"/>
                </a:solidFill>
                <a:effectLst/>
                <a:uLnTx/>
                <a:uFillTx/>
                <a:latin typeface="Arial"/>
                <a:ea typeface="+mn-ea"/>
                <a:cs typeface="Arial"/>
              </a:rPr>
              <a:t>logo are trademarks and/or service marks owned by Orion Systems Integrators, LLC. Certain of Orion’s trademarks and/or service marks are registered or the subject of U.S. or foreign applications. All other logos, trademarks, and service marks are the property of their respective owners and are used with permission.</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Copyright © 2026 Orion Systems Integrators, LLC. All Rights Reserved.</a:t>
            </a:r>
          </a:p>
        </p:txBody>
      </p:sp>
      <p:pic>
        <p:nvPicPr>
          <p:cNvPr id="9" name="Graphic 8">
            <a:extLst>
              <a:ext uri="{FF2B5EF4-FFF2-40B4-BE49-F238E27FC236}">
                <a16:creationId xmlns:a16="http://schemas.microsoft.com/office/drawing/2014/main" id="{765811EA-F4FC-C283-7A0E-71CF0F9F6204}"/>
              </a:ext>
            </a:extLst>
          </p:cNvPr>
          <p:cNvPicPr>
            <a:picLocks noChangeAspect="1"/>
          </p:cNvPicPr>
          <p:nvPr/>
        </p:nvPicPr>
        <p:blipFill>
          <a:blip>
            <a:lum bright="-100000"/>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15" name="TextBox 14">
            <a:extLst>
              <a:ext uri="{FF2B5EF4-FFF2-40B4-BE49-F238E27FC236}">
                <a16:creationId xmlns:a16="http://schemas.microsoft.com/office/drawing/2014/main" id="{2DBC412D-3E01-BD56-691E-4CD8C776D62C}"/>
              </a:ext>
            </a:extLst>
          </p:cNvPr>
          <p:cNvSpPr txBox="1"/>
          <p:nvPr/>
        </p:nvSpPr>
        <p:spPr>
          <a:xfrm>
            <a:off x="8926692" y="4623358"/>
            <a:ext cx="2796879" cy="1292662"/>
          </a:xfrm>
          <a:prstGeom prst="rect">
            <a:avLst/>
          </a:prstGeom>
          <a:noFill/>
        </p:spPr>
        <p:txBody>
          <a:bodyPr wrap="square" lIns="91440" tIns="45720" rIns="91440" bIns="45720" rtlCol="0" anchor="t">
            <a:spAutoFit/>
          </a:bodyPr>
          <a:lstStyle/>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a:ea typeface="+mn-ea"/>
                <a:cs typeface="Arial"/>
                <a:hlinkClick r:id="rId4">
                  <a:extLst>
                    <a:ext uri="{A12FA001-AC4F-418D-AE19-62706E023703}">
                      <ahyp:hlinkClr xmlns:ahyp="http://schemas.microsoft.com/office/drawing/2018/hyperlinkcolor" val="tx"/>
                    </a:ext>
                  </a:extLst>
                </a:hlinkClick>
              </a:rPr>
              <a:t>www.orioninnovation.com</a:t>
            </a:r>
            <a:endParaRPr kumimoji="0" lang="en-GB" sz="1200" b="0" i="0" u="none" strike="noStrike" kern="1200" cap="none" spc="0" normalizeH="0" baseline="0" noProof="0">
              <a:ln>
                <a:noFill/>
              </a:ln>
              <a:solidFill>
                <a:schemeClr val="tx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a:ea typeface="+mn-ea"/>
                <a:cs typeface="Arial"/>
                <a:hlinkClick r:id="rId5">
                  <a:extLst>
                    <a:ext uri="{A12FA001-AC4F-418D-AE19-62706E023703}">
                      <ahyp:hlinkClr xmlns:ahyp="http://schemas.microsoft.com/office/drawing/2018/hyperlinkcolor" val="tx"/>
                    </a:ext>
                  </a:extLst>
                </a:hlinkClick>
              </a:rPr>
              <a:t>linkedin.com/company/orioninnovation</a:t>
            </a:r>
            <a:endParaRPr kumimoji="0" lang="en-GB" sz="120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a:ea typeface="+mn-ea"/>
                <a:cs typeface="Arial"/>
                <a:hlinkClick r:id="rId6">
                  <a:extLst>
                    <a:ext uri="{A12FA001-AC4F-418D-AE19-62706E023703}">
                      <ahyp:hlinkClr xmlns:ahyp="http://schemas.microsoft.com/office/drawing/2018/hyperlinkcolor" val="tx"/>
                    </a:ext>
                  </a:extLst>
                </a:hlinkClick>
              </a:rPr>
              <a:t>www.instagram.com/orion.innovation</a:t>
            </a:r>
            <a:endParaRPr kumimoji="0" lang="en-GB" sz="1200" b="0" i="0" u="none" strike="noStrike" kern="1200" cap="none" spc="0" normalizeH="0" baseline="0" noProof="0">
              <a:ln>
                <a:noFill/>
              </a:ln>
              <a:solidFill>
                <a:schemeClr val="tx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a:ea typeface="+mn-ea"/>
                <a:cs typeface="Arial"/>
                <a:hlinkClick r:id="rId7">
                  <a:extLst>
                    <a:ext uri="{A12FA001-AC4F-418D-AE19-62706E023703}">
                      <ahyp:hlinkClr xmlns:ahyp="http://schemas.microsoft.com/office/drawing/2018/hyperlinkcolor" val="tx"/>
                    </a:ext>
                  </a:extLst>
                </a:hlinkClick>
              </a:rPr>
              <a:t>x.com/CurrentlyOrion</a:t>
            </a:r>
            <a:endParaRPr kumimoji="0" lang="en-GB" sz="1200" b="0" i="0" u="none" strike="noStrike" kern="0" cap="none" spc="0" normalizeH="0" baseline="0" noProof="0">
              <a:ln>
                <a:noFill/>
              </a:ln>
              <a:solidFill>
                <a:srgbClr val="000000"/>
              </a:solidFill>
              <a:effectLst/>
              <a:uLnTx/>
              <a:uFillTx/>
              <a:latin typeface="Arial"/>
              <a:ea typeface="+mn-ea"/>
              <a:cs typeface="Arial"/>
            </a:endParaRPr>
          </a:p>
        </p:txBody>
      </p:sp>
      <p:pic>
        <p:nvPicPr>
          <p:cNvPr id="16" name="Picture 15" descr="Linkedin logo png, Linkedin icon transparent png 18930480 PNG">
            <a:extLst>
              <a:ext uri="{FF2B5EF4-FFF2-40B4-BE49-F238E27FC236}">
                <a16:creationId xmlns:a16="http://schemas.microsoft.com/office/drawing/2014/main" id="{14DEBB42-E32D-1F80-C7F6-EB28422002BC}"/>
              </a:ext>
            </a:extLst>
          </p:cNvPr>
          <p:cNvPicPr>
            <a:picLocks noChangeAspect="1"/>
          </p:cNvPicPr>
          <p:nvPr/>
        </p:nvPicPr>
        <p:blipFill>
          <a:blip r:embed="rId8"/>
          <a:stretch>
            <a:fillRect/>
          </a:stretch>
        </p:blipFill>
        <p:spPr>
          <a:xfrm>
            <a:off x="8684277" y="4944986"/>
            <a:ext cx="329423" cy="329423"/>
          </a:xfrm>
          <a:prstGeom prst="rect">
            <a:avLst/>
          </a:prstGeom>
        </p:spPr>
      </p:pic>
      <p:pic>
        <p:nvPicPr>
          <p:cNvPr id="3" name="Picture 2" descr="Instagram logo Images - Free Download ...">
            <a:extLst>
              <a:ext uri="{FF2B5EF4-FFF2-40B4-BE49-F238E27FC236}">
                <a16:creationId xmlns:a16="http://schemas.microsoft.com/office/drawing/2014/main" id="{9A4352E7-DD4C-74A0-2D68-B71A8ECA8445}"/>
              </a:ext>
            </a:extLst>
          </p:cNvPr>
          <p:cNvPicPr>
            <a:picLocks noChangeAspect="1"/>
          </p:cNvPicPr>
          <p:nvPr userDrawn="1"/>
        </p:nvPicPr>
        <p:blipFill>
          <a:blip r:embed="rId9"/>
          <a:srcRect l="11245" t="11067" r="11955" b="11067"/>
          <a:stretch>
            <a:fillRect/>
          </a:stretch>
        </p:blipFill>
        <p:spPr>
          <a:xfrm>
            <a:off x="8756587" y="5353892"/>
            <a:ext cx="184801" cy="187368"/>
          </a:xfrm>
          <a:prstGeom prst="roundRect">
            <a:avLst>
              <a:gd name="adj" fmla="val 18770"/>
            </a:avLst>
          </a:prstGeom>
        </p:spPr>
      </p:pic>
      <p:pic>
        <p:nvPicPr>
          <p:cNvPr id="10" name="Picture 9" descr="Website - Free web icons">
            <a:extLst>
              <a:ext uri="{FF2B5EF4-FFF2-40B4-BE49-F238E27FC236}">
                <a16:creationId xmlns:a16="http://schemas.microsoft.com/office/drawing/2014/main" id="{2A984760-D481-2F3B-8818-5A11592F296E}"/>
              </a:ext>
            </a:extLst>
          </p:cNvPr>
          <p:cNvPicPr>
            <a:picLocks noChangeAspect="1"/>
          </p:cNvPicPr>
          <p:nvPr userDrawn="1"/>
        </p:nvPicPr>
        <p:blipFill>
          <a:blip r:embed="rId10"/>
          <a:stretch>
            <a:fillRect/>
          </a:stretch>
        </p:blipFill>
        <p:spPr>
          <a:xfrm>
            <a:off x="8739068" y="4664454"/>
            <a:ext cx="218665" cy="218665"/>
          </a:xfrm>
          <a:prstGeom prst="rect">
            <a:avLst/>
          </a:prstGeom>
        </p:spPr>
      </p:pic>
      <p:pic>
        <p:nvPicPr>
          <p:cNvPr id="11" name="Picture 10" descr="File:X icon.svg - Wikimedia Commons">
            <a:extLst>
              <a:ext uri="{FF2B5EF4-FFF2-40B4-BE49-F238E27FC236}">
                <a16:creationId xmlns:a16="http://schemas.microsoft.com/office/drawing/2014/main" id="{786E8E88-AA37-E300-8278-7A04F6116236}"/>
              </a:ext>
            </a:extLst>
          </p:cNvPr>
          <p:cNvPicPr>
            <a:picLocks noChangeAspect="1"/>
          </p:cNvPicPr>
          <p:nvPr userDrawn="1"/>
        </p:nvPicPr>
        <p:blipFill>
          <a:blip r:embed="rId11"/>
          <a:stretch>
            <a:fillRect/>
          </a:stretch>
        </p:blipFill>
        <p:spPr>
          <a:xfrm>
            <a:off x="8746067" y="5669649"/>
            <a:ext cx="199055" cy="199055"/>
          </a:xfrm>
          <a:prstGeom prst="rect">
            <a:avLst/>
          </a:prstGeom>
        </p:spPr>
      </p:pic>
    </p:spTree>
    <p:extLst>
      <p:ext uri="{BB962C8B-B14F-4D97-AF65-F5344CB8AC3E}">
        <p14:creationId xmlns:p14="http://schemas.microsoft.com/office/powerpoint/2010/main" val="1645800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Final Slide - Black">
    <p:bg>
      <p:bgPr>
        <a:solidFill>
          <a:schemeClr val="tx1"/>
        </a:solidFill>
        <a:effectLst/>
      </p:bgPr>
    </p:bg>
    <p:spTree>
      <p:nvGrpSpPr>
        <p:cNvPr id="1" name="Shape 186"/>
        <p:cNvGrpSpPr/>
        <p:nvPr/>
      </p:nvGrpSpPr>
      <p:grpSpPr>
        <a:xfrm>
          <a:off x="0" y="0"/>
          <a:ext cx="0" cy="0"/>
          <a:chOff x="0" y="0"/>
          <a:chExt cx="0" cy="0"/>
        </a:xfrm>
      </p:grpSpPr>
      <p:sp>
        <p:nvSpPr>
          <p:cNvPr id="7" name="TextBox 6"/>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6" name="Text Placeholder 2">
            <a:extLst>
              <a:ext uri="{FF2B5EF4-FFF2-40B4-BE49-F238E27FC236}">
                <a16:creationId xmlns:a16="http://schemas.microsoft.com/office/drawing/2014/main" id="{9D535178-0C9A-2F44-8057-64ED548EEC7C}"/>
              </a:ext>
            </a:extLst>
          </p:cNvPr>
          <p:cNvSpPr>
            <a:spLocks noGrp="1"/>
          </p:cNvSpPr>
          <p:nvPr>
            <p:ph type="body" sz="quarter" idx="17" hasCustomPrompt="1"/>
          </p:nvPr>
        </p:nvSpPr>
        <p:spPr>
          <a:xfrm>
            <a:off x="609600" y="1576678"/>
            <a:ext cx="10972800" cy="822960"/>
          </a:xfrm>
          <a:prstGeom prst="rect">
            <a:avLst/>
          </a:prstGeom>
        </p:spPr>
        <p:txBody>
          <a:bodyPr vert="horz" lIns="0" tIns="0" rIns="0" bIns="0" rtlCol="0" anchor="b" anchorCtr="0">
            <a:noAutofit/>
          </a:bodyPr>
          <a:lstStyle>
            <a:lvl1pPr>
              <a:defRPr lang="en-US" sz="6000" b="1" spc="-200" baseline="0" dirty="0">
                <a:gradFill flip="none" rotWithShape="1">
                  <a:gsLst>
                    <a:gs pos="70000">
                      <a:srgbClr val="7E18BE"/>
                    </a:gs>
                    <a:gs pos="0">
                      <a:srgbClr val="0084FF"/>
                    </a:gs>
                    <a:gs pos="100000">
                      <a:srgbClr val="FF5E86"/>
                    </a:gs>
                  </a:gsLst>
                  <a:lin ang="0" scaled="1"/>
                  <a:tileRect/>
                </a:gradFill>
                <a:latin typeface="Arial" panose="020B0604020202020204" pitchFamily="34" charset="0"/>
                <a:ea typeface="Tahoma" panose="020B0604030504040204" pitchFamily="34" charset="0"/>
              </a:defRPr>
            </a:lvl1pPr>
          </a:lstStyle>
          <a:p>
            <a:pPr marL="0" lvl="0">
              <a:lnSpc>
                <a:spcPct val="100000"/>
              </a:lnSpc>
              <a:spcBef>
                <a:spcPts val="0"/>
              </a:spcBef>
              <a:spcAft>
                <a:spcPts val="800"/>
              </a:spcAft>
              <a:buClr>
                <a:srgbClr val="FFFFFF"/>
              </a:buClr>
              <a:buSzPct val="100000"/>
            </a:pPr>
            <a:r>
              <a:rPr lang="en-US"/>
              <a:t>Thank You</a:t>
            </a:r>
          </a:p>
        </p:txBody>
      </p:sp>
      <p:sp>
        <p:nvSpPr>
          <p:cNvPr id="8" name="Rectangle 7"/>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4">
            <a:extLst>
              <a:ext uri="{FF2B5EF4-FFF2-40B4-BE49-F238E27FC236}">
                <a16:creationId xmlns:a16="http://schemas.microsoft.com/office/drawing/2014/main" id="{BD4C0092-F7F0-5342-87F2-01D44BC7018D}"/>
              </a:ext>
            </a:extLst>
          </p:cNvPr>
          <p:cNvSpPr>
            <a:spLocks noGrp="1"/>
          </p:cNvSpPr>
          <p:nvPr>
            <p:ph type="body" sz="quarter" idx="13"/>
          </p:nvPr>
        </p:nvSpPr>
        <p:spPr>
          <a:xfrm>
            <a:off x="609600" y="2755806"/>
            <a:ext cx="10972800" cy="1555097"/>
          </a:xfrm>
          <a:prstGeom prst="rect">
            <a:avLst/>
          </a:prstGeom>
        </p:spPr>
        <p:txBody>
          <a:bodyPr>
            <a:noAutofit/>
          </a:bodyPr>
          <a:lstStyle>
            <a:lvl1pPr marL="7937" indent="0">
              <a:lnSpc>
                <a:spcPct val="120000"/>
              </a:lnSpc>
              <a:spcBef>
                <a:spcPts val="0"/>
              </a:spcBef>
              <a:buClr>
                <a:schemeClr val="bg2"/>
              </a:buClr>
              <a:buFont typeface="Arial" panose="020B0604020202020204" pitchFamily="34" charset="0"/>
              <a:buNone/>
              <a:tabLst/>
              <a:defRPr sz="1400" b="0" i="0">
                <a:solidFill>
                  <a:schemeClr val="bg1"/>
                </a:solidFill>
                <a:latin typeface="Arial" panose="020B0604020202020204" pitchFamily="34" charset="0"/>
                <a:cs typeface="Arial" panose="020B0604020202020204" pitchFamily="34" charset="0"/>
              </a:defRPr>
            </a:lvl1pPr>
            <a:lvl2pPr>
              <a:buClr>
                <a:schemeClr val="bg1">
                  <a:lumMod val="75000"/>
                </a:schemeClr>
              </a:buClr>
              <a:defRPr b="0" i="0">
                <a:latin typeface="Arial" panose="020B0604020202020204" pitchFamily="34" charset="0"/>
                <a:cs typeface="Arial" panose="020B0604020202020204" pitchFamily="34" charset="0"/>
              </a:defRPr>
            </a:lvl2pPr>
            <a:lvl3pPr>
              <a:buClr>
                <a:schemeClr val="bg1">
                  <a:lumMod val="75000"/>
                </a:schemeClr>
              </a:buClr>
              <a:defRPr b="0" i="0">
                <a:latin typeface="Arial" panose="020B0604020202020204" pitchFamily="34" charset="0"/>
                <a:cs typeface="Arial" panose="020B0604020202020204" pitchFamily="34" charset="0"/>
              </a:defRPr>
            </a:lvl3pPr>
            <a:lvl4pPr>
              <a:buClr>
                <a:schemeClr val="bg1">
                  <a:lumMod val="75000"/>
                </a:schemeClr>
              </a:buClr>
              <a:defRPr b="0" i="0">
                <a:latin typeface="Arial" panose="020B0604020202020204" pitchFamily="34" charset="0"/>
                <a:cs typeface="Arial" panose="020B0604020202020204" pitchFamily="34" charset="0"/>
              </a:defRPr>
            </a:lvl4pPr>
            <a:lvl5pPr>
              <a:buClr>
                <a:schemeClr val="bg1">
                  <a:lumMod val="75000"/>
                </a:schemeClr>
              </a:buClr>
              <a:defRPr b="0" i="0">
                <a:latin typeface="Arial" panose="020B0604020202020204" pitchFamily="34" charset="0"/>
                <a:cs typeface="Arial" panose="020B0604020202020204" pitchFamily="34" charset="0"/>
              </a:defRPr>
            </a:lvl5pPr>
          </a:lstStyle>
          <a:p>
            <a:pPr lvl="0"/>
            <a:r>
              <a:rPr lang="en-US"/>
              <a:t>Click to edit Master text styles</a:t>
            </a:r>
          </a:p>
        </p:txBody>
      </p:sp>
      <p:pic>
        <p:nvPicPr>
          <p:cNvPr id="4" name="Picture 3">
            <a:extLst>
              <a:ext uri="{FF2B5EF4-FFF2-40B4-BE49-F238E27FC236}">
                <a16:creationId xmlns:a16="http://schemas.microsoft.com/office/drawing/2014/main" id="{101F921E-1ACF-8082-C243-157B41C5D742}"/>
              </a:ext>
            </a:extLst>
          </p:cNvPr>
          <p:cNvPicPr>
            <a:picLocks noChangeAspect="1"/>
          </p:cNvPicPr>
          <p:nvPr/>
        </p:nvPicPr>
        <p:blipFill>
          <a:blip r:embed="rId2" cstate="screen">
            <a:duotone>
              <a:schemeClr val="bg2">
                <a:shade val="45000"/>
                <a:satMod val="135000"/>
              </a:schemeClr>
              <a:prstClr val="white"/>
            </a:duotone>
            <a:alphaModFix amt="4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
        <p:nvSpPr>
          <p:cNvPr id="5" name="Rectangle 4">
            <a:extLst>
              <a:ext uri="{FF2B5EF4-FFF2-40B4-BE49-F238E27FC236}">
                <a16:creationId xmlns:a16="http://schemas.microsoft.com/office/drawing/2014/main" id="{54790109-C748-0CDA-8478-EFF7F8330807}"/>
              </a:ext>
            </a:extLst>
          </p:cNvPr>
          <p:cNvSpPr/>
          <p:nvPr/>
        </p:nvSpPr>
        <p:spPr>
          <a:xfrm>
            <a:off x="609600" y="4636593"/>
            <a:ext cx="7326385" cy="1552080"/>
          </a:xfrm>
          <a:prstGeom prst="rect">
            <a:avLst/>
          </a:prstGeom>
        </p:spPr>
        <p:txBody>
          <a:bodyPr wrap="square" lIns="0" tIns="0" rIns="0" bIns="0" anchor="t">
            <a:noAutofit/>
          </a:bodyPr>
          <a:lstStyle/>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1" i="0" u="none" strike="noStrike" kern="1200" cap="none" spc="0" normalizeH="0" baseline="0" noProof="0">
                <a:ln>
                  <a:noFill/>
                </a:ln>
                <a:solidFill>
                  <a:srgbClr val="7F7F7F"/>
                </a:solidFill>
                <a:effectLst/>
                <a:uLnTx/>
                <a:uFillTx/>
                <a:latin typeface="Arial"/>
                <a:ea typeface="+mn-ea"/>
                <a:cs typeface="Arial"/>
              </a:rPr>
              <a:t>Disclaimer: </a:t>
            </a:r>
            <a:r>
              <a:rPr kumimoji="0" lang="en-GB" sz="900" b="0" i="0" u="none" strike="noStrike" kern="1200" cap="none" spc="0" normalizeH="0" baseline="0" noProof="0">
                <a:ln>
                  <a:noFill/>
                </a:ln>
                <a:solidFill>
                  <a:srgbClr val="7F7F7F"/>
                </a:solidFill>
                <a:effectLst/>
                <a:uLnTx/>
                <a:uFillTx/>
                <a:latin typeface="Arial"/>
                <a:ea typeface="+mn-ea"/>
                <a:cs typeface="Arial"/>
              </a:rPr>
              <a:t>This document is for informational purposes only and is subject to change without notice. This document and its content herein are believed to be accurate as of its date of publication. However, Orion Systems Integrators, LLC (herein referred as Orion) makes no guarantee, representations or warranties with regard to the enclosed information and specifically disclaims the implied warranties of fitness for a particular purpose and merchantability. As each user of Orion services is likely to be unique in their requirements in the use of such software solutions and their business processes, users of this document are always advised to discuss the content of this document with their Orion representatives. </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Orion</a:t>
            </a:r>
            <a:r>
              <a:rPr kumimoji="0" lang="en-GB" sz="900" b="0" i="0" u="none" strike="noStrike" kern="1200" cap="none" spc="0" normalizeH="0" baseline="30000" noProof="0">
                <a:ln>
                  <a:noFill/>
                </a:ln>
                <a:solidFill>
                  <a:srgbClr val="7F7F7F"/>
                </a:solidFill>
                <a:effectLst/>
                <a:uLnTx/>
                <a:uFillTx/>
                <a:latin typeface="Arial"/>
                <a:ea typeface="+mn-ea"/>
                <a:cs typeface="Arial"/>
              </a:rPr>
              <a:t>SM</a:t>
            </a:r>
            <a:r>
              <a:rPr kumimoji="0" lang="en-GB" sz="900" b="0" i="0" u="none" strike="noStrike" kern="1200" cap="none" spc="0" normalizeH="0" baseline="0" noProof="0">
                <a:ln>
                  <a:noFill/>
                </a:ln>
                <a:solidFill>
                  <a:srgbClr val="7F7F7F"/>
                </a:solidFill>
                <a:effectLst/>
                <a:uLnTx/>
                <a:uFillTx/>
                <a:latin typeface="Arial"/>
                <a:ea typeface="+mn-ea"/>
                <a:cs typeface="Arial"/>
              </a:rPr>
              <a:t>,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OI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logo, and the O</a:t>
            </a:r>
            <a:r>
              <a:rPr kumimoji="0" lang="en-GB" sz="900" b="1" i="0" u="none" strike="noStrike" kern="1200" cap="none" spc="0" normalizeH="0" baseline="0" noProof="0">
                <a:ln>
                  <a:noFill/>
                </a:ln>
                <a:solidFill>
                  <a:srgbClr val="7F7F7F"/>
                </a:solidFill>
                <a:effectLst/>
                <a:uLnTx/>
                <a:uFillTx/>
                <a:latin typeface="Arial"/>
                <a:ea typeface="+mn-ea"/>
                <a:cs typeface="Arial"/>
              </a:rPr>
              <a:t>/</a:t>
            </a:r>
            <a:r>
              <a:rPr kumimoji="0" lang="en-GB" sz="900" b="0" i="0" u="none" strike="noStrike" kern="1200" cap="none" spc="0" normalizeH="0" baseline="30000" noProof="0">
                <a:ln>
                  <a:noFill/>
                </a:ln>
                <a:solidFill>
                  <a:srgbClr val="7F7F7F"/>
                </a:solidFill>
                <a:effectLst/>
                <a:uLnTx/>
                <a:uFillTx/>
                <a:latin typeface="Arial"/>
                <a:ea typeface="+mn-ea"/>
                <a:cs typeface="Arial"/>
              </a:rPr>
              <a:t>SM </a:t>
            </a:r>
            <a:r>
              <a:rPr kumimoji="0" lang="en-GB" sz="900" b="0" i="0" u="none" strike="noStrike" kern="1200" cap="none" spc="0" normalizeH="0" baseline="0" noProof="0">
                <a:ln>
                  <a:noFill/>
                </a:ln>
                <a:solidFill>
                  <a:srgbClr val="7F7F7F"/>
                </a:solidFill>
                <a:effectLst/>
                <a:uLnTx/>
                <a:uFillTx/>
                <a:latin typeface="Arial"/>
                <a:ea typeface="+mn-ea"/>
                <a:cs typeface="Arial"/>
              </a:rPr>
              <a:t>logo are trademarks and/or service marks owned by Orion Systems Integrators, LLC. Certain of Orion’s trademarks and/or service marks are registered or the subject of U.S. or foreign applications. All other logos, trademarks, and service marks are the property of their respective owners and are used with permission.</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Copyright © 2026 Orion Systems Integrators, LLC. All Rights Reserved.</a:t>
            </a:r>
          </a:p>
        </p:txBody>
      </p:sp>
      <p:pic>
        <p:nvPicPr>
          <p:cNvPr id="9" name="Graphic 8">
            <a:extLst>
              <a:ext uri="{FF2B5EF4-FFF2-40B4-BE49-F238E27FC236}">
                <a16:creationId xmlns:a16="http://schemas.microsoft.com/office/drawing/2014/main" id="{765811EA-F4FC-C283-7A0E-71CF0F9F620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19" name="TextBox 18">
            <a:extLst>
              <a:ext uri="{FF2B5EF4-FFF2-40B4-BE49-F238E27FC236}">
                <a16:creationId xmlns:a16="http://schemas.microsoft.com/office/drawing/2014/main" id="{7F5E76D2-F382-0592-682D-F58FCBC6BA5D}"/>
              </a:ext>
            </a:extLst>
          </p:cNvPr>
          <p:cNvSpPr txBox="1"/>
          <p:nvPr/>
        </p:nvSpPr>
        <p:spPr>
          <a:xfrm>
            <a:off x="8926692" y="4623358"/>
            <a:ext cx="2796879" cy="1323439"/>
          </a:xfrm>
          <a:prstGeom prst="rect">
            <a:avLst/>
          </a:prstGeom>
          <a:noFill/>
        </p:spPr>
        <p:txBody>
          <a:bodyPr wrap="square" lIns="91440" tIns="45720" rIns="91440" bIns="45720" rtlCol="0" anchor="t">
            <a:spAutoFit/>
          </a:bodyPr>
          <a:lstStyle/>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4">
                  <a:extLst>
                    <a:ext uri="{A12FA001-AC4F-418D-AE19-62706E023703}">
                      <ahyp:hlinkClr xmlns:ahyp="http://schemas.microsoft.com/office/drawing/2018/hyperlinkcolor" val="tx"/>
                    </a:ext>
                  </a:extLst>
                </a:hlinkClick>
              </a:rPr>
              <a:t>www.orioninnovation.com</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5">
                  <a:extLst>
                    <a:ext uri="{A12FA001-AC4F-418D-AE19-62706E023703}">
                      <ahyp:hlinkClr xmlns:ahyp="http://schemas.microsoft.com/office/drawing/2018/hyperlinkcolor" val="tx"/>
                    </a:ext>
                  </a:extLst>
                </a:hlinkClick>
              </a:rPr>
              <a:t>linkedin.com/company/orioninnovation</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6">
                  <a:extLst>
                    <a:ext uri="{A12FA001-AC4F-418D-AE19-62706E023703}">
                      <ahyp:hlinkClr xmlns:ahyp="http://schemas.microsoft.com/office/drawing/2018/hyperlinkcolor" val="tx"/>
                    </a:ext>
                  </a:extLst>
                </a:hlinkClick>
              </a:rPr>
              <a:t>www.instagram.com/orion.innovation</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7">
                  <a:extLst>
                    <a:ext uri="{A12FA001-AC4F-418D-AE19-62706E023703}">
                      <ahyp:hlinkClr xmlns:ahyp="http://schemas.microsoft.com/office/drawing/2018/hyperlinkcolor" val="tx"/>
                    </a:ext>
                  </a:extLst>
                </a:hlinkClick>
              </a:rPr>
              <a:t>x.com/CurrentlyOrion</a:t>
            </a:r>
            <a:endParaRPr kumimoji="0" lang="en-GB" sz="1200" b="0" i="0" u="none" strike="noStrike" kern="0" cap="none" spc="0" normalizeH="0" baseline="0" noProof="0">
              <a:ln>
                <a:noFill/>
              </a:ln>
              <a:solidFill>
                <a:schemeClr val="bg1"/>
              </a:solidFill>
              <a:effectLst/>
              <a:uLnTx/>
              <a:uFillTx/>
              <a:latin typeface="Arial"/>
              <a:ea typeface="+mn-ea"/>
              <a:cs typeface="Arial"/>
            </a:endParaRPr>
          </a:p>
        </p:txBody>
      </p:sp>
      <p:pic>
        <p:nvPicPr>
          <p:cNvPr id="23" name="Picture 22" descr="Website - Free web icons">
            <a:extLst>
              <a:ext uri="{FF2B5EF4-FFF2-40B4-BE49-F238E27FC236}">
                <a16:creationId xmlns:a16="http://schemas.microsoft.com/office/drawing/2014/main" id="{85DF9A9A-C543-35B7-2ED8-38EFD74BA7F3}"/>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a:xfrm>
            <a:off x="8738298" y="4664454"/>
            <a:ext cx="218665" cy="218665"/>
          </a:xfrm>
          <a:prstGeom prst="rect">
            <a:avLst/>
          </a:prstGeom>
        </p:spPr>
      </p:pic>
      <p:pic>
        <p:nvPicPr>
          <p:cNvPr id="24" name="Picture 23" descr="Linkedin - Free social media icons">
            <a:extLst>
              <a:ext uri="{FF2B5EF4-FFF2-40B4-BE49-F238E27FC236}">
                <a16:creationId xmlns:a16="http://schemas.microsoft.com/office/drawing/2014/main" id="{24F6F54C-527F-C0A6-28CD-314A2DB89878}"/>
              </a:ext>
            </a:extLst>
          </p:cNvPr>
          <p:cNvPicPr>
            <a:picLocks noChangeAspect="1"/>
          </p:cNvPicPr>
          <p:nvPr userDrawn="1"/>
        </p:nvPicPr>
        <p:blipFill>
          <a:blip r:embed="rId10">
            <a:extLst>
              <a:ext uri="{BEBA8EAE-BF5A-486C-A8C5-ECC9F3942E4B}">
                <a14:imgProps xmlns:a14="http://schemas.microsoft.com/office/drawing/2010/main">
                  <a14:imgLayer r:embed="rId11">
                    <a14:imgEffect>
                      <a14:brightnessContrast bright="100000"/>
                    </a14:imgEffect>
                  </a14:imgLayer>
                </a14:imgProps>
              </a:ext>
            </a:extLst>
          </a:blip>
          <a:stretch>
            <a:fillRect/>
          </a:stretch>
        </p:blipFill>
        <p:spPr>
          <a:xfrm>
            <a:off x="8749162" y="5005792"/>
            <a:ext cx="196936" cy="196936"/>
          </a:xfrm>
          <a:prstGeom prst="rect">
            <a:avLst/>
          </a:prstGeom>
        </p:spPr>
      </p:pic>
      <p:pic>
        <p:nvPicPr>
          <p:cNvPr id="25" name="Picture 24" descr="File:CIS-A2K Instagram Icon (Black).svg - Wikimedia Commons">
            <a:extLst>
              <a:ext uri="{FF2B5EF4-FFF2-40B4-BE49-F238E27FC236}">
                <a16:creationId xmlns:a16="http://schemas.microsoft.com/office/drawing/2014/main" id="{F380B0D0-4207-59F4-E678-A11C01D791D8}"/>
              </a:ext>
            </a:extLst>
          </p:cNvPr>
          <p:cNvPicPr>
            <a:picLocks noChangeAspect="1"/>
          </p:cNvPicPr>
          <p:nvPr userDrawn="1"/>
        </p:nvPicPr>
        <p:blipFill>
          <a:blip r:embed="rId12"/>
          <a:stretch>
            <a:fillRect/>
          </a:stretch>
        </p:blipFill>
        <p:spPr>
          <a:xfrm>
            <a:off x="8701083" y="5299211"/>
            <a:ext cx="293095" cy="293095"/>
          </a:xfrm>
          <a:prstGeom prst="rect">
            <a:avLst/>
          </a:prstGeom>
        </p:spPr>
      </p:pic>
      <p:pic>
        <p:nvPicPr>
          <p:cNvPr id="27" name="Picture 26" descr="Twitter x logo Images - Free Download on Freepik">
            <a:extLst>
              <a:ext uri="{FF2B5EF4-FFF2-40B4-BE49-F238E27FC236}">
                <a16:creationId xmlns:a16="http://schemas.microsoft.com/office/drawing/2014/main" id="{FBF43D94-D6E7-9636-C843-CE31B068483E}"/>
              </a:ext>
            </a:extLst>
          </p:cNvPr>
          <p:cNvPicPr>
            <a:picLocks noChangeAspect="1"/>
          </p:cNvPicPr>
          <p:nvPr userDrawn="1"/>
        </p:nvPicPr>
        <p:blipFill>
          <a:blip r:embed="rId13"/>
          <a:srcRect l="17325" t="17471" r="17848" b="17556"/>
          <a:stretch>
            <a:fillRect/>
          </a:stretch>
        </p:blipFill>
        <p:spPr>
          <a:xfrm>
            <a:off x="8759682" y="5686874"/>
            <a:ext cx="175897" cy="176294"/>
          </a:xfrm>
          <a:prstGeom prst="ellipse">
            <a:avLst/>
          </a:prstGeom>
          <a:ln w="3175">
            <a:solidFill>
              <a:schemeClr val="bg2"/>
            </a:solidFill>
          </a:ln>
        </p:spPr>
      </p:pic>
    </p:spTree>
    <p:extLst>
      <p:ext uri="{BB962C8B-B14F-4D97-AF65-F5344CB8AC3E}">
        <p14:creationId xmlns:p14="http://schemas.microsoft.com/office/powerpoint/2010/main" val="12818313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71F5A975-01B0-1E45-A56B-C68FA2410A50}"/>
              </a:ext>
            </a:extLst>
          </p:cNvPr>
          <p:cNvSpPr>
            <a:spLocks noGrp="1"/>
          </p:cNvSpPr>
          <p:nvPr>
            <p:ph type="ftr" sz="quarter" idx="3"/>
          </p:nvPr>
        </p:nvSpPr>
        <p:spPr>
          <a:xfrm>
            <a:off x="609600" y="6413499"/>
            <a:ext cx="4114800" cy="208585"/>
          </a:xfrm>
          <a:prstGeom prst="rect">
            <a:avLst/>
          </a:prstGeom>
        </p:spPr>
        <p:txBody>
          <a:bodyPr vert="horz" lIns="0" tIns="0" rIns="0" bIns="0" rtlCol="0" anchor="b">
            <a:noAutofit/>
          </a:bodyPr>
          <a:lstStyle>
            <a:lvl1pPr algn="l">
              <a:defRPr sz="700" b="0" i="0">
                <a:solidFill>
                  <a:schemeClr val="tx1">
                    <a:tint val="75000"/>
                  </a:schemeClr>
                </a:solidFill>
                <a:latin typeface="Arial" panose="020B0604020202020204" pitchFamily="34" charset="0"/>
                <a:cs typeface="Arial" panose="020B0604020202020204" pitchFamily="34" charset="0"/>
              </a:defRPr>
            </a:lvl1pPr>
          </a:lstStyle>
          <a:p>
            <a:r>
              <a:rPr lang="en-US"/>
              <a:t>Proprietary and Confidential</a:t>
            </a:r>
          </a:p>
        </p:txBody>
      </p:sp>
      <p:sp>
        <p:nvSpPr>
          <p:cNvPr id="5" name="Title Placeholder 4">
            <a:extLst>
              <a:ext uri="{FF2B5EF4-FFF2-40B4-BE49-F238E27FC236}">
                <a16:creationId xmlns:a16="http://schemas.microsoft.com/office/drawing/2014/main" id="{748A1652-E12D-BB40-863C-B183DCEF34DC}"/>
              </a:ext>
            </a:extLst>
          </p:cNvPr>
          <p:cNvSpPr>
            <a:spLocks noGrp="1"/>
          </p:cNvSpPr>
          <p:nvPr>
            <p:ph type="title"/>
          </p:nvPr>
        </p:nvSpPr>
        <p:spPr>
          <a:xfrm>
            <a:off x="609599" y="460376"/>
            <a:ext cx="10972799" cy="312265"/>
          </a:xfrm>
          <a:prstGeom prst="rect">
            <a:avLst/>
          </a:prstGeom>
        </p:spPr>
        <p:txBody>
          <a:bodyPr vert="horz" lIns="0" tIns="0" rIns="0" bIns="0" rtlCol="0" anchor="t">
            <a:spAutoFit/>
          </a:bodyPr>
          <a:lstStyle/>
          <a:p>
            <a:pPr marL="0" lvl="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pPr>
            <a:r>
              <a:rPr lang="en-US"/>
              <a:t>CLICK TO EDIT MASTER TITLE STYLE</a:t>
            </a:r>
          </a:p>
        </p:txBody>
      </p:sp>
      <p:pic>
        <p:nvPicPr>
          <p:cNvPr id="7" name="Picture 6">
            <a:extLst>
              <a:ext uri="{FF2B5EF4-FFF2-40B4-BE49-F238E27FC236}">
                <a16:creationId xmlns:a16="http://schemas.microsoft.com/office/drawing/2014/main" id="{B79AC6D6-695B-DE90-0E74-45050645A13D}"/>
              </a:ext>
            </a:extLst>
          </p:cNvPr>
          <p:cNvPicPr>
            <a:picLocks noChangeAspect="1"/>
          </p:cNvPicPr>
          <p:nvPr userDrawn="1"/>
        </p:nvPicPr>
        <p:blipFill>
          <a:blip r:embed="rId16" cstate="screen">
            <a:alphaModFix amt="40000"/>
            <a:lum bright="70000" contrast="-7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Tree>
    <p:extLst>
      <p:ext uri="{BB962C8B-B14F-4D97-AF65-F5344CB8AC3E}">
        <p14:creationId xmlns:p14="http://schemas.microsoft.com/office/powerpoint/2010/main" val="4115792623"/>
      </p:ext>
    </p:extLst>
  </p:cSld>
  <p:clrMap bg1="lt1" tx1="dk1" bg2="lt2" tx2="dk2" accent1="accent1" accent2="accent2" accent3="accent3" accent4="accent4" accent5="accent5" accent6="accent6" hlink="hlink" folHlink="folHlink"/>
  <p:sldLayoutIdLst>
    <p:sldLayoutId id="2147483665" r:id="rId1"/>
    <p:sldLayoutId id="2147483733" r:id="rId2"/>
    <p:sldLayoutId id="2147483666" r:id="rId3"/>
    <p:sldLayoutId id="2147483667" r:id="rId4"/>
    <p:sldLayoutId id="2147483668" r:id="rId5"/>
    <p:sldLayoutId id="2147483669" r:id="rId6"/>
    <p:sldLayoutId id="2147483672" r:id="rId7"/>
    <p:sldLayoutId id="2147483673" r:id="rId8"/>
    <p:sldLayoutId id="2147483674" r:id="rId9"/>
    <p:sldLayoutId id="2147483787" r:id="rId10"/>
    <p:sldLayoutId id="2147483675" r:id="rId11"/>
    <p:sldLayoutId id="2147483786" r:id="rId12"/>
    <p:sldLayoutId id="2147483691" r:id="rId13"/>
    <p:sldLayoutId id="2147483785" r:id="rId14"/>
  </p:sldLayoutIdLst>
  <p:hf hdr="0" dt="0"/>
  <p:txStyles>
    <p:titleStyle>
      <a:lvl1pPr algn="l" defTabSz="1219170" rtl="0" eaLnBrk="1" latinLnBrk="0" hangingPunct="1">
        <a:lnSpc>
          <a:spcPct val="90000"/>
        </a:lnSpc>
        <a:spcBef>
          <a:spcPct val="0"/>
        </a:spcBef>
        <a:buNone/>
        <a:defRPr lang="en-US" sz="2000" b="1" i="0" kern="1200" spc="0" baseline="0" dirty="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p:titleStyle>
    <p:bodyStyle>
      <a:lvl1pPr marL="18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1pPr>
      <a:lvl2pPr marL="2322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2pPr>
      <a:lvl3pPr marL="462600" indent="0" algn="l" defTabSz="1219170" rtl="0" eaLnBrk="1" latinLnBrk="0" hangingPunct="1">
        <a:lnSpc>
          <a:spcPct val="110000"/>
        </a:lnSpc>
        <a:spcBef>
          <a:spcPts val="400"/>
        </a:spcBef>
        <a:spcAft>
          <a:spcPts val="400"/>
        </a:spcAft>
        <a:buClr>
          <a:schemeClr val="bg2"/>
        </a:buClr>
        <a:buFont typeface="Courier New" panose="02070309020205020404" pitchFamily="49" charset="0"/>
        <a:buNone/>
        <a:tabLst/>
        <a:defRPr sz="2400" b="0" i="0" kern="1200">
          <a:solidFill>
            <a:schemeClr val="tx1"/>
          </a:solidFill>
          <a:latin typeface="+mj-lt"/>
          <a:ea typeface="+mn-ea"/>
          <a:cs typeface="Arial" panose="020B0604020202020204" pitchFamily="34" charset="0"/>
        </a:defRPr>
      </a:lvl3pPr>
      <a:lvl4pPr marL="6930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4pPr>
      <a:lvl5pPr marL="9234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FFFFF"/>
          </p15:clr>
        </p15:guide>
        <p15:guide id="2" pos="7536">
          <p15:clr>
            <a:srgbClr val="FFFFFF"/>
          </p15:clr>
        </p15:guide>
        <p15:guide id="3" orient="horz" pos="4176">
          <p15:clr>
            <a:srgbClr val="547EBF"/>
          </p15:clr>
        </p15:guide>
        <p15:guide id="4" pos="144">
          <p15:clr>
            <a:srgbClr val="FFFFFF"/>
          </p15:clr>
        </p15:guide>
        <p15:guide id="5" pos="288">
          <p15:clr>
            <a:srgbClr val="5ACBF0"/>
          </p15:clr>
        </p15:guide>
        <p15:guide id="6" orient="horz" pos="4032">
          <p15:clr>
            <a:srgbClr val="5ACBF0"/>
          </p15:clr>
        </p15:guide>
        <p15:guide id="7" orient="horz" pos="290">
          <p15:clr>
            <a:srgbClr val="5ACBF0"/>
          </p15:clr>
        </p15:guide>
        <p15:guide id="9" pos="1464">
          <p15:clr>
            <a:srgbClr val="F26B43"/>
          </p15:clr>
        </p15:guide>
        <p15:guide id="10" pos="840">
          <p15:clr>
            <a:srgbClr val="F26B43"/>
          </p15:clr>
        </p15:guide>
        <p15:guide id="11" pos="2063">
          <p15:clr>
            <a:srgbClr val="F26B43"/>
          </p15:clr>
        </p15:guide>
        <p15:guide id="12" pos="2651">
          <p15:clr>
            <a:srgbClr val="F26B43"/>
          </p15:clr>
        </p15:guide>
        <p15:guide id="13" pos="3250">
          <p15:clr>
            <a:srgbClr val="F26B43"/>
          </p15:clr>
        </p15:guide>
        <p15:guide id="14" pos="3835">
          <p15:clr>
            <a:srgbClr val="F26B43"/>
          </p15:clr>
        </p15:guide>
        <p15:guide id="15" pos="4432">
          <p15:clr>
            <a:srgbClr val="F26B43"/>
          </p15:clr>
        </p15:guide>
        <p15:guide id="16" pos="5022">
          <p15:clr>
            <a:srgbClr val="F26B43"/>
          </p15:clr>
        </p15:guide>
        <p15:guide id="17" pos="5620">
          <p15:clr>
            <a:srgbClr val="F26B43"/>
          </p15:clr>
        </p15:guide>
        <p15:guide id="18" pos="6207">
          <p15:clr>
            <a:srgbClr val="F26B43"/>
          </p15:clr>
        </p15:guide>
        <p15:guide id="19" pos="6802">
          <p15:clr>
            <a:srgbClr val="F26B43"/>
          </p15:clr>
        </p15:guide>
        <p15:guide id="20" orient="horz" pos="756">
          <p15:clr>
            <a:srgbClr val="5ACBF0"/>
          </p15:clr>
        </p15:guide>
        <p15:guide id="21" orient="horz" pos="1225">
          <p15:clr>
            <a:srgbClr val="5ACBF0"/>
          </p15:clr>
        </p15:guide>
        <p15:guide id="22" orient="horz" pos="1692">
          <p15:clr>
            <a:srgbClr val="5ACBF0"/>
          </p15:clr>
        </p15:guide>
        <p15:guide id="23" orient="horz" pos="2157">
          <p15:clr>
            <a:srgbClr val="5ACBF0"/>
          </p15:clr>
        </p15:guide>
        <p15:guide id="24" orient="horz" pos="2629">
          <p15:clr>
            <a:srgbClr val="5ACBF0"/>
          </p15:clr>
        </p15:guide>
        <p15:guide id="25" orient="horz" pos="3096">
          <p15:clr>
            <a:srgbClr val="5ACBF0"/>
          </p15:clr>
        </p15:guide>
        <p15:guide id="26" orient="horz" pos="3570">
          <p15:clr>
            <a:srgbClr val="5ACBF0"/>
          </p15:clr>
        </p15:guide>
        <p15:guide id="29" pos="7392">
          <p15:clr>
            <a:srgbClr val="5ACBF0"/>
          </p15:clr>
        </p15:guide>
        <p15:guide id="30" pos="7440">
          <p15:clr>
            <a:srgbClr val="5ACBF0"/>
          </p15:clr>
        </p15:guide>
        <p15:guide id="31" pos="2400">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07 · Operations, Observability &amp; Quality</a:t>
            </a:r>
          </a:p>
        </p:txBody>
      </p:sp>
      <p:sp>
        <p:nvSpPr>
          <p:cNvPr id="3" name="Text Placeholder 2"/>
          <p:cNvSpPr>
            <a:spLocks noGrp="1"/>
          </p:cNvSpPr>
          <p:nvPr>
            <p:ph type="body" idx="12" sz="quarter"/>
          </p:nvPr>
        </p:nvSpPr>
        <p:spPr/>
        <p:txBody>
          <a:bodyPr/>
          <a:lstStyle/>
          <a:p>
            <a:r>
              <a:rPr>
                <a:solidFill>
                  <a:srgbClr val="D5D5D5"/>
                </a:solidFill>
              </a:rPr>
              <a:t>Langfuse · SLI/SLO · CI/CD · testing · LLMOps · DR  (D7, 18 ADRs)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deck covers</a:t>
            </a:r>
          </a:p>
        </p:txBody>
      </p:sp>
      <p:sp>
        <p:nvSpPr>
          <p:cNvPr id="3" name="TextBox 2"/>
          <p:cNvSpPr txBox="1"/>
          <p:nvPr/>
        </p:nvSpPr>
        <p:spPr>
          <a:xfrm>
            <a:off x="822960" y="1737360"/>
            <a:ext cx="5212080" cy="4389120"/>
          </a:xfrm>
          <a:prstGeom prst="rect">
            <a:avLst/>
          </a:prstGeom>
          <a:noFill/>
        </p:spPr>
        <p:txBody>
          <a:bodyPr wrap="square" lIns="0" tIns="0">
            <a:spAutoFit/>
          </a:bodyPr>
          <a:lstStyle/>
          <a:p>
            <a:pPr algn="l">
              <a:spcAft>
                <a:spcPts val="1000"/>
              </a:spcAft>
            </a:pPr>
            <a:r>
              <a:rPr sz="1800" b="1">
                <a:solidFill>
                  <a:srgbClr val="2ACCFF"/>
                </a:solidFill>
                <a:latin typeface="Calibri"/>
              </a:rPr>
              <a:t>▸ </a:t>
            </a:r>
            <a:r>
              <a:rPr sz="1800">
                <a:solidFill>
                  <a:srgbClr val="FFFFFF"/>
                </a:solidFill>
                <a:latin typeface="Calibri"/>
              </a:rPr>
              <a:t>Platform + AI observability (Langfuse)</a:t>
            </a:r>
          </a:p>
          <a:p>
            <a:pPr algn="l">
              <a:spcAft>
                <a:spcPts val="1000"/>
              </a:spcAft>
            </a:pPr>
            <a:r>
              <a:rPr sz="1800" b="1">
                <a:solidFill>
                  <a:srgbClr val="2ACCFF"/>
                </a:solidFill>
                <a:latin typeface="Calibri"/>
              </a:rPr>
              <a:t>▸ </a:t>
            </a:r>
            <a:r>
              <a:rPr sz="1800">
                <a:solidFill>
                  <a:srgbClr val="FFFFFF"/>
                </a:solidFill>
                <a:latin typeface="Calibri"/>
              </a:rPr>
              <a:t>Correlation IDs, tracing &amp; logging/redaction</a:t>
            </a:r>
          </a:p>
          <a:p>
            <a:pPr algn="l">
              <a:spcAft>
                <a:spcPts val="1000"/>
              </a:spcAft>
            </a:pPr>
            <a:r>
              <a:rPr sz="1800" b="1">
                <a:solidFill>
                  <a:srgbClr val="2ACCFF"/>
                </a:solidFill>
                <a:latin typeface="Calibri"/>
              </a:rPr>
              <a:t>▸ </a:t>
            </a:r>
            <a:r>
              <a:rPr sz="1800">
                <a:solidFill>
                  <a:srgbClr val="FFFFFF"/>
                </a:solidFill>
                <a:latin typeface="Calibri"/>
              </a:rPr>
              <a:t>Error taxonomy — the PlatformError hierarchy</a:t>
            </a:r>
          </a:p>
          <a:p>
            <a:pPr algn="l">
              <a:spcAft>
                <a:spcPts val="1000"/>
              </a:spcAft>
            </a:pPr>
            <a:r>
              <a:rPr sz="1800" b="1">
                <a:solidFill>
                  <a:srgbClr val="2ACCFF"/>
                </a:solidFill>
                <a:latin typeface="Calibri"/>
              </a:rPr>
              <a:t>▸ </a:t>
            </a:r>
            <a:r>
              <a:rPr sz="1800">
                <a:solidFill>
                  <a:srgbClr val="FFFFFF"/>
                </a:solidFill>
                <a:latin typeface="Calibri"/>
              </a:rPr>
              <a:t>Resilience patterns</a:t>
            </a:r>
          </a:p>
          <a:p>
            <a:pPr algn="l">
              <a:spcAft>
                <a:spcPts val="1000"/>
              </a:spcAft>
            </a:pPr>
            <a:r>
              <a:rPr sz="1800" b="1">
                <a:solidFill>
                  <a:srgbClr val="2ACCFF"/>
                </a:solidFill>
                <a:latin typeface="Calibri"/>
              </a:rPr>
              <a:t>▸ </a:t>
            </a:r>
            <a:r>
              <a:rPr sz="1800">
                <a:solidFill>
                  <a:srgbClr val="FFFFFF"/>
                </a:solidFill>
                <a:latin typeface="Calibri"/>
              </a:rPr>
              <a:t>SLI/SLO, error budget &amp; alerting</a:t>
            </a:r>
          </a:p>
        </p:txBody>
      </p:sp>
      <p:sp>
        <p:nvSpPr>
          <p:cNvPr id="4" name="TextBox 3"/>
          <p:cNvSpPr txBox="1"/>
          <p:nvPr/>
        </p:nvSpPr>
        <p:spPr>
          <a:xfrm>
            <a:off x="6309360" y="1737360"/>
            <a:ext cx="5212080" cy="4389120"/>
          </a:xfrm>
          <a:prstGeom prst="rect">
            <a:avLst/>
          </a:prstGeom>
          <a:noFill/>
        </p:spPr>
        <p:txBody>
          <a:bodyPr wrap="square" lIns="0" tIns="0">
            <a:spAutoFit/>
          </a:bodyPr>
          <a:lstStyle/>
          <a:p>
            <a:pPr algn="l">
              <a:spcAft>
                <a:spcPts val="1000"/>
              </a:spcAft>
            </a:pPr>
            <a:r>
              <a:rPr sz="1800" b="1">
                <a:solidFill>
                  <a:srgbClr val="2ACCFF"/>
                </a:solidFill>
                <a:latin typeface="Calibri"/>
              </a:rPr>
              <a:t>▸ </a:t>
            </a:r>
            <a:r>
              <a:rPr sz="1800">
                <a:solidFill>
                  <a:srgbClr val="FFFFFF"/>
                </a:solidFill>
                <a:latin typeface="Calibri"/>
              </a:rPr>
              <a:t>CI/CD pipelines, quality gates &amp; deployment strategy</a:t>
            </a:r>
          </a:p>
          <a:p>
            <a:pPr algn="l">
              <a:spcAft>
                <a:spcPts val="1000"/>
              </a:spcAft>
            </a:pPr>
            <a:r>
              <a:rPr sz="1800" b="1">
                <a:solidFill>
                  <a:srgbClr val="2ACCFF"/>
                </a:solidFill>
                <a:latin typeface="Calibri"/>
              </a:rPr>
              <a:t>▸ </a:t>
            </a:r>
            <a:r>
              <a:rPr sz="1800">
                <a:solidFill>
                  <a:srgbClr val="FFFFFF"/>
                </a:solidFill>
                <a:latin typeface="Calibri"/>
              </a:rPr>
              <a:t>Branching, versioning &amp; the release train</a:t>
            </a:r>
          </a:p>
          <a:p>
            <a:pPr algn="l">
              <a:spcAft>
                <a:spcPts val="1000"/>
              </a:spcAft>
            </a:pPr>
            <a:r>
              <a:rPr sz="1800" b="1">
                <a:solidFill>
                  <a:srgbClr val="2ACCFF"/>
                </a:solidFill>
                <a:latin typeface="Calibri"/>
              </a:rPr>
              <a:t>▸ </a:t>
            </a:r>
            <a:r>
              <a:rPr sz="1800">
                <a:solidFill>
                  <a:srgbClr val="FFFFFF"/>
                </a:solidFill>
                <a:latin typeface="Calibri"/>
              </a:rPr>
              <a:t>AI engineering lifecycle (LLMOps)</a:t>
            </a:r>
          </a:p>
          <a:p>
            <a:pPr algn="l">
              <a:spcAft>
                <a:spcPts val="1000"/>
              </a:spcAft>
            </a:pPr>
            <a:r>
              <a:rPr sz="1800" b="1">
                <a:solidFill>
                  <a:srgbClr val="2ACCFF"/>
                </a:solidFill>
                <a:latin typeface="Calibri"/>
              </a:rPr>
              <a:t>▸ </a:t>
            </a:r>
            <a:r>
              <a:rPr sz="1800">
                <a:solidFill>
                  <a:srgbClr val="FFFFFF"/>
                </a:solidFill>
                <a:latin typeface="Calibri"/>
              </a:rPr>
              <a:t>Evaluation &amp; regression gates; the test pyramid</a:t>
            </a:r>
          </a:p>
          <a:p>
            <a:pPr algn="l">
              <a:spcAft>
                <a:spcPts val="1000"/>
              </a:spcAft>
            </a:pPr>
            <a:r>
              <a:rPr sz="1800" b="1">
                <a:solidFill>
                  <a:srgbClr val="2ACCFF"/>
                </a:solidFill>
                <a:latin typeface="Calibri"/>
              </a:rPr>
              <a:t>▸ </a:t>
            </a:r>
            <a:r>
              <a:rPr sz="1800">
                <a:solidFill>
                  <a:srgbClr val="FFFFFF"/>
                </a:solidFill>
                <a:latin typeface="Calibri"/>
              </a:rPr>
              <a:t>Engineering agents; support, incidents &amp; DR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Observability — platform + AI</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D7-01 / D7-02</a:t>
            </a:r>
          </a:p>
        </p:txBody>
      </p:sp>
      <p:sp>
        <p:nvSpPr>
          <p:cNvPr id="4" name="Rounded Rectangle 3"/>
          <p:cNvSpPr/>
          <p:nvPr/>
        </p:nvSpPr>
        <p:spPr>
          <a:xfrm>
            <a:off x="640080" y="2743200"/>
            <a:ext cx="2743200" cy="1005840"/>
          </a:xfrm>
          <a:prstGeom prst="roundRect">
            <a:avLst/>
          </a:prstGeom>
          <a:solidFill>
            <a:srgbClr val="1E222B"/>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PFF AI runtime</a:t>
            </a:r>
          </a:p>
          <a:p>
            <a:pPr algn="ctr"/>
            <a:r>
              <a:rPr sz="1200" b="1">
                <a:solidFill>
                  <a:srgbClr val="FFFFFF"/>
                </a:solidFill>
                <a:latin typeface="Calibri"/>
              </a:rPr>
              <a:t>(correlation ID on every request)</a:t>
            </a:r>
          </a:p>
        </p:txBody>
      </p:sp>
      <p:sp>
        <p:nvSpPr>
          <p:cNvPr id="5" name="Rounded Rectangle 4"/>
          <p:cNvSpPr/>
          <p:nvPr/>
        </p:nvSpPr>
        <p:spPr>
          <a:xfrm>
            <a:off x="4114800" y="1828800"/>
            <a:ext cx="3657600" cy="868680"/>
          </a:xfrm>
          <a:prstGeom prst="roundRect">
            <a:avLst/>
          </a:prstGeom>
          <a:solidFill>
            <a:srgbClr val="1E222B"/>
          </a:solidFill>
          <a:ln w="12700">
            <a:solidFill>
              <a:srgbClr val="FE2579"/>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pic>
        <p:nvPicPr>
          <p:cNvPr id="6" name="Picture 5" descr="langfuse.png"/>
          <p:cNvPicPr>
            <a:picLocks noChangeAspect="1"/>
          </p:cNvPicPr>
          <p:nvPr/>
        </p:nvPicPr>
        <p:blipFill>
          <a:blip r:embed="rId2"/>
          <a:stretch>
            <a:fillRect/>
          </a:stretch>
        </p:blipFill>
        <p:spPr>
          <a:xfrm>
            <a:off x="4224528" y="2029968"/>
            <a:ext cx="1469571" cy="457200"/>
          </a:xfrm>
          <a:prstGeom prst="rect">
            <a:avLst/>
          </a:prstGeom>
        </p:spPr>
      </p:pic>
      <p:sp>
        <p:nvSpPr>
          <p:cNvPr id="7" name="TextBox 6"/>
          <p:cNvSpPr txBox="1"/>
          <p:nvPr/>
        </p:nvSpPr>
        <p:spPr>
          <a:xfrm>
            <a:off x="4800600" y="1975104"/>
            <a:ext cx="2834640" cy="640080"/>
          </a:xfrm>
          <a:prstGeom prst="rect">
            <a:avLst/>
          </a:prstGeom>
          <a:noFill/>
        </p:spPr>
        <p:txBody>
          <a:bodyPr wrap="square" anchor="t" lIns="0" rIns="0" tIns="0" bIns="0">
            <a:spAutoFit/>
          </a:bodyPr>
          <a:lstStyle/>
          <a:p>
            <a:pPr algn="l"/>
            <a:r>
              <a:rPr sz="1100" b="1" i="0">
                <a:solidFill>
                  <a:srgbClr val="FFFFFF"/>
                </a:solidFill>
                <a:latin typeface="Calibri"/>
              </a:rPr>
              <a:t>Langfuse</a:t>
            </a:r>
          </a:p>
          <a:p>
            <a:pPr algn="l"/>
            <a:r>
              <a:rPr sz="1100" b="1" i="0">
                <a:solidFill>
                  <a:srgbClr val="FFFFFF"/>
                </a:solidFill>
                <a:latin typeface="Calibri"/>
              </a:rPr>
              <a:t>traces · prompts · tokens · cost</a:t>
            </a:r>
          </a:p>
        </p:txBody>
      </p:sp>
      <p:cxnSp>
        <p:nvCxnSpPr>
          <p:cNvPr id="8" name="Connector 7"/>
          <p:cNvCxnSpPr/>
          <p:nvPr/>
        </p:nvCxnSpPr>
        <p:spPr>
          <a:xfrm flipV="1">
            <a:off x="3383280" y="2258568"/>
            <a:ext cx="731520" cy="987552"/>
          </a:xfrm>
          <a:prstGeom prst="line">
            <a:avLst/>
          </a:prstGeom>
          <a:ln w="16510">
            <a:solidFill>
              <a:srgbClr val="FE25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114800" y="2880360"/>
            <a:ext cx="3657600" cy="868680"/>
          </a:xfrm>
          <a:prstGeom prst="roundRect">
            <a:avLst/>
          </a:prstGeom>
          <a:solidFill>
            <a:srgbClr val="1E222B"/>
          </a:solidFill>
          <a:ln w="12700">
            <a:solidFill>
              <a:srgbClr val="0283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pic>
        <p:nvPicPr>
          <p:cNvPr id="10" name="Picture 9" descr="appinsights.png"/>
          <p:cNvPicPr>
            <a:picLocks noChangeAspect="1"/>
          </p:cNvPicPr>
          <p:nvPr/>
        </p:nvPicPr>
        <p:blipFill>
          <a:blip r:embed="rId3"/>
          <a:stretch>
            <a:fillRect/>
          </a:stretch>
        </p:blipFill>
        <p:spPr>
          <a:xfrm>
            <a:off x="4224528" y="3081528"/>
            <a:ext cx="457200" cy="457200"/>
          </a:xfrm>
          <a:prstGeom prst="rect">
            <a:avLst/>
          </a:prstGeom>
        </p:spPr>
      </p:pic>
      <p:sp>
        <p:nvSpPr>
          <p:cNvPr id="11" name="TextBox 10"/>
          <p:cNvSpPr txBox="1"/>
          <p:nvPr/>
        </p:nvSpPr>
        <p:spPr>
          <a:xfrm>
            <a:off x="4800600" y="3026664"/>
            <a:ext cx="2834640" cy="640080"/>
          </a:xfrm>
          <a:prstGeom prst="rect">
            <a:avLst/>
          </a:prstGeom>
          <a:noFill/>
        </p:spPr>
        <p:txBody>
          <a:bodyPr wrap="square" anchor="t" lIns="0" rIns="0" tIns="0" bIns="0">
            <a:spAutoFit/>
          </a:bodyPr>
          <a:lstStyle/>
          <a:p>
            <a:pPr algn="l"/>
            <a:r>
              <a:rPr sz="1100" b="1" i="0">
                <a:solidFill>
                  <a:srgbClr val="FFFFFF"/>
                </a:solidFill>
                <a:latin typeface="Calibri"/>
              </a:rPr>
              <a:t>App Insights</a:t>
            </a:r>
          </a:p>
          <a:p>
            <a:pPr algn="l"/>
            <a:r>
              <a:rPr sz="1100" b="1" i="0">
                <a:solidFill>
                  <a:srgbClr val="FFFFFF"/>
                </a:solidFill>
                <a:latin typeface="Calibri"/>
              </a:rPr>
              <a:t>metrics · APM</a:t>
            </a:r>
          </a:p>
        </p:txBody>
      </p:sp>
      <p:cxnSp>
        <p:nvCxnSpPr>
          <p:cNvPr id="12" name="Connector 11"/>
          <p:cNvCxnSpPr/>
          <p:nvPr/>
        </p:nvCxnSpPr>
        <p:spPr>
          <a:xfrm>
            <a:off x="3383280" y="3246120"/>
            <a:ext cx="731520" cy="64008"/>
          </a:xfrm>
          <a:prstGeom prst="line">
            <a:avLst/>
          </a:prstGeom>
          <a:ln w="16510">
            <a:solidFill>
              <a:srgbClr val="0283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114800" y="3931920"/>
            <a:ext cx="3657600" cy="868680"/>
          </a:xfrm>
          <a:prstGeom prst="roundRect">
            <a:avLst/>
          </a:prstGeom>
          <a:solidFill>
            <a:srgbClr val="1E222B"/>
          </a:solidFill>
          <a:ln w="12700">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pic>
        <p:nvPicPr>
          <p:cNvPr id="14" name="Picture 13" descr="appinsights.png"/>
          <p:cNvPicPr>
            <a:picLocks noChangeAspect="1"/>
          </p:cNvPicPr>
          <p:nvPr/>
        </p:nvPicPr>
        <p:blipFill>
          <a:blip r:embed="rId3"/>
          <a:stretch>
            <a:fillRect/>
          </a:stretch>
        </p:blipFill>
        <p:spPr>
          <a:xfrm>
            <a:off x="4224528" y="4133087"/>
            <a:ext cx="457200" cy="457200"/>
          </a:xfrm>
          <a:prstGeom prst="rect">
            <a:avLst/>
          </a:prstGeom>
        </p:spPr>
      </p:pic>
      <p:sp>
        <p:nvSpPr>
          <p:cNvPr id="15" name="TextBox 14"/>
          <p:cNvSpPr txBox="1"/>
          <p:nvPr/>
        </p:nvSpPr>
        <p:spPr>
          <a:xfrm>
            <a:off x="4800600" y="4078224"/>
            <a:ext cx="2834640" cy="640080"/>
          </a:xfrm>
          <a:prstGeom prst="rect">
            <a:avLst/>
          </a:prstGeom>
          <a:noFill/>
        </p:spPr>
        <p:txBody>
          <a:bodyPr wrap="square" anchor="t" lIns="0" rIns="0" tIns="0" bIns="0">
            <a:spAutoFit/>
          </a:bodyPr>
          <a:lstStyle/>
          <a:p>
            <a:pPr algn="l"/>
            <a:r>
              <a:rPr sz="1100" b="1" i="0">
                <a:solidFill>
                  <a:srgbClr val="FFFFFF"/>
                </a:solidFill>
                <a:latin typeface="Calibri"/>
              </a:rPr>
              <a:t>Log Analytics</a:t>
            </a:r>
          </a:p>
          <a:p>
            <a:pPr algn="l"/>
            <a:r>
              <a:rPr sz="1100" b="1" i="0">
                <a:solidFill>
                  <a:srgbClr val="FFFFFF"/>
                </a:solidFill>
                <a:latin typeface="Calibri"/>
              </a:rPr>
              <a:t>logs (redacted)</a:t>
            </a:r>
          </a:p>
        </p:txBody>
      </p:sp>
      <p:cxnSp>
        <p:nvCxnSpPr>
          <p:cNvPr id="16" name="Connector 15"/>
          <p:cNvCxnSpPr/>
          <p:nvPr/>
        </p:nvCxnSpPr>
        <p:spPr>
          <a:xfrm>
            <a:off x="3383280" y="3246120"/>
            <a:ext cx="731520" cy="1115568"/>
          </a:xfrm>
          <a:prstGeom prst="line">
            <a:avLst/>
          </a:prstGeom>
          <a:ln w="16510">
            <a:solidFill>
              <a:srgbClr val="48E84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29600" y="2743200"/>
            <a:ext cx="3017520" cy="1280160"/>
          </a:xfrm>
          <a:prstGeom prst="roundRect">
            <a:avLst/>
          </a:prstGeom>
          <a:solidFill>
            <a:srgbClr val="14161C"/>
          </a:solidFill>
          <a:ln w="15875">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Dashboards</a:t>
            </a:r>
          </a:p>
          <a:p>
            <a:pPr algn="ctr"/>
            <a:r>
              <a:rPr sz="1200" b="1">
                <a:solidFill>
                  <a:srgbClr val="FFFFFF"/>
                </a:solidFill>
                <a:latin typeface="Calibri"/>
              </a:rPr>
              <a:t>· Alerts</a:t>
            </a:r>
          </a:p>
          <a:p>
            <a:pPr algn="ctr"/>
            <a:r>
              <a:rPr sz="1200" b="1">
                <a:solidFill>
                  <a:srgbClr val="FFFFFF"/>
                </a:solidFill>
                <a:latin typeface="Calibri"/>
              </a:rPr>
              <a:t>· SLO/error budget</a:t>
            </a:r>
          </a:p>
        </p:txBody>
      </p:sp>
      <p:cxnSp>
        <p:nvCxnSpPr>
          <p:cNvPr id="18" name="Connector 17"/>
          <p:cNvCxnSpPr/>
          <p:nvPr/>
        </p:nvCxnSpPr>
        <p:spPr>
          <a:xfrm>
            <a:off x="7772400" y="2258568"/>
            <a:ext cx="457200" cy="1124712"/>
          </a:xfrm>
          <a:prstGeom prst="line">
            <a:avLst/>
          </a:prstGeom>
          <a:ln w="12700">
            <a:solidFill>
              <a:srgbClr val="D5D5D5"/>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72400" y="3310128"/>
            <a:ext cx="457200" cy="73152"/>
          </a:xfrm>
          <a:prstGeom prst="line">
            <a:avLst/>
          </a:prstGeom>
          <a:ln w="1270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772400" y="3383280"/>
            <a:ext cx="457200" cy="978408"/>
          </a:xfrm>
          <a:prstGeom prst="line">
            <a:avLst/>
          </a:prstGeom>
          <a:ln w="12700">
            <a:solidFill>
              <a:srgbClr val="D5D5D5"/>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 y="5120640"/>
            <a:ext cx="10881360" cy="822960"/>
          </a:xfrm>
          <a:prstGeom prst="rect">
            <a:avLst/>
          </a:prstGeom>
          <a:noFill/>
        </p:spPr>
        <p:txBody>
          <a:bodyPr wrap="square" anchor="t" lIns="0" rIns="0" tIns="0" bIns="0">
            <a:spAutoFit/>
          </a:bodyPr>
          <a:lstStyle/>
          <a:p>
            <a:pPr algn="l"/>
            <a:r>
              <a:rPr sz="1300" b="0" i="0">
                <a:solidFill>
                  <a:srgbClr val="D5D5D5"/>
                </a:solidFill>
                <a:latin typeface="Calibri"/>
              </a:rPr>
              <a:t>AI-specific observability (Langfuse) sits alongside platform observability (Azure Monitor / App Insights / Log Analytics). One correlation ID threads conversation → workflow → enterprise call.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Correlation, tracing &amp; logging</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D7-03 / D7-04</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Correlation &amp; trace propagation</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One correlation ID per request, propagated through async/event paths.</a:t>
            </a:r>
          </a:p>
          <a:p>
            <a:pPr algn="l">
              <a:spcAft>
                <a:spcPts val="1200"/>
              </a:spcAft>
            </a:pPr>
            <a:r>
              <a:rPr sz="1500" b="1">
                <a:solidFill>
                  <a:srgbClr val="2ACCFF"/>
                </a:solidFill>
                <a:latin typeface="Calibri"/>
              </a:rPr>
              <a:t>▸ </a:t>
            </a:r>
            <a:r>
              <a:rPr sz="1500">
                <a:solidFill>
                  <a:srgbClr val="FFFFFF"/>
                </a:solidFill>
                <a:latin typeface="Calibri"/>
              </a:rPr>
              <a:t>Traces link conversation → workflow → tool → enterprise call.</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Logging standards &amp; redaction</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Structured logs with consistent fields.</a:t>
            </a:r>
          </a:p>
          <a:p>
            <a:pPr algn="l">
              <a:spcAft>
                <a:spcPts val="1200"/>
              </a:spcAft>
            </a:pPr>
            <a:r>
              <a:rPr sz="1500" b="1">
                <a:solidFill>
                  <a:srgbClr val="2ACCFF"/>
                </a:solidFill>
                <a:latin typeface="Calibri"/>
              </a:rPr>
              <a:t>▸ </a:t>
            </a:r>
            <a:r>
              <a:rPr sz="1500">
                <a:solidFill>
                  <a:srgbClr val="FFFFFF"/>
                </a:solidFill>
                <a:latin typeface="Calibri"/>
              </a:rPr>
              <a:t>Redaction by data classification (deck 06) — no PII in logs.</a:t>
            </a:r>
          </a:p>
          <a:p>
            <a:pPr algn="l">
              <a:spcAft>
                <a:spcPts val="1200"/>
              </a:spcAft>
            </a:pPr>
            <a:r>
              <a:rPr sz="1500" b="1">
                <a:solidFill>
                  <a:srgbClr val="2ACCFF"/>
                </a:solidFill>
                <a:latin typeface="Calibri"/>
              </a:rPr>
              <a:t>▸ </a:t>
            </a:r>
            <a:r>
              <a:rPr sz="1500">
                <a:solidFill>
                  <a:srgbClr val="FFFFFF"/>
                </a:solidFill>
                <a:latin typeface="Calibri"/>
              </a:rPr>
              <a:t>Excessive logging is a cost anti-pattern (deck 08).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Error taxonomy</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D7-05 · one root, typed subclasses</a:t>
            </a:r>
          </a:p>
        </p:txBody>
      </p:sp>
      <p:sp>
        <p:nvSpPr>
          <p:cNvPr id="4" name="Rounded Rectangle 3"/>
          <p:cNvSpPr/>
          <p:nvPr/>
        </p:nvSpPr>
        <p:spPr>
          <a:xfrm>
            <a:off x="4754880" y="1783080"/>
            <a:ext cx="2743200" cy="640080"/>
          </a:xfrm>
          <a:prstGeom prst="roundRect">
            <a:avLst/>
          </a:prstGeom>
          <a:solidFill>
            <a:srgbClr val="14161C"/>
          </a:solidFill>
          <a:ln w="15875">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600" b="1">
                <a:solidFill>
                  <a:srgbClr val="FED038"/>
                </a:solidFill>
                <a:latin typeface="Calibri"/>
              </a:rPr>
              <a:t>PlatformError</a:t>
            </a:r>
          </a:p>
        </p:txBody>
      </p:sp>
      <p:sp>
        <p:nvSpPr>
          <p:cNvPr id="5" name="Rounded Rectangle 4"/>
          <p:cNvSpPr/>
          <p:nvPr/>
        </p:nvSpPr>
        <p:spPr>
          <a:xfrm>
            <a:off x="640080" y="3108960"/>
            <a:ext cx="2651760" cy="640080"/>
          </a:xfrm>
          <a:prstGeom prst="roundRect">
            <a:avLst/>
          </a:prstGeom>
          <a:solidFill>
            <a:srgbClr val="1E222B"/>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ValidationError</a:t>
            </a:r>
          </a:p>
        </p:txBody>
      </p:sp>
      <p:cxnSp>
        <p:nvCxnSpPr>
          <p:cNvPr id="6" name="Connector 5"/>
          <p:cNvCxnSpPr/>
          <p:nvPr/>
        </p:nvCxnSpPr>
        <p:spPr>
          <a:xfrm flipH="1">
            <a:off x="1965960" y="2423160"/>
            <a:ext cx="4160520" cy="685800"/>
          </a:xfrm>
          <a:prstGeom prst="line">
            <a:avLst/>
          </a:prstGeom>
          <a:ln w="9525">
            <a:solidFill>
              <a:srgbClr val="9A9A9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429000" y="3108960"/>
            <a:ext cx="2651760" cy="640080"/>
          </a:xfrm>
          <a:prstGeom prst="roundRect">
            <a:avLst/>
          </a:prstGeom>
          <a:solidFill>
            <a:srgbClr val="1E222B"/>
          </a:solidFill>
          <a:ln w="15875">
            <a:solidFill>
              <a:srgbClr val="0283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ConfigurationError</a:t>
            </a:r>
          </a:p>
        </p:txBody>
      </p:sp>
      <p:cxnSp>
        <p:nvCxnSpPr>
          <p:cNvPr id="8" name="Connector 7"/>
          <p:cNvCxnSpPr/>
          <p:nvPr/>
        </p:nvCxnSpPr>
        <p:spPr>
          <a:xfrm flipH="1">
            <a:off x="4754880" y="2423160"/>
            <a:ext cx="1371600" cy="685800"/>
          </a:xfrm>
          <a:prstGeom prst="line">
            <a:avLst/>
          </a:prstGeom>
          <a:ln w="9525">
            <a:solidFill>
              <a:srgbClr val="9A9A9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217920" y="3108960"/>
            <a:ext cx="2651760" cy="640080"/>
          </a:xfrm>
          <a:prstGeom prst="roundRect">
            <a:avLst/>
          </a:prstGeom>
          <a:solidFill>
            <a:srgbClr val="1E222B"/>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IntegrationError</a:t>
            </a:r>
          </a:p>
        </p:txBody>
      </p:sp>
      <p:cxnSp>
        <p:nvCxnSpPr>
          <p:cNvPr id="10" name="Connector 9"/>
          <p:cNvCxnSpPr/>
          <p:nvPr/>
        </p:nvCxnSpPr>
        <p:spPr>
          <a:xfrm>
            <a:off x="6126480" y="2423160"/>
            <a:ext cx="1417320" cy="685800"/>
          </a:xfrm>
          <a:prstGeom prst="line">
            <a:avLst/>
          </a:prstGeom>
          <a:ln w="9525">
            <a:solidFill>
              <a:srgbClr val="9A9A9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006839" y="3108960"/>
            <a:ext cx="2651760" cy="640080"/>
          </a:xfrm>
          <a:prstGeom prst="roundRect">
            <a:avLst/>
          </a:prstGeom>
          <a:solidFill>
            <a:srgbClr val="1E222B"/>
          </a:solidFill>
          <a:ln w="15875">
            <a:solidFill>
              <a:srgbClr val="7F19BE"/>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ToolError</a:t>
            </a:r>
          </a:p>
        </p:txBody>
      </p:sp>
      <p:cxnSp>
        <p:nvCxnSpPr>
          <p:cNvPr id="12" name="Connector 11"/>
          <p:cNvCxnSpPr/>
          <p:nvPr/>
        </p:nvCxnSpPr>
        <p:spPr>
          <a:xfrm>
            <a:off x="6126480" y="2423160"/>
            <a:ext cx="4206239" cy="685800"/>
          </a:xfrm>
          <a:prstGeom prst="line">
            <a:avLst/>
          </a:prstGeom>
          <a:ln w="9525">
            <a:solidFill>
              <a:srgbClr val="9A9A9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40080" y="4023360"/>
            <a:ext cx="2651760" cy="640080"/>
          </a:xfrm>
          <a:prstGeom prst="roundRect">
            <a:avLst/>
          </a:prstGeom>
          <a:solidFill>
            <a:srgbClr val="1E222B"/>
          </a:solidFill>
          <a:ln w="15875">
            <a:solidFill>
              <a:srgbClr val="5300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ModelError</a:t>
            </a:r>
          </a:p>
        </p:txBody>
      </p:sp>
      <p:cxnSp>
        <p:nvCxnSpPr>
          <p:cNvPr id="14" name="Connector 13"/>
          <p:cNvCxnSpPr/>
          <p:nvPr/>
        </p:nvCxnSpPr>
        <p:spPr>
          <a:xfrm flipH="1">
            <a:off x="1965960" y="2423160"/>
            <a:ext cx="4160520" cy="1600200"/>
          </a:xfrm>
          <a:prstGeom prst="line">
            <a:avLst/>
          </a:prstGeom>
          <a:ln w="9525">
            <a:solidFill>
              <a:srgbClr val="9A9A9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29000" y="4023360"/>
            <a:ext cx="2651760" cy="640080"/>
          </a:xfrm>
          <a:prstGeom prst="roundRect">
            <a:avLst/>
          </a:prstGeom>
          <a:solidFill>
            <a:srgbClr val="1E222B"/>
          </a:solidFill>
          <a:ln w="15875">
            <a:solidFill>
              <a:srgbClr val="FE2579"/>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RAGError</a:t>
            </a:r>
          </a:p>
        </p:txBody>
      </p:sp>
      <p:cxnSp>
        <p:nvCxnSpPr>
          <p:cNvPr id="16" name="Connector 15"/>
          <p:cNvCxnSpPr/>
          <p:nvPr/>
        </p:nvCxnSpPr>
        <p:spPr>
          <a:xfrm flipH="1">
            <a:off x="4754880" y="2423160"/>
            <a:ext cx="1371600" cy="1600200"/>
          </a:xfrm>
          <a:prstGeom prst="line">
            <a:avLst/>
          </a:prstGeom>
          <a:ln w="9525">
            <a:solidFill>
              <a:srgbClr val="9A9A9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17920" y="4023360"/>
            <a:ext cx="2651760" cy="640080"/>
          </a:xfrm>
          <a:prstGeom prst="roundRect">
            <a:avLst/>
          </a:prstGeom>
          <a:solidFill>
            <a:srgbClr val="1E222B"/>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GuardrailError</a:t>
            </a:r>
          </a:p>
        </p:txBody>
      </p:sp>
      <p:cxnSp>
        <p:nvCxnSpPr>
          <p:cNvPr id="18" name="Connector 17"/>
          <p:cNvCxnSpPr/>
          <p:nvPr/>
        </p:nvCxnSpPr>
        <p:spPr>
          <a:xfrm>
            <a:off x="6126480" y="2423160"/>
            <a:ext cx="1417320" cy="1600200"/>
          </a:xfrm>
          <a:prstGeom prst="line">
            <a:avLst/>
          </a:prstGeom>
          <a:ln w="9525">
            <a:solidFill>
              <a:srgbClr val="9A9A9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006839" y="4023360"/>
            <a:ext cx="2651760" cy="640080"/>
          </a:xfrm>
          <a:prstGeom prst="roundRect">
            <a:avLst/>
          </a:prstGeom>
          <a:solidFill>
            <a:srgbClr val="1E222B"/>
          </a:solidFill>
          <a:ln w="15875">
            <a:solidFill>
              <a:srgbClr val="0283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WorkflowError</a:t>
            </a:r>
          </a:p>
        </p:txBody>
      </p:sp>
      <p:cxnSp>
        <p:nvCxnSpPr>
          <p:cNvPr id="20" name="Connector 19"/>
          <p:cNvCxnSpPr/>
          <p:nvPr/>
        </p:nvCxnSpPr>
        <p:spPr>
          <a:xfrm>
            <a:off x="6126480" y="2423160"/>
            <a:ext cx="4206239" cy="1600200"/>
          </a:xfrm>
          <a:prstGeom prst="line">
            <a:avLst/>
          </a:prstGeom>
          <a:ln w="9525">
            <a:solidFill>
              <a:srgbClr val="9A9A9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 y="5212080"/>
            <a:ext cx="10881360" cy="457200"/>
          </a:xfrm>
          <a:prstGeom prst="rect">
            <a:avLst/>
          </a:prstGeom>
          <a:noFill/>
        </p:spPr>
        <p:txBody>
          <a:bodyPr wrap="square" anchor="t" lIns="0" rIns="0" tIns="0" bIns="0">
            <a:spAutoFit/>
          </a:bodyPr>
          <a:lstStyle/>
          <a:p>
            <a:pPr algn="l"/>
            <a:r>
              <a:rPr sz="1300" b="0" i="0">
                <a:solidFill>
                  <a:srgbClr val="D5D5D5"/>
                </a:solidFill>
                <a:latin typeface="Calibri"/>
              </a:rPr>
              <a:t>Every failure maps to one typed error — uniform handling, logging and user messaging.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Resilience patterns</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D7-06</a:t>
            </a:r>
          </a:p>
        </p:txBody>
      </p:sp>
      <p:sp>
        <p:nvSpPr>
          <p:cNvPr id="4" name="Rounded Rectangle 3"/>
          <p:cNvSpPr/>
          <p:nvPr/>
        </p:nvSpPr>
        <p:spPr>
          <a:xfrm>
            <a:off x="822960" y="1920240"/>
            <a:ext cx="2430018" cy="1828800"/>
          </a:xfrm>
          <a:prstGeom prst="roundRect">
            <a:avLst/>
          </a:prstGeom>
          <a:solidFill>
            <a:srgbClr val="14161C"/>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5" name="TextBox 4"/>
          <p:cNvSpPr txBox="1"/>
          <p:nvPr/>
        </p:nvSpPr>
        <p:spPr>
          <a:xfrm>
            <a:off x="1005840" y="2121408"/>
            <a:ext cx="2064257" cy="822960"/>
          </a:xfrm>
          <a:prstGeom prst="rect">
            <a:avLst/>
          </a:prstGeom>
          <a:noFill/>
        </p:spPr>
        <p:txBody>
          <a:bodyPr wrap="square" anchor="t" lIns="0" rIns="0" tIns="0" bIns="0">
            <a:spAutoFit/>
          </a:bodyPr>
          <a:lstStyle/>
          <a:p>
            <a:pPr algn="l"/>
            <a:r>
              <a:rPr sz="2200" b="1" i="0">
                <a:solidFill>
                  <a:srgbClr val="2ACCFF"/>
                </a:solidFill>
                <a:latin typeface="Calibri"/>
              </a:rPr>
              <a:t>Retry</a:t>
            </a:r>
          </a:p>
        </p:txBody>
      </p:sp>
      <p:sp>
        <p:nvSpPr>
          <p:cNvPr id="6" name="TextBox 5"/>
          <p:cNvSpPr txBox="1"/>
          <p:nvPr/>
        </p:nvSpPr>
        <p:spPr>
          <a:xfrm>
            <a:off x="1005840" y="2852928"/>
            <a:ext cx="2064257" cy="822959"/>
          </a:xfrm>
          <a:prstGeom prst="rect">
            <a:avLst/>
          </a:prstGeom>
          <a:noFill/>
        </p:spPr>
        <p:txBody>
          <a:bodyPr wrap="square" anchor="t" lIns="0" rIns="0" tIns="0" bIns="0">
            <a:spAutoFit/>
          </a:bodyPr>
          <a:lstStyle/>
          <a:p>
            <a:pPr algn="l"/>
            <a:r>
              <a:rPr sz="1200" b="0" i="0">
                <a:solidFill>
                  <a:srgbClr val="D5D5D5"/>
                </a:solidFill>
                <a:latin typeface="Calibri"/>
              </a:rPr>
              <a:t>bounded, idempotent</a:t>
            </a:r>
          </a:p>
        </p:txBody>
      </p:sp>
      <p:sp>
        <p:nvSpPr>
          <p:cNvPr id="7" name="Rounded Rectangle 6"/>
          <p:cNvSpPr/>
          <p:nvPr/>
        </p:nvSpPr>
        <p:spPr>
          <a:xfrm>
            <a:off x="3527297" y="1920240"/>
            <a:ext cx="2430018" cy="1828800"/>
          </a:xfrm>
          <a:prstGeom prst="roundRect">
            <a:avLst/>
          </a:prstGeom>
          <a:solidFill>
            <a:srgbClr val="14161C"/>
          </a:solidFill>
          <a:ln w="15875">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8" name="TextBox 7"/>
          <p:cNvSpPr txBox="1"/>
          <p:nvPr/>
        </p:nvSpPr>
        <p:spPr>
          <a:xfrm>
            <a:off x="3710177" y="2121408"/>
            <a:ext cx="2064257" cy="822960"/>
          </a:xfrm>
          <a:prstGeom prst="rect">
            <a:avLst/>
          </a:prstGeom>
          <a:noFill/>
        </p:spPr>
        <p:txBody>
          <a:bodyPr wrap="square" anchor="t" lIns="0" rIns="0" tIns="0" bIns="0">
            <a:spAutoFit/>
          </a:bodyPr>
          <a:lstStyle/>
          <a:p>
            <a:pPr algn="l"/>
            <a:r>
              <a:rPr sz="2200" b="1" i="0">
                <a:solidFill>
                  <a:srgbClr val="FED038"/>
                </a:solidFill>
                <a:latin typeface="Calibri"/>
              </a:rPr>
              <a:t>Timeout</a:t>
            </a:r>
          </a:p>
        </p:txBody>
      </p:sp>
      <p:sp>
        <p:nvSpPr>
          <p:cNvPr id="9" name="TextBox 8"/>
          <p:cNvSpPr txBox="1"/>
          <p:nvPr/>
        </p:nvSpPr>
        <p:spPr>
          <a:xfrm>
            <a:off x="3710177" y="2852928"/>
            <a:ext cx="2064257" cy="822959"/>
          </a:xfrm>
          <a:prstGeom prst="rect">
            <a:avLst/>
          </a:prstGeom>
          <a:noFill/>
        </p:spPr>
        <p:txBody>
          <a:bodyPr wrap="square" anchor="t" lIns="0" rIns="0" tIns="0" bIns="0">
            <a:spAutoFit/>
          </a:bodyPr>
          <a:lstStyle/>
          <a:p>
            <a:pPr algn="l"/>
            <a:r>
              <a:rPr sz="1200" b="0" i="0">
                <a:solidFill>
                  <a:srgbClr val="D5D5D5"/>
                </a:solidFill>
                <a:latin typeface="Calibri"/>
              </a:rPr>
              <a:t>per dependency &amp; workflow</a:t>
            </a:r>
          </a:p>
        </p:txBody>
      </p:sp>
      <p:sp>
        <p:nvSpPr>
          <p:cNvPr id="10" name="Rounded Rectangle 9"/>
          <p:cNvSpPr/>
          <p:nvPr/>
        </p:nvSpPr>
        <p:spPr>
          <a:xfrm>
            <a:off x="6231636" y="1920240"/>
            <a:ext cx="2430018" cy="1828800"/>
          </a:xfrm>
          <a:prstGeom prst="roundRect">
            <a:avLst/>
          </a:prstGeom>
          <a:solidFill>
            <a:srgbClr val="14161C"/>
          </a:solidFill>
          <a:ln w="15875">
            <a:solidFill>
              <a:srgbClr val="FE2579"/>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11" name="TextBox 10"/>
          <p:cNvSpPr txBox="1"/>
          <p:nvPr/>
        </p:nvSpPr>
        <p:spPr>
          <a:xfrm>
            <a:off x="6414516" y="2121408"/>
            <a:ext cx="2064257" cy="822960"/>
          </a:xfrm>
          <a:prstGeom prst="rect">
            <a:avLst/>
          </a:prstGeom>
          <a:noFill/>
        </p:spPr>
        <p:txBody>
          <a:bodyPr wrap="square" anchor="t" lIns="0" rIns="0" tIns="0" bIns="0">
            <a:spAutoFit/>
          </a:bodyPr>
          <a:lstStyle/>
          <a:p>
            <a:pPr algn="l"/>
            <a:r>
              <a:rPr sz="2200" b="1" i="0">
                <a:solidFill>
                  <a:srgbClr val="FE2579"/>
                </a:solidFill>
                <a:latin typeface="Calibri"/>
              </a:rPr>
              <a:t>Circuit breaker</a:t>
            </a:r>
          </a:p>
        </p:txBody>
      </p:sp>
      <p:sp>
        <p:nvSpPr>
          <p:cNvPr id="12" name="TextBox 11"/>
          <p:cNvSpPr txBox="1"/>
          <p:nvPr/>
        </p:nvSpPr>
        <p:spPr>
          <a:xfrm>
            <a:off x="6414516" y="2852928"/>
            <a:ext cx="2064257" cy="822959"/>
          </a:xfrm>
          <a:prstGeom prst="rect">
            <a:avLst/>
          </a:prstGeom>
          <a:noFill/>
        </p:spPr>
        <p:txBody>
          <a:bodyPr wrap="square" anchor="t" lIns="0" rIns="0" tIns="0" bIns="0">
            <a:spAutoFit/>
          </a:bodyPr>
          <a:lstStyle/>
          <a:p>
            <a:pPr algn="l"/>
            <a:r>
              <a:rPr sz="1200" b="0" i="0">
                <a:solidFill>
                  <a:srgbClr val="D5D5D5"/>
                </a:solidFill>
                <a:latin typeface="Calibri"/>
              </a:rPr>
              <a:t>protect downstream</a:t>
            </a:r>
          </a:p>
        </p:txBody>
      </p:sp>
      <p:sp>
        <p:nvSpPr>
          <p:cNvPr id="13" name="Rounded Rectangle 12"/>
          <p:cNvSpPr/>
          <p:nvPr/>
        </p:nvSpPr>
        <p:spPr>
          <a:xfrm>
            <a:off x="8935974" y="1920240"/>
            <a:ext cx="2430018" cy="1828800"/>
          </a:xfrm>
          <a:prstGeom prst="roundRect">
            <a:avLst/>
          </a:prstGeom>
          <a:solidFill>
            <a:srgbClr val="14161C"/>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14" name="TextBox 13"/>
          <p:cNvSpPr txBox="1"/>
          <p:nvPr/>
        </p:nvSpPr>
        <p:spPr>
          <a:xfrm>
            <a:off x="9118853" y="2121408"/>
            <a:ext cx="2064257" cy="822960"/>
          </a:xfrm>
          <a:prstGeom prst="rect">
            <a:avLst/>
          </a:prstGeom>
          <a:noFill/>
        </p:spPr>
        <p:txBody>
          <a:bodyPr wrap="square" anchor="t" lIns="0" rIns="0" tIns="0" bIns="0">
            <a:spAutoFit/>
          </a:bodyPr>
          <a:lstStyle/>
          <a:p>
            <a:pPr algn="l"/>
            <a:r>
              <a:rPr sz="2200" b="1" i="0">
                <a:solidFill>
                  <a:srgbClr val="48E84A"/>
                </a:solidFill>
                <a:latin typeface="Calibri"/>
              </a:rPr>
              <a:t>Backpressure</a:t>
            </a:r>
          </a:p>
        </p:txBody>
      </p:sp>
      <p:sp>
        <p:nvSpPr>
          <p:cNvPr id="15" name="TextBox 14"/>
          <p:cNvSpPr txBox="1"/>
          <p:nvPr/>
        </p:nvSpPr>
        <p:spPr>
          <a:xfrm>
            <a:off x="9118853" y="2852928"/>
            <a:ext cx="2064257" cy="822959"/>
          </a:xfrm>
          <a:prstGeom prst="rect">
            <a:avLst/>
          </a:prstGeom>
          <a:noFill/>
        </p:spPr>
        <p:txBody>
          <a:bodyPr wrap="square" anchor="t" lIns="0" rIns="0" tIns="0" bIns="0">
            <a:spAutoFit/>
          </a:bodyPr>
          <a:lstStyle/>
          <a:p>
            <a:pPr algn="l"/>
            <a:r>
              <a:rPr sz="1200" b="0" i="0">
                <a:solidFill>
                  <a:srgbClr val="D5D5D5"/>
                </a:solidFill>
                <a:latin typeface="Calibri"/>
              </a:rPr>
              <a:t>bounded queues</a:t>
            </a:r>
          </a:p>
        </p:txBody>
      </p:sp>
      <p:sp>
        <p:nvSpPr>
          <p:cNvPr id="16" name="TextBox 15"/>
          <p:cNvSpPr txBox="1"/>
          <p:nvPr/>
        </p:nvSpPr>
        <p:spPr>
          <a:xfrm>
            <a:off x="822960" y="4114800"/>
            <a:ext cx="10515600" cy="155448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Failure is expected and handled: retry with budgets, timeouts, circuit-breaking, bounded queues.</a:t>
            </a:r>
          </a:p>
          <a:p>
            <a:pPr algn="l">
              <a:spcAft>
                <a:spcPts val="1200"/>
              </a:spcAft>
            </a:pPr>
            <a:r>
              <a:rPr sz="1500" b="1">
                <a:solidFill>
                  <a:srgbClr val="2ACCFF"/>
                </a:solidFill>
                <a:latin typeface="Calibri"/>
              </a:rPr>
              <a:t>▸ </a:t>
            </a:r>
            <a:r>
              <a:rPr sz="1500">
                <a:solidFill>
                  <a:srgbClr val="FFFFFF"/>
                </a:solidFill>
                <a:latin typeface="Calibri"/>
              </a:rPr>
              <a:t>Reconciliation resolves uncertain transaction outcomes (deck 02) — never a silent guess.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SLI/SLO, error budget &amp; alerting</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D7-07 / D7-08</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SLI / SLO / error budget</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Service-level indicators &amp; objectives per critical path.</a:t>
            </a:r>
          </a:p>
          <a:p>
            <a:pPr algn="l">
              <a:spcAft>
                <a:spcPts val="1200"/>
              </a:spcAft>
            </a:pPr>
            <a:r>
              <a:rPr sz="1500" b="1">
                <a:solidFill>
                  <a:srgbClr val="2ACCFF"/>
                </a:solidFill>
                <a:latin typeface="Calibri"/>
              </a:rPr>
              <a:t>▸ </a:t>
            </a:r>
            <a:r>
              <a:rPr sz="1500">
                <a:solidFill>
                  <a:srgbClr val="FFFFFF"/>
                </a:solidFill>
                <a:latin typeface="Calibri"/>
              </a:rPr>
              <a:t>Error budgets govern change pace.</a:t>
            </a:r>
          </a:p>
          <a:p>
            <a:pPr algn="l">
              <a:spcAft>
                <a:spcPts val="1200"/>
              </a:spcAft>
            </a:pPr>
            <a:r>
              <a:rPr sz="1500" b="1">
                <a:solidFill>
                  <a:srgbClr val="2ACCFF"/>
                </a:solidFill>
                <a:latin typeface="Calibri"/>
              </a:rPr>
              <a:t>▸ </a:t>
            </a:r>
            <a:r>
              <a:rPr sz="1500">
                <a:solidFill>
                  <a:srgbClr val="FFFFFF"/>
                </a:solidFill>
                <a:latin typeface="Calibri"/>
              </a:rPr>
              <a:t>Latency SLOs use p95/p99 (deck 05/08).</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Alerting &amp; escalation</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Severity-tiered alerts with clear escalation.</a:t>
            </a:r>
          </a:p>
          <a:p>
            <a:pPr algn="l">
              <a:spcAft>
                <a:spcPts val="1200"/>
              </a:spcAft>
            </a:pPr>
            <a:r>
              <a:rPr sz="1500" b="1">
                <a:solidFill>
                  <a:srgbClr val="2ACCFF"/>
                </a:solidFill>
                <a:latin typeface="Calibri"/>
              </a:rPr>
              <a:t>▸ </a:t>
            </a:r>
            <a:r>
              <a:rPr sz="1500">
                <a:solidFill>
                  <a:srgbClr val="FFFFFF"/>
                </a:solidFill>
                <a:latin typeface="Calibri"/>
              </a:rPr>
              <a:t>Cost &amp; anomaly alerts included (deck 08).</a:t>
            </a:r>
          </a:p>
          <a:p>
            <a:pPr algn="l">
              <a:spcAft>
                <a:spcPts val="1200"/>
              </a:spcAft>
            </a:pPr>
            <a:r>
              <a:rPr sz="1500" b="1">
                <a:solidFill>
                  <a:srgbClr val="2ACCFF"/>
                </a:solidFill>
                <a:latin typeface="Calibri"/>
              </a:rPr>
              <a:t>▸ </a:t>
            </a:r>
            <a:r>
              <a:rPr sz="1500">
                <a:solidFill>
                  <a:srgbClr val="FFFFFF"/>
                </a:solidFill>
                <a:latin typeface="Calibri"/>
              </a:rPr>
              <a:t>Ties into the incident process.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CI/CD &amp; deployment strategy</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D7-09 / D7-10</a:t>
            </a:r>
          </a:p>
        </p:txBody>
      </p:sp>
      <p:sp>
        <p:nvSpPr>
          <p:cNvPr id="4" name="Rounded Rectangle 3"/>
          <p:cNvSpPr/>
          <p:nvPr/>
        </p:nvSpPr>
        <p:spPr>
          <a:xfrm>
            <a:off x="502920" y="2377440"/>
            <a:ext cx="2603753" cy="914400"/>
          </a:xfrm>
          <a:prstGeom prst="roundRect">
            <a:avLst/>
          </a:prstGeom>
          <a:solidFill>
            <a:srgbClr val="1E222B"/>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Build</a:t>
            </a:r>
          </a:p>
          <a:p>
            <a:pPr algn="ctr"/>
            <a:r>
              <a:rPr sz="1200" b="1">
                <a:solidFill>
                  <a:srgbClr val="FFFFFF"/>
                </a:solidFill>
                <a:latin typeface="Calibri"/>
              </a:rPr>
              <a:t>lint · type · test</a:t>
            </a:r>
          </a:p>
        </p:txBody>
      </p:sp>
      <p:sp>
        <p:nvSpPr>
          <p:cNvPr id="5" name="Rounded Rectangle 4"/>
          <p:cNvSpPr/>
          <p:nvPr/>
        </p:nvSpPr>
        <p:spPr>
          <a:xfrm>
            <a:off x="3362705" y="2377440"/>
            <a:ext cx="2603753" cy="914400"/>
          </a:xfrm>
          <a:prstGeom prst="roundRect">
            <a:avLst/>
          </a:prstGeom>
          <a:solidFill>
            <a:srgbClr val="1E222B"/>
          </a:solidFill>
          <a:ln w="15875">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Quality gate</a:t>
            </a:r>
          </a:p>
          <a:p>
            <a:pPr algn="ctr"/>
            <a:r>
              <a:rPr sz="1200" b="1">
                <a:solidFill>
                  <a:srgbClr val="FFFFFF"/>
                </a:solidFill>
                <a:latin typeface="Calibri"/>
              </a:rPr>
              <a:t>SonarQube</a:t>
            </a:r>
          </a:p>
        </p:txBody>
      </p:sp>
      <p:cxnSp>
        <p:nvCxnSpPr>
          <p:cNvPr id="6" name="Connector 5"/>
          <p:cNvCxnSpPr/>
          <p:nvPr/>
        </p:nvCxnSpPr>
        <p:spPr>
          <a:xfrm>
            <a:off x="3106674" y="2834640"/>
            <a:ext cx="256031"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222491" y="2377440"/>
            <a:ext cx="2603753" cy="914400"/>
          </a:xfrm>
          <a:prstGeom prst="roundRect">
            <a:avLst/>
          </a:prstGeom>
          <a:solidFill>
            <a:srgbClr val="1E222B"/>
          </a:solidFill>
          <a:ln w="15875">
            <a:solidFill>
              <a:srgbClr val="0283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Package</a:t>
            </a:r>
          </a:p>
          <a:p>
            <a:pPr algn="ctr"/>
            <a:r>
              <a:rPr sz="1200" b="1">
                <a:solidFill>
                  <a:srgbClr val="FFFFFF"/>
                </a:solidFill>
                <a:latin typeface="Calibri"/>
              </a:rPr>
              <a:t>immutable bundle</a:t>
            </a:r>
          </a:p>
        </p:txBody>
      </p:sp>
      <p:cxnSp>
        <p:nvCxnSpPr>
          <p:cNvPr id="8" name="Connector 7"/>
          <p:cNvCxnSpPr/>
          <p:nvPr/>
        </p:nvCxnSpPr>
        <p:spPr>
          <a:xfrm>
            <a:off x="5966459" y="2834640"/>
            <a:ext cx="256032"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082277" y="2377440"/>
            <a:ext cx="2603753" cy="914400"/>
          </a:xfrm>
          <a:prstGeom prst="roundRect">
            <a:avLst/>
          </a:prstGeom>
          <a:solidFill>
            <a:srgbClr val="1E222B"/>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Deploy</a:t>
            </a:r>
          </a:p>
          <a:p>
            <a:pPr algn="ctr"/>
            <a:r>
              <a:rPr sz="1200" b="1">
                <a:solidFill>
                  <a:srgbClr val="FFFFFF"/>
                </a:solidFill>
                <a:latin typeface="Calibri"/>
              </a:rPr>
              <a:t>rolling / canary / blue-green</a:t>
            </a:r>
          </a:p>
        </p:txBody>
      </p:sp>
      <p:cxnSp>
        <p:nvCxnSpPr>
          <p:cNvPr id="10" name="Connector 9"/>
          <p:cNvCxnSpPr/>
          <p:nvPr/>
        </p:nvCxnSpPr>
        <p:spPr>
          <a:xfrm>
            <a:off x="8826245" y="2834640"/>
            <a:ext cx="256032"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3840480"/>
            <a:ext cx="10515600" cy="1645920"/>
          </a:xfrm>
          <a:prstGeom prst="rect">
            <a:avLst/>
          </a:prstGeom>
          <a:noFill/>
        </p:spPr>
        <p:txBody>
          <a:bodyPr wrap="square" lIns="0" tIns="0">
            <a:spAutoFit/>
          </a:bodyPr>
          <a:lstStyle/>
          <a:p>
            <a:pPr algn="l">
              <a:spcAft>
                <a:spcPts val="1200"/>
              </a:spcAft>
            </a:pPr>
            <a:r>
              <a:rPr sz="1400" b="1">
                <a:solidFill>
                  <a:srgbClr val="2ACCFF"/>
                </a:solidFill>
                <a:latin typeface="Calibri"/>
              </a:rPr>
              <a:t>▸ </a:t>
            </a:r>
            <a:r>
              <a:rPr sz="1400">
                <a:solidFill>
                  <a:srgbClr val="FFFFFF"/>
                </a:solidFill>
                <a:latin typeface="Calibri"/>
              </a:rPr>
              <a:t>Runs on the enterprise Azure DevOps build.yaml / release.yaml (deck 05).</a:t>
            </a:r>
          </a:p>
          <a:p>
            <a:pPr algn="l">
              <a:spcAft>
                <a:spcPts val="1200"/>
              </a:spcAft>
            </a:pPr>
            <a:r>
              <a:rPr sz="1400" b="1">
                <a:solidFill>
                  <a:srgbClr val="2ACCFF"/>
                </a:solidFill>
                <a:latin typeface="Calibri"/>
              </a:rPr>
              <a:t>▸ </a:t>
            </a:r>
            <a:r>
              <a:rPr sz="1400">
                <a:solidFill>
                  <a:srgbClr val="FFFFFF"/>
                </a:solidFill>
                <a:latin typeface="Calibri"/>
              </a:rPr>
              <a:t>Deployment: rolling by default; canary for AI-artifact changes; blue/green for GPU/index cutover (D7-10, Accepted).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Branching, versioning &amp; release train</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D7-11</a:t>
            </a:r>
          </a:p>
        </p:txBody>
      </p:sp>
      <p:sp>
        <p:nvSpPr>
          <p:cNvPr id="4" name="TextBox 3"/>
          <p:cNvSpPr txBox="1"/>
          <p:nvPr/>
        </p:nvSpPr>
        <p:spPr>
          <a:xfrm>
            <a:off x="822960" y="1828800"/>
            <a:ext cx="10515600" cy="2926080"/>
          </a:xfrm>
          <a:prstGeom prst="rect">
            <a:avLst/>
          </a:prstGeom>
          <a:noFill/>
        </p:spPr>
        <p:txBody>
          <a:bodyPr wrap="square" lIns="0" tIns="0">
            <a:spAutoFit/>
          </a:bodyPr>
          <a:lstStyle/>
          <a:p>
            <a:pPr algn="l">
              <a:spcAft>
                <a:spcPts val="1500"/>
              </a:spcAft>
            </a:pPr>
            <a:r>
              <a:rPr sz="1600" b="1">
                <a:solidFill>
                  <a:srgbClr val="2ACCFF"/>
                </a:solidFill>
                <a:latin typeface="Calibri"/>
              </a:rPr>
              <a:t>▸ </a:t>
            </a:r>
            <a:r>
              <a:rPr sz="1600">
                <a:solidFill>
                  <a:srgbClr val="FFFFFF"/>
                </a:solidFill>
                <a:latin typeface="Calibri"/>
              </a:rPr>
              <a:t>Branch model: main / develop / feature/* / bugfix/* / hotfix/* / release/*.</a:t>
            </a:r>
          </a:p>
          <a:p>
            <a:pPr algn="l">
              <a:spcAft>
                <a:spcPts val="1500"/>
              </a:spcAft>
            </a:pPr>
            <a:r>
              <a:rPr sz="1600" b="1">
                <a:solidFill>
                  <a:srgbClr val="2ACCFF"/>
                </a:solidFill>
                <a:latin typeface="Calibri"/>
              </a:rPr>
              <a:t>▸ </a:t>
            </a:r>
            <a:r>
              <a:rPr sz="1600">
                <a:solidFill>
                  <a:srgbClr val="FFFFFF"/>
                </a:solidFill>
                <a:latin typeface="Calibri"/>
              </a:rPr>
              <a:t>Conventional commits; semantic versioning MAJOR.MINOR.PATCH.</a:t>
            </a:r>
          </a:p>
          <a:p>
            <a:pPr algn="l">
              <a:spcAft>
                <a:spcPts val="1500"/>
              </a:spcAft>
            </a:pPr>
            <a:r>
              <a:rPr sz="1600" b="1">
                <a:solidFill>
                  <a:srgbClr val="2ACCFF"/>
                </a:solidFill>
                <a:latin typeface="Calibri"/>
              </a:rPr>
              <a:t>▸ </a:t>
            </a:r>
            <a:r>
              <a:rPr sz="1600">
                <a:solidFill>
                  <a:srgbClr val="FFFFFF"/>
                </a:solidFill>
                <a:latin typeface="Calibri"/>
              </a:rPr>
              <a:t>A release train coordinates code + AI-artifact bundles (prompts, models, RAG indexes, guardrails).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engineering lifecycle (LLMOps)</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D7-12</a:t>
            </a:r>
          </a:p>
        </p:txBody>
      </p:sp>
      <p:sp>
        <p:nvSpPr>
          <p:cNvPr id="4" name="Rounded Rectangle 3"/>
          <p:cNvSpPr/>
          <p:nvPr/>
        </p:nvSpPr>
        <p:spPr>
          <a:xfrm>
            <a:off x="502920" y="2377440"/>
            <a:ext cx="2031796" cy="914400"/>
          </a:xfrm>
          <a:prstGeom prst="roundRect">
            <a:avLst/>
          </a:prstGeom>
          <a:solidFill>
            <a:srgbClr val="1E222B"/>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Author</a:t>
            </a:r>
          </a:p>
          <a:p>
            <a:pPr algn="ctr"/>
            <a:r>
              <a:rPr sz="1200" b="1">
                <a:solidFill>
                  <a:srgbClr val="FFFFFF"/>
                </a:solidFill>
                <a:latin typeface="Calibri"/>
              </a:rPr>
              <a:t>prompts · agents</a:t>
            </a:r>
          </a:p>
        </p:txBody>
      </p:sp>
      <p:sp>
        <p:nvSpPr>
          <p:cNvPr id="5" name="Rounded Rectangle 4"/>
          <p:cNvSpPr/>
          <p:nvPr/>
        </p:nvSpPr>
        <p:spPr>
          <a:xfrm>
            <a:off x="2790748" y="2377440"/>
            <a:ext cx="2031796" cy="914400"/>
          </a:xfrm>
          <a:prstGeom prst="roundRect">
            <a:avLst/>
          </a:prstGeom>
          <a:solidFill>
            <a:srgbClr val="1E222B"/>
          </a:solidFill>
          <a:ln w="15875">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Evaluate</a:t>
            </a:r>
          </a:p>
          <a:p>
            <a:pPr algn="ctr"/>
            <a:r>
              <a:rPr sz="1200" b="1">
                <a:solidFill>
                  <a:srgbClr val="FFFFFF"/>
                </a:solidFill>
                <a:latin typeface="Calibri"/>
              </a:rPr>
              <a:t>golden datasets</a:t>
            </a:r>
          </a:p>
        </p:txBody>
      </p:sp>
      <p:cxnSp>
        <p:nvCxnSpPr>
          <p:cNvPr id="6" name="Connector 5"/>
          <p:cNvCxnSpPr/>
          <p:nvPr/>
        </p:nvCxnSpPr>
        <p:spPr>
          <a:xfrm>
            <a:off x="2534716" y="2834640"/>
            <a:ext cx="256032"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78577" y="2377440"/>
            <a:ext cx="2031796" cy="914400"/>
          </a:xfrm>
          <a:prstGeom prst="roundRect">
            <a:avLst/>
          </a:prstGeom>
          <a:solidFill>
            <a:srgbClr val="1E222B"/>
          </a:solidFill>
          <a:ln w="15875">
            <a:solidFill>
              <a:srgbClr val="0283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Promote</a:t>
            </a:r>
          </a:p>
          <a:p>
            <a:pPr algn="ctr"/>
            <a:r>
              <a:rPr sz="1200" b="1">
                <a:solidFill>
                  <a:srgbClr val="FFFFFF"/>
                </a:solidFill>
                <a:latin typeface="Calibri"/>
              </a:rPr>
              <a:t>immutable bundle</a:t>
            </a:r>
          </a:p>
        </p:txBody>
      </p:sp>
      <p:cxnSp>
        <p:nvCxnSpPr>
          <p:cNvPr id="8" name="Connector 7"/>
          <p:cNvCxnSpPr/>
          <p:nvPr/>
        </p:nvCxnSpPr>
        <p:spPr>
          <a:xfrm>
            <a:off x="4822545" y="2834640"/>
            <a:ext cx="256032"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66406" y="2377440"/>
            <a:ext cx="2031796" cy="914400"/>
          </a:xfrm>
          <a:prstGeom prst="roundRect">
            <a:avLst/>
          </a:prstGeom>
          <a:solidFill>
            <a:srgbClr val="1E222B"/>
          </a:solidFill>
          <a:ln w="15875">
            <a:solidFill>
              <a:srgbClr val="FE2579"/>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Observe</a:t>
            </a:r>
          </a:p>
          <a:p>
            <a:pPr algn="ctr"/>
            <a:r>
              <a:rPr sz="1200" b="1">
                <a:solidFill>
                  <a:srgbClr val="FFFFFF"/>
                </a:solidFill>
                <a:latin typeface="Calibri"/>
              </a:rPr>
              <a:t>Langfuse</a:t>
            </a:r>
          </a:p>
        </p:txBody>
      </p:sp>
      <p:cxnSp>
        <p:nvCxnSpPr>
          <p:cNvPr id="10" name="Connector 9"/>
          <p:cNvCxnSpPr/>
          <p:nvPr/>
        </p:nvCxnSpPr>
        <p:spPr>
          <a:xfrm>
            <a:off x="7110374" y="2834640"/>
            <a:ext cx="256032"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654235" y="2377440"/>
            <a:ext cx="2031796" cy="914400"/>
          </a:xfrm>
          <a:prstGeom prst="roundRect">
            <a:avLst/>
          </a:prstGeom>
          <a:solidFill>
            <a:srgbClr val="1E222B"/>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Improve</a:t>
            </a:r>
          </a:p>
          <a:p>
            <a:pPr algn="ctr"/>
            <a:r>
              <a:rPr sz="1200" b="1">
                <a:solidFill>
                  <a:srgbClr val="FFFFFF"/>
                </a:solidFill>
                <a:latin typeface="Calibri"/>
              </a:rPr>
              <a:t>data-driven</a:t>
            </a:r>
          </a:p>
        </p:txBody>
      </p:sp>
      <p:cxnSp>
        <p:nvCxnSpPr>
          <p:cNvPr id="12" name="Connector 11"/>
          <p:cNvCxnSpPr/>
          <p:nvPr/>
        </p:nvCxnSpPr>
        <p:spPr>
          <a:xfrm>
            <a:off x="9398203" y="2834640"/>
            <a:ext cx="256032"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3931920"/>
            <a:ext cx="10515600" cy="822960"/>
          </a:xfrm>
          <a:prstGeom prst="rect">
            <a:avLst/>
          </a:prstGeom>
          <a:noFill/>
        </p:spPr>
        <p:txBody>
          <a:bodyPr wrap="square" anchor="t" lIns="0" rIns="0" tIns="0" bIns="0">
            <a:spAutoFit/>
          </a:bodyPr>
          <a:lstStyle/>
          <a:p>
            <a:pPr algn="l"/>
            <a:r>
              <a:rPr sz="1400" b="0" i="0">
                <a:solidFill>
                  <a:srgbClr val="D5D5D5"/>
                </a:solidFill>
                <a:latin typeface="Calibri"/>
              </a:rPr>
              <a:t>AI artifacts follow a full lifecycle — authored, evaluated, promoted, observed and improved — never mutated in place in production.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&amp; regression gates</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D7-13 · doc 21</a:t>
            </a:r>
          </a:p>
        </p:txBody>
      </p:sp>
      <p:sp>
        <p:nvSpPr>
          <p:cNvPr id="4" name="TextBox 3"/>
          <p:cNvSpPr txBox="1"/>
          <p:nvPr/>
        </p:nvSpPr>
        <p:spPr>
          <a:xfrm>
            <a:off x="822960" y="1828800"/>
            <a:ext cx="10515600" cy="3474720"/>
          </a:xfrm>
          <a:prstGeom prst="rect">
            <a:avLst/>
          </a:prstGeom>
          <a:noFill/>
        </p:spPr>
        <p:txBody>
          <a:bodyPr wrap="square" lIns="0" tIns="0">
            <a:spAutoFit/>
          </a:bodyPr>
          <a:lstStyle/>
          <a:p>
            <a:pPr algn="l">
              <a:spcAft>
                <a:spcPts val="1400"/>
              </a:spcAft>
            </a:pPr>
            <a:r>
              <a:rPr sz="1600" b="1">
                <a:solidFill>
                  <a:srgbClr val="2ACCFF"/>
                </a:solidFill>
                <a:latin typeface="Calibri"/>
              </a:rPr>
              <a:t>▸ </a:t>
            </a:r>
            <a:r>
              <a:rPr sz="1600">
                <a:solidFill>
                  <a:srgbClr val="FFFFFF"/>
                </a:solidFill>
                <a:latin typeface="Calibri"/>
              </a:rPr>
              <a:t>Golden datasets + evaluators + LLM-as-judge score quality before release.</a:t>
            </a:r>
          </a:p>
          <a:p>
            <a:pPr algn="l">
              <a:spcAft>
                <a:spcPts val="1400"/>
              </a:spcAft>
            </a:pPr>
            <a:r>
              <a:rPr sz="1600" b="1">
                <a:solidFill>
                  <a:srgbClr val="2ACCFF"/>
                </a:solidFill>
                <a:latin typeface="Calibri"/>
              </a:rPr>
              <a:t>▸ </a:t>
            </a:r>
            <a:r>
              <a:rPr sz="1600">
                <a:solidFill>
                  <a:srgbClr val="FFFFFF"/>
                </a:solidFill>
                <a:latin typeface="Calibri"/>
              </a:rPr>
              <a:t>Regression gates block a release that degrades quality, groundedness or safety.</a:t>
            </a:r>
          </a:p>
          <a:p>
            <a:pPr algn="l">
              <a:spcAft>
                <a:spcPts val="1400"/>
              </a:spcAft>
            </a:pPr>
            <a:r>
              <a:rPr sz="1600" b="1">
                <a:solidFill>
                  <a:srgbClr val="2ACCFF"/>
                </a:solidFill>
                <a:latin typeface="Calibri"/>
              </a:rPr>
              <a:t>▸ </a:t>
            </a:r>
            <a:r>
              <a:rPr sz="1600">
                <a:solidFill>
                  <a:srgbClr val="FFFFFF"/>
                </a:solidFill>
                <a:latin typeface="Calibri"/>
              </a:rPr>
              <a:t>Distinct from the runtime refinement loop (D3-28): these are offline release gates.</a:t>
            </a:r>
          </a:p>
          <a:p>
            <a:pPr algn="l">
              <a:spcAft>
                <a:spcPts val="1400"/>
              </a:spcAft>
            </a:pPr>
            <a:r>
              <a:rPr sz="1600" b="1">
                <a:solidFill>
                  <a:srgbClr val="2ACCFF"/>
                </a:solidFill>
                <a:latin typeface="Calibri"/>
              </a:rPr>
              <a:t>▸ </a:t>
            </a:r>
            <a:r>
              <a:rPr sz="1600">
                <a:solidFill>
                  <a:srgbClr val="FFFFFF"/>
                </a:solidFill>
                <a:latin typeface="Calibri"/>
              </a:rPr>
              <a:t>Evaluation adds model usage — its cost is tracked (deck 08).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strategy &amp; pyramid</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D7-14 · doc 22</a:t>
            </a:r>
          </a:p>
        </p:txBody>
      </p:sp>
      <p:sp>
        <p:nvSpPr>
          <p:cNvPr id="4" name="TextBox 3"/>
          <p:cNvSpPr txBox="1"/>
          <p:nvPr/>
        </p:nvSpPr>
        <p:spPr>
          <a:xfrm>
            <a:off x="822960" y="1828800"/>
            <a:ext cx="10515600" cy="3108960"/>
          </a:xfrm>
          <a:prstGeom prst="rect">
            <a:avLst/>
          </a:prstGeom>
          <a:noFill/>
        </p:spPr>
        <p:txBody>
          <a:bodyPr wrap="square" lIns="0" tIns="0">
            <a:spAutoFit/>
          </a:bodyPr>
          <a:lstStyle/>
          <a:p>
            <a:pPr algn="l">
              <a:spcAft>
                <a:spcPts val="1500"/>
              </a:spcAft>
            </a:pPr>
            <a:r>
              <a:rPr sz="1600" b="1">
                <a:solidFill>
                  <a:srgbClr val="2ACCFF"/>
                </a:solidFill>
                <a:latin typeface="Calibri"/>
              </a:rPr>
              <a:t>▸ </a:t>
            </a:r>
            <a:r>
              <a:rPr sz="1600">
                <a:solidFill>
                  <a:srgbClr val="FFFFFF"/>
                </a:solidFill>
                <a:latin typeface="Calibri"/>
              </a:rPr>
              <a:t>A broad test pyramid: unit · component · api · contract · integration · agents · supervisor · harness · workflows.</a:t>
            </a:r>
          </a:p>
          <a:p>
            <a:pPr algn="l">
              <a:spcAft>
                <a:spcPts val="1500"/>
              </a:spcAft>
            </a:pPr>
            <a:r>
              <a:rPr sz="1600" b="1">
                <a:solidFill>
                  <a:srgbClr val="2ACCFF"/>
                </a:solidFill>
                <a:latin typeface="Calibri"/>
              </a:rPr>
              <a:t>▸ </a:t>
            </a:r>
            <a:r>
              <a:rPr sz="1600">
                <a:solidFill>
                  <a:srgbClr val="FFFFFF"/>
                </a:solidFill>
                <a:latin typeface="Calibri"/>
              </a:rPr>
              <a:t>AI-specific layers: rag · embeddings · vector · slm · prompts · guardrails · adversarial.</a:t>
            </a:r>
          </a:p>
          <a:p>
            <a:pPr algn="l">
              <a:spcAft>
                <a:spcPts val="1500"/>
              </a:spcAft>
            </a:pPr>
            <a:r>
              <a:rPr sz="1600" b="1">
                <a:solidFill>
                  <a:srgbClr val="2ACCFF"/>
                </a:solidFill>
                <a:latin typeface="Calibri"/>
              </a:rPr>
              <a:t>▸ </a:t>
            </a:r>
            <a:r>
              <a:rPr sz="1600">
                <a:solidFill>
                  <a:srgbClr val="FFFFFF"/>
                </a:solidFill>
                <a:latin typeface="Calibri"/>
              </a:rPr>
              <a:t>Plus security, performance, resilience, regression and e2e — with golden datasets.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Engineering agents</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D7-15 · doc 23</a:t>
            </a:r>
          </a:p>
        </p:txBody>
      </p:sp>
      <p:sp>
        <p:nvSpPr>
          <p:cNvPr id="4" name="TextBox 3"/>
          <p:cNvSpPr txBox="1"/>
          <p:nvPr/>
        </p:nvSpPr>
        <p:spPr>
          <a:xfrm>
            <a:off x="822960" y="1828800"/>
            <a:ext cx="10515600" cy="2926080"/>
          </a:xfrm>
          <a:prstGeom prst="rect">
            <a:avLst/>
          </a:prstGeom>
          <a:noFill/>
        </p:spPr>
        <p:txBody>
          <a:bodyPr wrap="square" lIns="0" tIns="0">
            <a:spAutoFit/>
          </a:bodyPr>
          <a:lstStyle/>
          <a:p>
            <a:pPr algn="l">
              <a:spcAft>
                <a:spcPts val="1500"/>
              </a:spcAft>
            </a:pPr>
            <a:r>
              <a:rPr sz="1600" b="1">
                <a:solidFill>
                  <a:srgbClr val="2ACCFF"/>
                </a:solidFill>
                <a:latin typeface="Calibri"/>
              </a:rPr>
              <a:t>▸ </a:t>
            </a:r>
            <a:r>
              <a:rPr sz="1600">
                <a:solidFill>
                  <a:srgbClr val="FFFFFF"/>
                </a:solidFill>
                <a:latin typeface="Calibri"/>
              </a:rPr>
              <a:t>AI agents assist engineering: code review, security analysis, test generation, evaluation, docs.</a:t>
            </a:r>
          </a:p>
          <a:p>
            <a:pPr algn="l">
              <a:spcAft>
                <a:spcPts val="1500"/>
              </a:spcAft>
            </a:pPr>
            <a:r>
              <a:rPr sz="1600" b="1">
                <a:solidFill>
                  <a:srgbClr val="2ACCFF"/>
                </a:solidFill>
                <a:latin typeface="Calibri"/>
              </a:rPr>
              <a:t>▸ </a:t>
            </a:r>
            <a:r>
              <a:rPr sz="1600">
                <a:solidFill>
                  <a:srgbClr val="FFFFFF"/>
                </a:solidFill>
                <a:latin typeface="Calibri"/>
              </a:rPr>
              <a:t>Scope &amp; guardrails are explicit — they assist, they do not bypass human review or release gates.</a:t>
            </a:r>
          </a:p>
          <a:p>
            <a:pPr algn="l">
              <a:spcAft>
                <a:spcPts val="1500"/>
              </a:spcAft>
            </a:pPr>
            <a:r>
              <a:rPr sz="1600" b="1">
                <a:solidFill>
                  <a:srgbClr val="2ACCFF"/>
                </a:solidFill>
                <a:latin typeface="Calibri"/>
              </a:rPr>
              <a:t>▸ </a:t>
            </a:r>
            <a:r>
              <a:rPr sz="1600">
                <a:solidFill>
                  <a:srgbClr val="FFFFFF"/>
                </a:solidFill>
                <a:latin typeface="Calibri"/>
              </a:rPr>
              <a:t>Their model usage/CI cost is tracked as a cost category (deck 08).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Support, incidents &amp; continuity</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D7-16 / D7-17 / D7-18 · doc 28</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Support &amp; incidents</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Defined operational support model.</a:t>
            </a:r>
          </a:p>
          <a:p>
            <a:pPr algn="l">
              <a:spcAft>
                <a:spcPts val="1200"/>
              </a:spcAft>
            </a:pPr>
            <a:r>
              <a:rPr sz="1500" b="1">
                <a:solidFill>
                  <a:srgbClr val="2ACCFF"/>
                </a:solidFill>
                <a:latin typeface="Calibri"/>
              </a:rPr>
              <a:t>▸ </a:t>
            </a:r>
            <a:r>
              <a:rPr sz="1500">
                <a:solidFill>
                  <a:srgbClr val="FFFFFF"/>
                </a:solidFill>
                <a:latin typeface="Calibri"/>
              </a:rPr>
              <a:t>Incident process: detect → correlate → mitigate → recover → learn.</a:t>
            </a:r>
          </a:p>
          <a:p>
            <a:pPr algn="l">
              <a:spcAft>
                <a:spcPts val="1200"/>
              </a:spcAft>
            </a:pPr>
            <a:r>
              <a:rPr sz="1500" b="1">
                <a:solidFill>
                  <a:srgbClr val="2ACCFF"/>
                </a:solidFill>
                <a:latin typeface="Calibri"/>
              </a:rPr>
              <a:t>▸ </a:t>
            </a:r>
            <a:r>
              <a:rPr sz="1500">
                <a:solidFill>
                  <a:srgbClr val="FFFFFF"/>
                </a:solidFill>
                <a:latin typeface="Calibri"/>
              </a:rPr>
              <a:t>Performance &amp; cost incidents have runbooks (deck 08).</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DR &amp; continuity</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Disaster recovery &amp; business continuity plans.</a:t>
            </a:r>
          </a:p>
          <a:p>
            <a:pPr algn="l">
              <a:spcAft>
                <a:spcPts val="1200"/>
              </a:spcAft>
            </a:pPr>
            <a:r>
              <a:rPr sz="1500" b="1">
                <a:solidFill>
                  <a:srgbClr val="2ACCFF"/>
                </a:solidFill>
                <a:latin typeface="Calibri"/>
              </a:rPr>
              <a:t>▸ </a:t>
            </a:r>
            <a:r>
              <a:rPr sz="1500">
                <a:solidFill>
                  <a:srgbClr val="FFFFFF"/>
                </a:solidFill>
                <a:latin typeface="Calibri"/>
              </a:rPr>
              <a:t>State (Redis) and artifacts (bundles) recoverable.</a:t>
            </a:r>
          </a:p>
          <a:p>
            <a:pPr algn="l">
              <a:spcAft>
                <a:spcPts val="1200"/>
              </a:spcAft>
            </a:pPr>
            <a:r>
              <a:rPr sz="1500" b="1">
                <a:solidFill>
                  <a:srgbClr val="2ACCFF"/>
                </a:solidFill>
                <a:latin typeface="Calibri"/>
              </a:rPr>
              <a:t>▸ </a:t>
            </a:r>
            <a:r>
              <a:rPr sz="1500">
                <a:solidFill>
                  <a:srgbClr val="FFFFFF"/>
                </a:solidFill>
                <a:latin typeface="Calibri"/>
              </a:rPr>
              <a:t>Regular capacity &amp; cost reviews.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ADR index — Operations (D7)</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18 decisions — higher-trust sources always win; ◆ = Proposed, awaiting ARB</a:t>
            </a:r>
          </a:p>
        </p:txBody>
      </p:sp>
      <p:graphicFrame>
        <p:nvGraphicFramePr>
          <p:cNvPr id="4" name="Table 3"/>
          <p:cNvGraphicFramePr>
            <a:graphicFrameLocks noGrp="1"/>
          </p:cNvGraphicFramePr>
          <p:nvPr/>
        </p:nvGraphicFramePr>
        <p:xfrm>
          <a:off x="502920" y="1783080"/>
          <a:ext cx="5486399" cy="4572000"/>
        </p:xfrm>
        <a:graphic>
          <a:graphicData uri="http://schemas.openxmlformats.org/drawingml/2006/table">
            <a:tbl>
              <a:tblPr firstRow="1">
                <a:tableStyleId>{5C22544A-7EE6-4342-B048-85BDC9FD1C3A}</a:tableStyleId>
              </a:tblPr>
              <a:tblGrid>
                <a:gridCol w="973393"/>
                <a:gridCol w="3672348"/>
                <a:gridCol w="840658"/>
              </a:tblGrid>
              <a:tr h="304800">
                <a:tc>
                  <a:txBody>
                    <a:bodyPr wrap="square"/>
                    <a:lstStyle/>
                    <a:p>
                      <a:r>
                        <a:rPr sz="900" b="1">
                          <a:solidFill>
                            <a:srgbClr val="FFFFFF"/>
                          </a:solidFill>
                          <a:latin typeface="Calibri"/>
                        </a:rPr>
                        <a:t>ADR</a:t>
                      </a:r>
                    </a:p>
                  </a:txBody>
                  <a:tcPr marL="63500" marR="63500" marT="25400" marB="25400" anchor="ctr">
                    <a:solidFill>
                      <a:srgbClr val="7F19BE"/>
                    </a:solidFill>
                  </a:tcPr>
                </a:tc>
                <a:tc>
                  <a:txBody>
                    <a:bodyPr wrap="square"/>
                    <a:lstStyle/>
                    <a:p>
                      <a:r>
                        <a:rPr sz="900" b="1">
                          <a:solidFill>
                            <a:srgbClr val="FFFFFF"/>
                          </a:solidFill>
                          <a:latin typeface="Calibri"/>
                        </a:rPr>
                        <a:t>Decision</a:t>
                      </a:r>
                    </a:p>
                  </a:txBody>
                  <a:tcPr marL="63500" marR="63500" marT="25400" marB="25400" anchor="ctr">
                    <a:solidFill>
                      <a:srgbClr val="7F19BE"/>
                    </a:solidFill>
                  </a:tcPr>
                </a:tc>
                <a:tc>
                  <a:txBody>
                    <a:bodyPr wrap="square"/>
                    <a:lstStyle/>
                    <a:p>
                      <a:r>
                        <a:rPr sz="900" b="1">
                          <a:solidFill>
                            <a:srgbClr val="FFFFFF"/>
                          </a:solidFill>
                          <a:latin typeface="Calibri"/>
                        </a:rPr>
                        <a:t>Status</a:t>
                      </a:r>
                    </a:p>
                  </a:txBody>
                  <a:tcPr marL="63500" marR="63500" marT="25400" marB="25400" anchor="ctr">
                    <a:solidFill>
                      <a:srgbClr val="7F19BE"/>
                    </a:solidFill>
                  </a:tcPr>
                </a:tc>
              </a:tr>
              <a:tr h="304800">
                <a:tc>
                  <a:txBody>
                    <a:bodyPr wrap="square"/>
                    <a:lstStyle/>
                    <a:p>
                      <a:r>
                        <a:rPr sz="900" b="1">
                          <a:solidFill>
                            <a:srgbClr val="FFFFFF"/>
                          </a:solidFill>
                          <a:latin typeface="Calibri"/>
                        </a:rPr>
                        <a:t>D7-01</a:t>
                      </a:r>
                    </a:p>
                  </a:txBody>
                  <a:tcPr marL="63500" marR="63500" marT="25400" marB="25400" anchor="ctr">
                    <a:solidFill>
                      <a:srgbClr val="14161C"/>
                    </a:solidFill>
                  </a:tcPr>
                </a:tc>
                <a:tc>
                  <a:txBody>
                    <a:bodyPr wrap="square"/>
                    <a:lstStyle/>
                    <a:p>
                      <a:r>
                        <a:rPr sz="900" b="0">
                          <a:solidFill>
                            <a:srgbClr val="D5D5D5"/>
                          </a:solidFill>
                          <a:latin typeface="Calibri"/>
                        </a:rPr>
                        <a:t>Platform observability stack — Azure Monitor / App …</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D7-02</a:t>
                      </a:r>
                    </a:p>
                  </a:txBody>
                  <a:tcPr marL="63500" marR="63500" marT="25400" marB="25400" anchor="ctr">
                    <a:solidFill>
                      <a:srgbClr val="1E222B"/>
                    </a:solidFill>
                  </a:tcPr>
                </a:tc>
                <a:tc>
                  <a:txBody>
                    <a:bodyPr wrap="square"/>
                    <a:lstStyle/>
                    <a:p>
                      <a:r>
                        <a:rPr sz="900" b="0">
                          <a:solidFill>
                            <a:srgbClr val="D5D5D5"/>
                          </a:solidFill>
                          <a:latin typeface="Calibri"/>
                        </a:rPr>
                        <a:t>AI-specific observability — Langfuse</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D7-03</a:t>
                      </a:r>
                    </a:p>
                  </a:txBody>
                  <a:tcPr marL="63500" marR="63500" marT="25400" marB="25400" anchor="ctr">
                    <a:solidFill>
                      <a:srgbClr val="14161C"/>
                    </a:solidFill>
                  </a:tcPr>
                </a:tc>
                <a:tc>
                  <a:txBody>
                    <a:bodyPr wrap="square"/>
                    <a:lstStyle/>
                    <a:p>
                      <a:r>
                        <a:rPr sz="900" b="0">
                          <a:solidFill>
                            <a:srgbClr val="D5D5D5"/>
                          </a:solidFill>
                          <a:latin typeface="Calibri"/>
                        </a:rPr>
                        <a:t>Correlation ID and trace-propagation standard</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D7-04</a:t>
                      </a:r>
                    </a:p>
                  </a:txBody>
                  <a:tcPr marL="63500" marR="63500" marT="25400" marB="25400" anchor="ctr">
                    <a:solidFill>
                      <a:srgbClr val="1E222B"/>
                    </a:solidFill>
                  </a:tcPr>
                </a:tc>
                <a:tc>
                  <a:txBody>
                    <a:bodyPr wrap="square"/>
                    <a:lstStyle/>
                    <a:p>
                      <a:r>
                        <a:rPr sz="900" b="0">
                          <a:solidFill>
                            <a:srgbClr val="D5D5D5"/>
                          </a:solidFill>
                          <a:latin typeface="Calibri"/>
                        </a:rPr>
                        <a:t>Logging standards, levels and redaction rules</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D7-05</a:t>
                      </a:r>
                    </a:p>
                  </a:txBody>
                  <a:tcPr marL="63500" marR="63500" marT="25400" marB="25400" anchor="ctr">
                    <a:solidFill>
                      <a:srgbClr val="14161C"/>
                    </a:solidFill>
                  </a:tcPr>
                </a:tc>
                <a:tc>
                  <a:txBody>
                    <a:bodyPr wrap="square"/>
                    <a:lstStyle/>
                    <a:p>
                      <a:r>
                        <a:rPr sz="900" b="0">
                          <a:solidFill>
                            <a:srgbClr val="D5D5D5"/>
                          </a:solidFill>
                          <a:latin typeface="Calibri"/>
                        </a:rPr>
                        <a:t>Error taxonomy and the PlatformError hierarchy</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D7-06</a:t>
                      </a:r>
                    </a:p>
                  </a:txBody>
                  <a:tcPr marL="63500" marR="63500" marT="25400" marB="25400" anchor="ctr">
                    <a:solidFill>
                      <a:srgbClr val="1E222B"/>
                    </a:solidFill>
                  </a:tcPr>
                </a:tc>
                <a:tc>
                  <a:txBody>
                    <a:bodyPr wrap="square"/>
                    <a:lstStyle/>
                    <a:p>
                      <a:r>
                        <a:rPr sz="900" b="0">
                          <a:solidFill>
                            <a:srgbClr val="D5D5D5"/>
                          </a:solidFill>
                          <a:latin typeface="Calibri"/>
                        </a:rPr>
                        <a:t>Resilience patterns — retry, circuit breaker, bulkh…</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D7-07</a:t>
                      </a:r>
                    </a:p>
                  </a:txBody>
                  <a:tcPr marL="63500" marR="63500" marT="25400" marB="25400" anchor="ctr">
                    <a:solidFill>
                      <a:srgbClr val="14161C"/>
                    </a:solidFill>
                  </a:tcPr>
                </a:tc>
                <a:tc>
                  <a:txBody>
                    <a:bodyPr wrap="square"/>
                    <a:lstStyle/>
                    <a:p>
                      <a:r>
                        <a:rPr sz="900" b="0">
                          <a:solidFill>
                            <a:srgbClr val="D5D5D5"/>
                          </a:solidFill>
                          <a:latin typeface="Calibri"/>
                        </a:rPr>
                        <a:t>SLI/SLO definition and error-budget policy</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D7-08</a:t>
                      </a:r>
                    </a:p>
                  </a:txBody>
                  <a:tcPr marL="63500" marR="63500" marT="25400" marB="25400" anchor="ctr">
                    <a:solidFill>
                      <a:srgbClr val="1E222B"/>
                    </a:solidFill>
                  </a:tcPr>
                </a:tc>
                <a:tc>
                  <a:txBody>
                    <a:bodyPr wrap="square"/>
                    <a:lstStyle/>
                    <a:p>
                      <a:r>
                        <a:rPr sz="900" b="0">
                          <a:solidFill>
                            <a:srgbClr val="D5D5D5"/>
                          </a:solidFill>
                          <a:latin typeface="Calibri"/>
                        </a:rPr>
                        <a:t>Alerting, severity model and on-call escalation</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D7-09</a:t>
                      </a:r>
                    </a:p>
                  </a:txBody>
                  <a:tcPr marL="63500" marR="63500" marT="25400" marB="25400" anchor="ctr">
                    <a:solidFill>
                      <a:srgbClr val="14161C"/>
                    </a:solidFill>
                  </a:tcPr>
                </a:tc>
                <a:tc>
                  <a:txBody>
                    <a:bodyPr wrap="square"/>
                    <a:lstStyle/>
                    <a:p>
                      <a:r>
                        <a:rPr sz="900" b="0">
                          <a:solidFill>
                            <a:srgbClr val="D5D5D5"/>
                          </a:solidFill>
                          <a:latin typeface="Calibri"/>
                        </a:rPr>
                        <a:t>CI pipeline design and mandatory quality gates</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D7-10</a:t>
                      </a:r>
                    </a:p>
                  </a:txBody>
                  <a:tcPr marL="63500" marR="63500" marT="25400" marB="25400" anchor="ctr">
                    <a:solidFill>
                      <a:srgbClr val="1E222B"/>
                    </a:solidFill>
                  </a:tcPr>
                </a:tc>
                <a:tc>
                  <a:txBody>
                    <a:bodyPr wrap="square"/>
                    <a:lstStyle/>
                    <a:p>
                      <a:r>
                        <a:rPr sz="900" b="0">
                          <a:solidFill>
                            <a:srgbClr val="D5D5D5"/>
                          </a:solidFill>
                          <a:latin typeface="Calibri"/>
                        </a:rPr>
                        <a:t>CD pipeline and deployment strategy — rolling updat…</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D7-11</a:t>
                      </a:r>
                    </a:p>
                  </a:txBody>
                  <a:tcPr marL="63500" marR="63500" marT="25400" marB="25400" anchor="ctr">
                    <a:solidFill>
                      <a:srgbClr val="14161C"/>
                    </a:solidFill>
                  </a:tcPr>
                </a:tc>
                <a:tc>
                  <a:txBody>
                    <a:bodyPr wrap="square"/>
                    <a:lstStyle/>
                    <a:p>
                      <a:r>
                        <a:rPr sz="900" b="0">
                          <a:solidFill>
                            <a:srgbClr val="D5D5D5"/>
                          </a:solidFill>
                          <a:latin typeface="Calibri"/>
                        </a:rPr>
                        <a:t>Branching, versioning and release-train model</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D7-12</a:t>
                      </a:r>
                    </a:p>
                  </a:txBody>
                  <a:tcPr marL="63500" marR="63500" marT="25400" marB="25400" anchor="ctr">
                    <a:solidFill>
                      <a:srgbClr val="1E222B"/>
                    </a:solidFill>
                  </a:tcPr>
                </a:tc>
                <a:tc>
                  <a:txBody>
                    <a:bodyPr wrap="square"/>
                    <a:lstStyle/>
                    <a:p>
                      <a:r>
                        <a:rPr sz="900" b="0">
                          <a:solidFill>
                            <a:srgbClr val="D5D5D5"/>
                          </a:solidFill>
                          <a:latin typeface="Calibri"/>
                        </a:rPr>
                        <a:t>AI engineering lifecycle (LLMOps) — prompt/model/in…</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D7-13</a:t>
                      </a:r>
                    </a:p>
                  </a:txBody>
                  <a:tcPr marL="63500" marR="63500" marT="25400" marB="25400" anchor="ctr">
                    <a:solidFill>
                      <a:srgbClr val="14161C"/>
                    </a:solidFill>
                  </a:tcPr>
                </a:tc>
                <a:tc>
                  <a:txBody>
                    <a:bodyPr wrap="square"/>
                    <a:lstStyle/>
                    <a:p>
                      <a:r>
                        <a:rPr sz="900" b="0">
                          <a:solidFill>
                            <a:srgbClr val="D5D5D5"/>
                          </a:solidFill>
                          <a:latin typeface="Calibri"/>
                        </a:rPr>
                        <a:t>Evaluation and regression gates in CI — golden data…</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D7-14</a:t>
                      </a:r>
                    </a:p>
                  </a:txBody>
                  <a:tcPr marL="63500" marR="63500" marT="25400" marB="25400" anchor="ctr">
                    <a:solidFill>
                      <a:srgbClr val="1E222B"/>
                    </a:solidFill>
                  </a:tcPr>
                </a:tc>
                <a:tc>
                  <a:txBody>
                    <a:bodyPr wrap="square"/>
                    <a:lstStyle/>
                    <a:p>
                      <a:r>
                        <a:rPr sz="900" b="0">
                          <a:solidFill>
                            <a:srgbClr val="D5D5D5"/>
                          </a:solidFill>
                          <a:latin typeface="Calibri"/>
                        </a:rPr>
                        <a:t>Test strategy and test pyramid, incl. deterministic…</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bl>
          </a:graphicData>
        </a:graphic>
      </p:graphicFrame>
      <p:graphicFrame>
        <p:nvGraphicFramePr>
          <p:cNvPr id="5" name="Table 4"/>
          <p:cNvGraphicFramePr>
            <a:graphicFrameLocks noGrp="1"/>
          </p:cNvGraphicFramePr>
          <p:nvPr/>
        </p:nvGraphicFramePr>
        <p:xfrm>
          <a:off x="6263640" y="1783080"/>
          <a:ext cx="5486399" cy="1554480"/>
        </p:xfrm>
        <a:graphic>
          <a:graphicData uri="http://schemas.openxmlformats.org/drawingml/2006/table">
            <a:tbl>
              <a:tblPr firstRow="1">
                <a:tableStyleId>{5C22544A-7EE6-4342-B048-85BDC9FD1C3A}</a:tableStyleId>
              </a:tblPr>
              <a:tblGrid>
                <a:gridCol w="973393"/>
                <a:gridCol w="3672348"/>
                <a:gridCol w="840658"/>
              </a:tblGrid>
              <a:tr h="310896">
                <a:tc>
                  <a:txBody>
                    <a:bodyPr wrap="square"/>
                    <a:lstStyle/>
                    <a:p>
                      <a:r>
                        <a:rPr sz="900" b="1">
                          <a:solidFill>
                            <a:srgbClr val="FFFFFF"/>
                          </a:solidFill>
                          <a:latin typeface="Calibri"/>
                        </a:rPr>
                        <a:t>ADR</a:t>
                      </a:r>
                    </a:p>
                  </a:txBody>
                  <a:tcPr marL="63500" marR="63500" marT="25400" marB="25400" anchor="ctr">
                    <a:solidFill>
                      <a:srgbClr val="7F19BE"/>
                    </a:solidFill>
                  </a:tcPr>
                </a:tc>
                <a:tc>
                  <a:txBody>
                    <a:bodyPr wrap="square"/>
                    <a:lstStyle/>
                    <a:p>
                      <a:r>
                        <a:rPr sz="900" b="1">
                          <a:solidFill>
                            <a:srgbClr val="FFFFFF"/>
                          </a:solidFill>
                          <a:latin typeface="Calibri"/>
                        </a:rPr>
                        <a:t>Decision</a:t>
                      </a:r>
                    </a:p>
                  </a:txBody>
                  <a:tcPr marL="63500" marR="63500" marT="25400" marB="25400" anchor="ctr">
                    <a:solidFill>
                      <a:srgbClr val="7F19BE"/>
                    </a:solidFill>
                  </a:tcPr>
                </a:tc>
                <a:tc>
                  <a:txBody>
                    <a:bodyPr wrap="square"/>
                    <a:lstStyle/>
                    <a:p>
                      <a:r>
                        <a:rPr sz="900" b="1">
                          <a:solidFill>
                            <a:srgbClr val="FFFFFF"/>
                          </a:solidFill>
                          <a:latin typeface="Calibri"/>
                        </a:rPr>
                        <a:t>Status</a:t>
                      </a:r>
                    </a:p>
                  </a:txBody>
                  <a:tcPr marL="63500" marR="63500" marT="25400" marB="25400" anchor="ctr">
                    <a:solidFill>
                      <a:srgbClr val="7F19BE"/>
                    </a:solidFill>
                  </a:tcPr>
                </a:tc>
              </a:tr>
              <a:tr h="310896">
                <a:tc>
                  <a:txBody>
                    <a:bodyPr wrap="square"/>
                    <a:lstStyle/>
                    <a:p>
                      <a:r>
                        <a:rPr sz="900" b="1">
                          <a:solidFill>
                            <a:srgbClr val="FFFFFF"/>
                          </a:solidFill>
                          <a:latin typeface="Calibri"/>
                        </a:rPr>
                        <a:t>D7-15</a:t>
                      </a:r>
                    </a:p>
                  </a:txBody>
                  <a:tcPr marL="63500" marR="63500" marT="25400" marB="25400" anchor="ctr">
                    <a:solidFill>
                      <a:srgbClr val="14161C"/>
                    </a:solidFill>
                  </a:tcPr>
                </a:tc>
                <a:tc>
                  <a:txBody>
                    <a:bodyPr wrap="square"/>
                    <a:lstStyle/>
                    <a:p>
                      <a:r>
                        <a:rPr sz="900" b="0">
                          <a:solidFill>
                            <a:srgbClr val="D5D5D5"/>
                          </a:solidFill>
                          <a:latin typeface="Calibri"/>
                        </a:rPr>
                        <a:t>Engineering (dev-time) agents — scope and guardrails</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10896">
                <a:tc>
                  <a:txBody>
                    <a:bodyPr wrap="square"/>
                    <a:lstStyle/>
                    <a:p>
                      <a:r>
                        <a:rPr sz="900" b="1">
                          <a:solidFill>
                            <a:srgbClr val="FFFFFF"/>
                          </a:solidFill>
                          <a:latin typeface="Calibri"/>
                        </a:rPr>
                        <a:t>D7-16</a:t>
                      </a:r>
                    </a:p>
                  </a:txBody>
                  <a:tcPr marL="63500" marR="63500" marT="25400" marB="25400" anchor="ctr">
                    <a:solidFill>
                      <a:srgbClr val="1E222B"/>
                    </a:solidFill>
                  </a:tcPr>
                </a:tc>
                <a:tc>
                  <a:txBody>
                    <a:bodyPr wrap="square"/>
                    <a:lstStyle/>
                    <a:p>
                      <a:r>
                        <a:rPr sz="900" b="0">
                          <a:solidFill>
                            <a:srgbClr val="D5D5D5"/>
                          </a:solidFill>
                          <a:latin typeface="Calibri"/>
                        </a:rPr>
                        <a:t>Operational support model, runbook ownership and se…</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10896">
                <a:tc>
                  <a:txBody>
                    <a:bodyPr wrap="square"/>
                    <a:lstStyle/>
                    <a:p>
                      <a:r>
                        <a:rPr sz="900" b="1">
                          <a:solidFill>
                            <a:srgbClr val="FFFFFF"/>
                          </a:solidFill>
                          <a:latin typeface="Calibri"/>
                        </a:rPr>
                        <a:t>D7-17</a:t>
                      </a:r>
                    </a:p>
                  </a:txBody>
                  <a:tcPr marL="63500" marR="63500" marT="25400" marB="25400" anchor="ctr">
                    <a:solidFill>
                      <a:srgbClr val="14161C"/>
                    </a:solidFill>
                  </a:tcPr>
                </a:tc>
                <a:tc>
                  <a:txBody>
                    <a:bodyPr wrap="square"/>
                    <a:lstStyle/>
                    <a:p>
                      <a:r>
                        <a:rPr sz="900" b="0">
                          <a:solidFill>
                            <a:srgbClr val="D5D5D5"/>
                          </a:solidFill>
                          <a:latin typeface="Calibri"/>
                        </a:rPr>
                        <a:t>Incident management and AI-specific incident classi…</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10896">
                <a:tc>
                  <a:txBody>
                    <a:bodyPr wrap="square"/>
                    <a:lstStyle/>
                    <a:p>
                      <a:r>
                        <a:rPr sz="900" b="1">
                          <a:solidFill>
                            <a:srgbClr val="FFFFFF"/>
                          </a:solidFill>
                          <a:latin typeface="Calibri"/>
                        </a:rPr>
                        <a:t>D7-18</a:t>
                      </a:r>
                    </a:p>
                  </a:txBody>
                  <a:tcPr marL="63500" marR="63500" marT="25400" marB="25400" anchor="ctr">
                    <a:solidFill>
                      <a:srgbClr val="1E222B"/>
                    </a:solidFill>
                  </a:tcPr>
                </a:tc>
                <a:tc>
                  <a:txBody>
                    <a:bodyPr wrap="square"/>
                    <a:lstStyle/>
                    <a:p>
                      <a:r>
                        <a:rPr sz="900" b="0">
                          <a:solidFill>
                            <a:srgbClr val="D5D5D5"/>
                          </a:solidFill>
                          <a:latin typeface="Calibri"/>
                        </a:rPr>
                        <a:t>Disaster recovery, business continuity, RPO/RTO</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7" sz="quarter"/>
          </p:nvPr>
        </p:nvSpPr>
        <p:spPr/>
        <p:txBody>
          <a:bodyPr/>
          <a:lstStyle/>
          <a:p/>
        </p:txBody>
      </p:sp>
      <p:sp>
        <p:nvSpPr>
          <p:cNvPr id="3" name="Text Placeholder 2"/>
          <p:cNvSpPr>
            <a:spLocks noGrp="1"/>
          </p:cNvSpPr>
          <p:nvPr>
            <p:ph type="body" idx="13" sz="quarter"/>
          </p:nvPr>
        </p:nvSpPr>
        <p:spPr/>
        <p:txBody>
          <a:bodyPr/>
          <a:lstStyle/>
          <a:p/>
        </p:txBody>
      </p:sp>
      <p:sp>
        <p:nvSpPr>
          <p:cNvPr id="4" name="TextBox 3"/>
          <p:cNvSpPr txBox="1"/>
          <p:nvPr/>
        </p:nvSpPr>
        <p:spPr>
          <a:xfrm>
            <a:off x="822960" y="3840480"/>
            <a:ext cx="10515600" cy="914400"/>
          </a:xfrm>
          <a:prstGeom prst="rect">
            <a:avLst/>
          </a:prstGeom>
          <a:noFill/>
        </p:spPr>
        <p:txBody>
          <a:bodyPr wrap="square" anchor="t" lIns="0" rIns="0" tIns="0" bIns="0">
            <a:spAutoFit/>
          </a:bodyPr>
          <a:lstStyle/>
          <a:p>
            <a:pPr algn="l"/>
            <a:r>
              <a:rPr sz="1800" b="0" i="0">
                <a:solidFill>
                  <a:srgbClr val="D5D5D5"/>
                </a:solidFill>
                <a:latin typeface="Calibri"/>
              </a:rPr>
              <a:t>Observed (Langfuse + Azure) · typed failures · gated releases · evaluated AI · DR-ready</a:t>
            </a:r>
          </a:p>
        </p:txBody>
      </p:sp>
    </p:spTree>
  </p:cSld>
  <p:clrMapOvr>
    <a:masterClrMapping/>
  </p:clrMapOvr>
</p:sld>
</file>

<file path=ppt/theme/theme1.xml><?xml version="1.0" encoding="utf-8"?>
<a:theme xmlns:a="http://schemas.openxmlformats.org/drawingml/2006/main" name="Orion Innovation 2026 Q2">
  <a:themeElements>
    <a:clrScheme name="Custom 1">
      <a:dk1>
        <a:srgbClr val="000000"/>
      </a:dk1>
      <a:lt1>
        <a:srgbClr val="FFFFFF"/>
      </a:lt1>
      <a:dk2>
        <a:srgbClr val="0283FF"/>
      </a:dk2>
      <a:lt2>
        <a:srgbClr val="D5D5D5"/>
      </a:lt2>
      <a:accent1>
        <a:srgbClr val="2ACCFF"/>
      </a:accent1>
      <a:accent2>
        <a:srgbClr val="7F19BE"/>
      </a:accent2>
      <a:accent3>
        <a:srgbClr val="FE2579"/>
      </a:accent3>
      <a:accent4>
        <a:srgbClr val="5300DB"/>
      </a:accent4>
      <a:accent5>
        <a:srgbClr val="FED038"/>
      </a:accent5>
      <a:accent6>
        <a:srgbClr val="48E84A"/>
      </a:accent6>
      <a:hlink>
        <a:srgbClr val="0084FF"/>
      </a:hlink>
      <a:folHlink>
        <a:srgbClr val="3EC4E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CE3E8"/>
        </a:solidFill>
        <a:ln>
          <a:noFill/>
          <a:tailEnd type="none"/>
        </a:ln>
      </a:spPr>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defPPr algn="l">
          <a:lnSpc>
            <a:spcPct val="110000"/>
          </a:lnSpc>
          <a:defRPr sz="1000" b="1" dirty="0" smtClean="0">
            <a:solidFill>
              <a:schemeClr val="tx1"/>
            </a:solidFill>
            <a:effectLst/>
          </a:defRPr>
        </a:defPPr>
      </a:lstStyle>
      <a:style>
        <a:lnRef idx="1">
          <a:schemeClr val="accent1"/>
        </a:lnRef>
        <a:fillRef idx="0">
          <a:schemeClr val="accent1"/>
        </a:fillRef>
        <a:effectRef idx="0">
          <a:schemeClr val="accent1"/>
        </a:effectRef>
        <a:fontRef idx="minor">
          <a:schemeClr val="tx1"/>
        </a:fontRef>
      </a:style>
    </a:spDef>
    <a:lnDef>
      <a:spPr>
        <a:ln>
          <a:solidFill>
            <a:schemeClr val="tx2"/>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none" lIns="36000" tIns="36000" rIns="36000" bIns="36000" rtlCol="0">
        <a:spAutoFit/>
      </a:bodyPr>
      <a:lstStyle>
        <a:defPPr marL="183600" indent="-183600" algn="l">
          <a:lnSpc>
            <a:spcPct val="110000"/>
          </a:lnSpc>
          <a:spcBef>
            <a:spcPts val="400"/>
          </a:spcBef>
          <a:spcAft>
            <a:spcPts val="400"/>
          </a:spcAft>
          <a:buClr>
            <a:schemeClr val="bg2"/>
          </a:buClr>
          <a:buFont typeface="Arial" panose="020B0604020202020204" pitchFamily="34" charset="0"/>
          <a:buChar char="•"/>
          <a:defRPr sz="1200" dirty="0"/>
        </a:defPPr>
      </a:lstStyle>
    </a:txDef>
  </a:objectDefaults>
  <a:extraClrSchemeLst/>
  <a:extLst>
    <a:ext uri="{05A4C25C-085E-4340-85A3-A5531E510DB2}">
      <thm15:themeFamily xmlns:thm15="http://schemas.microsoft.com/office/thememl/2012/main" name="Orion Innovation 2025" id="{199926F3-F314-1646-84C3-A3441F686DB8}" vid="{DEFB32A1-EE74-C24D-8093-ED971E6474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5d1f120-0a15-4527-b7f6-5161c5c2159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2D5FE873E29E64DB56982258F3E0522" ma:contentTypeVersion="12" ma:contentTypeDescription="Create a new document." ma:contentTypeScope="" ma:versionID="e73da9dc670ce61c4b27620f5ceecb8f">
  <xsd:schema xmlns:xsd="http://www.w3.org/2001/XMLSchema" xmlns:xs="http://www.w3.org/2001/XMLSchema" xmlns:p="http://schemas.microsoft.com/office/2006/metadata/properties" xmlns:ns3="15d1f120-0a15-4527-b7f6-5161c5c21597" targetNamespace="http://schemas.microsoft.com/office/2006/metadata/properties" ma:root="true" ma:fieldsID="1fcf99ee2c82c01c26ba439bc53d9385" ns3:_="">
    <xsd:import namespace="15d1f120-0a15-4527-b7f6-5161c5c21597"/>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BillingMetadata"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1f120-0a15-4527-b7f6-5161c5c2159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830519-BCC5-47D9-B3C0-0E48D727637D}">
  <ds:schemaRefs>
    <ds:schemaRef ds:uri="15d1f120-0a15-4527-b7f6-5161c5c2159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1928388-827E-417D-A9EC-1E4398CC2B14}">
  <ds:schemaRefs>
    <ds:schemaRef ds:uri="http://schemas.microsoft.com/sharepoint/v3/contenttype/forms"/>
  </ds:schemaRefs>
</ds:datastoreItem>
</file>

<file path=customXml/itemProps3.xml><?xml version="1.0" encoding="utf-8"?>
<ds:datastoreItem xmlns:ds="http://schemas.openxmlformats.org/officeDocument/2006/customXml" ds:itemID="{0EE53047-0C68-4513-BD90-36FFCA7892BD}">
  <ds:schemaRefs>
    <ds:schemaRef ds:uri="15d1f120-0a15-4527-b7f6-5161c5c2159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20</Slides>
  <Notes>11</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Orion Innovation 2026 Q2</vt:lpstr>
      <vt:lpstr>PowerPoint Presentation</vt:lpstr>
      <vt:lpstr>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Colour Palette as per Orion Guidelines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Colour Palette as per Orion Guidelines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Sankarankutty Menon</dc:creator>
  <cp:revision>4</cp:revision>
  <dcterms:created xsi:type="dcterms:W3CDTF">2026-01-20T15:10:32Z</dcterms:created>
  <dcterms:modified xsi:type="dcterms:W3CDTF">2026-09-08T07:55:53Z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0x01010042D5FE873E29E64DB56982258F3E0522</vt:lpwstr>
  </property>
</Properties>
</file>