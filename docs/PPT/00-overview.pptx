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ite Background" id="{47C7D9A1-B483-564F-90DC-40E90FE94FBA}">
          <p14:sldIdLst>
            <p14:sldId id="2076137493"/>
            <p14:sldId id="2076137508"/>
            <p14:sldId id="2076137510"/>
            <p14:sldId id="2076137509"/>
            <p14:sldId id="2076137498"/>
            <p14:sldId id="2076137499"/>
            <p14:sldId id="2076137504"/>
            <p14:sldId id="2076137506"/>
            <p14:sldId id="2076137492"/>
            <p14:sldId id="283"/>
            <p14:sldId id="2076137502"/>
          </p14:sldIdLst>
        </p14:section>
        <p14:section name="Black Background" id="{AE4A25D3-49D7-5B43-9FF8-BA2C3021CF5C}">
          <p14:sldIdLst>
            <p14:sldId id="2076137497"/>
            <p14:sldId id="2076137494"/>
            <p14:sldId id="2076137500"/>
            <p14:sldId id="2076137501"/>
            <p14:sldId id="2076137505"/>
            <p14:sldId id="2076137507"/>
            <p14:sldId id="2076137489"/>
            <p14:sldId id="274"/>
            <p14:sldId id="20761375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E84A"/>
    <a:srgbClr val="FED038"/>
    <a:srgbClr val="FE2579"/>
    <a:srgbClr val="5300DB"/>
    <a:srgbClr val="7F19BE"/>
    <a:srgbClr val="2ACCFF"/>
    <a:srgbClr val="0283FF"/>
    <a:srgbClr val="002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84E6FB-0852-E5AF-097D-33BDB00319C8}" v="12" dt="2026-08-21T18:56:47.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A76EA5-AA01-CF46-9942-B3D248EF91A4}"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67986-05CD-0948-B842-65071D871968}" type="slidenum">
              <a:rPr lang="en-US" smtClean="0"/>
              <a:t>‹#›</a:t>
            </a:fld>
            <a:endParaRPr lang="en-US"/>
          </a:p>
        </p:txBody>
      </p:sp>
    </p:spTree>
    <p:extLst>
      <p:ext uri="{BB962C8B-B14F-4D97-AF65-F5344CB8AC3E}">
        <p14:creationId xmlns:p14="http://schemas.microsoft.com/office/powerpoint/2010/main" val="925294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the technical walkthrough of the PFF-FA Enterprise Agentic AI platform — Adam AI — for ARB. This overview deck frames the whole system; nine further decks go deep by domain (business, application, AI, information, technology, security, operations, cost, and the open decisions we need you to sign 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deck is short on the slide and deep in the speaker notes so the discussion stays live. All 145 ADRs and 29 specification documents are covered across the suite.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an orchestration layer, not a rewrite. PFF remains the system of record. Adam adds interpretation, context-gathering, reasoning, controlled tool-calling and communication. WGS is the national football database we integrate with.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 is repeated in every spec doc and is the single most important architectural constraint. Everything downstream — guardrails, ERC, truth precedence, masking — enforces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sources disagree, the higher one wins — no exceptions. The SLM generates language but is the lowest-trust source; it never overrides enterprise truth, ERC, cache or RAG.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 path: Chat UI → APIM (the authZ boundary) → thin FastAPI → Supervisor (intent) → LangGraph. Inside one runtime, agents are logical capabilities orchestrated by the Agent Harness, using ERC, Tools/MCP, RAG, Memory/Cache and the SLM. Enterprise APIs/events are the system of record. Guardrails run at every boundary; output is validated before it reaches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never conflated in code. Conflation is a classic source of security and correctness bugs in agentic systems, so we separate them as first-class concepts.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resist scope creep at the architecture level: prove the platform end-to-end on affiliation, then extend. Immutable versioned bundles mean no in-place production mutation.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Python/FastAPI + LangGraph on Azure/AKS. SLM starts on Hugging Face Inference API and targets self-hosted vLLM on GPU. Azure AI Search for vectors, Managed Redis for state/cache, Service Bus for async eventing, APIM as the authZ boundary, Key Vault (SPN-only) for secrets, Langfuse for AI observability. Full detail and the cost of each is in decks 05 and 08.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ADRs across nine decision domains. Most are Accepted; five remain Proposed with a stated recommendation we are building against — those are what we need the ARB to ratify (deck 09).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is presented per technology in deck 08 with drivers, formula and Low/Expected/High monthly scenarios. Every figure is an indicative public list price, dated and region-stamped, to be confirmed by FinOps — pricing is never hard-coded in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asks: (1) note and challenge the architecture across the domain decks; (2) ratify the five Proposed decisions in deck 09; (3) endorse the cost model and budget-control approach in deck 08.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s://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4.png"/><Relationship Id="rId9" Type="http://schemas.openxmlformats.org/officeDocument/2006/relationships/image" Target="../media/image5.jpeg"/><Relationship Id="rId10" Type="http://schemas.openxmlformats.org/officeDocument/2006/relationships/image" Target="../media/image6.png"/><Relationship Id="rId11"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8.png"/><Relationship Id="rId9" Type="http://schemas.microsoft.com/office/2007/relationships/hdphoto" Target="../media/hdphoto1.wdp"/><Relationship Id="rId10" Type="http://schemas.openxmlformats.org/officeDocument/2006/relationships/image" Target="../media/image9.png"/><Relationship Id="rId11" Type="http://schemas.microsoft.com/office/2007/relationships/hdphoto" Target="../media/hdphoto2.wdp"/><Relationship Id="rId12" Type="http://schemas.openxmlformats.org/officeDocument/2006/relationships/image" Target="../media/image10.png"/><Relationship Id="rId13"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 Tidal - White">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0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Add a Title</a:t>
            </a:r>
            <a:endParaRPr lang="en-IN"/>
          </a:p>
        </p:txBody>
      </p:sp>
      <p:sp>
        <p:nvSpPr>
          <p:cNvPr id="13" name="Text Placeholder 16">
            <a:extLst>
              <a:ext uri="{FF2B5EF4-FFF2-40B4-BE49-F238E27FC236}">
                <a16:creationId xmlns:a16="http://schemas.microsoft.com/office/drawing/2014/main" id="{4D0F44B2-EB53-2D96-6B6F-D4A30D67762B}"/>
              </a:ext>
            </a:extLst>
          </p:cNvPr>
          <p:cNvSpPr>
            <a:spLocks noGrp="1"/>
          </p:cNvSpPr>
          <p:nvPr>
            <p:ph type="body" sz="quarter" idx="11" hasCustomPrompt="1"/>
          </p:nvPr>
        </p:nvSpPr>
        <p:spPr>
          <a:xfrm>
            <a:off x="640079" y="6035040"/>
            <a:ext cx="6400800" cy="182880"/>
          </a:xfrm>
          <a:prstGeom prst="rect">
            <a:avLst/>
          </a:prstGeom>
        </p:spPr>
        <p:txBody>
          <a:bodyPr lIns="0">
            <a:noAutofit/>
          </a:bodyPr>
          <a:lstStyle>
            <a:lvl1pPr marL="0" indent="0">
              <a:buNone/>
              <a:defRPr sz="1000" spc="200" baseline="0">
                <a:solidFill>
                  <a:schemeClr val="tx1"/>
                </a:solidFill>
              </a:defRPr>
            </a:lvl1pPr>
          </a:lstStyle>
          <a:p>
            <a:pPr lvl="0"/>
            <a:r>
              <a:rPr lang="en-US"/>
              <a:t>OPTIONAL TEXT</a:t>
            </a:r>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Tree>
    <p:extLst>
      <p:ext uri="{BB962C8B-B14F-4D97-AF65-F5344CB8AC3E}">
        <p14:creationId xmlns:p14="http://schemas.microsoft.com/office/powerpoint/2010/main" val="319418299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Tidal - Black">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5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Click to add a Title</a:t>
            </a:r>
            <a:endParaRPr lang="en-IN"/>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2" name="Text Placeholder 16">
            <a:extLst>
              <a:ext uri="{FF2B5EF4-FFF2-40B4-BE49-F238E27FC236}">
                <a16:creationId xmlns:a16="http://schemas.microsoft.com/office/drawing/2014/main" id="{8C412269-B983-3073-A130-4CC9F5C2596A}"/>
              </a:ext>
            </a:extLst>
          </p:cNvPr>
          <p:cNvSpPr>
            <a:spLocks noGrp="1"/>
          </p:cNvSpPr>
          <p:nvPr>
            <p:ph type="body" sz="quarter" idx="12" hasCustomPrompt="1"/>
          </p:nvPr>
        </p:nvSpPr>
        <p:spPr>
          <a:xfrm>
            <a:off x="640080" y="5900570"/>
            <a:ext cx="6400800" cy="182880"/>
          </a:xfrm>
          <a:prstGeom prst="rect">
            <a:avLst/>
          </a:prstGeom>
        </p:spPr>
        <p:txBody>
          <a:bodyPr lIns="27432">
            <a:noAutofit/>
          </a:bodyPr>
          <a:lstStyle>
            <a:lvl1pPr marL="0" indent="0">
              <a:buNone/>
              <a:defRPr sz="1000" spc="200" baseline="0">
                <a:solidFill>
                  <a:schemeClr val="tx1"/>
                </a:solidFill>
              </a:defRPr>
            </a:lvl1pPr>
          </a:lstStyle>
          <a:p>
            <a:pPr lvl="0"/>
            <a:r>
              <a:rPr lang="en-US"/>
              <a:t>OPTIONAL TEXT</a:t>
            </a:r>
          </a:p>
        </p:txBody>
      </p:sp>
    </p:spTree>
    <p:extLst>
      <p:ext uri="{BB962C8B-B14F-4D97-AF65-F5344CB8AC3E}">
        <p14:creationId xmlns:p14="http://schemas.microsoft.com/office/powerpoint/2010/main" val="131269569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140810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268557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Black">
    <p:bg>
      <p:bgPr>
        <a:solidFill>
          <a:schemeClr val="tx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6" name="Text Placeholder 2">
            <a:extLst>
              <a:ext uri="{FF2B5EF4-FFF2-40B4-BE49-F238E27FC236}">
                <a16:creationId xmlns:a16="http://schemas.microsoft.com/office/drawing/2014/main" id="{7C1DFA83-DBBD-89EB-FC7F-E419D6F84B4C}"/>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bg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12" name="Group 11">
            <a:extLst>
              <a:ext uri="{FF2B5EF4-FFF2-40B4-BE49-F238E27FC236}">
                <a16:creationId xmlns:a16="http://schemas.microsoft.com/office/drawing/2014/main" id="{7FA077B6-9EEE-CC1F-D5C2-1F9522043CD9}"/>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13" name="Parallelogram 12">
              <a:extLst>
                <a:ext uri="{FF2B5EF4-FFF2-40B4-BE49-F238E27FC236}">
                  <a16:creationId xmlns:a16="http://schemas.microsoft.com/office/drawing/2014/main" id="{9C1D0426-FBF4-DE00-E02C-8D5F2C15D38D}"/>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Block Arc 13">
              <a:extLst>
                <a:ext uri="{FF2B5EF4-FFF2-40B4-BE49-F238E27FC236}">
                  <a16:creationId xmlns:a16="http://schemas.microsoft.com/office/drawing/2014/main" id="{7C2D95B7-4DFD-C1E7-A6C5-3801A98784F4}"/>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9268492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White">
    <p:bg>
      <p:bgPr>
        <a:solidFill>
          <a:schemeClr val="bg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2">
            <a:extLst>
              <a:ext uri="{FF2B5EF4-FFF2-40B4-BE49-F238E27FC236}">
                <a16:creationId xmlns:a16="http://schemas.microsoft.com/office/drawing/2014/main" id="{CD46454F-EC71-48E1-5357-FB89F2DE283E}"/>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tx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4" name="Group 3">
            <a:extLst>
              <a:ext uri="{FF2B5EF4-FFF2-40B4-BE49-F238E27FC236}">
                <a16:creationId xmlns:a16="http://schemas.microsoft.com/office/drawing/2014/main" id="{5B8EA5A1-39EA-85B7-EDAD-977AF9E75BD1}"/>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5" name="Parallelogram 4">
              <a:extLst>
                <a:ext uri="{FF2B5EF4-FFF2-40B4-BE49-F238E27FC236}">
                  <a16:creationId xmlns:a16="http://schemas.microsoft.com/office/drawing/2014/main" id="{797DAAA4-D1BF-74F7-EDCE-BCC5787E0C3A}"/>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A59C8600-5483-3E2A-648E-BC4B97D127A5}"/>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7686413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Wide - Black (Title Only)">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3026566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Wide - White (Title Only)">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spc="0" baseline="0">
                <a:gradFill>
                  <a:gsLst>
                    <a:gs pos="51000">
                      <a:srgbClr val="7E18BE"/>
                    </a:gs>
                    <a:gs pos="0">
                      <a:schemeClr val="tx2"/>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159740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d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748087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2 Lin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1131753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d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3661987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2 Lin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5986300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inal Slide - White">
    <p:bg>
      <p:bgPr>
        <a:solidFill>
          <a:schemeClr val="bg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hasCustomPrompt="1"/>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tx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Global Headquarters</a:t>
            </a:r>
          </a:p>
          <a:p>
            <a:pPr lvl="0"/>
            <a:r>
              <a:rPr lang="en-US"/>
              <a:t>33 S Wood Ave., 5th Floor</a:t>
            </a:r>
          </a:p>
          <a:p>
            <a:pPr lvl="0"/>
            <a:r>
              <a:rPr lang="en-US"/>
              <a:t>Iselin, NJ 08830</a:t>
            </a:r>
            <a:br>
              <a:rPr lang="en-US"/>
            </a:br>
            <a:r>
              <a:rPr lang="en-US"/>
              <a:t>+1.877.456.9922</a:t>
            </a:r>
            <a:br>
              <a:rPr lang="en-US"/>
            </a:br>
            <a:r>
              <a:rPr lang="en-US" err="1"/>
              <a:t>info@orioninc.com</a:t>
            </a:r>
            <a:r>
              <a:rPr lang="en-US"/>
              <a:t> </a:t>
            </a:r>
          </a:p>
          <a:p>
            <a:pPr lvl="0"/>
            <a:endParaRPr lang="en-US"/>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lum bright="-100000"/>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5" name="TextBox 14">
            <a:extLst>
              <a:ext uri="{FF2B5EF4-FFF2-40B4-BE49-F238E27FC236}">
                <a16:creationId xmlns:a16="http://schemas.microsoft.com/office/drawing/2014/main" id="{2DBC412D-3E01-BD56-691E-4CD8C776D62C}"/>
              </a:ext>
            </a:extLst>
          </p:cNvPr>
          <p:cNvSpPr txBox="1"/>
          <p:nvPr/>
        </p:nvSpPr>
        <p:spPr>
          <a:xfrm>
            <a:off x="8926692" y="4623358"/>
            <a:ext cx="2796879" cy="1292662"/>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rgbClr val="000000"/>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rgbClr val="000000"/>
              </a:solidFill>
              <a:effectLst/>
              <a:uLnTx/>
              <a:uFillTx/>
              <a:latin typeface="Arial"/>
              <a:ea typeface="+mn-ea"/>
              <a:cs typeface="Arial"/>
            </a:endParaRPr>
          </a:p>
        </p:txBody>
      </p:sp>
      <p:pic>
        <p:nvPicPr>
          <p:cNvPr id="16" name="Picture 15" descr="Linkedin logo png, Linkedin icon transparent png 18930480 PNG">
            <a:extLst>
              <a:ext uri="{FF2B5EF4-FFF2-40B4-BE49-F238E27FC236}">
                <a16:creationId xmlns:a16="http://schemas.microsoft.com/office/drawing/2014/main" id="{14DEBB42-E32D-1F80-C7F6-EB28422002BC}"/>
              </a:ext>
            </a:extLst>
          </p:cNvPr>
          <p:cNvPicPr>
            <a:picLocks noChangeAspect="1"/>
          </p:cNvPicPr>
          <p:nvPr/>
        </p:nvPicPr>
        <p:blipFill>
          <a:blip r:embed="rId8"/>
          <a:stretch>
            <a:fillRect/>
          </a:stretch>
        </p:blipFill>
        <p:spPr>
          <a:xfrm>
            <a:off x="8684277" y="4944986"/>
            <a:ext cx="329423" cy="329423"/>
          </a:xfrm>
          <a:prstGeom prst="rect">
            <a:avLst/>
          </a:prstGeom>
        </p:spPr>
      </p:pic>
      <p:pic>
        <p:nvPicPr>
          <p:cNvPr id="3" name="Picture 2" descr="Instagram logo Images - Free Download ...">
            <a:extLst>
              <a:ext uri="{FF2B5EF4-FFF2-40B4-BE49-F238E27FC236}">
                <a16:creationId xmlns:a16="http://schemas.microsoft.com/office/drawing/2014/main" id="{9A4352E7-DD4C-74A0-2D68-B71A8ECA8445}"/>
              </a:ext>
            </a:extLst>
          </p:cNvPr>
          <p:cNvPicPr>
            <a:picLocks noChangeAspect="1"/>
          </p:cNvPicPr>
          <p:nvPr userDrawn="1"/>
        </p:nvPicPr>
        <p:blipFill>
          <a:blip r:embed="rId9"/>
          <a:srcRect l="11245" t="11067" r="11955" b="11067"/>
          <a:stretch>
            <a:fillRect/>
          </a:stretch>
        </p:blipFill>
        <p:spPr>
          <a:xfrm>
            <a:off x="8756587" y="5353892"/>
            <a:ext cx="184801" cy="187368"/>
          </a:xfrm>
          <a:prstGeom prst="roundRect">
            <a:avLst>
              <a:gd name="adj" fmla="val 18770"/>
            </a:avLst>
          </a:prstGeom>
        </p:spPr>
      </p:pic>
      <p:pic>
        <p:nvPicPr>
          <p:cNvPr id="10" name="Picture 9" descr="Website - Free web icons">
            <a:extLst>
              <a:ext uri="{FF2B5EF4-FFF2-40B4-BE49-F238E27FC236}">
                <a16:creationId xmlns:a16="http://schemas.microsoft.com/office/drawing/2014/main" id="{2A984760-D481-2F3B-8818-5A11592F296E}"/>
              </a:ext>
            </a:extLst>
          </p:cNvPr>
          <p:cNvPicPr>
            <a:picLocks noChangeAspect="1"/>
          </p:cNvPicPr>
          <p:nvPr userDrawn="1"/>
        </p:nvPicPr>
        <p:blipFill>
          <a:blip r:embed="rId10"/>
          <a:stretch>
            <a:fillRect/>
          </a:stretch>
        </p:blipFill>
        <p:spPr>
          <a:xfrm>
            <a:off x="8739068" y="4664454"/>
            <a:ext cx="218665" cy="218665"/>
          </a:xfrm>
          <a:prstGeom prst="rect">
            <a:avLst/>
          </a:prstGeom>
        </p:spPr>
      </p:pic>
      <p:pic>
        <p:nvPicPr>
          <p:cNvPr id="11" name="Picture 10" descr="File:X icon.svg - Wikimedia Commons">
            <a:extLst>
              <a:ext uri="{FF2B5EF4-FFF2-40B4-BE49-F238E27FC236}">
                <a16:creationId xmlns:a16="http://schemas.microsoft.com/office/drawing/2014/main" id="{786E8E88-AA37-E300-8278-7A04F6116236}"/>
              </a:ext>
            </a:extLst>
          </p:cNvPr>
          <p:cNvPicPr>
            <a:picLocks noChangeAspect="1"/>
          </p:cNvPicPr>
          <p:nvPr userDrawn="1"/>
        </p:nvPicPr>
        <p:blipFill>
          <a:blip r:embed="rId11"/>
          <a:stretch>
            <a:fillRect/>
          </a:stretch>
        </p:blipFill>
        <p:spPr>
          <a:xfrm>
            <a:off x="8746067" y="5669649"/>
            <a:ext cx="199055" cy="199055"/>
          </a:xfrm>
          <a:prstGeom prst="rect">
            <a:avLst/>
          </a:prstGeom>
        </p:spPr>
      </p:pic>
    </p:spTree>
    <p:extLst>
      <p:ext uri="{BB962C8B-B14F-4D97-AF65-F5344CB8AC3E}">
        <p14:creationId xmlns:p14="http://schemas.microsoft.com/office/powerpoint/2010/main" val="1645800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Final Slide - Black">
    <p:bg>
      <p:bgPr>
        <a:solidFill>
          <a:schemeClr val="tx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bg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Click to edit Master text styles</a:t>
            </a:r>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9" name="TextBox 18">
            <a:extLst>
              <a:ext uri="{FF2B5EF4-FFF2-40B4-BE49-F238E27FC236}">
                <a16:creationId xmlns:a16="http://schemas.microsoft.com/office/drawing/2014/main" id="{7F5E76D2-F382-0592-682D-F58FCBC6BA5D}"/>
              </a:ext>
            </a:extLst>
          </p:cNvPr>
          <p:cNvSpPr txBox="1"/>
          <p:nvPr/>
        </p:nvSpPr>
        <p:spPr>
          <a:xfrm>
            <a:off x="8926692" y="4623358"/>
            <a:ext cx="2796879" cy="1323439"/>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chemeClr val="bg1"/>
              </a:solidFill>
              <a:effectLst/>
              <a:uLnTx/>
              <a:uFillTx/>
              <a:latin typeface="Arial"/>
              <a:ea typeface="+mn-ea"/>
              <a:cs typeface="Arial"/>
            </a:endParaRPr>
          </a:p>
        </p:txBody>
      </p:sp>
      <p:pic>
        <p:nvPicPr>
          <p:cNvPr id="23" name="Picture 22" descr="Website - Free web icons">
            <a:extLst>
              <a:ext uri="{FF2B5EF4-FFF2-40B4-BE49-F238E27FC236}">
                <a16:creationId xmlns:a16="http://schemas.microsoft.com/office/drawing/2014/main" id="{85DF9A9A-C543-35B7-2ED8-38EFD74BA7F3}"/>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100000"/>
                    </a14:imgEffect>
                  </a14:imgLayer>
                </a14:imgProps>
              </a:ext>
            </a:extLst>
          </a:blip>
          <a:stretch>
            <a:fillRect/>
          </a:stretch>
        </p:blipFill>
        <p:spPr>
          <a:xfrm>
            <a:off x="8738298" y="4664454"/>
            <a:ext cx="218665" cy="218665"/>
          </a:xfrm>
          <a:prstGeom prst="rect">
            <a:avLst/>
          </a:prstGeom>
        </p:spPr>
      </p:pic>
      <p:pic>
        <p:nvPicPr>
          <p:cNvPr id="24" name="Picture 23" descr="Linkedin - Free social media icons">
            <a:extLst>
              <a:ext uri="{FF2B5EF4-FFF2-40B4-BE49-F238E27FC236}">
                <a16:creationId xmlns:a16="http://schemas.microsoft.com/office/drawing/2014/main" id="{24F6F54C-527F-C0A6-28CD-314A2DB89878}"/>
              </a:ext>
            </a:extLst>
          </p:cNvPr>
          <p:cNvPicPr>
            <a:picLocks noChangeAspect="1"/>
          </p:cNvPicPr>
          <p:nvPr userDrawn="1"/>
        </p:nvPicPr>
        <p:blipFill>
          <a:blip r:embed="rId10">
            <a:extLst>
              <a:ext uri="{BEBA8EAE-BF5A-486C-A8C5-ECC9F3942E4B}">
                <a14:imgProps xmlns:a14="http://schemas.microsoft.com/office/drawing/2010/main">
                  <a14:imgLayer r:embed="rId11">
                    <a14:imgEffect>
                      <a14:brightnessContrast bright="100000"/>
                    </a14:imgEffect>
                  </a14:imgLayer>
                </a14:imgProps>
              </a:ext>
            </a:extLst>
          </a:blip>
          <a:stretch>
            <a:fillRect/>
          </a:stretch>
        </p:blipFill>
        <p:spPr>
          <a:xfrm>
            <a:off x="8749162" y="5005792"/>
            <a:ext cx="196936" cy="196936"/>
          </a:xfrm>
          <a:prstGeom prst="rect">
            <a:avLst/>
          </a:prstGeom>
        </p:spPr>
      </p:pic>
      <p:pic>
        <p:nvPicPr>
          <p:cNvPr id="25" name="Picture 24" descr="File:CIS-A2K Instagram Icon (Black).svg - Wikimedia Commons">
            <a:extLst>
              <a:ext uri="{FF2B5EF4-FFF2-40B4-BE49-F238E27FC236}">
                <a16:creationId xmlns:a16="http://schemas.microsoft.com/office/drawing/2014/main" id="{F380B0D0-4207-59F4-E678-A11C01D791D8}"/>
              </a:ext>
            </a:extLst>
          </p:cNvPr>
          <p:cNvPicPr>
            <a:picLocks noChangeAspect="1"/>
          </p:cNvPicPr>
          <p:nvPr userDrawn="1"/>
        </p:nvPicPr>
        <p:blipFill>
          <a:blip r:embed="rId12"/>
          <a:stretch>
            <a:fillRect/>
          </a:stretch>
        </p:blipFill>
        <p:spPr>
          <a:xfrm>
            <a:off x="8701083" y="5299211"/>
            <a:ext cx="293095" cy="293095"/>
          </a:xfrm>
          <a:prstGeom prst="rect">
            <a:avLst/>
          </a:prstGeom>
        </p:spPr>
      </p:pic>
      <p:pic>
        <p:nvPicPr>
          <p:cNvPr id="27" name="Picture 26" descr="Twitter x logo Images - Free Download on Freepik">
            <a:extLst>
              <a:ext uri="{FF2B5EF4-FFF2-40B4-BE49-F238E27FC236}">
                <a16:creationId xmlns:a16="http://schemas.microsoft.com/office/drawing/2014/main" id="{FBF43D94-D6E7-9636-C843-CE31B068483E}"/>
              </a:ext>
            </a:extLst>
          </p:cNvPr>
          <p:cNvPicPr>
            <a:picLocks noChangeAspect="1"/>
          </p:cNvPicPr>
          <p:nvPr userDrawn="1"/>
        </p:nvPicPr>
        <p:blipFill>
          <a:blip r:embed="rId13"/>
          <a:srcRect l="17325" t="17471" r="17848" b="17556"/>
          <a:stretch>
            <a:fillRect/>
          </a:stretch>
        </p:blipFill>
        <p:spPr>
          <a:xfrm>
            <a:off x="8759682" y="5686874"/>
            <a:ext cx="175897" cy="176294"/>
          </a:xfrm>
          <a:prstGeom prst="ellipse">
            <a:avLst/>
          </a:prstGeom>
          <a:ln w="3175">
            <a:solidFill>
              <a:schemeClr val="bg2"/>
            </a:solidFill>
          </a:ln>
        </p:spPr>
      </p:pic>
    </p:spTree>
    <p:extLst>
      <p:ext uri="{BB962C8B-B14F-4D97-AF65-F5344CB8AC3E}">
        <p14:creationId xmlns:p14="http://schemas.microsoft.com/office/powerpoint/2010/main" val="12818313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71F5A975-01B0-1E45-A56B-C68FA2410A50}"/>
              </a:ext>
            </a:extLst>
          </p:cNvPr>
          <p:cNvSpPr>
            <a:spLocks noGrp="1"/>
          </p:cNvSpPr>
          <p:nvPr>
            <p:ph type="ftr" sz="quarter" idx="3"/>
          </p:nvPr>
        </p:nvSpPr>
        <p:spPr>
          <a:xfrm>
            <a:off x="609600" y="6413499"/>
            <a:ext cx="4114800" cy="208585"/>
          </a:xfrm>
          <a:prstGeom prst="rect">
            <a:avLst/>
          </a:prstGeom>
        </p:spPr>
        <p:txBody>
          <a:bodyPr vert="horz" lIns="0" tIns="0" rIns="0" bIns="0" rtlCol="0" anchor="b">
            <a:noAutofit/>
          </a:bodyPr>
          <a:lstStyle>
            <a:lvl1pPr algn="l">
              <a:defRPr sz="700" b="0" i="0">
                <a:solidFill>
                  <a:schemeClr val="tx1">
                    <a:tint val="75000"/>
                  </a:schemeClr>
                </a:solidFill>
                <a:latin typeface="Arial" panose="020B0604020202020204" pitchFamily="34" charset="0"/>
                <a:cs typeface="Arial" panose="020B0604020202020204" pitchFamily="34" charset="0"/>
              </a:defRPr>
            </a:lvl1pPr>
          </a:lstStyle>
          <a:p>
            <a:r>
              <a:rPr lang="en-US"/>
              <a:t>Proprietary and Confidential</a:t>
            </a:r>
          </a:p>
        </p:txBody>
      </p:sp>
      <p:sp>
        <p:nvSpPr>
          <p:cNvPr id="5" name="Title Placeholder 4">
            <a:extLst>
              <a:ext uri="{FF2B5EF4-FFF2-40B4-BE49-F238E27FC236}">
                <a16:creationId xmlns:a16="http://schemas.microsoft.com/office/drawing/2014/main" id="{748A1652-E12D-BB40-863C-B183DCEF34DC}"/>
              </a:ext>
            </a:extLst>
          </p:cNvPr>
          <p:cNvSpPr>
            <a:spLocks noGrp="1"/>
          </p:cNvSpPr>
          <p:nvPr>
            <p:ph type="title"/>
          </p:nvPr>
        </p:nvSpPr>
        <p:spPr>
          <a:xfrm>
            <a:off x="609599" y="460376"/>
            <a:ext cx="10972799" cy="312265"/>
          </a:xfrm>
          <a:prstGeom prst="rect">
            <a:avLst/>
          </a:prstGeom>
        </p:spPr>
        <p:txBody>
          <a:bodyPr vert="horz" lIns="0" tIns="0" rIns="0" bIns="0" rtlCol="0" anchor="t">
            <a:spAutoFit/>
          </a:bodyPr>
          <a:lstStyle/>
          <a:p>
            <a:pPr marL="0" lvl="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pPr>
            <a:r>
              <a:rPr lang="en-US"/>
              <a:t>CLICK TO EDIT MASTER TITLE STYLE</a:t>
            </a:r>
          </a:p>
        </p:txBody>
      </p:sp>
      <p:pic>
        <p:nvPicPr>
          <p:cNvPr id="7" name="Picture 6">
            <a:extLst>
              <a:ext uri="{FF2B5EF4-FFF2-40B4-BE49-F238E27FC236}">
                <a16:creationId xmlns:a16="http://schemas.microsoft.com/office/drawing/2014/main" id="{B79AC6D6-695B-DE90-0E74-45050645A13D}"/>
              </a:ext>
            </a:extLst>
          </p:cNvPr>
          <p:cNvPicPr>
            <a:picLocks noChangeAspect="1"/>
          </p:cNvPicPr>
          <p:nvPr userDrawn="1"/>
        </p:nvPicPr>
        <p:blipFill>
          <a:blip r:embed="rId16" cstate="screen">
            <a:alphaModFix amt="40000"/>
            <a:lum bright="70000" contrast="-7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Tree>
    <p:extLst>
      <p:ext uri="{BB962C8B-B14F-4D97-AF65-F5344CB8AC3E}">
        <p14:creationId xmlns:p14="http://schemas.microsoft.com/office/powerpoint/2010/main" val="4115792623"/>
      </p:ext>
    </p:extLst>
  </p:cSld>
  <p:clrMap bg1="lt1" tx1="dk1" bg2="lt2" tx2="dk2" accent1="accent1" accent2="accent2" accent3="accent3" accent4="accent4" accent5="accent5" accent6="accent6" hlink="hlink" folHlink="folHlink"/>
  <p:sldLayoutIdLst>
    <p:sldLayoutId id="2147483665" r:id="rId1"/>
    <p:sldLayoutId id="2147483733" r:id="rId2"/>
    <p:sldLayoutId id="2147483666" r:id="rId3"/>
    <p:sldLayoutId id="2147483667" r:id="rId4"/>
    <p:sldLayoutId id="2147483668" r:id="rId5"/>
    <p:sldLayoutId id="2147483669" r:id="rId6"/>
    <p:sldLayoutId id="2147483672" r:id="rId7"/>
    <p:sldLayoutId id="2147483673" r:id="rId8"/>
    <p:sldLayoutId id="2147483674" r:id="rId9"/>
    <p:sldLayoutId id="2147483787" r:id="rId10"/>
    <p:sldLayoutId id="2147483675" r:id="rId11"/>
    <p:sldLayoutId id="2147483786" r:id="rId12"/>
    <p:sldLayoutId id="2147483691" r:id="rId13"/>
    <p:sldLayoutId id="2147483785" r:id="rId14"/>
  </p:sldLayoutIdLst>
  <p:hf hdr="0" dt="0"/>
  <p:txStyles>
    <p:titleStyle>
      <a:lvl1pPr algn="l" defTabSz="1219170" rtl="0" eaLnBrk="1" latinLnBrk="0" hangingPunct="1">
        <a:lnSpc>
          <a:spcPct val="90000"/>
        </a:lnSpc>
        <a:spcBef>
          <a:spcPct val="0"/>
        </a:spcBef>
        <a:buNone/>
        <a:defRPr lang="en-US" sz="2000" b="1" i="0" kern="1200" spc="0" baseline="0" dirty="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p:titleStyle>
    <p:bodyStyle>
      <a:lvl1pPr marL="18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1pPr>
      <a:lvl2pPr marL="2322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2pPr>
      <a:lvl3pPr marL="462600" indent="0" algn="l" defTabSz="1219170" rtl="0" eaLnBrk="1" latinLnBrk="0" hangingPunct="1">
        <a:lnSpc>
          <a:spcPct val="110000"/>
        </a:lnSpc>
        <a:spcBef>
          <a:spcPts val="400"/>
        </a:spcBef>
        <a:spcAft>
          <a:spcPts val="400"/>
        </a:spcAft>
        <a:buClr>
          <a:schemeClr val="bg2"/>
        </a:buClr>
        <a:buFont typeface="Courier New" panose="02070309020205020404" pitchFamily="49" charset="0"/>
        <a:buNone/>
        <a:tabLst/>
        <a:defRPr sz="2400" b="0" i="0" kern="1200">
          <a:solidFill>
            <a:schemeClr val="tx1"/>
          </a:solidFill>
          <a:latin typeface="+mj-lt"/>
          <a:ea typeface="+mn-ea"/>
          <a:cs typeface="Arial" panose="020B0604020202020204" pitchFamily="34" charset="0"/>
        </a:defRPr>
      </a:lvl3pPr>
      <a:lvl4pPr marL="6930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4pPr>
      <a:lvl5pPr marL="9234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1400" kern="1200">
          <a:solidFill>
            <a:schemeClr val="tx1"/>
          </a:solidFill>
          <a:latin typeface="+mn-lt"/>
          <a:ea typeface="+mn-ea"/>
          <a:cs typeface="+mn-cs"/>
        </a:defRPr>
      </a:lvl2pPr>
      <a:lvl3pPr marL="1219170" algn="l" defTabSz="1219170" rtl="0" eaLnBrk="1" latinLnBrk="0" hangingPunct="1">
        <a:defRPr sz="1400" kern="1200">
          <a:solidFill>
            <a:schemeClr val="tx1"/>
          </a:solidFill>
          <a:latin typeface="+mn-lt"/>
          <a:ea typeface="+mn-ea"/>
          <a:cs typeface="+mn-cs"/>
        </a:defRPr>
      </a:lvl3pPr>
      <a:lvl4pPr marL="1828754" algn="l" defTabSz="1219170" rtl="0" eaLnBrk="1" latinLnBrk="0" hangingPunct="1">
        <a:defRPr sz="1400" kern="1200">
          <a:solidFill>
            <a:schemeClr val="tx1"/>
          </a:solidFill>
          <a:latin typeface="+mn-lt"/>
          <a:ea typeface="+mn-ea"/>
          <a:cs typeface="+mn-cs"/>
        </a:defRPr>
      </a:lvl4pPr>
      <a:lvl5pPr marL="2438339" algn="l" defTabSz="1219170" rtl="0" eaLnBrk="1" latinLnBrk="0" hangingPunct="1">
        <a:defRPr sz="1400" kern="1200">
          <a:solidFill>
            <a:schemeClr val="tx1"/>
          </a:solidFill>
          <a:latin typeface="+mn-lt"/>
          <a:ea typeface="+mn-ea"/>
          <a:cs typeface="+mn-cs"/>
        </a:defRPr>
      </a:lvl5pPr>
      <a:lvl6pPr marL="3047924" algn="l" defTabSz="1219170" rtl="0" eaLnBrk="1" latinLnBrk="0" hangingPunct="1">
        <a:defRPr sz="1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FFFFF"/>
          </p15:clr>
        </p15:guide>
        <p15:guide id="2" pos="7536">
          <p15:clr>
            <a:srgbClr val="FFFFFF"/>
          </p15:clr>
        </p15:guide>
        <p15:guide id="3" orient="horz" pos="4176">
          <p15:clr>
            <a:srgbClr val="547EBF"/>
          </p15:clr>
        </p15:guide>
        <p15:guide id="4" pos="144">
          <p15:clr>
            <a:srgbClr val="FFFFFF"/>
          </p15:clr>
        </p15:guide>
        <p15:guide id="5" pos="288">
          <p15:clr>
            <a:srgbClr val="5ACBF0"/>
          </p15:clr>
        </p15:guide>
        <p15:guide id="6" orient="horz" pos="4032">
          <p15:clr>
            <a:srgbClr val="5ACBF0"/>
          </p15:clr>
        </p15:guide>
        <p15:guide id="7" orient="horz" pos="290">
          <p15:clr>
            <a:srgbClr val="5ACBF0"/>
          </p15:clr>
        </p15:guide>
        <p15:guide id="9" pos="1464">
          <p15:clr>
            <a:srgbClr val="F26B43"/>
          </p15:clr>
        </p15:guide>
        <p15:guide id="10" pos="840">
          <p15:clr>
            <a:srgbClr val="F26B43"/>
          </p15:clr>
        </p15:guide>
        <p15:guide id="11" pos="2063">
          <p15:clr>
            <a:srgbClr val="F26B43"/>
          </p15:clr>
        </p15:guide>
        <p15:guide id="12" pos="2651">
          <p15:clr>
            <a:srgbClr val="F26B43"/>
          </p15:clr>
        </p15:guide>
        <p15:guide id="13" pos="3250">
          <p15:clr>
            <a:srgbClr val="F26B43"/>
          </p15:clr>
        </p15:guide>
        <p15:guide id="14" pos="3835">
          <p15:clr>
            <a:srgbClr val="F26B43"/>
          </p15:clr>
        </p15:guide>
        <p15:guide id="15" pos="4432">
          <p15:clr>
            <a:srgbClr val="F26B43"/>
          </p15:clr>
        </p15:guide>
        <p15:guide id="16" pos="5022">
          <p15:clr>
            <a:srgbClr val="F26B43"/>
          </p15:clr>
        </p15:guide>
        <p15:guide id="17" pos="5620">
          <p15:clr>
            <a:srgbClr val="F26B43"/>
          </p15:clr>
        </p15:guide>
        <p15:guide id="18" pos="6207">
          <p15:clr>
            <a:srgbClr val="F26B43"/>
          </p15:clr>
        </p15:guide>
        <p15:guide id="19" pos="6802">
          <p15:clr>
            <a:srgbClr val="F26B43"/>
          </p15:clr>
        </p15:guide>
        <p15:guide id="20" orient="horz" pos="756">
          <p15:clr>
            <a:srgbClr val="5ACBF0"/>
          </p15:clr>
        </p15:guide>
        <p15:guide id="21" orient="horz" pos="1225">
          <p15:clr>
            <a:srgbClr val="5ACBF0"/>
          </p15:clr>
        </p15:guide>
        <p15:guide id="22" orient="horz" pos="1692">
          <p15:clr>
            <a:srgbClr val="5ACBF0"/>
          </p15:clr>
        </p15:guide>
        <p15:guide id="23" orient="horz" pos="2157">
          <p15:clr>
            <a:srgbClr val="5ACBF0"/>
          </p15:clr>
        </p15:guide>
        <p15:guide id="24" orient="horz" pos="2629">
          <p15:clr>
            <a:srgbClr val="5ACBF0"/>
          </p15:clr>
        </p15:guide>
        <p15:guide id="25" orient="horz" pos="3096">
          <p15:clr>
            <a:srgbClr val="5ACBF0"/>
          </p15:clr>
        </p15:guide>
        <p15:guide id="26" orient="horz" pos="3570">
          <p15:clr>
            <a:srgbClr val="5ACBF0"/>
          </p15:clr>
        </p15:guide>
        <p15:guide id="29" pos="7392">
          <p15:clr>
            <a:srgbClr val="5ACBF0"/>
          </p15:clr>
        </p15:guide>
        <p15:guide id="30" pos="7440">
          <p15:clr>
            <a:srgbClr val="5ACBF0"/>
          </p15:clr>
        </p15:guide>
        <p15:guide id="31" pos="2400">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PFF AI — Adam AI Platform</a:t>
            </a:r>
          </a:p>
        </p:txBody>
      </p:sp>
      <p:sp>
        <p:nvSpPr>
          <p:cNvPr id="3" name="Text Placeholder 2"/>
          <p:cNvSpPr>
            <a:spLocks noGrp="1"/>
          </p:cNvSpPr>
          <p:nvPr>
            <p:ph type="body" idx="12" sz="quarter"/>
          </p:nvPr>
        </p:nvSpPr>
        <p:spPr/>
        <p:txBody>
          <a:bodyPr/>
          <a:lstStyle/>
          <a:p>
            <a:r>
              <a:rPr>
                <a:solidFill>
                  <a:srgbClr val="CFD3DA"/>
                </a:solidFill>
              </a:rPr>
              <a:t>Technical Architecture  ·  Architecture Review Board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presentation suite — 10 decks</a:t>
            </a:r>
          </a:p>
        </p:txBody>
      </p:sp>
      <p:sp>
        <p:nvSpPr>
          <p:cNvPr id="3" name="TextBox 2"/>
          <p:cNvSpPr txBox="1"/>
          <p:nvPr/>
        </p:nvSpPr>
        <p:spPr>
          <a:xfrm>
            <a:off x="822960" y="1737360"/>
            <a:ext cx="5212080" cy="4389120"/>
          </a:xfrm>
          <a:prstGeom prst="rect">
            <a:avLst/>
          </a:prstGeom>
          <a:noFill/>
        </p:spPr>
        <p:txBody>
          <a:bodyPr wrap="square" lIns="0" tIns="0">
            <a:spAutoFit/>
          </a:bodyPr>
          <a:lstStyle/>
          <a:p>
            <a:pPr algn="l">
              <a:spcAft>
                <a:spcPts val="1000"/>
              </a:spcAft>
            </a:pPr>
            <a:r>
              <a:rPr sz="1800" b="1">
                <a:solidFill>
                  <a:srgbClr val="2E9BF0"/>
                </a:solidFill>
                <a:latin typeface="Arial"/>
              </a:rPr>
              <a:t>•  </a:t>
            </a:r>
            <a:r>
              <a:rPr sz="1800">
                <a:solidFill>
                  <a:srgbClr val="FFFFFF"/>
                </a:solidFill>
                <a:latin typeface="Arial"/>
              </a:rPr>
              <a:t>00  Overview (this deck) — whole-system technical picture</a:t>
            </a:r>
          </a:p>
          <a:p>
            <a:pPr algn="l">
              <a:spcAft>
                <a:spcPts val="1000"/>
              </a:spcAft>
            </a:pPr>
            <a:r>
              <a:rPr sz="1800" b="1">
                <a:solidFill>
                  <a:srgbClr val="2E9BF0"/>
                </a:solidFill>
                <a:latin typeface="Arial"/>
              </a:rPr>
              <a:t>•  </a:t>
            </a:r>
            <a:r>
              <a:rPr sz="1800">
                <a:solidFill>
                  <a:srgbClr val="FFFFFF"/>
                </a:solidFill>
                <a:latin typeface="Arial"/>
              </a:rPr>
              <a:t>01  Business Architecture &amp; Value — D0 / D1 / D8</a:t>
            </a:r>
          </a:p>
          <a:p>
            <a:pPr algn="l">
              <a:spcAft>
                <a:spcPts val="1000"/>
              </a:spcAft>
            </a:pPr>
            <a:r>
              <a:rPr sz="1800" b="1">
                <a:solidFill>
                  <a:srgbClr val="2E9BF0"/>
                </a:solidFill>
                <a:latin typeface="Arial"/>
              </a:rPr>
              <a:t>•  </a:t>
            </a:r>
            <a:r>
              <a:rPr sz="1800">
                <a:solidFill>
                  <a:srgbClr val="FFFFFF"/>
                </a:solidFill>
                <a:latin typeface="Arial"/>
              </a:rPr>
              <a:t>02  Application &amp; Orchestration — D2</a:t>
            </a:r>
          </a:p>
          <a:p>
            <a:pPr algn="l">
              <a:spcAft>
                <a:spcPts val="1000"/>
              </a:spcAft>
            </a:pPr>
            <a:r>
              <a:rPr sz="1800" b="1">
                <a:solidFill>
                  <a:srgbClr val="2E9BF0"/>
                </a:solidFill>
                <a:latin typeface="Arial"/>
              </a:rPr>
              <a:t>•  </a:t>
            </a:r>
            <a:r>
              <a:rPr sz="1800">
                <a:solidFill>
                  <a:srgbClr val="FFFFFF"/>
                </a:solidFill>
                <a:latin typeface="Arial"/>
              </a:rPr>
              <a:t>03  AI Architecture — D3 (RAG, SLM, prompts, guardrails)</a:t>
            </a:r>
          </a:p>
          <a:p>
            <a:pPr algn="l">
              <a:spcAft>
                <a:spcPts val="1000"/>
              </a:spcAft>
            </a:pPr>
            <a:r>
              <a:rPr sz="1800" b="1">
                <a:solidFill>
                  <a:srgbClr val="2E9BF0"/>
                </a:solidFill>
                <a:latin typeface="Arial"/>
              </a:rPr>
              <a:t>•  </a:t>
            </a:r>
            <a:r>
              <a:rPr sz="1800">
                <a:solidFill>
                  <a:srgbClr val="FFFFFF"/>
                </a:solidFill>
                <a:latin typeface="Arial"/>
              </a:rPr>
              <a:t>04  Information, Context &amp; Data — D4 (ERC, memory, cache)</a:t>
            </a:r>
          </a:p>
        </p:txBody>
      </p:sp>
      <p:sp>
        <p:nvSpPr>
          <p:cNvPr id="4" name="TextBox 3"/>
          <p:cNvSpPr txBox="1"/>
          <p:nvPr/>
        </p:nvSpPr>
        <p:spPr>
          <a:xfrm>
            <a:off x="6309360" y="1737360"/>
            <a:ext cx="5212080" cy="4389120"/>
          </a:xfrm>
          <a:prstGeom prst="rect">
            <a:avLst/>
          </a:prstGeom>
          <a:noFill/>
        </p:spPr>
        <p:txBody>
          <a:bodyPr wrap="square" lIns="0" tIns="0">
            <a:spAutoFit/>
          </a:bodyPr>
          <a:lstStyle/>
          <a:p>
            <a:pPr algn="l">
              <a:spcAft>
                <a:spcPts val="1000"/>
              </a:spcAft>
            </a:pPr>
            <a:r>
              <a:rPr sz="1800" b="1">
                <a:solidFill>
                  <a:srgbClr val="2E9BF0"/>
                </a:solidFill>
                <a:latin typeface="Arial"/>
              </a:rPr>
              <a:t>•  </a:t>
            </a:r>
            <a:r>
              <a:rPr sz="1800">
                <a:solidFill>
                  <a:srgbClr val="FFFFFF"/>
                </a:solidFill>
                <a:latin typeface="Arial"/>
              </a:rPr>
              <a:t>05  Technology &amp; Infrastructure — D5 (Azure, AKS, APIM)</a:t>
            </a:r>
          </a:p>
          <a:p>
            <a:pPr algn="l">
              <a:spcAft>
                <a:spcPts val="1000"/>
              </a:spcAft>
            </a:pPr>
            <a:r>
              <a:rPr sz="1800" b="1">
                <a:solidFill>
                  <a:srgbClr val="2E9BF0"/>
                </a:solidFill>
                <a:latin typeface="Arial"/>
              </a:rPr>
              <a:t>•  </a:t>
            </a:r>
            <a:r>
              <a:rPr sz="1800">
                <a:solidFill>
                  <a:srgbClr val="FFFFFF"/>
                </a:solidFill>
                <a:latin typeface="Arial"/>
              </a:rPr>
              <a:t>06  Security &amp; Governance — D6</a:t>
            </a:r>
          </a:p>
          <a:p>
            <a:pPr algn="l">
              <a:spcAft>
                <a:spcPts val="1000"/>
              </a:spcAft>
            </a:pPr>
            <a:r>
              <a:rPr sz="1800" b="1">
                <a:solidFill>
                  <a:srgbClr val="2E9BF0"/>
                </a:solidFill>
                <a:latin typeface="Arial"/>
              </a:rPr>
              <a:t>•  </a:t>
            </a:r>
            <a:r>
              <a:rPr sz="1800">
                <a:solidFill>
                  <a:srgbClr val="FFFFFF"/>
                </a:solidFill>
                <a:latin typeface="Arial"/>
              </a:rPr>
              <a:t>07  Operations, Observability &amp; Quality — D7</a:t>
            </a:r>
          </a:p>
          <a:p>
            <a:pPr algn="l">
              <a:spcAft>
                <a:spcPts val="1000"/>
              </a:spcAft>
            </a:pPr>
            <a:r>
              <a:rPr sz="1800" b="1">
                <a:solidFill>
                  <a:srgbClr val="2E9BF0"/>
                </a:solidFill>
                <a:latin typeface="Arial"/>
              </a:rPr>
              <a:t>•  </a:t>
            </a:r>
            <a:r>
              <a:rPr sz="1800">
                <a:solidFill>
                  <a:srgbClr val="FFFFFF"/>
                </a:solidFill>
                <a:latin typeface="Arial"/>
              </a:rPr>
              <a:t>08  Cost &amp; FinOps — per-technology cost model</a:t>
            </a:r>
          </a:p>
          <a:p>
            <a:pPr algn="l">
              <a:spcAft>
                <a:spcPts val="1000"/>
              </a:spcAft>
            </a:pPr>
            <a:r>
              <a:rPr sz="1800" b="1">
                <a:solidFill>
                  <a:srgbClr val="2E9BF0"/>
                </a:solidFill>
                <a:latin typeface="Arial"/>
              </a:rPr>
              <a:t>•  </a:t>
            </a:r>
            <a:r>
              <a:rPr sz="1800">
                <a:solidFill>
                  <a:srgbClr val="FFFFFF"/>
                </a:solidFill>
                <a:latin typeface="Arial"/>
              </a:rPr>
              <a:t>09  Open Decisions &amp; ARB sign-off asks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are building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E9BF0"/>
                </a:solidFill>
                <a:latin typeface="Arial"/>
              </a:rPr>
              <a:t>Adam AI — a conversational orchestration layer over PFF</a:t>
            </a:r>
          </a:p>
        </p:txBody>
      </p:sp>
      <p:sp>
        <p:nvSpPr>
          <p:cNvPr id="4" name="TextBox 3"/>
          <p:cNvSpPr txBox="1"/>
          <p:nvPr/>
        </p:nvSpPr>
        <p:spPr>
          <a:xfrm>
            <a:off x="822960" y="1828800"/>
            <a:ext cx="10515600" cy="4114800"/>
          </a:xfrm>
          <a:prstGeom prst="rect">
            <a:avLst/>
          </a:prstGeom>
          <a:noFill/>
        </p:spPr>
        <p:txBody>
          <a:bodyPr wrap="square" lIns="0" tIns="0">
            <a:spAutoFit/>
          </a:bodyPr>
          <a:lstStyle/>
          <a:p>
            <a:pPr algn="l">
              <a:spcAft>
                <a:spcPts val="1400"/>
              </a:spcAft>
            </a:pPr>
            <a:r>
              <a:rPr sz="1700" b="1">
                <a:solidFill>
                  <a:srgbClr val="2E9BF0"/>
                </a:solidFill>
                <a:latin typeface="Arial"/>
              </a:rPr>
              <a:t>•  </a:t>
            </a:r>
            <a:r>
              <a:rPr sz="1700">
                <a:solidFill>
                  <a:srgbClr val="FFFFFF"/>
                </a:solidFill>
                <a:latin typeface="Arial"/>
              </a:rPr>
              <a:t>PFF is the FA's county/club administration platform — affiliation, registration, insurance, discipline, officials, county cups, payments; integrates with WGS (the FA's national database).</a:t>
            </a:r>
          </a:p>
          <a:p>
            <a:pPr algn="l">
              <a:spcAft>
                <a:spcPts val="1400"/>
              </a:spcAft>
            </a:pPr>
            <a:r>
              <a:rPr sz="1700" b="1">
                <a:solidFill>
                  <a:srgbClr val="2E9BF0"/>
                </a:solidFill>
                <a:latin typeface="Arial"/>
              </a:rPr>
              <a:t>•  </a:t>
            </a:r>
            <a:r>
              <a:rPr sz="1700">
                <a:solidFill>
                  <a:srgbClr val="FFFFFF"/>
                </a:solidFill>
                <a:latin typeface="Arial"/>
              </a:rPr>
              <a:t>Adam AI interprets requests, gathers enterprise context, reasons, calls controlled tools, and communicates results — it does not replace PFF's business logic or authority.</a:t>
            </a:r>
          </a:p>
          <a:p>
            <a:pPr algn="l">
              <a:spcAft>
                <a:spcPts val="1400"/>
              </a:spcAft>
            </a:pPr>
            <a:r>
              <a:rPr sz="1700" b="1">
                <a:solidFill>
                  <a:srgbClr val="2E9BF0"/>
                </a:solidFill>
                <a:latin typeface="Arial"/>
              </a:rPr>
              <a:t>•  </a:t>
            </a:r>
            <a:r>
              <a:rPr sz="1700">
                <a:solidFill>
                  <a:srgbClr val="FFFFFF"/>
                </a:solidFill>
                <a:latin typeface="Arial"/>
              </a:rPr>
              <a:t>First end-to-end workflow delivered: Club Affiliation.</a:t>
            </a:r>
          </a:p>
          <a:p>
            <a:pPr algn="l">
              <a:spcAft>
                <a:spcPts val="1400"/>
              </a:spcAft>
            </a:pPr>
            <a:r>
              <a:rPr sz="1700" b="1">
                <a:solidFill>
                  <a:srgbClr val="2E9BF0"/>
                </a:solidFill>
                <a:latin typeface="Arial"/>
              </a:rPr>
              <a:t>•  </a:t>
            </a:r>
            <a:r>
              <a:rPr sz="1700">
                <a:solidFill>
                  <a:srgbClr val="FFFFFF"/>
                </a:solidFill>
                <a:latin typeface="Arial"/>
              </a:rPr>
              <a:t>Persona: a workflow-first enterprise assistant with a natural football-commentary tone.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Golden Rule — the binding constraint</a:t>
            </a:r>
          </a:p>
        </p:txBody>
      </p:sp>
      <p:sp>
        <p:nvSpPr>
          <p:cNvPr id="3" name="Rounded Rectangle 2"/>
          <p:cNvSpPr/>
          <p:nvPr/>
        </p:nvSpPr>
        <p:spPr>
          <a:xfrm>
            <a:off x="1280160" y="1874519"/>
            <a:ext cx="9601200" cy="182880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2200" b="1">
                <a:solidFill>
                  <a:srgbClr val="FFFFFF"/>
                </a:solidFill>
                <a:latin typeface="Arial"/>
              </a:rPr>
              <a:t>Enterprise systems DECIDE and EXECUTE.</a:t>
            </a:r>
          </a:p>
          <a:p>
            <a:pPr algn="ctr"/>
            <a:r>
              <a:rPr sz="2200" b="1">
                <a:solidFill>
                  <a:srgbClr val="FFFFFF"/>
                </a:solidFill>
                <a:latin typeface="Arial"/>
              </a:rPr>
              <a:t>The AI platform INTERPRETS, ORCHESTRATES,</a:t>
            </a:r>
          </a:p>
          <a:p>
            <a:pPr algn="ctr"/>
            <a:r>
              <a:rPr sz="2200" b="1">
                <a:solidFill>
                  <a:srgbClr val="FFFFFF"/>
                </a:solidFill>
                <a:latin typeface="Arial"/>
              </a:rPr>
              <a:t>CONTEXTUALISES, EXPLAINS and COMMUNICATES.</a:t>
            </a:r>
          </a:p>
        </p:txBody>
      </p:sp>
      <p:sp>
        <p:nvSpPr>
          <p:cNvPr id="4" name="TextBox 3"/>
          <p:cNvSpPr txBox="1"/>
          <p:nvPr/>
        </p:nvSpPr>
        <p:spPr>
          <a:xfrm>
            <a:off x="1280160" y="3977639"/>
            <a:ext cx="9601200" cy="2011680"/>
          </a:xfrm>
          <a:prstGeom prst="rect">
            <a:avLst/>
          </a:prstGeom>
          <a:noFill/>
        </p:spPr>
        <p:txBody>
          <a:bodyPr wrap="square" lIns="0" tIns="0">
            <a:spAutoFit/>
          </a:bodyPr>
          <a:lstStyle/>
          <a:p>
            <a:pPr algn="l">
              <a:spcAft>
                <a:spcPts val="1200"/>
              </a:spcAft>
            </a:pPr>
            <a:r>
              <a:rPr sz="1500" b="1">
                <a:solidFill>
                  <a:srgbClr val="2E9BF0"/>
                </a:solidFill>
                <a:latin typeface="Arial"/>
              </a:rPr>
              <a:t>•  </a:t>
            </a:r>
            <a:r>
              <a:rPr sz="1500">
                <a:solidFill>
                  <a:srgbClr val="FFFFFF"/>
                </a:solidFill>
                <a:latin typeface="Arial"/>
              </a:rPr>
              <a:t>The AI never authenticates/authorizes, re-implements business rules, or writes to the enterprise DB.</a:t>
            </a:r>
          </a:p>
          <a:p>
            <a:pPr algn="l">
              <a:spcAft>
                <a:spcPts val="1200"/>
              </a:spcAft>
            </a:pPr>
            <a:r>
              <a:rPr sz="1500" b="1">
                <a:solidFill>
                  <a:srgbClr val="2E9BF0"/>
                </a:solidFill>
                <a:latin typeface="Arial"/>
              </a:rPr>
              <a:t>•  </a:t>
            </a:r>
            <a:r>
              <a:rPr sz="1500">
                <a:solidFill>
                  <a:srgbClr val="FFFFFF"/>
                </a:solidFill>
                <a:latin typeface="Arial"/>
              </a:rPr>
              <a:t>A model output never becomes an authorization decision.</a:t>
            </a:r>
          </a:p>
          <a:p>
            <a:pPr algn="l">
              <a:spcAft>
                <a:spcPts val="1200"/>
              </a:spcAft>
            </a:pPr>
            <a:r>
              <a:rPr sz="1500" b="1">
                <a:solidFill>
                  <a:srgbClr val="2E9BF0"/>
                </a:solidFill>
                <a:latin typeface="Arial"/>
              </a:rPr>
              <a:t>•  </a:t>
            </a:r>
            <a:r>
              <a:rPr sz="1500">
                <a:solidFill>
                  <a:srgbClr val="FFFFFF"/>
                </a:solidFill>
                <a:latin typeface="Arial"/>
              </a:rPr>
              <a:t>Raw enterprise/personal data is never exposed to an external SLM (masked/tokenised, fail-closed).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Authoritative-truth precedence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E9BF0"/>
                </a:solidFill>
                <a:latin typeface="Arial"/>
              </a:rPr>
              <a:t>Higher source always wins on conflict</a:t>
            </a:r>
          </a:p>
        </p:txBody>
      </p:sp>
      <p:sp>
        <p:nvSpPr>
          <p:cNvPr id="4" name="Oval 3"/>
          <p:cNvSpPr/>
          <p:nvPr/>
        </p:nvSpPr>
        <p:spPr>
          <a:xfrm>
            <a:off x="868680" y="1810512"/>
            <a:ext cx="512064" cy="512064"/>
          </a:xfrm>
          <a:prstGeom prst="ellipse">
            <a:avLst/>
          </a:prstGeom>
          <a:solidFill>
            <a:srgbClr val="2E9B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FFFFFF"/>
                </a:solidFill>
                <a:latin typeface="Arial"/>
              </a:rPr>
              <a:t>1</a:t>
            </a:r>
          </a:p>
        </p:txBody>
      </p:sp>
      <p:sp>
        <p:nvSpPr>
          <p:cNvPr id="5" name="TextBox 4"/>
          <p:cNvSpPr txBox="1"/>
          <p:nvPr/>
        </p:nvSpPr>
        <p:spPr>
          <a:xfrm>
            <a:off x="1645919" y="1764792"/>
            <a:ext cx="4572000" cy="365760"/>
          </a:xfrm>
          <a:prstGeom prst="rect">
            <a:avLst/>
          </a:prstGeom>
          <a:noFill/>
        </p:spPr>
        <p:txBody>
          <a:bodyPr wrap="square" anchor="t" lIns="0" rIns="0" tIns="0" bIns="0">
            <a:spAutoFit/>
          </a:bodyPr>
          <a:lstStyle/>
          <a:p>
            <a:pPr algn="l"/>
            <a:r>
              <a:rPr sz="1700" b="1" i="0">
                <a:solidFill>
                  <a:srgbClr val="FFFFFF"/>
                </a:solidFill>
                <a:latin typeface="Arial"/>
              </a:rPr>
              <a:t>Enterprise API / Event</a:t>
            </a:r>
          </a:p>
        </p:txBody>
      </p:sp>
      <p:sp>
        <p:nvSpPr>
          <p:cNvPr id="6" name="TextBox 5"/>
          <p:cNvSpPr txBox="1"/>
          <p:nvPr/>
        </p:nvSpPr>
        <p:spPr>
          <a:xfrm>
            <a:off x="1645919" y="2093976"/>
            <a:ext cx="8961120" cy="320040"/>
          </a:xfrm>
          <a:prstGeom prst="rect">
            <a:avLst/>
          </a:prstGeom>
          <a:noFill/>
        </p:spPr>
        <p:txBody>
          <a:bodyPr wrap="square" anchor="t" lIns="0" rIns="0" tIns="0" bIns="0">
            <a:spAutoFit/>
          </a:bodyPr>
          <a:lstStyle/>
          <a:p>
            <a:pPr algn="l"/>
            <a:r>
              <a:rPr sz="1200" b="0" i="0">
                <a:solidFill>
                  <a:srgbClr val="CFD3DA"/>
                </a:solidFill>
                <a:latin typeface="Arial"/>
              </a:rPr>
              <a:t>System of record — decides &amp; executes</a:t>
            </a:r>
          </a:p>
        </p:txBody>
      </p:sp>
      <p:sp>
        <p:nvSpPr>
          <p:cNvPr id="7" name="TextBox 6"/>
          <p:cNvSpPr txBox="1"/>
          <p:nvPr/>
        </p:nvSpPr>
        <p:spPr>
          <a:xfrm>
            <a:off x="1645919" y="2423160"/>
            <a:ext cx="7315200" cy="256032"/>
          </a:xfrm>
          <a:prstGeom prst="rect">
            <a:avLst/>
          </a:prstGeom>
          <a:noFill/>
        </p:spPr>
        <p:txBody>
          <a:bodyPr wrap="square" anchor="t" lIns="0" rIns="0" tIns="0" bIns="0">
            <a:spAutoFit/>
          </a:bodyPr>
          <a:lstStyle/>
          <a:p>
            <a:pPr algn="l"/>
            <a:r>
              <a:rPr sz="900" b="0" i="0">
                <a:solidFill>
                  <a:srgbClr val="8A909C"/>
                </a:solidFill>
                <a:latin typeface="Arial"/>
              </a:rPr>
              <a:t>▼  higher source wins on conflict — always</a:t>
            </a:r>
          </a:p>
        </p:txBody>
      </p:sp>
      <p:sp>
        <p:nvSpPr>
          <p:cNvPr id="8" name="Oval 7"/>
          <p:cNvSpPr/>
          <p:nvPr/>
        </p:nvSpPr>
        <p:spPr>
          <a:xfrm>
            <a:off x="868680" y="2688336"/>
            <a:ext cx="512064" cy="512064"/>
          </a:xfrm>
          <a:prstGeom prst="ellipse">
            <a:avLst/>
          </a:prstGeom>
          <a:solidFill>
            <a:srgbClr val="2E9B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FFFFFF"/>
                </a:solidFill>
                <a:latin typeface="Arial"/>
              </a:rPr>
              <a:t>2</a:t>
            </a:r>
          </a:p>
        </p:txBody>
      </p:sp>
      <p:sp>
        <p:nvSpPr>
          <p:cNvPr id="9" name="TextBox 8"/>
          <p:cNvSpPr txBox="1"/>
          <p:nvPr/>
        </p:nvSpPr>
        <p:spPr>
          <a:xfrm>
            <a:off x="1645919" y="2642616"/>
            <a:ext cx="4572000" cy="365760"/>
          </a:xfrm>
          <a:prstGeom prst="rect">
            <a:avLst/>
          </a:prstGeom>
          <a:noFill/>
        </p:spPr>
        <p:txBody>
          <a:bodyPr wrap="square" anchor="t" lIns="0" rIns="0" tIns="0" bIns="0">
            <a:spAutoFit/>
          </a:bodyPr>
          <a:lstStyle/>
          <a:p>
            <a:pPr algn="l"/>
            <a:r>
              <a:rPr sz="1700" b="1" i="0">
                <a:solidFill>
                  <a:srgbClr val="FFFFFF"/>
                </a:solidFill>
                <a:latin typeface="Arial"/>
              </a:rPr>
              <a:t>ERC</a:t>
            </a:r>
          </a:p>
        </p:txBody>
      </p:sp>
      <p:sp>
        <p:nvSpPr>
          <p:cNvPr id="10" name="TextBox 9"/>
          <p:cNvSpPr txBox="1"/>
          <p:nvPr/>
        </p:nvSpPr>
        <p:spPr>
          <a:xfrm>
            <a:off x="1645919" y="2971800"/>
            <a:ext cx="8961120" cy="320040"/>
          </a:xfrm>
          <a:prstGeom prst="rect">
            <a:avLst/>
          </a:prstGeom>
          <a:noFill/>
        </p:spPr>
        <p:txBody>
          <a:bodyPr wrap="square" anchor="t" lIns="0" rIns="0" tIns="0" bIns="0">
            <a:spAutoFit/>
          </a:bodyPr>
          <a:lstStyle/>
          <a:p>
            <a:pPr algn="l"/>
            <a:r>
              <a:rPr sz="1200" b="0" i="0">
                <a:solidFill>
                  <a:srgbClr val="CFD3DA"/>
                </a:solidFill>
                <a:latin typeface="Arial"/>
              </a:rPr>
              <a:t>Enterprise Runtime Context — validated, provenanced</a:t>
            </a:r>
          </a:p>
        </p:txBody>
      </p:sp>
      <p:sp>
        <p:nvSpPr>
          <p:cNvPr id="11" name="TextBox 10"/>
          <p:cNvSpPr txBox="1"/>
          <p:nvPr/>
        </p:nvSpPr>
        <p:spPr>
          <a:xfrm>
            <a:off x="1645919" y="3300984"/>
            <a:ext cx="7315200" cy="256032"/>
          </a:xfrm>
          <a:prstGeom prst="rect">
            <a:avLst/>
          </a:prstGeom>
          <a:noFill/>
        </p:spPr>
        <p:txBody>
          <a:bodyPr wrap="square" anchor="t" lIns="0" rIns="0" tIns="0" bIns="0">
            <a:spAutoFit/>
          </a:bodyPr>
          <a:lstStyle/>
          <a:p>
            <a:pPr algn="l"/>
            <a:r>
              <a:rPr sz="900" b="0" i="0">
                <a:solidFill>
                  <a:srgbClr val="8A909C"/>
                </a:solidFill>
                <a:latin typeface="Arial"/>
              </a:rPr>
              <a:t>▼  higher source wins on conflict — always</a:t>
            </a:r>
          </a:p>
        </p:txBody>
      </p:sp>
      <p:sp>
        <p:nvSpPr>
          <p:cNvPr id="12" name="Oval 11"/>
          <p:cNvSpPr/>
          <p:nvPr/>
        </p:nvSpPr>
        <p:spPr>
          <a:xfrm>
            <a:off x="868680" y="3566160"/>
            <a:ext cx="512064" cy="512064"/>
          </a:xfrm>
          <a:prstGeom prst="ellipse">
            <a:avLst/>
          </a:prstGeom>
          <a:solidFill>
            <a:srgbClr val="2E9B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FFFFFF"/>
                </a:solidFill>
                <a:latin typeface="Arial"/>
              </a:rPr>
              <a:t>3</a:t>
            </a:r>
          </a:p>
        </p:txBody>
      </p:sp>
      <p:sp>
        <p:nvSpPr>
          <p:cNvPr id="13" name="TextBox 12"/>
          <p:cNvSpPr txBox="1"/>
          <p:nvPr/>
        </p:nvSpPr>
        <p:spPr>
          <a:xfrm>
            <a:off x="1645919" y="3520440"/>
            <a:ext cx="4572000" cy="365760"/>
          </a:xfrm>
          <a:prstGeom prst="rect">
            <a:avLst/>
          </a:prstGeom>
          <a:noFill/>
        </p:spPr>
        <p:txBody>
          <a:bodyPr wrap="square" anchor="t" lIns="0" rIns="0" tIns="0" bIns="0">
            <a:spAutoFit/>
          </a:bodyPr>
          <a:lstStyle/>
          <a:p>
            <a:pPr algn="l"/>
            <a:r>
              <a:rPr sz="1700" b="1" i="0">
                <a:solidFill>
                  <a:srgbClr val="FFFFFF"/>
                </a:solidFill>
                <a:latin typeface="Arial"/>
              </a:rPr>
              <a:t>Cache</a:t>
            </a:r>
          </a:p>
        </p:txBody>
      </p:sp>
      <p:sp>
        <p:nvSpPr>
          <p:cNvPr id="14" name="TextBox 13"/>
          <p:cNvSpPr txBox="1"/>
          <p:nvPr/>
        </p:nvSpPr>
        <p:spPr>
          <a:xfrm>
            <a:off x="1645919" y="3849624"/>
            <a:ext cx="8961120" cy="320040"/>
          </a:xfrm>
          <a:prstGeom prst="rect">
            <a:avLst/>
          </a:prstGeom>
          <a:noFill/>
        </p:spPr>
        <p:txBody>
          <a:bodyPr wrap="square" anchor="t" lIns="0" rIns="0" tIns="0" bIns="0">
            <a:spAutoFit/>
          </a:bodyPr>
          <a:lstStyle/>
          <a:p>
            <a:pPr algn="l"/>
            <a:r>
              <a:rPr sz="1200" b="0" i="0">
                <a:solidFill>
                  <a:srgbClr val="CFD3DA"/>
                </a:solidFill>
                <a:latin typeface="Arial"/>
              </a:rPr>
              <a:t>Authorization-aware, freshness-bounded</a:t>
            </a:r>
          </a:p>
        </p:txBody>
      </p:sp>
      <p:sp>
        <p:nvSpPr>
          <p:cNvPr id="15" name="TextBox 14"/>
          <p:cNvSpPr txBox="1"/>
          <p:nvPr/>
        </p:nvSpPr>
        <p:spPr>
          <a:xfrm>
            <a:off x="1645919" y="4178808"/>
            <a:ext cx="7315200" cy="256032"/>
          </a:xfrm>
          <a:prstGeom prst="rect">
            <a:avLst/>
          </a:prstGeom>
          <a:noFill/>
        </p:spPr>
        <p:txBody>
          <a:bodyPr wrap="square" anchor="t" lIns="0" rIns="0" tIns="0" bIns="0">
            <a:spAutoFit/>
          </a:bodyPr>
          <a:lstStyle/>
          <a:p>
            <a:pPr algn="l"/>
            <a:r>
              <a:rPr sz="900" b="0" i="0">
                <a:solidFill>
                  <a:srgbClr val="8A909C"/>
                </a:solidFill>
                <a:latin typeface="Arial"/>
              </a:rPr>
              <a:t>▼  higher source wins on conflict — always</a:t>
            </a:r>
          </a:p>
        </p:txBody>
      </p:sp>
      <p:sp>
        <p:nvSpPr>
          <p:cNvPr id="16" name="Oval 15"/>
          <p:cNvSpPr/>
          <p:nvPr/>
        </p:nvSpPr>
        <p:spPr>
          <a:xfrm>
            <a:off x="868680" y="4443984"/>
            <a:ext cx="512064" cy="512064"/>
          </a:xfrm>
          <a:prstGeom prst="ellipse">
            <a:avLst/>
          </a:prstGeom>
          <a:solidFill>
            <a:srgbClr val="2E9B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FFFFFF"/>
                </a:solidFill>
                <a:latin typeface="Arial"/>
              </a:rPr>
              <a:t>4</a:t>
            </a:r>
          </a:p>
        </p:txBody>
      </p:sp>
      <p:sp>
        <p:nvSpPr>
          <p:cNvPr id="17" name="TextBox 16"/>
          <p:cNvSpPr txBox="1"/>
          <p:nvPr/>
        </p:nvSpPr>
        <p:spPr>
          <a:xfrm>
            <a:off x="1645919" y="4398264"/>
            <a:ext cx="4572000" cy="365760"/>
          </a:xfrm>
          <a:prstGeom prst="rect">
            <a:avLst/>
          </a:prstGeom>
          <a:noFill/>
        </p:spPr>
        <p:txBody>
          <a:bodyPr wrap="square" anchor="t" lIns="0" rIns="0" tIns="0" bIns="0">
            <a:spAutoFit/>
          </a:bodyPr>
          <a:lstStyle/>
          <a:p>
            <a:pPr algn="l"/>
            <a:r>
              <a:rPr sz="1700" b="1" i="0">
                <a:solidFill>
                  <a:srgbClr val="FFFFFF"/>
                </a:solidFill>
                <a:latin typeface="Arial"/>
              </a:rPr>
              <a:t>RAG</a:t>
            </a:r>
          </a:p>
        </p:txBody>
      </p:sp>
      <p:sp>
        <p:nvSpPr>
          <p:cNvPr id="18" name="TextBox 17"/>
          <p:cNvSpPr txBox="1"/>
          <p:nvPr/>
        </p:nvSpPr>
        <p:spPr>
          <a:xfrm>
            <a:off x="1645919" y="4727448"/>
            <a:ext cx="8961120" cy="320040"/>
          </a:xfrm>
          <a:prstGeom prst="rect">
            <a:avLst/>
          </a:prstGeom>
          <a:noFill/>
        </p:spPr>
        <p:txBody>
          <a:bodyPr wrap="square" anchor="t" lIns="0" rIns="0" tIns="0" bIns="0">
            <a:spAutoFit/>
          </a:bodyPr>
          <a:lstStyle/>
          <a:p>
            <a:pPr algn="l"/>
            <a:r>
              <a:rPr sz="1200" b="0" i="0">
                <a:solidFill>
                  <a:srgbClr val="CFD3DA"/>
                </a:solidFill>
                <a:latin typeface="Arial"/>
              </a:rPr>
              <a:t>Retrieved knowledge — cited, ACL-enforced</a:t>
            </a:r>
          </a:p>
        </p:txBody>
      </p:sp>
      <p:sp>
        <p:nvSpPr>
          <p:cNvPr id="19" name="TextBox 18"/>
          <p:cNvSpPr txBox="1"/>
          <p:nvPr/>
        </p:nvSpPr>
        <p:spPr>
          <a:xfrm>
            <a:off x="1645919" y="5056632"/>
            <a:ext cx="7315200" cy="256032"/>
          </a:xfrm>
          <a:prstGeom prst="rect">
            <a:avLst/>
          </a:prstGeom>
          <a:noFill/>
        </p:spPr>
        <p:txBody>
          <a:bodyPr wrap="square" anchor="t" lIns="0" rIns="0" tIns="0" bIns="0">
            <a:spAutoFit/>
          </a:bodyPr>
          <a:lstStyle/>
          <a:p>
            <a:pPr algn="l"/>
            <a:r>
              <a:rPr sz="900" b="0" i="0">
                <a:solidFill>
                  <a:srgbClr val="8A909C"/>
                </a:solidFill>
                <a:latin typeface="Arial"/>
              </a:rPr>
              <a:t>▼  higher source wins on conflict — always</a:t>
            </a:r>
          </a:p>
        </p:txBody>
      </p:sp>
      <p:sp>
        <p:nvSpPr>
          <p:cNvPr id="20" name="Oval 19"/>
          <p:cNvSpPr/>
          <p:nvPr/>
        </p:nvSpPr>
        <p:spPr>
          <a:xfrm>
            <a:off x="868680" y="5321808"/>
            <a:ext cx="512064" cy="512064"/>
          </a:xfrm>
          <a:prstGeom prst="ellipse">
            <a:avLst/>
          </a:prstGeom>
          <a:solidFill>
            <a:srgbClr val="2E9B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800" b="1">
                <a:solidFill>
                  <a:srgbClr val="FFFFFF"/>
                </a:solidFill>
                <a:latin typeface="Arial"/>
              </a:rPr>
              <a:t>5</a:t>
            </a:r>
          </a:p>
        </p:txBody>
      </p:sp>
      <p:sp>
        <p:nvSpPr>
          <p:cNvPr id="21" name="TextBox 20"/>
          <p:cNvSpPr txBox="1"/>
          <p:nvPr/>
        </p:nvSpPr>
        <p:spPr>
          <a:xfrm>
            <a:off x="1645919" y="5276088"/>
            <a:ext cx="4572000" cy="365760"/>
          </a:xfrm>
          <a:prstGeom prst="rect">
            <a:avLst/>
          </a:prstGeom>
          <a:noFill/>
        </p:spPr>
        <p:txBody>
          <a:bodyPr wrap="square" anchor="t" lIns="0" rIns="0" tIns="0" bIns="0">
            <a:spAutoFit/>
          </a:bodyPr>
          <a:lstStyle/>
          <a:p>
            <a:pPr algn="l"/>
            <a:r>
              <a:rPr sz="1700" b="1" i="0">
                <a:solidFill>
                  <a:srgbClr val="FFFFFF"/>
                </a:solidFill>
                <a:latin typeface="Arial"/>
              </a:rPr>
              <a:t>SLM output</a:t>
            </a:r>
          </a:p>
        </p:txBody>
      </p:sp>
      <p:sp>
        <p:nvSpPr>
          <p:cNvPr id="22" name="TextBox 21"/>
          <p:cNvSpPr txBox="1"/>
          <p:nvPr/>
        </p:nvSpPr>
        <p:spPr>
          <a:xfrm>
            <a:off x="1645919" y="5605272"/>
            <a:ext cx="8961120" cy="320040"/>
          </a:xfrm>
          <a:prstGeom prst="rect">
            <a:avLst/>
          </a:prstGeom>
          <a:noFill/>
        </p:spPr>
        <p:txBody>
          <a:bodyPr wrap="square" anchor="t" lIns="0" rIns="0" tIns="0" bIns="0">
            <a:spAutoFit/>
          </a:bodyPr>
          <a:lstStyle/>
          <a:p>
            <a:pPr algn="l"/>
            <a:r>
              <a:rPr sz="1200" b="0" i="0">
                <a:solidFill>
                  <a:srgbClr val="CFD3DA"/>
                </a:solidFill>
                <a:latin typeface="Arial"/>
              </a:rPr>
              <a:t>Language only — never a source of authority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platform architecture</a:t>
            </a:r>
          </a:p>
        </p:txBody>
      </p:sp>
      <p:sp>
        <p:nvSpPr>
          <p:cNvPr id="3" name="Rounded Rectangle 2"/>
          <p:cNvSpPr/>
          <p:nvPr/>
        </p:nvSpPr>
        <p:spPr>
          <a:xfrm>
            <a:off x="457200" y="2788920"/>
            <a:ext cx="11274552" cy="2331720"/>
          </a:xfrm>
          <a:prstGeom prst="roundRect">
            <a:avLst/>
          </a:prstGeom>
          <a:solidFill>
            <a:srgbClr val="12141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4" name="TextBox 3"/>
          <p:cNvSpPr txBox="1"/>
          <p:nvPr/>
        </p:nvSpPr>
        <p:spPr>
          <a:xfrm>
            <a:off x="640080" y="2852928"/>
            <a:ext cx="7315200" cy="274320"/>
          </a:xfrm>
          <a:prstGeom prst="rect">
            <a:avLst/>
          </a:prstGeom>
          <a:noFill/>
        </p:spPr>
        <p:txBody>
          <a:bodyPr wrap="square" anchor="t" lIns="0" rIns="0" tIns="0" bIns="0">
            <a:spAutoFit/>
          </a:bodyPr>
          <a:lstStyle/>
          <a:p>
            <a:pPr algn="l"/>
            <a:r>
              <a:rPr sz="1000" b="1" i="0">
                <a:solidFill>
                  <a:srgbClr val="2E9BF0"/>
                </a:solidFill>
                <a:latin typeface="Arial"/>
              </a:rPr>
              <a:t>AI RUNTIME  ·  single LangGraph process  ·  agents = logical capabilities</a:t>
            </a:r>
          </a:p>
        </p:txBody>
      </p:sp>
      <p:sp>
        <p:nvSpPr>
          <p:cNvPr id="5" name="TextBox 4"/>
          <p:cNvSpPr txBox="1"/>
          <p:nvPr/>
        </p:nvSpPr>
        <p:spPr>
          <a:xfrm>
            <a:off x="4297680" y="2852928"/>
            <a:ext cx="7223760" cy="274320"/>
          </a:xfrm>
          <a:prstGeom prst="rect">
            <a:avLst/>
          </a:prstGeom>
          <a:noFill/>
        </p:spPr>
        <p:txBody>
          <a:bodyPr wrap="square" anchor="t" lIns="0" rIns="0" tIns="0" bIns="0">
            <a:spAutoFit/>
          </a:bodyPr>
          <a:lstStyle/>
          <a:p>
            <a:pPr algn="r"/>
            <a:r>
              <a:rPr sz="1000" b="1" i="0">
                <a:solidFill>
                  <a:srgbClr val="C24DFF"/>
                </a:solidFill>
                <a:latin typeface="Arial"/>
              </a:rPr>
              <a:t>Guardrails at every boundary (input · context · prompt · tool · model · output)</a:t>
            </a:r>
          </a:p>
        </p:txBody>
      </p:sp>
      <p:sp>
        <p:nvSpPr>
          <p:cNvPr id="6" name="Rounded Rectangle 5"/>
          <p:cNvSpPr/>
          <p:nvPr/>
        </p:nvSpPr>
        <p:spPr>
          <a:xfrm>
            <a:off x="548640" y="1691640"/>
            <a:ext cx="1965960" cy="658368"/>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Arial"/>
              </a:rPr>
              <a:t>Chat UI</a:t>
            </a:r>
          </a:p>
        </p:txBody>
      </p:sp>
      <p:sp>
        <p:nvSpPr>
          <p:cNvPr id="7" name="Rounded Rectangle 6"/>
          <p:cNvSpPr/>
          <p:nvPr/>
        </p:nvSpPr>
        <p:spPr>
          <a:xfrm>
            <a:off x="2825496" y="1691640"/>
            <a:ext cx="1965960" cy="658368"/>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Arial"/>
              </a:rPr>
              <a:t>APIM</a:t>
            </a:r>
          </a:p>
          <a:p>
            <a:pPr algn="ctr"/>
            <a:r>
              <a:rPr sz="1200" b="1">
                <a:solidFill>
                  <a:srgbClr val="FFFFFF"/>
                </a:solidFill>
                <a:latin typeface="Arial"/>
              </a:rPr>
              <a:t>authN / authZ</a:t>
            </a:r>
          </a:p>
        </p:txBody>
      </p:sp>
      <p:cxnSp>
        <p:nvCxnSpPr>
          <p:cNvPr id="8" name="Connector 7"/>
          <p:cNvCxnSpPr/>
          <p:nvPr/>
        </p:nvCxnSpPr>
        <p:spPr>
          <a:xfrm>
            <a:off x="2514600" y="2020824"/>
            <a:ext cx="310896" cy="0"/>
          </a:xfrm>
          <a:prstGeom prst="line">
            <a:avLst/>
          </a:prstGeom>
          <a:ln w="1905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02352" y="1691640"/>
            <a:ext cx="1965960" cy="658368"/>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Arial"/>
              </a:rPr>
              <a:t>FastAPI</a:t>
            </a:r>
          </a:p>
          <a:p>
            <a:pPr algn="ctr"/>
            <a:r>
              <a:rPr sz="1200" b="1">
                <a:solidFill>
                  <a:srgbClr val="FFFFFF"/>
                </a:solidFill>
                <a:latin typeface="Arial"/>
              </a:rPr>
              <a:t>thin API</a:t>
            </a:r>
          </a:p>
        </p:txBody>
      </p:sp>
      <p:cxnSp>
        <p:nvCxnSpPr>
          <p:cNvPr id="10" name="Connector 9"/>
          <p:cNvCxnSpPr/>
          <p:nvPr/>
        </p:nvCxnSpPr>
        <p:spPr>
          <a:xfrm>
            <a:off x="4791456" y="2020824"/>
            <a:ext cx="310896" cy="0"/>
          </a:xfrm>
          <a:prstGeom prst="line">
            <a:avLst/>
          </a:prstGeom>
          <a:ln w="1905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79208" y="1691640"/>
            <a:ext cx="1965960" cy="658368"/>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Arial"/>
              </a:rPr>
              <a:t>Supervisor</a:t>
            </a:r>
          </a:p>
          <a:p>
            <a:pPr algn="ctr"/>
            <a:r>
              <a:rPr sz="1200" b="1">
                <a:solidFill>
                  <a:srgbClr val="FFFFFF"/>
                </a:solidFill>
                <a:latin typeface="Arial"/>
              </a:rPr>
              <a:t>intent routing</a:t>
            </a:r>
          </a:p>
        </p:txBody>
      </p:sp>
      <p:cxnSp>
        <p:nvCxnSpPr>
          <p:cNvPr id="12" name="Connector 11"/>
          <p:cNvCxnSpPr/>
          <p:nvPr/>
        </p:nvCxnSpPr>
        <p:spPr>
          <a:xfrm>
            <a:off x="7068312" y="2020824"/>
            <a:ext cx="310896" cy="0"/>
          </a:xfrm>
          <a:prstGeom prst="line">
            <a:avLst/>
          </a:prstGeom>
          <a:ln w="1905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656064" y="1691640"/>
            <a:ext cx="1965960" cy="658368"/>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Arial"/>
              </a:rPr>
              <a:t>LangGraph</a:t>
            </a:r>
          </a:p>
          <a:p>
            <a:pPr algn="ctr"/>
            <a:r>
              <a:rPr sz="1200" b="1">
                <a:solidFill>
                  <a:srgbClr val="FFFFFF"/>
                </a:solidFill>
                <a:latin typeface="Arial"/>
              </a:rPr>
              <a:t>orchestration</a:t>
            </a:r>
          </a:p>
        </p:txBody>
      </p:sp>
      <p:cxnSp>
        <p:nvCxnSpPr>
          <p:cNvPr id="14" name="Connector 13"/>
          <p:cNvCxnSpPr/>
          <p:nvPr/>
        </p:nvCxnSpPr>
        <p:spPr>
          <a:xfrm>
            <a:off x="9345168" y="2020824"/>
            <a:ext cx="310896" cy="0"/>
          </a:xfrm>
          <a:prstGeom prst="line">
            <a:avLst/>
          </a:prstGeom>
          <a:ln w="1905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639044" y="2350008"/>
            <a:ext cx="0" cy="438912"/>
          </a:xfrm>
          <a:prstGeom prst="line">
            <a:avLst/>
          </a:prstGeom>
          <a:ln w="22225">
            <a:solidFill>
              <a:srgbClr val="2E9BF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3246120"/>
            <a:ext cx="2194560" cy="86868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Arial"/>
              </a:rPr>
              <a:t>Agents</a:t>
            </a:r>
          </a:p>
          <a:p>
            <a:pPr algn="ctr"/>
            <a:r>
              <a:rPr sz="1200" b="1">
                <a:solidFill>
                  <a:srgbClr val="FFFFFF"/>
                </a:solidFill>
                <a:latin typeface="Arial"/>
              </a:rPr>
              <a:t>(AffiliationAgent first)</a:t>
            </a:r>
          </a:p>
        </p:txBody>
      </p:sp>
      <p:sp>
        <p:nvSpPr>
          <p:cNvPr id="17" name="Rounded Rectangle 16"/>
          <p:cNvSpPr/>
          <p:nvPr/>
        </p:nvSpPr>
        <p:spPr>
          <a:xfrm>
            <a:off x="3154680" y="3566160"/>
            <a:ext cx="1627632" cy="86868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ERC</a:t>
            </a:r>
          </a:p>
          <a:p>
            <a:pPr algn="ctr"/>
            <a:r>
              <a:rPr sz="1100" b="1">
                <a:solidFill>
                  <a:srgbClr val="FFFFFF"/>
                </a:solidFill>
                <a:latin typeface="Arial"/>
              </a:rPr>
              <a:t>enterprise context</a:t>
            </a:r>
          </a:p>
        </p:txBody>
      </p:sp>
      <p:sp>
        <p:nvSpPr>
          <p:cNvPr id="18" name="Rounded Rectangle 17"/>
          <p:cNvSpPr/>
          <p:nvPr/>
        </p:nvSpPr>
        <p:spPr>
          <a:xfrm>
            <a:off x="4892040" y="3566160"/>
            <a:ext cx="1627632" cy="86868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Tools / MCP</a:t>
            </a:r>
          </a:p>
        </p:txBody>
      </p:sp>
      <p:sp>
        <p:nvSpPr>
          <p:cNvPr id="19" name="Rounded Rectangle 18"/>
          <p:cNvSpPr/>
          <p:nvPr/>
        </p:nvSpPr>
        <p:spPr>
          <a:xfrm>
            <a:off x="6629400" y="3566160"/>
            <a:ext cx="1627632" cy="86868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RAG</a:t>
            </a:r>
          </a:p>
          <a:p>
            <a:pPr algn="ctr"/>
            <a:r>
              <a:rPr sz="1100" b="1">
                <a:solidFill>
                  <a:srgbClr val="FFFFFF"/>
                </a:solidFill>
                <a:latin typeface="Arial"/>
              </a:rPr>
              <a:t>knowledge</a:t>
            </a:r>
          </a:p>
        </p:txBody>
      </p:sp>
      <p:sp>
        <p:nvSpPr>
          <p:cNvPr id="20" name="Rounded Rectangle 19"/>
          <p:cNvSpPr/>
          <p:nvPr/>
        </p:nvSpPr>
        <p:spPr>
          <a:xfrm>
            <a:off x="8366760" y="3566160"/>
            <a:ext cx="1627632" cy="86868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Memory / Cache</a:t>
            </a:r>
          </a:p>
          <a:p>
            <a:pPr algn="ctr"/>
            <a:r>
              <a:rPr sz="1100" b="1">
                <a:solidFill>
                  <a:srgbClr val="FFFFFF"/>
                </a:solidFill>
                <a:latin typeface="Arial"/>
              </a:rPr>
              <a:t>Redis</a:t>
            </a:r>
          </a:p>
        </p:txBody>
      </p:sp>
      <p:sp>
        <p:nvSpPr>
          <p:cNvPr id="21" name="Rounded Rectangle 20"/>
          <p:cNvSpPr/>
          <p:nvPr/>
        </p:nvSpPr>
        <p:spPr>
          <a:xfrm>
            <a:off x="10104120" y="3566160"/>
            <a:ext cx="1627632" cy="86868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SLM</a:t>
            </a:r>
          </a:p>
          <a:p>
            <a:pPr algn="ctr"/>
            <a:r>
              <a:rPr sz="1100" b="1">
                <a:solidFill>
                  <a:srgbClr val="FFFFFF"/>
                </a:solidFill>
                <a:latin typeface="Arial"/>
              </a:rPr>
              <a:t>HF → vLLM</a:t>
            </a:r>
          </a:p>
        </p:txBody>
      </p:sp>
      <p:cxnSp>
        <p:nvCxnSpPr>
          <p:cNvPr id="22" name="Connector 21"/>
          <p:cNvCxnSpPr/>
          <p:nvPr/>
        </p:nvCxnSpPr>
        <p:spPr>
          <a:xfrm>
            <a:off x="2880360" y="3675887"/>
            <a:ext cx="274320" cy="0"/>
          </a:xfrm>
          <a:prstGeom prst="line">
            <a:avLst/>
          </a:prstGeom>
          <a:ln w="1905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5800" y="4617720"/>
            <a:ext cx="6766560" cy="384048"/>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Enterprise APIs / Events  —  PFF System of Record (decides &amp; executes)</a:t>
            </a:r>
          </a:p>
        </p:txBody>
      </p:sp>
      <p:sp>
        <p:nvSpPr>
          <p:cNvPr id="24" name="Rounded Rectangle 23"/>
          <p:cNvSpPr/>
          <p:nvPr/>
        </p:nvSpPr>
        <p:spPr>
          <a:xfrm>
            <a:off x="7635240" y="4599432"/>
            <a:ext cx="1554480" cy="420624"/>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Output</a:t>
            </a:r>
          </a:p>
          <a:p>
            <a:pPr algn="ctr"/>
            <a:r>
              <a:rPr sz="1100" b="1">
                <a:solidFill>
                  <a:srgbClr val="FFFFFF"/>
                </a:solidFill>
                <a:latin typeface="Arial"/>
              </a:rPr>
              <a:t>Guardrail</a:t>
            </a:r>
          </a:p>
        </p:txBody>
      </p:sp>
      <p:sp>
        <p:nvSpPr>
          <p:cNvPr id="25" name="Rounded Rectangle 24"/>
          <p:cNvSpPr/>
          <p:nvPr/>
        </p:nvSpPr>
        <p:spPr>
          <a:xfrm>
            <a:off x="9372600" y="4599432"/>
            <a:ext cx="1874519" cy="420624"/>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100" b="1">
                <a:solidFill>
                  <a:srgbClr val="FFFFFF"/>
                </a:solidFill>
                <a:latin typeface="Arial"/>
              </a:rPr>
              <a:t>Response</a:t>
            </a:r>
          </a:p>
        </p:txBody>
      </p:sp>
      <p:cxnSp>
        <p:nvCxnSpPr>
          <p:cNvPr id="26" name="Connector 25"/>
          <p:cNvCxnSpPr/>
          <p:nvPr/>
        </p:nvCxnSpPr>
        <p:spPr>
          <a:xfrm>
            <a:off x="4023360" y="4434840"/>
            <a:ext cx="0" cy="182880"/>
          </a:xfrm>
          <a:prstGeom prst="line">
            <a:avLst/>
          </a:prstGeom>
          <a:ln w="1905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452360" y="4800600"/>
            <a:ext cx="182880" cy="0"/>
          </a:xfrm>
          <a:prstGeom prst="line">
            <a:avLst/>
          </a:prstGeom>
          <a:ln w="1778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189720" y="4800600"/>
            <a:ext cx="182880" cy="0"/>
          </a:xfrm>
          <a:prstGeom prst="line">
            <a:avLst/>
          </a:prstGeom>
          <a:ln w="17780">
            <a:solidFill>
              <a:srgbClr val="8A909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5257800"/>
            <a:ext cx="11274552" cy="274320"/>
          </a:xfrm>
          <a:prstGeom prst="rect">
            <a:avLst/>
          </a:prstGeom>
          <a:noFill/>
        </p:spPr>
        <p:txBody>
          <a:bodyPr wrap="square" anchor="t" lIns="0" rIns="0" tIns="0" bIns="0">
            <a:spAutoFit/>
          </a:bodyPr>
          <a:lstStyle/>
          <a:p>
            <a:pPr algn="ctr"/>
            <a:r>
              <a:rPr sz="1100" b="1" i="0">
                <a:solidFill>
                  <a:srgbClr val="2E9BF0"/>
                </a:solidFill>
                <a:latin typeface="Arial"/>
              </a:rPr>
              <a:t>Authoritative-truth precedence:  Enterprise API / Event  ›  ERC  ›  Cache  ›  RAG  ›  SLM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state concepts — kept strictly separate</a:t>
            </a:r>
          </a:p>
        </p:txBody>
      </p:sp>
      <p:sp>
        <p:nvSpPr>
          <p:cNvPr id="3" name="Rounded Rectangle 2"/>
          <p:cNvSpPr/>
          <p:nvPr/>
        </p:nvSpPr>
        <p:spPr>
          <a:xfrm>
            <a:off x="822960" y="1828800"/>
            <a:ext cx="5074920" cy="1874519"/>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4" name="TextBox 3"/>
          <p:cNvSpPr txBox="1"/>
          <p:nvPr/>
        </p:nvSpPr>
        <p:spPr>
          <a:xfrm>
            <a:off x="1097280" y="2057400"/>
            <a:ext cx="4572000" cy="457200"/>
          </a:xfrm>
          <a:prstGeom prst="rect">
            <a:avLst/>
          </a:prstGeom>
          <a:noFill/>
        </p:spPr>
        <p:txBody>
          <a:bodyPr wrap="square" anchor="t" lIns="0" rIns="0" tIns="0" bIns="0">
            <a:spAutoFit/>
          </a:bodyPr>
          <a:lstStyle/>
          <a:p>
            <a:pPr algn="l"/>
            <a:r>
              <a:rPr sz="1800" b="1" i="0">
                <a:solidFill>
                  <a:srgbClr val="2E9BF0"/>
                </a:solidFill>
                <a:latin typeface="Arial"/>
              </a:rPr>
              <a:t>Conversation State</a:t>
            </a:r>
          </a:p>
        </p:txBody>
      </p:sp>
      <p:sp>
        <p:nvSpPr>
          <p:cNvPr id="5" name="TextBox 4"/>
          <p:cNvSpPr txBox="1"/>
          <p:nvPr/>
        </p:nvSpPr>
        <p:spPr>
          <a:xfrm>
            <a:off x="1097280" y="2697480"/>
            <a:ext cx="4572000" cy="822960"/>
          </a:xfrm>
          <a:prstGeom prst="rect">
            <a:avLst/>
          </a:prstGeom>
          <a:noFill/>
        </p:spPr>
        <p:txBody>
          <a:bodyPr wrap="square" anchor="t" lIns="0" rIns="0" tIns="0" bIns="0">
            <a:spAutoFit/>
          </a:bodyPr>
          <a:lstStyle/>
          <a:p>
            <a:pPr algn="l"/>
            <a:r>
              <a:rPr sz="1300" b="0" i="0">
                <a:solidFill>
                  <a:srgbClr val="CFD3DA"/>
                </a:solidFill>
                <a:latin typeface="Arial"/>
              </a:rPr>
              <a:t>turns, messages, intent — per conversation</a:t>
            </a:r>
          </a:p>
        </p:txBody>
      </p:sp>
      <p:sp>
        <p:nvSpPr>
          <p:cNvPr id="6" name="Rounded Rectangle 5"/>
          <p:cNvSpPr/>
          <p:nvPr/>
        </p:nvSpPr>
        <p:spPr>
          <a:xfrm>
            <a:off x="6263640" y="1828800"/>
            <a:ext cx="5074920" cy="1874519"/>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7" name="TextBox 6"/>
          <p:cNvSpPr txBox="1"/>
          <p:nvPr/>
        </p:nvSpPr>
        <p:spPr>
          <a:xfrm>
            <a:off x="6537959" y="2057400"/>
            <a:ext cx="4572000" cy="457200"/>
          </a:xfrm>
          <a:prstGeom prst="rect">
            <a:avLst/>
          </a:prstGeom>
          <a:noFill/>
        </p:spPr>
        <p:txBody>
          <a:bodyPr wrap="square" anchor="t" lIns="0" rIns="0" tIns="0" bIns="0">
            <a:spAutoFit/>
          </a:bodyPr>
          <a:lstStyle/>
          <a:p>
            <a:pPr algn="l"/>
            <a:r>
              <a:rPr sz="1800" b="1" i="0">
                <a:solidFill>
                  <a:srgbClr val="C24DFF"/>
                </a:solidFill>
                <a:latin typeface="Arial"/>
              </a:rPr>
              <a:t>Session State</a:t>
            </a:r>
          </a:p>
        </p:txBody>
      </p:sp>
      <p:sp>
        <p:nvSpPr>
          <p:cNvPr id="8" name="TextBox 7"/>
          <p:cNvSpPr txBox="1"/>
          <p:nvPr/>
        </p:nvSpPr>
        <p:spPr>
          <a:xfrm>
            <a:off x="6537959" y="2697480"/>
            <a:ext cx="4572000" cy="822960"/>
          </a:xfrm>
          <a:prstGeom prst="rect">
            <a:avLst/>
          </a:prstGeom>
          <a:noFill/>
        </p:spPr>
        <p:txBody>
          <a:bodyPr wrap="square" anchor="t" lIns="0" rIns="0" tIns="0" bIns="0">
            <a:spAutoFit/>
          </a:bodyPr>
          <a:lstStyle/>
          <a:p>
            <a:pPr algn="l"/>
            <a:r>
              <a:rPr sz="1300" b="0" i="0">
                <a:solidFill>
                  <a:srgbClr val="CFD3DA"/>
                </a:solidFill>
                <a:latin typeface="Arial"/>
              </a:rPr>
              <a:t>auth context, correlation, ttl — per session</a:t>
            </a:r>
          </a:p>
        </p:txBody>
      </p:sp>
      <p:sp>
        <p:nvSpPr>
          <p:cNvPr id="9" name="Rounded Rectangle 8"/>
          <p:cNvSpPr/>
          <p:nvPr/>
        </p:nvSpPr>
        <p:spPr>
          <a:xfrm>
            <a:off x="822960" y="3977639"/>
            <a:ext cx="5074920" cy="1874519"/>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10" name="TextBox 9"/>
          <p:cNvSpPr txBox="1"/>
          <p:nvPr/>
        </p:nvSpPr>
        <p:spPr>
          <a:xfrm>
            <a:off x="1097280" y="4206240"/>
            <a:ext cx="4572000" cy="457200"/>
          </a:xfrm>
          <a:prstGeom prst="rect">
            <a:avLst/>
          </a:prstGeom>
          <a:noFill/>
        </p:spPr>
        <p:txBody>
          <a:bodyPr wrap="square" anchor="t" lIns="0" rIns="0" tIns="0" bIns="0">
            <a:spAutoFit/>
          </a:bodyPr>
          <a:lstStyle/>
          <a:p>
            <a:pPr algn="l"/>
            <a:r>
              <a:rPr sz="1800" b="1" i="0">
                <a:solidFill>
                  <a:srgbClr val="2E9BF0"/>
                </a:solidFill>
                <a:latin typeface="Arial"/>
              </a:rPr>
              <a:t>Workflow / Agent State</a:t>
            </a:r>
          </a:p>
        </p:txBody>
      </p:sp>
      <p:sp>
        <p:nvSpPr>
          <p:cNvPr id="11" name="TextBox 10"/>
          <p:cNvSpPr txBox="1"/>
          <p:nvPr/>
        </p:nvSpPr>
        <p:spPr>
          <a:xfrm>
            <a:off x="1097280" y="4846320"/>
            <a:ext cx="4572000" cy="822960"/>
          </a:xfrm>
          <a:prstGeom prst="rect">
            <a:avLst/>
          </a:prstGeom>
          <a:noFill/>
        </p:spPr>
        <p:txBody>
          <a:bodyPr wrap="square" anchor="t" lIns="0" rIns="0" tIns="0" bIns="0">
            <a:spAutoFit/>
          </a:bodyPr>
          <a:lstStyle/>
          <a:p>
            <a:pPr algn="l"/>
            <a:r>
              <a:rPr sz="1300" b="0" i="0">
                <a:solidFill>
                  <a:srgbClr val="CFD3DA"/>
                </a:solidFill>
                <a:latin typeface="Arial"/>
              </a:rPr>
              <a:t>graph state, steps, HIL — per workflow run</a:t>
            </a:r>
          </a:p>
        </p:txBody>
      </p:sp>
      <p:sp>
        <p:nvSpPr>
          <p:cNvPr id="12" name="Rounded Rectangle 11"/>
          <p:cNvSpPr/>
          <p:nvPr/>
        </p:nvSpPr>
        <p:spPr>
          <a:xfrm>
            <a:off x="6263640" y="3977639"/>
            <a:ext cx="5074920" cy="1874519"/>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13" name="TextBox 12"/>
          <p:cNvSpPr txBox="1"/>
          <p:nvPr/>
        </p:nvSpPr>
        <p:spPr>
          <a:xfrm>
            <a:off x="6537959" y="4206240"/>
            <a:ext cx="4572000" cy="457200"/>
          </a:xfrm>
          <a:prstGeom prst="rect">
            <a:avLst/>
          </a:prstGeom>
          <a:noFill/>
        </p:spPr>
        <p:txBody>
          <a:bodyPr wrap="square" anchor="t" lIns="0" rIns="0" tIns="0" bIns="0">
            <a:spAutoFit/>
          </a:bodyPr>
          <a:lstStyle/>
          <a:p>
            <a:pPr algn="l"/>
            <a:r>
              <a:rPr sz="1800" b="1" i="0">
                <a:solidFill>
                  <a:srgbClr val="C24DFF"/>
                </a:solidFill>
                <a:latin typeface="Arial"/>
              </a:rPr>
              <a:t>Enterprise Business State</a:t>
            </a:r>
          </a:p>
        </p:txBody>
      </p:sp>
      <p:sp>
        <p:nvSpPr>
          <p:cNvPr id="14" name="TextBox 13"/>
          <p:cNvSpPr txBox="1"/>
          <p:nvPr/>
        </p:nvSpPr>
        <p:spPr>
          <a:xfrm>
            <a:off x="6537959" y="4846320"/>
            <a:ext cx="4572000" cy="822960"/>
          </a:xfrm>
          <a:prstGeom prst="rect">
            <a:avLst/>
          </a:prstGeom>
          <a:noFill/>
        </p:spPr>
        <p:txBody>
          <a:bodyPr wrap="square" anchor="t" lIns="0" rIns="0" tIns="0" bIns="0">
            <a:spAutoFit/>
          </a:bodyPr>
          <a:lstStyle/>
          <a:p>
            <a:pPr algn="l"/>
            <a:r>
              <a:rPr sz="1300" b="0" i="0">
                <a:solidFill>
                  <a:srgbClr val="CFD3DA"/>
                </a:solidFill>
                <a:latin typeface="Arial"/>
              </a:rPr>
              <a:t>system-of-record truth — owned by PFF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 affiliation first, catalogue deferred</a:t>
            </a:r>
          </a:p>
        </p:txBody>
      </p:sp>
      <p:sp>
        <p:nvSpPr>
          <p:cNvPr id="3" name="TextBox 2"/>
          <p:cNvSpPr txBox="1"/>
          <p:nvPr/>
        </p:nvSpPr>
        <p:spPr>
          <a:xfrm>
            <a:off x="822960" y="1828800"/>
            <a:ext cx="10515600" cy="4023360"/>
          </a:xfrm>
          <a:prstGeom prst="rect">
            <a:avLst/>
          </a:prstGeom>
          <a:noFill/>
        </p:spPr>
        <p:txBody>
          <a:bodyPr wrap="square" lIns="0" tIns="0">
            <a:spAutoFit/>
          </a:bodyPr>
          <a:lstStyle/>
          <a:p>
            <a:pPr algn="l">
              <a:spcAft>
                <a:spcPts val="1400"/>
              </a:spcAft>
            </a:pPr>
            <a:r>
              <a:rPr sz="1700" b="1">
                <a:solidFill>
                  <a:srgbClr val="2E9BF0"/>
                </a:solidFill>
                <a:latin typeface="Arial"/>
              </a:rPr>
              <a:t>•  </a:t>
            </a:r>
            <a:r>
              <a:rPr sz="1700">
                <a:solidFill>
                  <a:srgbClr val="FFFFFF"/>
                </a:solidFill>
                <a:latin typeface="Arial"/>
              </a:rPr>
              <a:t>One AI runtime; agents are logical capabilities inside it — not one microservice per agent.</a:t>
            </a:r>
          </a:p>
          <a:p>
            <a:pPr algn="l">
              <a:spcAft>
                <a:spcPts val="1400"/>
              </a:spcAft>
            </a:pPr>
            <a:r>
              <a:rPr sz="1700" b="1">
                <a:solidFill>
                  <a:srgbClr val="2E9BF0"/>
                </a:solidFill>
                <a:latin typeface="Arial"/>
              </a:rPr>
              <a:t>•  </a:t>
            </a:r>
            <a:r>
              <a:rPr sz="1700">
                <a:solidFill>
                  <a:srgbClr val="FFFFFF"/>
                </a:solidFill>
                <a:latin typeface="Arial"/>
              </a:rPr>
              <a:t>AffiliationAgent is the only agent built in the first pass (Phase 23).</a:t>
            </a:r>
          </a:p>
          <a:p>
            <a:pPr algn="l">
              <a:spcAft>
                <a:spcPts val="1400"/>
              </a:spcAft>
            </a:pPr>
            <a:r>
              <a:rPr sz="1700" b="1">
                <a:solidFill>
                  <a:srgbClr val="2E9BF0"/>
                </a:solidFill>
                <a:latin typeface="Arial"/>
              </a:rPr>
              <a:t>•  </a:t>
            </a:r>
            <a:r>
              <a:rPr sz="1700">
                <a:solidFill>
                  <a:srgbClr val="FFFFFF"/>
                </a:solidFill>
                <a:latin typeface="Arial"/>
              </a:rPr>
              <a:t>The wider agent catalogue (registration, discipline, officials, competitions…) is a real product decision, deliberately deferred — not invented.</a:t>
            </a:r>
          </a:p>
          <a:p>
            <a:pPr algn="l">
              <a:spcAft>
                <a:spcPts val="1400"/>
              </a:spcAft>
            </a:pPr>
            <a:r>
              <a:rPr sz="1700" b="1">
                <a:solidFill>
                  <a:srgbClr val="2E9BF0"/>
                </a:solidFill>
                <a:latin typeface="Arial"/>
              </a:rPr>
              <a:t>•  </a:t>
            </a:r>
            <a:r>
              <a:rPr sz="1700">
                <a:solidFill>
                  <a:srgbClr val="FFFFFF"/>
                </a:solidFill>
                <a:latin typeface="Arial"/>
              </a:rPr>
              <a:t>Everything is a versioned software artifact: prompts, models, agents, workflows, RAG indexes, guardrails — released as immutable bundles.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at a glance</a:t>
            </a:r>
          </a:p>
        </p:txBody>
      </p:sp>
      <p:pic>
        <p:nvPicPr>
          <p:cNvPr id="3" name="Picture 2" descr="python.png"/>
          <p:cNvPicPr>
            <a:picLocks noChangeAspect="1"/>
          </p:cNvPicPr>
          <p:nvPr/>
        </p:nvPicPr>
        <p:blipFill>
          <a:blip r:embed="rId2"/>
          <a:stretch>
            <a:fillRect/>
          </a:stretch>
        </p:blipFill>
        <p:spPr>
          <a:xfrm>
            <a:off x="1287780" y="1920240"/>
            <a:ext cx="822960" cy="822960"/>
          </a:xfrm>
          <a:prstGeom prst="rect">
            <a:avLst/>
          </a:prstGeom>
        </p:spPr>
      </p:pic>
      <p:sp>
        <p:nvSpPr>
          <p:cNvPr id="4" name="TextBox 3"/>
          <p:cNvSpPr txBox="1"/>
          <p:nvPr/>
        </p:nvSpPr>
        <p:spPr>
          <a:xfrm>
            <a:off x="822960" y="2816352"/>
            <a:ext cx="1752600" cy="274320"/>
          </a:xfrm>
          <a:prstGeom prst="rect">
            <a:avLst/>
          </a:prstGeom>
          <a:noFill/>
        </p:spPr>
        <p:txBody>
          <a:bodyPr wrap="square" anchor="t" lIns="0" rIns="0" tIns="0" bIns="0">
            <a:spAutoFit/>
          </a:bodyPr>
          <a:lstStyle/>
          <a:p>
            <a:pPr algn="ctr"/>
            <a:r>
              <a:rPr sz="900" b="0" i="0">
                <a:solidFill>
                  <a:srgbClr val="CFD3DA"/>
                </a:solidFill>
                <a:latin typeface="Arial"/>
              </a:rPr>
              <a:t>Python</a:t>
            </a:r>
          </a:p>
        </p:txBody>
      </p:sp>
      <p:pic>
        <p:nvPicPr>
          <p:cNvPr id="5" name="Picture 4" descr="fastapi.png"/>
          <p:cNvPicPr>
            <a:picLocks noChangeAspect="1"/>
          </p:cNvPicPr>
          <p:nvPr/>
        </p:nvPicPr>
        <p:blipFill>
          <a:blip r:embed="rId3"/>
          <a:stretch>
            <a:fillRect/>
          </a:stretch>
        </p:blipFill>
        <p:spPr>
          <a:xfrm>
            <a:off x="3040380" y="1920240"/>
            <a:ext cx="822960" cy="822960"/>
          </a:xfrm>
          <a:prstGeom prst="rect">
            <a:avLst/>
          </a:prstGeom>
        </p:spPr>
      </p:pic>
      <p:sp>
        <p:nvSpPr>
          <p:cNvPr id="6" name="TextBox 5"/>
          <p:cNvSpPr txBox="1"/>
          <p:nvPr/>
        </p:nvSpPr>
        <p:spPr>
          <a:xfrm>
            <a:off x="2575560" y="2816352"/>
            <a:ext cx="1752600" cy="274320"/>
          </a:xfrm>
          <a:prstGeom prst="rect">
            <a:avLst/>
          </a:prstGeom>
          <a:noFill/>
        </p:spPr>
        <p:txBody>
          <a:bodyPr wrap="square" anchor="t" lIns="0" rIns="0" tIns="0" bIns="0">
            <a:spAutoFit/>
          </a:bodyPr>
          <a:lstStyle/>
          <a:p>
            <a:pPr algn="ctr"/>
            <a:r>
              <a:rPr sz="900" b="0" i="0">
                <a:solidFill>
                  <a:srgbClr val="CFD3DA"/>
                </a:solidFill>
                <a:latin typeface="Arial"/>
              </a:rPr>
              <a:t>FastAPI</a:t>
            </a:r>
          </a:p>
        </p:txBody>
      </p:sp>
      <p:pic>
        <p:nvPicPr>
          <p:cNvPr id="7" name="Picture 6" descr="langgraph.png"/>
          <p:cNvPicPr>
            <a:picLocks noChangeAspect="1"/>
          </p:cNvPicPr>
          <p:nvPr/>
        </p:nvPicPr>
        <p:blipFill>
          <a:blip r:embed="rId4"/>
          <a:stretch>
            <a:fillRect/>
          </a:stretch>
        </p:blipFill>
        <p:spPr>
          <a:xfrm>
            <a:off x="4485894" y="2108166"/>
            <a:ext cx="1437132" cy="447107"/>
          </a:xfrm>
          <a:prstGeom prst="rect">
            <a:avLst/>
          </a:prstGeom>
        </p:spPr>
      </p:pic>
      <p:sp>
        <p:nvSpPr>
          <p:cNvPr id="8" name="TextBox 7"/>
          <p:cNvSpPr txBox="1"/>
          <p:nvPr/>
        </p:nvSpPr>
        <p:spPr>
          <a:xfrm>
            <a:off x="4328160" y="2816352"/>
            <a:ext cx="1752600" cy="274320"/>
          </a:xfrm>
          <a:prstGeom prst="rect">
            <a:avLst/>
          </a:prstGeom>
          <a:noFill/>
        </p:spPr>
        <p:txBody>
          <a:bodyPr wrap="square" anchor="t" lIns="0" rIns="0" tIns="0" bIns="0">
            <a:spAutoFit/>
          </a:bodyPr>
          <a:lstStyle/>
          <a:p>
            <a:pPr algn="ctr"/>
            <a:r>
              <a:rPr sz="900" b="0" i="0">
                <a:solidFill>
                  <a:srgbClr val="CFD3DA"/>
                </a:solidFill>
                <a:latin typeface="Arial"/>
              </a:rPr>
              <a:t>LangGraph</a:t>
            </a:r>
          </a:p>
        </p:txBody>
      </p:sp>
      <p:pic>
        <p:nvPicPr>
          <p:cNvPr id="9" name="Picture 8" descr="huggingface.png"/>
          <p:cNvPicPr>
            <a:picLocks noChangeAspect="1"/>
          </p:cNvPicPr>
          <p:nvPr/>
        </p:nvPicPr>
        <p:blipFill>
          <a:blip r:embed="rId5"/>
          <a:stretch>
            <a:fillRect/>
          </a:stretch>
        </p:blipFill>
        <p:spPr>
          <a:xfrm>
            <a:off x="6238494" y="2108166"/>
            <a:ext cx="1437132" cy="447107"/>
          </a:xfrm>
          <a:prstGeom prst="rect">
            <a:avLst/>
          </a:prstGeom>
        </p:spPr>
      </p:pic>
      <p:sp>
        <p:nvSpPr>
          <p:cNvPr id="10" name="TextBox 9"/>
          <p:cNvSpPr txBox="1"/>
          <p:nvPr/>
        </p:nvSpPr>
        <p:spPr>
          <a:xfrm>
            <a:off x="6080760" y="2816352"/>
            <a:ext cx="1752600" cy="274320"/>
          </a:xfrm>
          <a:prstGeom prst="rect">
            <a:avLst/>
          </a:prstGeom>
          <a:noFill/>
        </p:spPr>
        <p:txBody>
          <a:bodyPr wrap="square" anchor="t" lIns="0" rIns="0" tIns="0" bIns="0">
            <a:spAutoFit/>
          </a:bodyPr>
          <a:lstStyle/>
          <a:p>
            <a:pPr algn="ctr"/>
            <a:r>
              <a:rPr sz="900" b="0" i="0">
                <a:solidFill>
                  <a:srgbClr val="CFD3DA"/>
                </a:solidFill>
                <a:latin typeface="Arial"/>
              </a:rPr>
              <a:t>HF SLM</a:t>
            </a:r>
          </a:p>
        </p:txBody>
      </p:sp>
      <p:pic>
        <p:nvPicPr>
          <p:cNvPr id="11" name="Picture 10" descr="vllm.png"/>
          <p:cNvPicPr>
            <a:picLocks noChangeAspect="1"/>
          </p:cNvPicPr>
          <p:nvPr/>
        </p:nvPicPr>
        <p:blipFill>
          <a:blip r:embed="rId6"/>
          <a:stretch>
            <a:fillRect/>
          </a:stretch>
        </p:blipFill>
        <p:spPr>
          <a:xfrm>
            <a:off x="7991094" y="2108166"/>
            <a:ext cx="1437132" cy="447107"/>
          </a:xfrm>
          <a:prstGeom prst="rect">
            <a:avLst/>
          </a:prstGeom>
        </p:spPr>
      </p:pic>
      <p:sp>
        <p:nvSpPr>
          <p:cNvPr id="12" name="TextBox 11"/>
          <p:cNvSpPr txBox="1"/>
          <p:nvPr/>
        </p:nvSpPr>
        <p:spPr>
          <a:xfrm>
            <a:off x="7833360" y="2816352"/>
            <a:ext cx="1752600" cy="274320"/>
          </a:xfrm>
          <a:prstGeom prst="rect">
            <a:avLst/>
          </a:prstGeom>
          <a:noFill/>
        </p:spPr>
        <p:txBody>
          <a:bodyPr wrap="square" anchor="t" lIns="0" rIns="0" tIns="0" bIns="0">
            <a:spAutoFit/>
          </a:bodyPr>
          <a:lstStyle/>
          <a:p>
            <a:pPr algn="ctr"/>
            <a:r>
              <a:rPr sz="900" b="0" i="0">
                <a:solidFill>
                  <a:srgbClr val="CFD3DA"/>
                </a:solidFill>
                <a:latin typeface="Arial"/>
              </a:rPr>
              <a:t>vLLM</a:t>
            </a:r>
          </a:p>
        </p:txBody>
      </p:sp>
      <p:pic>
        <p:nvPicPr>
          <p:cNvPr id="13" name="Picture 12" descr="aisearch.png"/>
          <p:cNvPicPr>
            <a:picLocks noChangeAspect="1"/>
          </p:cNvPicPr>
          <p:nvPr/>
        </p:nvPicPr>
        <p:blipFill>
          <a:blip r:embed="rId7"/>
          <a:stretch>
            <a:fillRect/>
          </a:stretch>
        </p:blipFill>
        <p:spPr>
          <a:xfrm>
            <a:off x="10050780" y="1920240"/>
            <a:ext cx="822960" cy="822960"/>
          </a:xfrm>
          <a:prstGeom prst="rect">
            <a:avLst/>
          </a:prstGeom>
        </p:spPr>
      </p:pic>
      <p:sp>
        <p:nvSpPr>
          <p:cNvPr id="14" name="TextBox 13"/>
          <p:cNvSpPr txBox="1"/>
          <p:nvPr/>
        </p:nvSpPr>
        <p:spPr>
          <a:xfrm>
            <a:off x="9585960" y="2816352"/>
            <a:ext cx="1752600" cy="274320"/>
          </a:xfrm>
          <a:prstGeom prst="rect">
            <a:avLst/>
          </a:prstGeom>
          <a:noFill/>
        </p:spPr>
        <p:txBody>
          <a:bodyPr wrap="square" anchor="t" lIns="0" rIns="0" tIns="0" bIns="0">
            <a:spAutoFit/>
          </a:bodyPr>
          <a:lstStyle/>
          <a:p>
            <a:pPr algn="ctr"/>
            <a:r>
              <a:rPr sz="900" b="0" i="0">
                <a:solidFill>
                  <a:srgbClr val="CFD3DA"/>
                </a:solidFill>
                <a:latin typeface="Arial"/>
              </a:rPr>
              <a:t>AI Search</a:t>
            </a:r>
          </a:p>
        </p:txBody>
      </p:sp>
      <p:pic>
        <p:nvPicPr>
          <p:cNvPr id="15" name="Picture 14" descr="aks.png"/>
          <p:cNvPicPr>
            <a:picLocks noChangeAspect="1"/>
          </p:cNvPicPr>
          <p:nvPr/>
        </p:nvPicPr>
        <p:blipFill>
          <a:blip r:embed="rId8"/>
          <a:stretch>
            <a:fillRect/>
          </a:stretch>
        </p:blipFill>
        <p:spPr>
          <a:xfrm>
            <a:off x="1287780" y="3931920"/>
            <a:ext cx="822960" cy="822960"/>
          </a:xfrm>
          <a:prstGeom prst="rect">
            <a:avLst/>
          </a:prstGeom>
        </p:spPr>
      </p:pic>
      <p:sp>
        <p:nvSpPr>
          <p:cNvPr id="16" name="TextBox 15"/>
          <p:cNvSpPr txBox="1"/>
          <p:nvPr/>
        </p:nvSpPr>
        <p:spPr>
          <a:xfrm>
            <a:off x="822960" y="4828032"/>
            <a:ext cx="1752600" cy="274320"/>
          </a:xfrm>
          <a:prstGeom prst="rect">
            <a:avLst/>
          </a:prstGeom>
          <a:noFill/>
        </p:spPr>
        <p:txBody>
          <a:bodyPr wrap="square" anchor="t" lIns="0" rIns="0" tIns="0" bIns="0">
            <a:spAutoFit/>
          </a:bodyPr>
          <a:lstStyle/>
          <a:p>
            <a:pPr algn="ctr"/>
            <a:r>
              <a:rPr sz="900" b="0" i="0">
                <a:solidFill>
                  <a:srgbClr val="CFD3DA"/>
                </a:solidFill>
                <a:latin typeface="Arial"/>
              </a:rPr>
              <a:t>AKS</a:t>
            </a:r>
          </a:p>
        </p:txBody>
      </p:sp>
      <p:pic>
        <p:nvPicPr>
          <p:cNvPr id="17" name="Picture 16" descr="aisearch.png"/>
          <p:cNvPicPr>
            <a:picLocks noChangeAspect="1"/>
          </p:cNvPicPr>
          <p:nvPr/>
        </p:nvPicPr>
        <p:blipFill>
          <a:blip r:embed="rId7"/>
          <a:stretch>
            <a:fillRect/>
          </a:stretch>
        </p:blipFill>
        <p:spPr>
          <a:xfrm>
            <a:off x="3040380" y="3931920"/>
            <a:ext cx="822960" cy="822960"/>
          </a:xfrm>
          <a:prstGeom prst="rect">
            <a:avLst/>
          </a:prstGeom>
        </p:spPr>
      </p:pic>
      <p:sp>
        <p:nvSpPr>
          <p:cNvPr id="18" name="TextBox 17"/>
          <p:cNvSpPr txBox="1"/>
          <p:nvPr/>
        </p:nvSpPr>
        <p:spPr>
          <a:xfrm>
            <a:off x="2575560" y="4828032"/>
            <a:ext cx="1752600" cy="274320"/>
          </a:xfrm>
          <a:prstGeom prst="rect">
            <a:avLst/>
          </a:prstGeom>
          <a:noFill/>
        </p:spPr>
        <p:txBody>
          <a:bodyPr wrap="square" anchor="t" lIns="0" rIns="0" tIns="0" bIns="0">
            <a:spAutoFit/>
          </a:bodyPr>
          <a:lstStyle/>
          <a:p>
            <a:pPr algn="ctr"/>
            <a:r>
              <a:rPr sz="900" b="0" i="0">
                <a:solidFill>
                  <a:srgbClr val="CFD3DA"/>
                </a:solidFill>
                <a:latin typeface="Arial"/>
              </a:rPr>
              <a:t>APIM</a:t>
            </a:r>
          </a:p>
        </p:txBody>
      </p:sp>
      <p:pic>
        <p:nvPicPr>
          <p:cNvPr id="19" name="Picture 18" descr="aisearch.png"/>
          <p:cNvPicPr>
            <a:picLocks noChangeAspect="1"/>
          </p:cNvPicPr>
          <p:nvPr/>
        </p:nvPicPr>
        <p:blipFill>
          <a:blip r:embed="rId7"/>
          <a:stretch>
            <a:fillRect/>
          </a:stretch>
        </p:blipFill>
        <p:spPr>
          <a:xfrm>
            <a:off x="4792980" y="3931920"/>
            <a:ext cx="822960" cy="822960"/>
          </a:xfrm>
          <a:prstGeom prst="rect">
            <a:avLst/>
          </a:prstGeom>
        </p:spPr>
      </p:pic>
      <p:sp>
        <p:nvSpPr>
          <p:cNvPr id="20" name="TextBox 19"/>
          <p:cNvSpPr txBox="1"/>
          <p:nvPr/>
        </p:nvSpPr>
        <p:spPr>
          <a:xfrm>
            <a:off x="4328160" y="4828032"/>
            <a:ext cx="1752600" cy="274320"/>
          </a:xfrm>
          <a:prstGeom prst="rect">
            <a:avLst/>
          </a:prstGeom>
          <a:noFill/>
        </p:spPr>
        <p:txBody>
          <a:bodyPr wrap="square" anchor="t" lIns="0" rIns="0" tIns="0" bIns="0">
            <a:spAutoFit/>
          </a:bodyPr>
          <a:lstStyle/>
          <a:p>
            <a:pPr algn="ctr"/>
            <a:r>
              <a:rPr sz="900" b="0" i="0">
                <a:solidFill>
                  <a:srgbClr val="CFD3DA"/>
                </a:solidFill>
                <a:latin typeface="Arial"/>
              </a:rPr>
              <a:t>Service Bus</a:t>
            </a:r>
          </a:p>
        </p:txBody>
      </p:sp>
      <p:pic>
        <p:nvPicPr>
          <p:cNvPr id="21" name="Picture 20" descr="redis.png"/>
          <p:cNvPicPr>
            <a:picLocks noChangeAspect="1"/>
          </p:cNvPicPr>
          <p:nvPr/>
        </p:nvPicPr>
        <p:blipFill>
          <a:blip r:embed="rId9"/>
          <a:stretch>
            <a:fillRect/>
          </a:stretch>
        </p:blipFill>
        <p:spPr>
          <a:xfrm>
            <a:off x="6545580" y="3931920"/>
            <a:ext cx="822960" cy="822960"/>
          </a:xfrm>
          <a:prstGeom prst="rect">
            <a:avLst/>
          </a:prstGeom>
        </p:spPr>
      </p:pic>
      <p:sp>
        <p:nvSpPr>
          <p:cNvPr id="22" name="TextBox 21"/>
          <p:cNvSpPr txBox="1"/>
          <p:nvPr/>
        </p:nvSpPr>
        <p:spPr>
          <a:xfrm>
            <a:off x="6080760" y="4828032"/>
            <a:ext cx="1752600" cy="274320"/>
          </a:xfrm>
          <a:prstGeom prst="rect">
            <a:avLst/>
          </a:prstGeom>
          <a:noFill/>
        </p:spPr>
        <p:txBody>
          <a:bodyPr wrap="square" anchor="t" lIns="0" rIns="0" tIns="0" bIns="0">
            <a:spAutoFit/>
          </a:bodyPr>
          <a:lstStyle/>
          <a:p>
            <a:pPr algn="ctr"/>
            <a:r>
              <a:rPr sz="900" b="0" i="0">
                <a:solidFill>
                  <a:srgbClr val="CFD3DA"/>
                </a:solidFill>
                <a:latin typeface="Arial"/>
              </a:rPr>
              <a:t>Redis</a:t>
            </a:r>
          </a:p>
        </p:txBody>
      </p:sp>
      <p:pic>
        <p:nvPicPr>
          <p:cNvPr id="23" name="Picture 22" descr="aisearch.png"/>
          <p:cNvPicPr>
            <a:picLocks noChangeAspect="1"/>
          </p:cNvPicPr>
          <p:nvPr/>
        </p:nvPicPr>
        <p:blipFill>
          <a:blip r:embed="rId7"/>
          <a:stretch>
            <a:fillRect/>
          </a:stretch>
        </p:blipFill>
        <p:spPr>
          <a:xfrm>
            <a:off x="8298180" y="3931920"/>
            <a:ext cx="822960" cy="822960"/>
          </a:xfrm>
          <a:prstGeom prst="rect">
            <a:avLst/>
          </a:prstGeom>
        </p:spPr>
      </p:pic>
      <p:sp>
        <p:nvSpPr>
          <p:cNvPr id="24" name="TextBox 23"/>
          <p:cNvSpPr txBox="1"/>
          <p:nvPr/>
        </p:nvSpPr>
        <p:spPr>
          <a:xfrm>
            <a:off x="7833360" y="4828032"/>
            <a:ext cx="1752600" cy="274320"/>
          </a:xfrm>
          <a:prstGeom prst="rect">
            <a:avLst/>
          </a:prstGeom>
          <a:noFill/>
        </p:spPr>
        <p:txBody>
          <a:bodyPr wrap="square" anchor="t" lIns="0" rIns="0" tIns="0" bIns="0">
            <a:spAutoFit/>
          </a:bodyPr>
          <a:lstStyle/>
          <a:p>
            <a:pPr algn="ctr"/>
            <a:r>
              <a:rPr sz="900" b="0" i="0">
                <a:solidFill>
                  <a:srgbClr val="CFD3DA"/>
                </a:solidFill>
                <a:latin typeface="Arial"/>
              </a:rPr>
              <a:t>Key Vault</a:t>
            </a:r>
          </a:p>
        </p:txBody>
      </p:sp>
      <p:pic>
        <p:nvPicPr>
          <p:cNvPr id="25" name="Picture 24" descr="langfuse.png"/>
          <p:cNvPicPr>
            <a:picLocks noChangeAspect="1"/>
          </p:cNvPicPr>
          <p:nvPr/>
        </p:nvPicPr>
        <p:blipFill>
          <a:blip r:embed="rId10"/>
          <a:stretch>
            <a:fillRect/>
          </a:stretch>
        </p:blipFill>
        <p:spPr>
          <a:xfrm>
            <a:off x="9743694" y="4119846"/>
            <a:ext cx="1437132" cy="447107"/>
          </a:xfrm>
          <a:prstGeom prst="rect">
            <a:avLst/>
          </a:prstGeom>
        </p:spPr>
      </p:pic>
      <p:sp>
        <p:nvSpPr>
          <p:cNvPr id="26" name="TextBox 25"/>
          <p:cNvSpPr txBox="1"/>
          <p:nvPr/>
        </p:nvSpPr>
        <p:spPr>
          <a:xfrm>
            <a:off x="9585960" y="4828032"/>
            <a:ext cx="1752600" cy="274320"/>
          </a:xfrm>
          <a:prstGeom prst="rect">
            <a:avLst/>
          </a:prstGeom>
          <a:noFill/>
        </p:spPr>
        <p:txBody>
          <a:bodyPr wrap="square" anchor="t" lIns="0" rIns="0" tIns="0" bIns="0">
            <a:spAutoFit/>
          </a:bodyPr>
          <a:lstStyle/>
          <a:p>
            <a:pPr algn="ctr"/>
            <a:r>
              <a:rPr sz="900" b="0" i="0">
                <a:solidFill>
                  <a:srgbClr val="CFD3DA"/>
                </a:solidFill>
                <a:latin typeface="Arial"/>
              </a:rPr>
              <a:t>Langfuse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ADR programme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E9BF0"/>
                </a:solidFill>
                <a:latin typeface="Arial"/>
              </a:rPr>
              <a:t>Every significant decision is recorded and governed</a:t>
            </a:r>
          </a:p>
        </p:txBody>
      </p:sp>
      <p:graphicFrame>
        <p:nvGraphicFramePr>
          <p:cNvPr id="4" name="Table 3"/>
          <p:cNvGraphicFramePr>
            <a:graphicFrameLocks noGrp="1"/>
          </p:cNvGraphicFramePr>
          <p:nvPr/>
        </p:nvGraphicFramePr>
        <p:xfrm>
          <a:off x="822960" y="1783080"/>
          <a:ext cx="10515600" cy="4480560"/>
        </p:xfrm>
        <a:graphic>
          <a:graphicData uri="http://schemas.openxmlformats.org/drawingml/2006/table">
            <a:tbl>
              <a:tblPr firstRow="1">
                <a:tableStyleId>{5C22544A-7EE6-4342-B048-85BDC9FD1C3A}</a:tableStyleId>
              </a:tblPr>
              <a:tblGrid>
                <a:gridCol w="2926080"/>
                <a:gridCol w="914400"/>
                <a:gridCol w="6675120"/>
              </a:tblGrid>
              <a:tr h="448056">
                <a:tc>
                  <a:txBody>
                    <a:bodyPr wrap="square"/>
                    <a:lstStyle/>
                    <a:p>
                      <a:r>
                        <a:rPr sz="1200" b="1">
                          <a:solidFill>
                            <a:srgbClr val="FFFFFF"/>
                          </a:solidFill>
                          <a:latin typeface="Arial"/>
                        </a:rPr>
                        <a:t>Domain</a:t>
                      </a:r>
                    </a:p>
                  </a:txBody>
                  <a:tcPr marL="63500" marR="63500" marT="25400" marB="25400" anchor="ctr">
                    <a:solidFill>
                      <a:srgbClr val="153A5C"/>
                    </a:solidFill>
                  </a:tcPr>
                </a:tc>
                <a:tc>
                  <a:txBody>
                    <a:bodyPr wrap="square"/>
                    <a:lstStyle/>
                    <a:p>
                      <a:r>
                        <a:rPr sz="1200" b="1">
                          <a:solidFill>
                            <a:srgbClr val="FFFFFF"/>
                          </a:solidFill>
                          <a:latin typeface="Arial"/>
                        </a:rPr>
                        <a:t>ADRs</a:t>
                      </a:r>
                    </a:p>
                  </a:txBody>
                  <a:tcPr marL="63500" marR="63500" marT="25400" marB="25400" anchor="ctr">
                    <a:solidFill>
                      <a:srgbClr val="153A5C"/>
                    </a:solidFill>
                  </a:tcPr>
                </a:tc>
                <a:tc>
                  <a:txBody>
                    <a:bodyPr wrap="square"/>
                    <a:lstStyle/>
                    <a:p>
                      <a:r>
                        <a:rPr sz="1200" b="1">
                          <a:solidFill>
                            <a:srgbClr val="FFFFFF"/>
                          </a:solidFill>
                          <a:latin typeface="Arial"/>
                        </a:rPr>
                        <a:t>Focus</a:t>
                      </a:r>
                    </a:p>
                  </a:txBody>
                  <a:tcPr marL="63500" marR="63500" marT="25400" marB="25400" anchor="ctr">
                    <a:solidFill>
                      <a:srgbClr val="153A5C"/>
                    </a:solidFill>
                  </a:tcPr>
                </a:tc>
              </a:tr>
              <a:tr h="448056">
                <a:tc>
                  <a:txBody>
                    <a:bodyPr wrap="square"/>
                    <a:lstStyle/>
                    <a:p>
                      <a:r>
                        <a:rPr sz="1200" b="1">
                          <a:solidFill>
                            <a:srgbClr val="FFFFFF"/>
                          </a:solidFill>
                          <a:latin typeface="Arial"/>
                        </a:rPr>
                        <a:t>D0 Decision Programme</a:t>
                      </a:r>
                    </a:p>
                  </a:txBody>
                  <a:tcPr marL="63500" marR="63500" marT="25400" marB="25400" anchor="ctr">
                    <a:solidFill>
                      <a:srgbClr val="121419"/>
                    </a:solidFill>
                  </a:tcPr>
                </a:tc>
                <a:tc>
                  <a:txBody>
                    <a:bodyPr wrap="square"/>
                    <a:lstStyle/>
                    <a:p>
                      <a:r>
                        <a:rPr sz="1200" b="0">
                          <a:solidFill>
                            <a:srgbClr val="CFD3DA"/>
                          </a:solidFill>
                          <a:latin typeface="Arial"/>
                        </a:rPr>
                        <a:t>4</a:t>
                      </a:r>
                    </a:p>
                  </a:txBody>
                  <a:tcPr marL="63500" marR="63500" marT="25400" marB="25400" anchor="ctr">
                    <a:solidFill>
                      <a:srgbClr val="121419"/>
                    </a:solidFill>
                  </a:tcPr>
                </a:tc>
                <a:tc>
                  <a:txBody>
                    <a:bodyPr wrap="square"/>
                    <a:lstStyle/>
                    <a:p>
                      <a:r>
                        <a:rPr sz="1200" b="0">
                          <a:solidFill>
                            <a:srgbClr val="CFD3DA"/>
                          </a:solidFill>
                          <a:latin typeface="Arial"/>
                        </a:rPr>
                        <a:t>ADR governance, review board, open-decision register</a:t>
                      </a:r>
                    </a:p>
                  </a:txBody>
                  <a:tcPr marL="63500" marR="63500" marT="25400" marB="25400" anchor="ctr">
                    <a:solidFill>
                      <a:srgbClr val="121419"/>
                    </a:solidFill>
                  </a:tcPr>
                </a:tc>
              </a:tr>
              <a:tr h="448056">
                <a:tc>
                  <a:txBody>
                    <a:bodyPr wrap="square"/>
                    <a:lstStyle/>
                    <a:p>
                      <a:r>
                        <a:rPr sz="1200" b="1">
                          <a:solidFill>
                            <a:srgbClr val="FFFFFF"/>
                          </a:solidFill>
                          <a:latin typeface="Arial"/>
                        </a:rPr>
                        <a:t>D1 Business</a:t>
                      </a:r>
                    </a:p>
                  </a:txBody>
                  <a:tcPr marL="63500" marR="63500" marT="25400" marB="25400" anchor="ctr">
                    <a:solidFill>
                      <a:srgbClr val="1B1F27"/>
                    </a:solidFill>
                  </a:tcPr>
                </a:tc>
                <a:tc>
                  <a:txBody>
                    <a:bodyPr wrap="square"/>
                    <a:lstStyle/>
                    <a:p>
                      <a:r>
                        <a:rPr sz="1200" b="0">
                          <a:solidFill>
                            <a:srgbClr val="CFD3DA"/>
                          </a:solidFill>
                          <a:latin typeface="Arial"/>
                        </a:rPr>
                        <a:t>12</a:t>
                      </a:r>
                    </a:p>
                  </a:txBody>
                  <a:tcPr marL="63500" marR="63500" marT="25400" marB="25400" anchor="ctr">
                    <a:solidFill>
                      <a:srgbClr val="1B1F27"/>
                    </a:solidFill>
                  </a:tcPr>
                </a:tc>
                <a:tc>
                  <a:txBody>
                    <a:bodyPr wrap="square"/>
                    <a:lstStyle/>
                    <a:p>
                      <a:r>
                        <a:rPr sz="1200" b="0">
                          <a:solidFill>
                            <a:srgbClr val="CFD3DA"/>
                          </a:solidFill>
                          <a:latin typeface="Arial"/>
                        </a:rPr>
                        <a:t>scope, Golden Rule, persona, workflows, traceability</a:t>
                      </a:r>
                    </a:p>
                  </a:txBody>
                  <a:tcPr marL="63500" marR="63500" marT="25400" marB="25400" anchor="ctr">
                    <a:solidFill>
                      <a:srgbClr val="1B1F27"/>
                    </a:solidFill>
                  </a:tcPr>
                </a:tc>
              </a:tr>
              <a:tr h="448056">
                <a:tc>
                  <a:txBody>
                    <a:bodyPr wrap="square"/>
                    <a:lstStyle/>
                    <a:p>
                      <a:r>
                        <a:rPr sz="1200" b="1">
                          <a:solidFill>
                            <a:srgbClr val="FFFFFF"/>
                          </a:solidFill>
                          <a:latin typeface="Arial"/>
                        </a:rPr>
                        <a:t>D2 Application</a:t>
                      </a:r>
                    </a:p>
                  </a:txBody>
                  <a:tcPr marL="63500" marR="63500" marT="25400" marB="25400" anchor="ctr">
                    <a:solidFill>
                      <a:srgbClr val="121419"/>
                    </a:solidFill>
                  </a:tcPr>
                </a:tc>
                <a:tc>
                  <a:txBody>
                    <a:bodyPr wrap="square"/>
                    <a:lstStyle/>
                    <a:p>
                      <a:r>
                        <a:rPr sz="1200" b="0">
                          <a:solidFill>
                            <a:srgbClr val="CFD3DA"/>
                          </a:solidFill>
                          <a:latin typeface="Arial"/>
                        </a:rPr>
                        <a:t>21</a:t>
                      </a:r>
                    </a:p>
                  </a:txBody>
                  <a:tcPr marL="63500" marR="63500" marT="25400" marB="25400" anchor="ctr">
                    <a:solidFill>
                      <a:srgbClr val="121419"/>
                    </a:solidFill>
                  </a:tcPr>
                </a:tc>
                <a:tc>
                  <a:txBody>
                    <a:bodyPr wrap="square"/>
                    <a:lstStyle/>
                    <a:p>
                      <a:r>
                        <a:rPr sz="1200" b="0">
                          <a:solidFill>
                            <a:srgbClr val="CFD3DA"/>
                          </a:solidFill>
                          <a:latin typeface="Arial"/>
                        </a:rPr>
                        <a:t>layering, orchestration, integration, eventing</a:t>
                      </a:r>
                    </a:p>
                  </a:txBody>
                  <a:tcPr marL="63500" marR="63500" marT="25400" marB="25400" anchor="ctr">
                    <a:solidFill>
                      <a:srgbClr val="121419"/>
                    </a:solidFill>
                  </a:tcPr>
                </a:tc>
              </a:tr>
              <a:tr h="448056">
                <a:tc>
                  <a:txBody>
                    <a:bodyPr wrap="square"/>
                    <a:lstStyle/>
                    <a:p>
                      <a:r>
                        <a:rPr sz="1200" b="1">
                          <a:solidFill>
                            <a:srgbClr val="FFFFFF"/>
                          </a:solidFill>
                          <a:latin typeface="Arial"/>
                        </a:rPr>
                        <a:t>D3 AI</a:t>
                      </a:r>
                    </a:p>
                  </a:txBody>
                  <a:tcPr marL="63500" marR="63500" marT="25400" marB="25400" anchor="ctr">
                    <a:solidFill>
                      <a:srgbClr val="1B1F27"/>
                    </a:solidFill>
                  </a:tcPr>
                </a:tc>
                <a:tc>
                  <a:txBody>
                    <a:bodyPr wrap="square"/>
                    <a:lstStyle/>
                    <a:p>
                      <a:r>
                        <a:rPr sz="1200" b="0">
                          <a:solidFill>
                            <a:srgbClr val="CFD3DA"/>
                          </a:solidFill>
                          <a:latin typeface="Arial"/>
                        </a:rPr>
                        <a:t>28</a:t>
                      </a:r>
                    </a:p>
                  </a:txBody>
                  <a:tcPr marL="63500" marR="63500" marT="25400" marB="25400" anchor="ctr">
                    <a:solidFill>
                      <a:srgbClr val="1B1F27"/>
                    </a:solidFill>
                  </a:tcPr>
                </a:tc>
                <a:tc>
                  <a:txBody>
                    <a:bodyPr wrap="square"/>
                    <a:lstStyle/>
                    <a:p>
                      <a:r>
                        <a:rPr sz="1200" b="0">
                          <a:solidFill>
                            <a:srgbClr val="CFD3DA"/>
                          </a:solidFill>
                          <a:latin typeface="Arial"/>
                        </a:rPr>
                        <a:t>agents, prompts, SLM, RAG, embeddings, refinement</a:t>
                      </a:r>
                    </a:p>
                  </a:txBody>
                  <a:tcPr marL="63500" marR="63500" marT="25400" marB="25400" anchor="ctr">
                    <a:solidFill>
                      <a:srgbClr val="1B1F27"/>
                    </a:solidFill>
                  </a:tcPr>
                </a:tc>
              </a:tr>
              <a:tr h="448056">
                <a:tc>
                  <a:txBody>
                    <a:bodyPr wrap="square"/>
                    <a:lstStyle/>
                    <a:p>
                      <a:r>
                        <a:rPr sz="1200" b="1">
                          <a:solidFill>
                            <a:srgbClr val="FFFFFF"/>
                          </a:solidFill>
                          <a:latin typeface="Arial"/>
                        </a:rPr>
                        <a:t>D4 Information</a:t>
                      </a:r>
                    </a:p>
                  </a:txBody>
                  <a:tcPr marL="63500" marR="63500" marT="25400" marB="25400" anchor="ctr">
                    <a:solidFill>
                      <a:srgbClr val="121419"/>
                    </a:solidFill>
                  </a:tcPr>
                </a:tc>
                <a:tc>
                  <a:txBody>
                    <a:bodyPr wrap="square"/>
                    <a:lstStyle/>
                    <a:p>
                      <a:r>
                        <a:rPr sz="1200" b="0">
                          <a:solidFill>
                            <a:srgbClr val="CFD3DA"/>
                          </a:solidFill>
                          <a:latin typeface="Arial"/>
                        </a:rPr>
                        <a:t>13</a:t>
                      </a:r>
                    </a:p>
                  </a:txBody>
                  <a:tcPr marL="63500" marR="63500" marT="25400" marB="25400" anchor="ctr">
                    <a:solidFill>
                      <a:srgbClr val="121419"/>
                    </a:solidFill>
                  </a:tcPr>
                </a:tc>
                <a:tc>
                  <a:txBody>
                    <a:bodyPr wrap="square"/>
                    <a:lstStyle/>
                    <a:p>
                      <a:r>
                        <a:rPr sz="1200" b="0">
                          <a:solidFill>
                            <a:srgbClr val="CFD3DA"/>
                          </a:solidFill>
                          <a:latin typeface="Arial"/>
                        </a:rPr>
                        <a:t>ERC, state, memory, cache, identifiers</a:t>
                      </a:r>
                    </a:p>
                  </a:txBody>
                  <a:tcPr marL="63500" marR="63500" marT="25400" marB="25400" anchor="ctr">
                    <a:solidFill>
                      <a:srgbClr val="121419"/>
                    </a:solidFill>
                  </a:tcPr>
                </a:tc>
              </a:tr>
              <a:tr h="448056">
                <a:tc>
                  <a:txBody>
                    <a:bodyPr wrap="square"/>
                    <a:lstStyle/>
                    <a:p>
                      <a:r>
                        <a:rPr sz="1200" b="1">
                          <a:solidFill>
                            <a:srgbClr val="FFFFFF"/>
                          </a:solidFill>
                          <a:latin typeface="Arial"/>
                        </a:rPr>
                        <a:t>D5 Technology</a:t>
                      </a:r>
                    </a:p>
                  </a:txBody>
                  <a:tcPr marL="63500" marR="63500" marT="25400" marB="25400" anchor="ctr">
                    <a:solidFill>
                      <a:srgbClr val="1B1F27"/>
                    </a:solidFill>
                  </a:tcPr>
                </a:tc>
                <a:tc>
                  <a:txBody>
                    <a:bodyPr wrap="square"/>
                    <a:lstStyle/>
                    <a:p>
                      <a:r>
                        <a:rPr sz="1200" b="0">
                          <a:solidFill>
                            <a:srgbClr val="CFD3DA"/>
                          </a:solidFill>
                          <a:latin typeface="Arial"/>
                        </a:rPr>
                        <a:t>20</a:t>
                      </a:r>
                    </a:p>
                  </a:txBody>
                  <a:tcPr marL="63500" marR="63500" marT="25400" marB="25400" anchor="ctr">
                    <a:solidFill>
                      <a:srgbClr val="1B1F27"/>
                    </a:solidFill>
                  </a:tcPr>
                </a:tc>
                <a:tc>
                  <a:txBody>
                    <a:bodyPr wrap="square"/>
                    <a:lstStyle/>
                    <a:p>
                      <a:r>
                        <a:rPr sz="1200" b="0">
                          <a:solidFill>
                            <a:srgbClr val="CFD3DA"/>
                          </a:solidFill>
                          <a:latin typeface="Arial"/>
                        </a:rPr>
                        <a:t>Azure/AKS, APIM, Key Vault, vLLM, delivery</a:t>
                      </a:r>
                    </a:p>
                  </a:txBody>
                  <a:tcPr marL="63500" marR="63500" marT="25400" marB="25400" anchor="ctr">
                    <a:solidFill>
                      <a:srgbClr val="1B1F27"/>
                    </a:solidFill>
                  </a:tcPr>
                </a:tc>
              </a:tr>
              <a:tr h="448056">
                <a:tc>
                  <a:txBody>
                    <a:bodyPr wrap="square"/>
                    <a:lstStyle/>
                    <a:p>
                      <a:r>
                        <a:rPr sz="1200" b="1">
                          <a:solidFill>
                            <a:srgbClr val="FFFFFF"/>
                          </a:solidFill>
                          <a:latin typeface="Arial"/>
                        </a:rPr>
                        <a:t>D6 Security &amp; Governance</a:t>
                      </a:r>
                    </a:p>
                  </a:txBody>
                  <a:tcPr marL="63500" marR="63500" marT="25400" marB="25400" anchor="ctr">
                    <a:solidFill>
                      <a:srgbClr val="121419"/>
                    </a:solidFill>
                  </a:tcPr>
                </a:tc>
                <a:tc>
                  <a:txBody>
                    <a:bodyPr wrap="square"/>
                    <a:lstStyle/>
                    <a:p>
                      <a:r>
                        <a:rPr sz="1200" b="0">
                          <a:solidFill>
                            <a:srgbClr val="CFD3DA"/>
                          </a:solidFill>
                          <a:latin typeface="Arial"/>
                        </a:rPr>
                        <a:t>19</a:t>
                      </a:r>
                    </a:p>
                  </a:txBody>
                  <a:tcPr marL="63500" marR="63500" marT="25400" marB="25400" anchor="ctr">
                    <a:solidFill>
                      <a:srgbClr val="121419"/>
                    </a:solidFill>
                  </a:tcPr>
                </a:tc>
                <a:tc>
                  <a:txBody>
                    <a:bodyPr wrap="square"/>
                    <a:lstStyle/>
                    <a:p>
                      <a:r>
                        <a:rPr sz="1200" b="0">
                          <a:solidFill>
                            <a:srgbClr val="CFD3DA"/>
                          </a:solidFill>
                          <a:latin typeface="Arial"/>
                        </a:rPr>
                        <a:t>zero-trust, masking, guardrails, GDPR</a:t>
                      </a:r>
                    </a:p>
                  </a:txBody>
                  <a:tcPr marL="63500" marR="63500" marT="25400" marB="25400" anchor="ctr">
                    <a:solidFill>
                      <a:srgbClr val="121419"/>
                    </a:solidFill>
                  </a:tcPr>
                </a:tc>
              </a:tr>
              <a:tr h="448056">
                <a:tc>
                  <a:txBody>
                    <a:bodyPr wrap="square"/>
                    <a:lstStyle/>
                    <a:p>
                      <a:r>
                        <a:rPr sz="1200" b="1">
                          <a:solidFill>
                            <a:srgbClr val="FFFFFF"/>
                          </a:solidFill>
                          <a:latin typeface="Arial"/>
                        </a:rPr>
                        <a:t>D7 Operations</a:t>
                      </a:r>
                    </a:p>
                  </a:txBody>
                  <a:tcPr marL="63500" marR="63500" marT="25400" marB="25400" anchor="ctr">
                    <a:solidFill>
                      <a:srgbClr val="1B1F27"/>
                    </a:solidFill>
                  </a:tcPr>
                </a:tc>
                <a:tc>
                  <a:txBody>
                    <a:bodyPr wrap="square"/>
                    <a:lstStyle/>
                    <a:p>
                      <a:r>
                        <a:rPr sz="1200" b="0">
                          <a:solidFill>
                            <a:srgbClr val="CFD3DA"/>
                          </a:solidFill>
                          <a:latin typeface="Arial"/>
                        </a:rPr>
                        <a:t>18</a:t>
                      </a:r>
                    </a:p>
                  </a:txBody>
                  <a:tcPr marL="63500" marR="63500" marT="25400" marB="25400" anchor="ctr">
                    <a:solidFill>
                      <a:srgbClr val="1B1F27"/>
                    </a:solidFill>
                  </a:tcPr>
                </a:tc>
                <a:tc>
                  <a:txBody>
                    <a:bodyPr wrap="square"/>
                    <a:lstStyle/>
                    <a:p>
                      <a:r>
                        <a:rPr sz="1200" b="0">
                          <a:solidFill>
                            <a:srgbClr val="CFD3DA"/>
                          </a:solidFill>
                          <a:latin typeface="Arial"/>
                        </a:rPr>
                        <a:t>observability, CI/CD, testing, LLMOps, DR</a:t>
                      </a:r>
                    </a:p>
                  </a:txBody>
                  <a:tcPr marL="63500" marR="63500" marT="25400" marB="25400" anchor="ctr">
                    <a:solidFill>
                      <a:srgbClr val="1B1F27"/>
                    </a:solidFill>
                  </a:tcPr>
                </a:tc>
              </a:tr>
              <a:tr h="448056">
                <a:tc>
                  <a:txBody>
                    <a:bodyPr wrap="square"/>
                    <a:lstStyle/>
                    <a:p>
                      <a:r>
                        <a:rPr sz="1200" b="1">
                          <a:solidFill>
                            <a:srgbClr val="FFFFFF"/>
                          </a:solidFill>
                          <a:latin typeface="Arial"/>
                        </a:rPr>
                        <a:t>D8 Business Value</a:t>
                      </a:r>
                    </a:p>
                  </a:txBody>
                  <a:tcPr marL="63500" marR="63500" marT="25400" marB="25400" anchor="ctr">
                    <a:solidFill>
                      <a:srgbClr val="121419"/>
                    </a:solidFill>
                  </a:tcPr>
                </a:tc>
                <a:tc>
                  <a:txBody>
                    <a:bodyPr wrap="square"/>
                    <a:lstStyle/>
                    <a:p>
                      <a:r>
                        <a:rPr sz="1200" b="0">
                          <a:solidFill>
                            <a:srgbClr val="CFD3DA"/>
                          </a:solidFill>
                          <a:latin typeface="Arial"/>
                        </a:rPr>
                        <a:t>10</a:t>
                      </a:r>
                    </a:p>
                  </a:txBody>
                  <a:tcPr marL="63500" marR="63500" marT="25400" marB="25400" anchor="ctr">
                    <a:solidFill>
                      <a:srgbClr val="121419"/>
                    </a:solidFill>
                  </a:tcPr>
                </a:tc>
                <a:tc>
                  <a:txBody>
                    <a:bodyPr wrap="square"/>
                    <a:lstStyle/>
                    <a:p>
                      <a:r>
                        <a:rPr sz="1200" b="0">
                          <a:solidFill>
                            <a:srgbClr val="CFD3DA"/>
                          </a:solidFill>
                          <a:latin typeface="Arial"/>
                        </a:rPr>
                        <a:t>value, metrics, traceability</a:t>
                      </a:r>
                    </a:p>
                  </a:txBody>
                  <a:tcPr marL="63500" marR="63500" marT="25400" marB="25400" anchor="ctr">
                    <a:solidFill>
                      <a:srgbClr val="121419"/>
                    </a:solidFill>
                  </a:tcPr>
                </a:tc>
              </a:tr>
            </a:tbl>
          </a:graphicData>
        </a:graphic>
      </p:graphicFrame>
      <p:sp>
        <p:nvSpPr>
          <p:cNvPr id="5" name="TextBox 4"/>
          <p:cNvSpPr txBox="1"/>
          <p:nvPr/>
        </p:nvSpPr>
        <p:spPr>
          <a:xfrm>
            <a:off x="822960" y="6355080"/>
            <a:ext cx="10515600" cy="320040"/>
          </a:xfrm>
          <a:prstGeom prst="rect">
            <a:avLst/>
          </a:prstGeom>
          <a:noFill/>
        </p:spPr>
        <p:txBody>
          <a:bodyPr wrap="square" anchor="t" lIns="0" rIns="0" tIns="0" bIns="0">
            <a:spAutoFit/>
          </a:bodyPr>
          <a:lstStyle/>
          <a:p>
            <a:pPr algn="l"/>
            <a:r>
              <a:rPr sz="1200" b="1" i="0">
                <a:solidFill>
                  <a:srgbClr val="2E9BF0"/>
                </a:solidFill>
                <a:latin typeface="Arial"/>
              </a:rPr>
              <a:t>145 governed ADRs  ·  5 still Proposed and awaiting ARB sign-off (deck 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headline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E9BF0"/>
                </a:solidFill>
                <a:latin typeface="Arial"/>
              </a:rPr>
              <a:t>Indicative — Azure UK South, Sept 2026, verify with FinOps</a:t>
            </a:r>
          </a:p>
        </p:txBody>
      </p:sp>
      <p:sp>
        <p:nvSpPr>
          <p:cNvPr id="4" name="Rounded Rectangle 3"/>
          <p:cNvSpPr/>
          <p:nvPr/>
        </p:nvSpPr>
        <p:spPr>
          <a:xfrm>
            <a:off x="822960" y="2011680"/>
            <a:ext cx="2430018" cy="173736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5" name="TextBox 4"/>
          <p:cNvSpPr txBox="1"/>
          <p:nvPr/>
        </p:nvSpPr>
        <p:spPr>
          <a:xfrm>
            <a:off x="1051560" y="2212848"/>
            <a:ext cx="1972817" cy="822960"/>
          </a:xfrm>
          <a:prstGeom prst="rect">
            <a:avLst/>
          </a:prstGeom>
          <a:noFill/>
        </p:spPr>
        <p:txBody>
          <a:bodyPr wrap="square" anchor="t" lIns="0" rIns="0" tIns="0" bIns="0">
            <a:spAutoFit/>
          </a:bodyPr>
          <a:lstStyle/>
          <a:p>
            <a:pPr algn="l"/>
            <a:r>
              <a:rPr sz="2200" b="1" i="0">
                <a:solidFill>
                  <a:srgbClr val="2E9BF0"/>
                </a:solidFill>
                <a:latin typeface="Arial"/>
              </a:rPr>
              <a:t>HF API</a:t>
            </a:r>
          </a:p>
        </p:txBody>
      </p:sp>
      <p:sp>
        <p:nvSpPr>
          <p:cNvPr id="6" name="TextBox 5"/>
          <p:cNvSpPr txBox="1"/>
          <p:nvPr/>
        </p:nvSpPr>
        <p:spPr>
          <a:xfrm>
            <a:off x="1051560" y="2944368"/>
            <a:ext cx="1972817" cy="731519"/>
          </a:xfrm>
          <a:prstGeom prst="rect">
            <a:avLst/>
          </a:prstGeom>
          <a:noFill/>
        </p:spPr>
        <p:txBody>
          <a:bodyPr wrap="square" anchor="t" lIns="0" rIns="0" tIns="0" bIns="0">
            <a:spAutoFit/>
          </a:bodyPr>
          <a:lstStyle/>
          <a:p>
            <a:pPr algn="l"/>
            <a:r>
              <a:rPr sz="1200" b="0" i="0">
                <a:solidFill>
                  <a:srgbClr val="CFD3DA"/>
                </a:solidFill>
                <a:latin typeface="Arial"/>
              </a:rPr>
              <a:t>hosted SLM phase</a:t>
            </a:r>
          </a:p>
        </p:txBody>
      </p:sp>
      <p:sp>
        <p:nvSpPr>
          <p:cNvPr id="7" name="Rounded Rectangle 6"/>
          <p:cNvSpPr/>
          <p:nvPr/>
        </p:nvSpPr>
        <p:spPr>
          <a:xfrm>
            <a:off x="3527297" y="2011680"/>
            <a:ext cx="2430018" cy="173736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8" name="TextBox 7"/>
          <p:cNvSpPr txBox="1"/>
          <p:nvPr/>
        </p:nvSpPr>
        <p:spPr>
          <a:xfrm>
            <a:off x="3755898" y="2212848"/>
            <a:ext cx="1972817" cy="822960"/>
          </a:xfrm>
          <a:prstGeom prst="rect">
            <a:avLst/>
          </a:prstGeom>
          <a:noFill/>
        </p:spPr>
        <p:txBody>
          <a:bodyPr wrap="square" anchor="t" lIns="0" rIns="0" tIns="0" bIns="0">
            <a:spAutoFit/>
          </a:bodyPr>
          <a:lstStyle/>
          <a:p>
            <a:pPr algn="l"/>
            <a:r>
              <a:rPr sz="2200" b="1" i="0">
                <a:solidFill>
                  <a:srgbClr val="C24DFF"/>
                </a:solidFill>
                <a:latin typeface="Arial"/>
              </a:rPr>
              <a:t>vLLM / GPU</a:t>
            </a:r>
          </a:p>
        </p:txBody>
      </p:sp>
      <p:sp>
        <p:nvSpPr>
          <p:cNvPr id="9" name="TextBox 8"/>
          <p:cNvSpPr txBox="1"/>
          <p:nvPr/>
        </p:nvSpPr>
        <p:spPr>
          <a:xfrm>
            <a:off x="3755898" y="2944368"/>
            <a:ext cx="1972817" cy="731519"/>
          </a:xfrm>
          <a:prstGeom prst="rect">
            <a:avLst/>
          </a:prstGeom>
          <a:noFill/>
        </p:spPr>
        <p:txBody>
          <a:bodyPr wrap="square" anchor="t" lIns="0" rIns="0" tIns="0" bIns="0">
            <a:spAutoFit/>
          </a:bodyPr>
          <a:lstStyle/>
          <a:p>
            <a:pPr algn="l"/>
            <a:r>
              <a:rPr sz="1200" b="0" i="0">
                <a:solidFill>
                  <a:srgbClr val="CFD3DA"/>
                </a:solidFill>
                <a:latin typeface="Arial"/>
              </a:rPr>
              <a:t>self-hosted target</a:t>
            </a:r>
          </a:p>
        </p:txBody>
      </p:sp>
      <p:sp>
        <p:nvSpPr>
          <p:cNvPr id="10" name="Rounded Rectangle 9"/>
          <p:cNvSpPr/>
          <p:nvPr/>
        </p:nvSpPr>
        <p:spPr>
          <a:xfrm>
            <a:off x="6231636" y="2011680"/>
            <a:ext cx="2430018" cy="173736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11" name="TextBox 10"/>
          <p:cNvSpPr txBox="1"/>
          <p:nvPr/>
        </p:nvSpPr>
        <p:spPr>
          <a:xfrm>
            <a:off x="6460236" y="2212848"/>
            <a:ext cx="1972817" cy="822960"/>
          </a:xfrm>
          <a:prstGeom prst="rect">
            <a:avLst/>
          </a:prstGeom>
          <a:noFill/>
        </p:spPr>
        <p:txBody>
          <a:bodyPr wrap="square" anchor="t" lIns="0" rIns="0" tIns="0" bIns="0">
            <a:spAutoFit/>
          </a:bodyPr>
          <a:lstStyle/>
          <a:p>
            <a:pPr algn="l"/>
            <a:r>
              <a:rPr sz="2200" b="1" i="0">
                <a:solidFill>
                  <a:srgbClr val="2E9BF0"/>
                </a:solidFill>
                <a:latin typeface="Arial"/>
              </a:rPr>
              <a:t>AI Search</a:t>
            </a:r>
          </a:p>
        </p:txBody>
      </p:sp>
      <p:sp>
        <p:nvSpPr>
          <p:cNvPr id="12" name="TextBox 11"/>
          <p:cNvSpPr txBox="1"/>
          <p:nvPr/>
        </p:nvSpPr>
        <p:spPr>
          <a:xfrm>
            <a:off x="6460236" y="2944368"/>
            <a:ext cx="1972817" cy="731519"/>
          </a:xfrm>
          <a:prstGeom prst="rect">
            <a:avLst/>
          </a:prstGeom>
          <a:noFill/>
        </p:spPr>
        <p:txBody>
          <a:bodyPr wrap="square" anchor="t" lIns="0" rIns="0" tIns="0" bIns="0">
            <a:spAutoFit/>
          </a:bodyPr>
          <a:lstStyle/>
          <a:p>
            <a:pPr algn="l"/>
            <a:r>
              <a:rPr sz="1200" b="0" i="0">
                <a:solidFill>
                  <a:srgbClr val="CFD3DA"/>
                </a:solidFill>
                <a:latin typeface="Arial"/>
              </a:rPr>
              <a:t>vector store</a:t>
            </a:r>
          </a:p>
        </p:txBody>
      </p:sp>
      <p:sp>
        <p:nvSpPr>
          <p:cNvPr id="13" name="Rounded Rectangle 12"/>
          <p:cNvSpPr/>
          <p:nvPr/>
        </p:nvSpPr>
        <p:spPr>
          <a:xfrm>
            <a:off x="8935974" y="2011680"/>
            <a:ext cx="2430018" cy="1737360"/>
          </a:xfrm>
          <a:prstGeom prst="round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Arial"/>
              </a:rPr>
              <a:t/>
            </a:r>
          </a:p>
        </p:txBody>
      </p:sp>
      <p:sp>
        <p:nvSpPr>
          <p:cNvPr id="14" name="TextBox 13"/>
          <p:cNvSpPr txBox="1"/>
          <p:nvPr/>
        </p:nvSpPr>
        <p:spPr>
          <a:xfrm>
            <a:off x="9164574" y="2212848"/>
            <a:ext cx="1972817" cy="822960"/>
          </a:xfrm>
          <a:prstGeom prst="rect">
            <a:avLst/>
          </a:prstGeom>
          <a:noFill/>
        </p:spPr>
        <p:txBody>
          <a:bodyPr wrap="square" anchor="t" lIns="0" rIns="0" tIns="0" bIns="0">
            <a:spAutoFit/>
          </a:bodyPr>
          <a:lstStyle/>
          <a:p>
            <a:pPr algn="l"/>
            <a:r>
              <a:rPr sz="2200" b="1" i="0">
                <a:solidFill>
                  <a:srgbClr val="C24DFF"/>
                </a:solidFill>
                <a:latin typeface="Arial"/>
              </a:rPr>
              <a:t>Langfuse</a:t>
            </a:r>
          </a:p>
        </p:txBody>
      </p:sp>
      <p:sp>
        <p:nvSpPr>
          <p:cNvPr id="15" name="TextBox 14"/>
          <p:cNvSpPr txBox="1"/>
          <p:nvPr/>
        </p:nvSpPr>
        <p:spPr>
          <a:xfrm>
            <a:off x="9164574" y="2944368"/>
            <a:ext cx="1972817" cy="731519"/>
          </a:xfrm>
          <a:prstGeom prst="rect">
            <a:avLst/>
          </a:prstGeom>
          <a:noFill/>
        </p:spPr>
        <p:txBody>
          <a:bodyPr wrap="square" anchor="t" lIns="0" rIns="0" tIns="0" bIns="0">
            <a:spAutoFit/>
          </a:bodyPr>
          <a:lstStyle/>
          <a:p>
            <a:pPr algn="l"/>
            <a:r>
              <a:rPr sz="1200" b="0" i="0">
                <a:solidFill>
                  <a:srgbClr val="CFD3DA"/>
                </a:solidFill>
                <a:latin typeface="Arial"/>
              </a:rPr>
              <a:t>AI observability</a:t>
            </a:r>
          </a:p>
        </p:txBody>
      </p:sp>
      <p:sp>
        <p:nvSpPr>
          <p:cNvPr id="16" name="TextBox 15"/>
          <p:cNvSpPr txBox="1"/>
          <p:nvPr/>
        </p:nvSpPr>
        <p:spPr>
          <a:xfrm>
            <a:off x="822960" y="4114800"/>
            <a:ext cx="10515600" cy="457200"/>
          </a:xfrm>
          <a:prstGeom prst="rect">
            <a:avLst/>
          </a:prstGeom>
          <a:noFill/>
        </p:spPr>
        <p:txBody>
          <a:bodyPr wrap="square" anchor="t" lIns="0" rIns="0" tIns="0" bIns="0">
            <a:spAutoFit/>
          </a:bodyPr>
          <a:lstStyle/>
          <a:p>
            <a:pPr algn="l"/>
            <a:r>
              <a:rPr sz="1500" b="0" i="0">
                <a:solidFill>
                  <a:srgbClr val="FFFFFF"/>
                </a:solidFill>
                <a:latin typeface="Arial"/>
              </a:rPr>
              <a:t>Deck 08 breaks cost down per technology (drivers, formula, Low / Expected / High monthly).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7" sz="quarter"/>
          </p:nvPr>
        </p:nvSpPr>
        <p:spPr/>
        <p:txBody>
          <a:bodyPr/>
          <a:lstStyle/>
          <a:p/>
        </p:txBody>
      </p:sp>
      <p:sp>
        <p:nvSpPr>
          <p:cNvPr id="3" name="Text Placeholder 2"/>
          <p:cNvSpPr>
            <a:spLocks noGrp="1"/>
          </p:cNvSpPr>
          <p:nvPr>
            <p:ph type="body" idx="13" sz="quarter"/>
          </p:nvPr>
        </p:nvSpPr>
        <p:spPr/>
        <p:txBody>
          <a:bodyPr/>
          <a:lstStyle/>
          <a:p/>
        </p:txBody>
      </p:sp>
      <p:sp>
        <p:nvSpPr>
          <p:cNvPr id="4" name="TextBox 3"/>
          <p:cNvSpPr txBox="1"/>
          <p:nvPr/>
        </p:nvSpPr>
        <p:spPr>
          <a:xfrm>
            <a:off x="822960" y="3840480"/>
            <a:ext cx="10515600" cy="914400"/>
          </a:xfrm>
          <a:prstGeom prst="rect">
            <a:avLst/>
          </a:prstGeom>
          <a:noFill/>
        </p:spPr>
        <p:txBody>
          <a:bodyPr wrap="square" anchor="t" lIns="0" rIns="0" tIns="0" bIns="0">
            <a:spAutoFit/>
          </a:bodyPr>
          <a:lstStyle/>
          <a:p>
            <a:pPr algn="l"/>
            <a:r>
              <a:rPr sz="1800" b="0" i="0">
                <a:solidFill>
                  <a:srgbClr val="CFD3DA"/>
                </a:solidFill>
                <a:latin typeface="Arial"/>
              </a:rPr>
              <a:t>Note the architecture · ratify the 5 open decisions (deck 09) · endorse the cost model (deck 08)</a:t>
            </a:r>
          </a:p>
        </p:txBody>
      </p:sp>
    </p:spTree>
  </p:cSld>
  <p:clrMapOvr>
    <a:masterClrMapping/>
  </p:clrMapOvr>
</p:sld>
</file>

<file path=ppt/theme/theme1.xml><?xml version="1.0" encoding="utf-8"?>
<a:theme xmlns:a="http://schemas.openxmlformats.org/drawingml/2006/main" name="Orion Innovation 2026 Q2">
  <a:themeElements>
    <a:clrScheme name="Custom 1">
      <a:dk1>
        <a:srgbClr val="000000"/>
      </a:dk1>
      <a:lt1>
        <a:srgbClr val="FFFFFF"/>
      </a:lt1>
      <a:dk2>
        <a:srgbClr val="0283FF"/>
      </a:dk2>
      <a:lt2>
        <a:srgbClr val="D5D5D5"/>
      </a:lt2>
      <a:accent1>
        <a:srgbClr val="2ACCFF"/>
      </a:accent1>
      <a:accent2>
        <a:srgbClr val="7F19BE"/>
      </a:accent2>
      <a:accent3>
        <a:srgbClr val="FE2579"/>
      </a:accent3>
      <a:accent4>
        <a:srgbClr val="5300DB"/>
      </a:accent4>
      <a:accent5>
        <a:srgbClr val="FED038"/>
      </a:accent5>
      <a:accent6>
        <a:srgbClr val="48E84A"/>
      </a:accent6>
      <a:hlink>
        <a:srgbClr val="0084FF"/>
      </a:hlink>
      <a:folHlink>
        <a:srgbClr val="3EC4E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CE3E8"/>
        </a:solidFill>
        <a:ln>
          <a:noFill/>
          <a:tailEnd type="none"/>
        </a:ln>
      </a:spPr>
      <a:bodyPr rot="0" spcFirstLastPara="0" vertOverflow="overflow" horzOverflow="overflow" vert="horz" wrap="square" lIns="91440" tIns="91440" rIns="91440" bIns="91440" numCol="1" spcCol="0" rtlCol="0" fromWordArt="0" anchor="b" anchorCtr="0" forceAA="0" compatLnSpc="1">
        <a:prstTxWarp prst="textNoShape">
          <a:avLst/>
        </a:prstTxWarp>
        <a:noAutofit/>
      </a:bodyPr>
      <a:lstStyle>
        <a:defPPr algn="l">
          <a:lnSpc>
            <a:spcPct val="110000"/>
          </a:lnSpc>
          <a:defRPr sz="1000" b="1" dirty="0" smtClean="0">
            <a:solidFill>
              <a:schemeClr val="tx1"/>
            </a:solidFill>
            <a:effectLst/>
          </a:defRPr>
        </a:defPPr>
      </a:lstStyle>
      <a:style>
        <a:lnRef idx="1">
          <a:schemeClr val="accent1"/>
        </a:lnRef>
        <a:fillRef idx="0">
          <a:schemeClr val="accent1"/>
        </a:fillRef>
        <a:effectRef idx="0">
          <a:schemeClr val="accent1"/>
        </a:effectRef>
        <a:fontRef idx="minor">
          <a:schemeClr val="tx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none" lIns="36000" tIns="36000" rIns="36000" bIns="36000" rtlCol="0">
        <a:spAutoFit/>
      </a:bodyPr>
      <a:lstStyle>
        <a:defPPr marL="183600" indent="-183600" algn="l">
          <a:lnSpc>
            <a:spcPct val="110000"/>
          </a:lnSpc>
          <a:spcBef>
            <a:spcPts val="400"/>
          </a:spcBef>
          <a:spcAft>
            <a:spcPts val="400"/>
          </a:spcAft>
          <a:buClr>
            <a:schemeClr val="bg2"/>
          </a:buClr>
          <a:buFont typeface="Arial" panose="020B0604020202020204" pitchFamily="34" charset="0"/>
          <a:buChar char="•"/>
          <a:defRPr sz="1200" dirty="0"/>
        </a:defPPr>
      </a:lstStyle>
    </a:txDef>
  </a:objectDefaults>
  <a:extraClrSchemeLst/>
  <a:extLst>
    <a:ext uri="{05A4C25C-085E-4340-85A3-A5531E510DB2}">
      <thm15:themeFamily xmlns:thm15="http://schemas.microsoft.com/office/thememl/2012/main" name="Orion Innovation 2025" id="{199926F3-F314-1646-84C3-A3441F686DB8}" vid="{DEFB32A1-EE74-C24D-8093-ED971E6474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5d1f120-0a15-4527-b7f6-5161c5c2159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D5FE873E29E64DB56982258F3E0522" ma:contentTypeVersion="12" ma:contentTypeDescription="Create a new document." ma:contentTypeScope="" ma:versionID="e73da9dc670ce61c4b27620f5ceecb8f">
  <xsd:schema xmlns:xsd="http://www.w3.org/2001/XMLSchema" xmlns:xs="http://www.w3.org/2001/XMLSchema" xmlns:p="http://schemas.microsoft.com/office/2006/metadata/properties" xmlns:ns3="15d1f120-0a15-4527-b7f6-5161c5c21597" targetNamespace="http://schemas.microsoft.com/office/2006/metadata/properties" ma:root="true" ma:fieldsID="1fcf99ee2c82c01c26ba439bc53d9385" ns3:_="">
    <xsd:import namespace="15d1f120-0a15-4527-b7f6-5161c5c21597"/>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d1f120-0a15-4527-b7f6-5161c5c2159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830519-BCC5-47D9-B3C0-0E48D727637D}">
  <ds:schemaRefs>
    <ds:schemaRef ds:uri="15d1f120-0a15-4527-b7f6-5161c5c2159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1928388-827E-417D-A9EC-1E4398CC2B14}">
  <ds:schemaRefs>
    <ds:schemaRef ds:uri="http://schemas.microsoft.com/sharepoint/v3/contenttype/forms"/>
  </ds:schemaRefs>
</ds:datastoreItem>
</file>

<file path=customXml/itemProps3.xml><?xml version="1.0" encoding="utf-8"?>
<ds:datastoreItem xmlns:ds="http://schemas.openxmlformats.org/officeDocument/2006/customXml" ds:itemID="{0EE53047-0C68-4513-BD90-36FFCA7892BD}">
  <ds:schemaRefs>
    <ds:schemaRef ds:uri="15d1f120-0a15-4527-b7f6-5161c5c2159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20</Slides>
  <Notes>11</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Orion Innovation 2026 Q2</vt:lpstr>
      <vt:lpstr>PowerPoint Presentation</vt:lpstr>
      <vt:lpstr>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Sankarankutty Menon</dc:creator>
  <cp:revision>4</cp:revision>
  <dcterms:created xsi:type="dcterms:W3CDTF">2026-01-20T15:10:32Z</dcterms:created>
  <dcterms:modified xsi:type="dcterms:W3CDTF">2026-09-08T07:55:53Z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0x01010042D5FE873E29E64DB56982258F3E0522</vt:lpwstr>
  </property>
</Properties>
</file>