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Welcome. This is the technical walkthrough of the PFF-FA Enterprise Agentic AI platform — PFF Chat AI — for the ARB. This overview frames the whole system; nine further decks go deep by domain, plus cost and the open decisions.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decks. Each is short on the slide and deep in the speaker notes so discussion stays live. All 145 ADRs and 29 specification documents are covered.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an orchestration layer, not a rewrite. PFF remains the system of record. WGS is the national football database we integrate with.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Repeated in every spec doc. Everything downstream — guardrails, ERC, truth precedence, masking — enforces it.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When two sources disagree, the higher wins — no exceptions. The SLM generates language but is the lowest-trust source.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Chat UI → APIM (authZ boundary) → thin FastAPI → Supervisor → LangGraph. Inside one runtime, agents are logical capabilities using ERC, Tools/MCP, RAG, Memory/Cache and the SLM. Enterprise APIs/events are the system of record; guardrails run at every boundary; output is validated before the user sees it.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Enterprise business state is owned entirely by PFF; the AI holds only conversation, session and workflow state.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Prove the platform end-to-end on affiliation, then extend. Immutable versioned bundles mean no in-place production mutation.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Python/FastAPI + LangGraph on Azure/AKS. SLM starts on Hugging Face and targets self-hosted vLLM on GPU. AI Search for vectors, Managed Redis for state/cache, Service Bus for eventing, APIM as the authZ boundary, Key Vault for secrets, Langfuse for AI observability. Cost of each is in deck 08.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145 ADRs across nine domains. Most Accepted; five remain Proposed with a stated recommendation we build against — deck 09 asks the ARB to ratify them.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Cost is per technology in deck 08 with drivers, formula and Low/Expected/High scenarios — indicative public list prices, dated and region-stamped, to be confirmed by FinOps; never hard-coded in the application.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asks: note and challenge the architecture; ratify the five Proposed decisions; endorse the cost model and budget controls.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THE FA · PFF · TECHNICAL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PFF AI — PFF Chat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Enterprise Agentic AI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Technical architecture for the Architecture Review Board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Presentation suite</a:t>
            </a:r>
            <a:r>
              <a:rPr sz="2700" b="1">
                <a:solidFill>
                  <a:srgbClr val="2E75B6"/>
                </a:solidFill>
                <a:latin typeface="Cambria"/>
              </a:rPr>
              <a:t>  — 10 decks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Short on the slide, deep in the narration — all 145 ADRs and 29 spec docs covered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828800"/>
            <a:ext cx="484632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00  Overview — whole-system picture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01  Business Architecture &amp; Value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02  Application &amp; Orchestration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03  AI Architecture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04  Information, Context &amp;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828800"/>
            <a:ext cx="484632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05  Technology &amp; Infrastructure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06  Security &amp; Governance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07  Operations, Observability &amp; Quality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08  Cost &amp; FinOps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09  Open Decisions &amp; ARB sign-off 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we are building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PFF Chat AI — a conversational orchestration layer over PFF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92124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PFF is the FA's county/club administration platform — affiliation, registration, insurance, discipline, officials, county cups, payments; integrates with WGS (the FA's national database).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PFF Chat AI interprets requests, gathers enterprise context, reasons, calls controlled tools, and communicates results — it does not replace PFF's business logic or authority.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First end-to-end workflow delivered: Club Affiliation.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Persona: a workflow-first enterprise assistant with a natural football-commentary tone.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BINDING CONSTRAINT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Golden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The single most important architectural principle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9921240" cy="160020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Enterprise systems DECIDE and EXECUTE.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The AI platform INTERPRETS, ORCHESTRATES,</a:t>
            </a:r>
          </a:p>
          <a:p>
            <a:pPr algn="ctr"/>
            <a:r>
              <a:rPr sz="2100" b="1">
                <a:solidFill>
                  <a:srgbClr val="FFFFFF"/>
                </a:solidFill>
                <a:latin typeface="Calibri"/>
              </a:rPr>
              <a:t>CONTEXTUALISES, EXPLAINS and COMMUNICATES.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657600"/>
            <a:ext cx="992124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The AI never authenticates/authorizes, re-implements business rules, or writes to the enterprise DB.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 model output never becomes an authorization decision.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Raw enterprise/personal data is never exposed to an external SLM (masked/tokenised, fail-closed).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GOLDEN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Authoritative-truth precedence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Higher source always wins on conflict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37360"/>
            <a:ext cx="9921240" cy="713232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839" y="1865376"/>
            <a:ext cx="457200" cy="4572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39" y="18653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84708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3294B"/>
                </a:solidFill>
                <a:latin typeface="Cambria"/>
              </a:rPr>
              <a:t>Enterprise API / Event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13969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System of record — decides &amp; executes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79" y="2432303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E75B6"/>
                </a:solidFill>
                <a:latin typeface="Calibri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2615184"/>
            <a:ext cx="9921240" cy="713232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48839" y="2743200"/>
            <a:ext cx="457200" cy="4572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39" y="2743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72491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3294B"/>
                </a:solidFill>
                <a:latin typeface="Cambria"/>
              </a:rPr>
              <a:t>ERC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0175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Enterprise Runtime Context — validated, provenanced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79" y="3310127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E75B6"/>
                </a:solidFill>
                <a:latin typeface="Calibri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93008"/>
            <a:ext cx="9921240" cy="713232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48839" y="3621024"/>
            <a:ext cx="457200" cy="4572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39" y="3621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60273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3294B"/>
                </a:solidFill>
                <a:latin typeface="Cambria"/>
              </a:rPr>
              <a:t>Cache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89534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Authorization-aware, freshness-bounded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187952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E75B6"/>
                </a:solidFill>
                <a:latin typeface="Calibri"/>
              </a:rPr>
              <a:t>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4370831"/>
            <a:ext cx="9921240" cy="713232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48839" y="4498847"/>
            <a:ext cx="457200" cy="4572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39" y="449884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480559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3294B"/>
                </a:solidFill>
                <a:latin typeface="Cambria"/>
              </a:rPr>
              <a:t>RAG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4773168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Retrieved knowledge — cited, ACL-enforced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79" y="5065776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E75B6"/>
                </a:solidFill>
                <a:latin typeface="Calibri"/>
              </a:rPr>
              <a:t>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74519" y="5248655"/>
            <a:ext cx="9921240" cy="713232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48839" y="5376671"/>
            <a:ext cx="457200" cy="4572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48839" y="537667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5358383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3294B"/>
                </a:solidFill>
                <a:latin typeface="Cambria"/>
              </a:rPr>
              <a:t>SLM 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565099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A"/>
                </a:solidFill>
                <a:latin typeface="Calibri"/>
              </a:rPr>
              <a:t>Language only — never a source of authority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19" y="6144767"/>
            <a:ext cx="9921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6C4"/>
                </a:solidFill>
                <a:latin typeface="Calibri"/>
              </a:rPr>
              <a:t>Higher source always wins on conflict — no exceptions.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SYSTEM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End-to-end platform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788920"/>
            <a:ext cx="9921240" cy="214884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79" y="28529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AI RUNTIME  ·  single LangGraph process  ·  agents = logical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79" y="28529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6B7A"/>
                </a:solidFill>
                <a:latin typeface="Calibri"/>
              </a:rPr>
              <a:t>Guardrails at every boundary (input · context · prompt · tool · model · output)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74519" y="1691640"/>
            <a:ext cx="178308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Chat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1" y="1691640"/>
            <a:ext cx="178308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APIM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authN / authZ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0" y="2020824"/>
            <a:ext cx="256031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52744" y="1691640"/>
            <a:ext cx="178308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FastAPI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thin API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96712" y="2020824"/>
            <a:ext cx="256032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91856" y="1691640"/>
            <a:ext cx="1783080" cy="658368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Supervisor</a:t>
            </a:r>
          </a:p>
          <a:p>
            <a:pPr algn="ctr"/>
            <a:r>
              <a:rPr sz="1150" b="1">
                <a:solidFill>
                  <a:srgbClr val="13294B"/>
                </a:solidFill>
                <a:latin typeface="Calibri"/>
              </a:rPr>
              <a:t>intent routing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35823" y="2020824"/>
            <a:ext cx="256033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030968" y="1691640"/>
            <a:ext cx="1783080" cy="658368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LangGraph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774936" y="2020824"/>
            <a:ext cx="256032" cy="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22508" y="2350008"/>
            <a:ext cx="0" cy="438912"/>
          </a:xfrm>
          <a:prstGeom prst="line">
            <a:avLst/>
          </a:prstGeom>
          <a:ln w="2222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057400" y="3273552"/>
            <a:ext cx="224028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Agents</a:t>
            </a:r>
          </a:p>
          <a:p>
            <a:pPr algn="ctr"/>
            <a:r>
              <a:rPr sz="1100" b="1">
                <a:solidFill>
                  <a:srgbClr val="13294B"/>
                </a:solidFill>
                <a:latin typeface="Calibri"/>
              </a:rPr>
              <a:t>(AffiliationAgent first)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566160"/>
            <a:ext cx="137160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ERC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context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61888" y="3566160"/>
            <a:ext cx="137160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Tools / MCP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216" y="3566160"/>
            <a:ext cx="137160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RAG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knowledge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544" y="3566160"/>
            <a:ext cx="137160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Memory /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Cache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05872" y="3566160"/>
            <a:ext cx="1371600" cy="8686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SLM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HF → vLLM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97679" y="3703320"/>
            <a:ext cx="182881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057400" y="5120640"/>
            <a:ext cx="6126480" cy="457200"/>
          </a:xfrm>
          <a:prstGeom prst="round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Enterprise APIs / Events  —  PFF System of Record (decides &amp; executes)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5120640"/>
            <a:ext cx="1463040" cy="45720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Output</a:t>
            </a:r>
          </a:p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Guardrail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0" y="5120640"/>
            <a:ext cx="1691640" cy="4572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74920" y="4434840"/>
            <a:ext cx="0" cy="685800"/>
          </a:xfrm>
          <a:prstGeom prst="line">
            <a:avLst/>
          </a:prstGeom>
          <a:ln w="1905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001000" y="5349240"/>
            <a:ext cx="274320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555480" y="5349240"/>
            <a:ext cx="320040" cy="0"/>
          </a:xfrm>
          <a:prstGeom prst="line">
            <a:avLst/>
          </a:prstGeom>
          <a:ln w="17780">
            <a:solidFill>
              <a:srgbClr val="8FA6C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874519" y="5806440"/>
            <a:ext cx="9921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3294B"/>
                </a:solidFill>
                <a:latin typeface="Calibri"/>
              </a:rPr>
              <a:t>Authoritative-truth precedence:  Enterprise API / Event  ›  ERC  ›  Cache  ›  RAG  ›  SLM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INFORMATION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Four state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Kept strictly separate — never conflated in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2075688"/>
            <a:ext cx="109728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207568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Conversation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71576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turns, messages, intent — per conversation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178308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66560" y="2075688"/>
            <a:ext cx="109728" cy="8229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07568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Session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71576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auth context, correlation, ttl — per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388620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19" y="4178808"/>
            <a:ext cx="109728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417880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3294B"/>
                </a:solidFill>
                <a:latin typeface="Cambria"/>
              </a:rPr>
              <a:t>Workflow / Agent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81888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graph state, steps, HIL — per workflow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886200"/>
            <a:ext cx="4800600" cy="178308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4178808"/>
            <a:ext cx="109728" cy="8229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417880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E75B6"/>
                </a:solidFill>
                <a:latin typeface="Cambria"/>
              </a:rPr>
              <a:t>Enterprise Business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818888"/>
            <a:ext cx="4251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system-of-record truth — owned by PFF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DELIVERY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Affiliation first, wider catalogue deferred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92124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One AI runtime; agents are logical capabilities inside it — not one microservice per agent.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AffiliationAgent is the only agent built in the first pass.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The wider agent catalogue (registration, discipline, officials, competitions…) is a real product decision, deliberately deferred — not invented.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Everything is a versioned software artifact: prompts, models, agents, workflows, RAG indexes, guardrails — released as immutable bundles.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Technology at a glance</a:t>
            </a:r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670" y="196596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Python</a:t>
            </a:r>
          </a:p>
        </p:txBody>
      </p:sp>
      <p:pic>
        <p:nvPicPr>
          <p:cNvPr id="13" name="Picture 12" descr="fast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210" y="196596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806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FastAPI</a:t>
            </a:r>
          </a:p>
        </p:txBody>
      </p:sp>
      <p:pic>
        <p:nvPicPr>
          <p:cNvPr id="15" name="Picture 14" descr="lang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6954" y="2148806"/>
            <a:ext cx="1322832" cy="4115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8160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LangGraph</a:t>
            </a:r>
          </a:p>
        </p:txBody>
      </p:sp>
      <p:pic>
        <p:nvPicPr>
          <p:cNvPr id="17" name="Picture 16" descr="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0494" y="2148806"/>
            <a:ext cx="1322832" cy="4115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3514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HF SLM</a:t>
            </a:r>
          </a:p>
        </p:txBody>
      </p:sp>
      <p:pic>
        <p:nvPicPr>
          <p:cNvPr id="19" name="Picture 18" descr="vll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4034" y="2148806"/>
            <a:ext cx="1322832" cy="4115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8868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vLLM</a:t>
            </a:r>
          </a:p>
        </p:txBody>
      </p:sp>
      <p:pic>
        <p:nvPicPr>
          <p:cNvPr id="21" name="Picture 20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80370" y="1965960"/>
            <a:ext cx="777240" cy="777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42220" y="2816352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AI Search</a:t>
            </a:r>
          </a:p>
        </p:txBody>
      </p:sp>
      <p:pic>
        <p:nvPicPr>
          <p:cNvPr id="23" name="Picture 22" descr="ak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2670" y="3977639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874519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AKS</a:t>
            </a:r>
          </a:p>
        </p:txBody>
      </p:sp>
      <p:pic>
        <p:nvPicPr>
          <p:cNvPr id="25" name="Picture 24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6210" y="3977639"/>
            <a:ext cx="777240" cy="777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2806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APIM</a:t>
            </a:r>
          </a:p>
        </p:txBody>
      </p:sp>
      <p:pic>
        <p:nvPicPr>
          <p:cNvPr id="27" name="Picture 26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9750" y="3977639"/>
            <a:ext cx="777240" cy="777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8160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Service Bus</a:t>
            </a:r>
          </a:p>
        </p:txBody>
      </p:sp>
      <p:pic>
        <p:nvPicPr>
          <p:cNvPr id="29" name="Picture 28" descr="red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3290" y="3977639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3514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Redis</a:t>
            </a:r>
          </a:p>
        </p:txBody>
      </p:sp>
      <p:pic>
        <p:nvPicPr>
          <p:cNvPr id="31" name="Picture 30" descr="ai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6830" y="3977639"/>
            <a:ext cx="777240" cy="7772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8868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Key Vault</a:t>
            </a:r>
          </a:p>
        </p:txBody>
      </p:sp>
      <p:pic>
        <p:nvPicPr>
          <p:cNvPr id="33" name="Picture 32" descr="langfu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07574" y="4160486"/>
            <a:ext cx="1322832" cy="41154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42220" y="4828031"/>
            <a:ext cx="16535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C6B7A"/>
                </a:solidFill>
                <a:latin typeface="Calibri"/>
              </a:rPr>
              <a:t>Langfuse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The ADR programme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Every significant decision recorded and governed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37360"/>
          <a:ext cx="9921240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822960"/>
                <a:gridCol w="635508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ADRs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D0 Decision Programme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ADR governance, review board, open-decision register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D1 Business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scope, Golden Rule, persona, workflows, traceability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D2 Application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layering, orchestration, integration, eventing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D3 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agents, prompts, SLM, RAG, embeddings, refinement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D4 Information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ERC, state, memory, cache, identifiers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D5 Technology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Azure/AKS, APIM, Key Vault, vLLM, delivery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D6 Security &amp; Governance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zero-trust, masking, guardrails, GDPR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D7 Operations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observability, CI/CD, testing, LLMOps, DR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3294B"/>
                          </a:solidFill>
                          <a:latin typeface="Calibri"/>
                        </a:rPr>
                        <a:t>D8 Business Value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C6B7A"/>
                          </a:solidFill>
                          <a:latin typeface="Calibri"/>
                        </a:rPr>
                        <a:t>value, metrics, traceability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874519" y="6035040"/>
            <a:ext cx="9921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145 governed ADRs  ·  5 still Proposed and awaiting ARB sign-off (deck 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COST &amp; FINOPS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Cost headline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Indicative — Azure UK South, Sept 2026, verify with FinOps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96596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2221991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7" y="2185415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HF → vLLM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7" y="288036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SLM inference — dominant lever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8838" y="196596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8838" y="2221991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1446" y="2185415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Azure AI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1446" y="288036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vector 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3156" y="196596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3156" y="2221991"/>
            <a:ext cx="109728" cy="122529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55764" y="2185415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3294B"/>
                </a:solidFill>
                <a:latin typeface="Cambria"/>
              </a:rPr>
              <a:t>Langfuse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5764" y="288036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AI observability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7474" y="1965960"/>
            <a:ext cx="2288286" cy="1737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7474" y="2221991"/>
            <a:ext cx="109728" cy="122529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0082" y="2185415"/>
            <a:ext cx="183108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Cambria"/>
              </a:rPr>
              <a:t>AKS /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0082" y="2880360"/>
            <a:ext cx="1831086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023360"/>
            <a:ext cx="9921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3294B"/>
                </a:solidFill>
                <a:latin typeface="Calibri"/>
              </a:rPr>
              <a:t>Deck 08 breaks cost down per technology — drivers, formula, Low / Expected / High monthly.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What we are asking the ARB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Note the architecture  ·  ratify the 5 open decisions (deck 09)  ·  endorse the cost model (deck 08)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