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948AD9-B8F4-A70C-7DDC-1E1556ECAE4E}" v="2" dt="2026-08-06T12:20:33.150"/>
    <p1510:client id="{7F375FFF-E84D-3631-D388-F5B5C76602FD}" v="4" dt="2026-08-06T13:01:42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7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concrete technology and Azure infrastructure. One ADR is Proposed (the self-hosted vLLM serving stack, deck 09). IaC, K8s and the delivery model are Accepted.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whole platform runs in one Azure tenancy. APIM is the authZ boundary in front of the AKS cluster (system node pool for the app; GPU node pool for self-hosted vLLM). Data/platform services are Azure-native. The only egress is to the external SLM, and only masked payloads cross that boundary (deck 06). Every service has a cost line in deck 08.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engineering stack is deliberately conventional and strict: typed boundaries, pinned deps, one linter, one type checker.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Configuration is layered, schema-validated and fail-fast; a release is an immutable, hashed manifest enabling drift detection and safe promotion.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Vault is reached only via the enterprise SPN — no other credential method; secrets are never inline; deployed environments fail closed.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AKS with separated system and GPU node pools; images from ACR; workload separation isolates GPU cost and scaling.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vLLM on AKS GPU is the recommended serving stack, Proposed pending a benchmark and ARB sign-off; VRAM/KV-cache planning sizes the GPU SKU and drives the self-hosted cost model.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APIM is the security boundary — the AI never authenticates or authorizes itself; a single shared, pooled, traced HTTP client for all egress.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stages DEV→TEST→UAT→STAGE→PROD; each stage resolves its own endpoints/config.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do NOT stand up our own platform — enterprise Azure DevOps CI/CD on shared AKS with the enterprise SonarQube gate, removing a whole class of cost and burden (deck 08).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Autoscaling is AI-aware (GPU/VRAM/queue), bounded by downstream limits and cost; latency is budgeted per layer and measured at p95/p99.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20 technology ADRs. One is Proposed (◆): D5-10 self-hosted vLLM serving stack (deck 09). IaC, K8s and the enterprise delivery model are Accepted.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Azure-native and enterprise-conformant — minimal bespoke infrastructure, strict secret handling, GPU cost isolated for planning.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pic>
        <p:nvPicPr>
          <p:cNvPr id="8" name="Picture 7" descr="fa_cres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325880"/>
            <a:ext cx="2313063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16002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DECK 05 · TECHNOLOGY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74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3294B"/>
                </a:solidFill>
                <a:latin typeface="Cambria"/>
              </a:rPr>
              <a:t>Technology &amp;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7180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2E75B6"/>
                </a:solidFill>
                <a:latin typeface="Cambria"/>
              </a:rPr>
              <a:t>Infrastructure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807" y="3977639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420624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C6B7A"/>
                </a:solidFill>
                <a:latin typeface="Calibri"/>
              </a:rPr>
              <a:t>Azure · AKS · APIM · Key Vault · vLLM/GPU · enterprise delivery  —  D5 (20 ADRs, 1 open)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What this deck covers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83080"/>
            <a:ext cx="48006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Target infrastructure topology on Azure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Engineering stack — language, typing, validation, deps, lint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Configuration &amp; release manifest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Secret management — Key Vault, SPN-only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Compute — AKS, containers/ACR, GPU node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48006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Self-hosted SLM serving (vLLM) &amp; VRAM/KV-cache planning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APIM authZ boundary &amp; shared HTTP client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Five-stage environment model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Enterprise delivery model — Azure DevOps CI/CD on shared AKS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Scalability, autoscaling &amp; latency budgets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SYSTEM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Target infrastructure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on Microsoft Azure — UK South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1481328"/>
            <a:ext cx="9921240" cy="41605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15361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75B6"/>
                </a:solidFill>
                <a:latin typeface="Calibri"/>
              </a:rPr>
              <a:t>AZURE TENANCY · UK South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79" y="2971800"/>
            <a:ext cx="914400" cy="59436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00" b="1">
                <a:solidFill>
                  <a:srgbClr val="13294B"/>
                </a:solidFill>
                <a:latin typeface="Calibri"/>
              </a:rPr>
              <a:t>Chat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926080"/>
            <a:ext cx="1234440" cy="7315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3081528"/>
            <a:ext cx="420624" cy="4206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21024" y="3035808"/>
            <a:ext cx="5577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APIM</a:t>
            </a:r>
          </a:p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authN/Z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810512"/>
            <a:ext cx="3611880" cy="361188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901952"/>
            <a:ext cx="411480" cy="411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66360" y="19385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294B"/>
                </a:solidFill>
                <a:latin typeface="Cambria"/>
              </a:rPr>
              <a:t>AKS cluster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468880"/>
            <a:ext cx="3337560" cy="118872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System node pool</a:t>
            </a:r>
          </a:p>
          <a:p>
            <a:pPr algn="ctr"/>
            <a:r>
              <a:rPr sz="1050" b="1">
                <a:solidFill>
                  <a:srgbClr val="13294B"/>
                </a:solidFill>
                <a:latin typeface="Calibri"/>
              </a:rPr>
              <a:t>FastAPI · LangGraph · Agent Harness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794760"/>
            <a:ext cx="3337560" cy="1188720"/>
          </a:xfrm>
          <a:prstGeom prst="round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GPU node pool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vLLM — self-hosted SLM (target)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1874519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993391"/>
            <a:ext cx="42062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78824" y="1984248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Azure AI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2624328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ed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743200"/>
            <a:ext cx="420624" cy="4206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78824" y="2734056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Managed Redis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374136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3493008"/>
            <a:ext cx="420624" cy="4206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78824" y="3483864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Service Bus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4123944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4242816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78824" y="4233672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Blob Storage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1874519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1993391"/>
            <a:ext cx="420624" cy="42062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661904" y="1984248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Key Vault (SPN)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2624328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2743200"/>
            <a:ext cx="420624" cy="4206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661904" y="2734056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ACR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3374136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493008"/>
            <a:ext cx="420624" cy="4206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61904" y="3483864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Monitor / App Ins.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4123944"/>
            <a:ext cx="1691640" cy="658368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lang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4242816"/>
            <a:ext cx="1352006" cy="42062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661904" y="4233672"/>
            <a:ext cx="1014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3294B"/>
                </a:solidFill>
                <a:latin typeface="Calibri"/>
              </a:rPr>
              <a:t>Langfuse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0560" y="5779008"/>
            <a:ext cx="5486400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External SLM (Hugging Face) — masked / tokenised payloads only, fail-closed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926079" y="3246120"/>
            <a:ext cx="91441" cy="0"/>
          </a:xfrm>
          <a:prstGeom prst="line">
            <a:avLst/>
          </a:prstGeom>
          <a:ln w="1651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251960" y="3246120"/>
            <a:ext cx="228600" cy="0"/>
          </a:xfrm>
          <a:prstGeom prst="line">
            <a:avLst/>
          </a:prstGeom>
          <a:ln w="1651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092440" y="3108960"/>
            <a:ext cx="182880" cy="91440"/>
          </a:xfrm>
          <a:prstGeom prst="line">
            <a:avLst/>
          </a:prstGeom>
          <a:ln w="1524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D5-01/02/03/04/05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Engineering stack</a:t>
            </a:r>
          </a:p>
        </p:txBody>
      </p:sp>
      <p:pic>
        <p:nvPicPr>
          <p:cNvPr id="11" name="Picture 10" descr="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915" y="182880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33472"/>
            <a:ext cx="24803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Python</a:t>
            </a:r>
          </a:p>
        </p:txBody>
      </p:sp>
      <p:pic>
        <p:nvPicPr>
          <p:cNvPr id="13" name="Picture 12" descr="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1828800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54830" y="2633472"/>
            <a:ext cx="24803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FastAPI</a:t>
            </a:r>
          </a:p>
        </p:txBody>
      </p:sp>
      <p:pic>
        <p:nvPicPr>
          <p:cNvPr id="15" name="Picture 14" descr="pydant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171" y="1885899"/>
            <a:ext cx="1984248" cy="6173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35140" y="2633472"/>
            <a:ext cx="24803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Pydantic</a:t>
            </a:r>
          </a:p>
        </p:txBody>
      </p:sp>
      <p:pic>
        <p:nvPicPr>
          <p:cNvPr id="17" name="Picture 16" descr="ru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480" y="1885899"/>
            <a:ext cx="1984248" cy="61732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15450" y="2633472"/>
            <a:ext cx="24803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Ruff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566160"/>
            <a:ext cx="992124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Python + FastAPI; a single project type checker (mypy or pyright) chosen at Phase 0.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Pydantic validates every boundary (API, tool, config, event, ERC, SLM); TypedDict for graph state.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Dependencies pinned with a lock file; Ruff for lint/format; conventional commits &amp; semantic versioning.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Configuration &amp; release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783080"/>
            <a:ext cx="992124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Config precedence: Base → Environment → Deployment override → Secret reference.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Schema-validated &amp; fail-fast: invalid mandatory config ⇒ the app never becomes READY.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Immutable release manifest with a configuration_hash (SHA-256) for drift detection.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2E75B6"/>
                </a:solidFill>
                <a:latin typeface="Calibri"/>
              </a:rPr>
              <a:t>▪  </a:t>
            </a:r>
            <a:r>
              <a:rPr sz="1600">
                <a:solidFill>
                  <a:srgbClr val="13294B"/>
                </a:solidFill>
                <a:latin typeface="Calibri"/>
              </a:rPr>
              <a:t>Prompts, models, agents, workflows, RAG indexes, guardrails are all versioned artifacts in the bundle.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D5-07 / D5-20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Secret management — Key Vault, SPN-only</a:t>
            </a:r>
          </a:p>
        </p:txBody>
      </p:sp>
      <p:pic>
        <p:nvPicPr>
          <p:cNvPr id="11" name="Picture 10" descr="ap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1920240"/>
            <a:ext cx="1005840" cy="1005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86200" y="1783080"/>
            <a:ext cx="7726679" cy="3200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05656" y="1947672"/>
            <a:ext cx="72877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C72C"/>
                </a:solidFill>
                <a:latin typeface="Calibri"/>
              </a:rPr>
              <a:t>THE ONLY PATH TO THE 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441448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Credential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2688336"/>
            <a:ext cx="7287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enterprise service principal (MI-SPN): tenant + client id + secret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5656" y="3191256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No alternatives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5656" y="3438144"/>
            <a:ext cx="7287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no DefaultAzureCredential, CLI, interactive, or bare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5656" y="3941063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6" y="4187952"/>
            <a:ext cx="7287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Azure DevOps variable group → workload 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6" y="4690872"/>
            <a:ext cx="7287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5656" y="4937760"/>
            <a:ext cx="72877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every *_secret_ref resolved from Key Vault; fail-closed in deployed envs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5120640"/>
            <a:ext cx="7726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Local dev/test may use process-env; deployed environments are SPN-backed and fail-closed.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D5-08 / D5-09 / D5-11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Compute — AKS, containers,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Cluster &amp;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Azure / AKS is the compute platform.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Containerised workloads; images in ACR.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System node pool runs the app runtime.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GPU &amp; workload separation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Dedicated GPU node pool for self-hosted SLM.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AI workloads separated from app workloads (D5-11).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GPU is the dominant cost lever — deck 08.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D5-10 (PROPOSED) / D5-19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Self-hosted SLM serving &amp;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1783080"/>
            <a:ext cx="5486400" cy="27432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93976" y="1947672"/>
            <a:ext cx="5047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C72C"/>
                </a:solidFill>
                <a:latin typeface="Calibri"/>
              </a:rPr>
              <a:t>SERVING STACK —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2441448"/>
            <a:ext cx="5047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688336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vLLM on AKS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3191256"/>
            <a:ext cx="5047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Fallbacks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438144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Azure ML / TGI / Triton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3941063"/>
            <a:ext cx="50474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3294B"/>
                </a:solidFill>
                <a:latin typeface="Calibri"/>
              </a:rPr>
              <a:t>Awaiting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4187952"/>
            <a:ext cx="5047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7A"/>
                </a:solidFill>
                <a:latin typeface="Calibri"/>
              </a:rPr>
              <a:t>throughput/latency/quality benchmark, then ARB (deck 09)</a:t>
            </a:r>
          </a:p>
        </p:txBody>
      </p:sp>
      <p:pic>
        <p:nvPicPr>
          <p:cNvPr id="19" name="Picture 18" descr="v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20240"/>
            <a:ext cx="2498271" cy="777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74519" y="4754880"/>
            <a:ext cx="99212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VRAM planning (D5-19): model params × precision + KV cache × context × batch × concurrency.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Continuous batching &amp; quantisation are quality-validated optimisations (deck 08).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Hosted HF bridges until the self-hosted stack is benchmarked and ratified.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D5-15 / D5-16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APIM boundary &amp; shared HTTP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APIM — the authZ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APIM is where authN/authZ happens; the AI only consumes validated claims.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Rate limiting, versioning and policy live at the gateway.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Shared HTTP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One pooled client: keep-alive, HTTP/2 where useful.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Timeouts, retry, tracing built in.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Never a new connection per request.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Five-stage environment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743200"/>
            <a:ext cx="1794052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13294B"/>
                </a:solidFill>
                <a:latin typeface="Calibri"/>
              </a:rPr>
              <a:t>DEV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06316" y="2743200"/>
            <a:ext cx="1794052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13294B"/>
                </a:solidFill>
                <a:latin typeface="Calibri"/>
              </a:rPr>
              <a:t>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68572" y="320040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38113" y="2743200"/>
            <a:ext cx="1794052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13294B"/>
                </a:solidFill>
                <a:latin typeface="Calibri"/>
              </a:rPr>
              <a:t>UAT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00369" y="320040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69910" y="2743200"/>
            <a:ext cx="1794052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13294B"/>
                </a:solidFill>
                <a:latin typeface="Calibri"/>
              </a:rPr>
              <a:t>STAGE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32166" y="320040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01707" y="2743200"/>
            <a:ext cx="1794052" cy="914400"/>
          </a:xfrm>
          <a:prstGeom prst="roundRect">
            <a:avLst/>
          </a:prstGeom>
          <a:solidFill>
            <a:srgbClr val="F3F6FA"/>
          </a:solidFill>
          <a:ln w="15875">
            <a:solidFill>
              <a:srgbClr val="A9BA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13294B"/>
                </a:solidFill>
                <a:latin typeface="Calibri"/>
              </a:rPr>
              <a:t>PROD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63963" y="3200400"/>
            <a:ext cx="237744" cy="0"/>
          </a:xfrm>
          <a:prstGeom prst="line">
            <a:avLst/>
          </a:prstGeom>
          <a:ln w="2032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74519" y="402336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C6B7A"/>
                </a:solidFill>
                <a:latin typeface="Calibri"/>
              </a:rPr>
              <a:t>Superset model (UAT inserted before STAGE) so the Infrastructure doc's namespace/config examples need no renaming. Endpoint &amp; config resolution is per-stage (deck 02).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D5-20 (ACCEPTED) · D5-12 · D5-13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Enterprise delivery model</a:t>
            </a:r>
          </a:p>
        </p:txBody>
      </p:sp>
      <p:pic>
        <p:nvPicPr>
          <p:cNvPr id="11" name="Picture 10" descr="azuredev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182880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33472"/>
            <a:ext cx="330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Azure DevOps</a:t>
            </a:r>
          </a:p>
        </p:txBody>
      </p:sp>
      <p:pic>
        <p:nvPicPr>
          <p:cNvPr id="13" name="Picture 12" descr="a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1828800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81600" y="2633472"/>
            <a:ext cx="330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Shared AKS</a:t>
            </a:r>
          </a:p>
        </p:txBody>
      </p:sp>
      <p:pic>
        <p:nvPicPr>
          <p:cNvPr id="15" name="Picture 14" descr="sonarq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460" y="1828800"/>
            <a:ext cx="731520" cy="731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88680" y="2633472"/>
            <a:ext cx="3307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7A"/>
                </a:solidFill>
                <a:latin typeface="Calibri"/>
              </a:rPr>
              <a:t>SonarQube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66160"/>
            <a:ext cx="992124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PFF AI conforms to the Enterprise Application delivery model — no separate infra/CI/CD/deploy stack.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Azure DevOps build.yaml / release.yaml on the shared enterprise AKS platform; same team &amp; resources.</a:t>
            </a:r>
          </a:p>
          <a:p>
            <a:pPr algn="l"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▪  </a:t>
            </a:r>
            <a:r>
              <a:rPr sz="1500">
                <a:solidFill>
                  <a:srgbClr val="13294B"/>
                </a:solidFill>
                <a:latin typeface="Calibri"/>
              </a:rPr>
              <a:t>Enterprise SonarQube quality gate. IaC (D5-12) &amp; K8s manifest (D5-13) standards are Accepted.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D5-17 / D5-18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Scalability, autoscaling &amp;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Autoscaling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Signals: CPU, memory, request/concurrent count, queue depth, GPU util, VRAM.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Respects model-provider, enterprise-API, DB, vector and cost limits.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Avoids cold-start churn (min replicas / warm pods).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Latency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148840"/>
            <a:ext cx="484632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Each layer owns a slice of the end-to-end budget (deck 08).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p95/p99 targets, not averages.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2E75B6"/>
                </a:solidFill>
                <a:latin typeface="Calibri"/>
              </a:rPr>
              <a:t>▪  </a:t>
            </a:r>
            <a:r>
              <a:rPr sz="1400">
                <a:solidFill>
                  <a:srgbClr val="13294B"/>
                </a:solidFill>
                <a:latin typeface="Calibri"/>
              </a:rPr>
              <a:t>TTFT separated from total completion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310896"/>
            <a:ext cx="8641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DECISION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566928"/>
            <a:ext cx="992124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700" b="1">
                <a:solidFill>
                  <a:srgbClr val="13294B"/>
                </a:solidFill>
                <a:latin typeface="Cambria"/>
              </a:rPr>
              <a:t>ADR index — Technology (D5)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133856"/>
            <a:ext cx="9921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B7A"/>
                </a:solidFill>
                <a:latin typeface="Calibri"/>
              </a:rPr>
              <a:t>20 decisions in this domain  ·  ◆ = Proposed, awaiting ARB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74519" y="1783080"/>
          <a:ext cx="4800599" cy="40965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0844"/>
                <a:gridCol w="2994869"/>
                <a:gridCol w="924886"/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ADR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D5-01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Language and API framework — Python + FastAPI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Python version range and primary type checker…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D5-03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Boundary validation standard — Pydantic v2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Dependency management, pinning and lock-file 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D5-05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Lint/format toolchain — Ruff as the single to…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Configuration architecture and immutable rele…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D5-07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Secret management — Azure Key Vault with `*_s…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Cloud platform and compute — Azure + AKS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D5-09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Container image, ACR and image-immutability p…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Self-hosted SLM serving stack — vLLM vs TGI v…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Proposed 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D5-11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GPU node pool and CPU/GPU workload separation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Infrastructure-as-Code approach — conform to 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D5-13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Kubernetes deployment approach — conform to t…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49440" y="1783080"/>
          <a:ext cx="4800599" cy="2340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0844"/>
                <a:gridCol w="2994869"/>
                <a:gridCol w="924886"/>
              </a:tblGrid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ADR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solidFill>
                      <a:srgbClr val="1329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D5-14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Environment model — DEV → TEST → UAT → STAGE 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API gateway and authorization boundary — APIM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D5-16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Shared HTTP client standard — pooling, timeou…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Scalability and autoscaling model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D5-18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Latency budget decomposition and per-hop SLO 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Inference KV-cache and VRAM capacity planning…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3294B"/>
                          </a:solidFill>
                          <a:latin typeface="Calibri"/>
                        </a:rPr>
                        <a:t>D5-20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Adopt the Enterprise Application delivery mod…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C6B7A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63500" marR="63500" marT="25400" marB="2540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09344" cy="6858000"/>
          </a:xfrm>
          <a:prstGeom prst="rect">
            <a:avLst/>
          </a:prstGeom>
          <a:solidFill>
            <a:srgbClr val="01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_cres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365760"/>
            <a:ext cx="676656" cy="123047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4048" y="1779119"/>
            <a:ext cx="841248" cy="20116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1852271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PFF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144879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8FA6C4"/>
                </a:solidFill>
                <a:latin typeface="Calibri"/>
              </a:rPr>
              <a:t>Enterprise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5566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FA6C4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651052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FA6C4"/>
                </a:solidFill>
                <a:latin typeface="Calibri"/>
              </a:rPr>
              <a:t>Proprietary &amp;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4320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3294B"/>
                </a:solidFill>
                <a:latin typeface="Cambria"/>
              </a:rPr>
              <a:t>Technology &amp; infrastructure —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807" y="3703320"/>
            <a:ext cx="1554480" cy="4572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931920"/>
            <a:ext cx="9921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C6B7A"/>
                </a:solidFill>
                <a:latin typeface="Calibri"/>
              </a:rPr>
              <a:t>Azure-native · SPN-only secrets · GPU-separated AKS · enterprise delivery, no bespoke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331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Yokesh Kulasekaran</cp:lastModifiedBy>
  <cp:revision>10</cp:revision>
  <dcterms:created xsi:type="dcterms:W3CDTF">2026-08-06T08:59:30Z</dcterms:created>
  <dcterms:modified xsi:type="dcterms:W3CDTF">2026-09-08T09:07:06Z</dcterms:modified>
</cp:coreProperties>
</file>