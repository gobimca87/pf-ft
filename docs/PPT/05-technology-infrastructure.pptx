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technology and Azure infrastructure. 20 ADRs; one is Proposed (the self-hosted vLLM serving stack, deck 09). IaC, K8s and the delivery model are Accepted — we conform to the enterprise application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platform runs in one Azure tenancy. APIM is the authZ boundary in front of the AKS cluster (system node pool for the app; GPU node pool for self-hosted vLLM). Data/platform services — AI Search, Managed Redis, Service Bus, Blob, Key Vault, ACR, Monitor/App Insights, Langfuse — are all Azure-native. The only egress is to the external SLM, and only masked/tokenised payloads cross that boundary (deck 06). Every service here has a cost line in deck 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stack is deliberately conventional and strict: typed boundaries, pinned deps, one linter, one type checker.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is layered, schema-validated and fail-fast. A release is an immutable, hashed manifest — enabling drift detection and safe promotion.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Vault is reached only via the enterprise SPN — no other credential method is permitted. Secrets are never inline; every *_secret_ref maps to a vault secret (underscores → hyphens). Deployed environments fail closed.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AKS with separated system and GPU node pools; images from ACR. Workload separation isolates GPU cost and scaling from the app tier.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vLLM on AKS GPU is the recommended serving stack, Proposed pending a benchmark and ARB sign-off. VRAM/KV-cache capacity planning (D5-19) sizes the GPU SKU and drives the self-hosted cost model in deck 08.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APIM is the security boundary — the AI never authenticates or authorizes itself. A single shared, pooled, traced HTTP client is the standard for all egress.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stages DEV→TEST→UAT→STAGE→PROD. We adopt the superset so nothing from the infrastructure doc needs renaming; each stage resolves its own endpoints/config.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decision: we do NOT stand up our own platform. We use the enterprise Azure DevOps CI/CD on shared AKS with the enterprise SonarQube gate. This removes a whole class of cost and operational burden (deck 08).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Autoscaling is AI-aware (GPU/VRAM/queue), not just CPU, and is bounded by downstream limits and cost. Latency is budgeted per layer and measured at p95/p99.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20 technology ADRs. One is Proposed (◆): D5-10 self-hosted vLLM serving stack (deck 09). IaC, K8s and the enterprise delivery model are Accepted.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Azure-native and enterprise-conformant — minimal bespoke infrastructure, strict secret handling, and GPU cost isolated for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05 · Technology &amp; Infrastructure</a:t>
            </a:r>
          </a:p>
        </p:txBody>
      </p:sp>
      <p:sp>
        <p:nvSpPr>
          <p:cNvPr id="3" name="Text Placeholder 2"/>
          <p:cNvSpPr>
            <a:spLocks noGrp="1"/>
          </p:cNvSpPr>
          <p:nvPr>
            <p:ph type="body" idx="12" sz="quarter"/>
          </p:nvPr>
        </p:nvSpPr>
        <p:spPr/>
        <p:txBody>
          <a:bodyPr/>
          <a:lstStyle/>
          <a:p>
            <a:r>
              <a:rPr>
                <a:solidFill>
                  <a:srgbClr val="D5D5D5"/>
                </a:solidFill>
              </a:rPr>
              <a:t>Azure · AKS · APIM · Key Vault · vLLM/GPU · enterprise delivery  (D5, 20 ADRs — 1 open)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deck covers</a:t>
            </a:r>
          </a:p>
        </p:txBody>
      </p:sp>
      <p:sp>
        <p:nvSpPr>
          <p:cNvPr id="3" name="TextBox 2"/>
          <p:cNvSpPr txBox="1"/>
          <p:nvPr/>
        </p:nvSpPr>
        <p:spPr>
          <a:xfrm>
            <a:off x="8229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Target infrastructure topology on Azure</a:t>
            </a:r>
          </a:p>
          <a:p>
            <a:pPr algn="l">
              <a:spcAft>
                <a:spcPts val="1000"/>
              </a:spcAft>
            </a:pPr>
            <a:r>
              <a:rPr sz="1800" b="1">
                <a:solidFill>
                  <a:srgbClr val="2ACCFF"/>
                </a:solidFill>
                <a:latin typeface="Calibri"/>
              </a:rPr>
              <a:t>▸ </a:t>
            </a:r>
            <a:r>
              <a:rPr sz="1800">
                <a:solidFill>
                  <a:srgbClr val="FFFFFF"/>
                </a:solidFill>
                <a:latin typeface="Calibri"/>
              </a:rPr>
              <a:t>Engineering stack — language, typing, validation, deps, lint</a:t>
            </a:r>
          </a:p>
          <a:p>
            <a:pPr algn="l">
              <a:spcAft>
                <a:spcPts val="1000"/>
              </a:spcAft>
            </a:pPr>
            <a:r>
              <a:rPr sz="1800" b="1">
                <a:solidFill>
                  <a:srgbClr val="2ACCFF"/>
                </a:solidFill>
                <a:latin typeface="Calibri"/>
              </a:rPr>
              <a:t>▸ </a:t>
            </a:r>
            <a:r>
              <a:rPr sz="1800">
                <a:solidFill>
                  <a:srgbClr val="FFFFFF"/>
                </a:solidFill>
                <a:latin typeface="Calibri"/>
              </a:rPr>
              <a:t>Configuration &amp; release manifest</a:t>
            </a:r>
          </a:p>
          <a:p>
            <a:pPr algn="l">
              <a:spcAft>
                <a:spcPts val="1000"/>
              </a:spcAft>
            </a:pPr>
            <a:r>
              <a:rPr sz="1800" b="1">
                <a:solidFill>
                  <a:srgbClr val="2ACCFF"/>
                </a:solidFill>
                <a:latin typeface="Calibri"/>
              </a:rPr>
              <a:t>▸ </a:t>
            </a:r>
            <a:r>
              <a:rPr sz="1800">
                <a:solidFill>
                  <a:srgbClr val="FFFFFF"/>
                </a:solidFill>
                <a:latin typeface="Calibri"/>
              </a:rPr>
              <a:t>Secret management — Key Vault, SPN-only</a:t>
            </a:r>
          </a:p>
          <a:p>
            <a:pPr algn="l">
              <a:spcAft>
                <a:spcPts val="1000"/>
              </a:spcAft>
            </a:pPr>
            <a:r>
              <a:rPr sz="1800" b="1">
                <a:solidFill>
                  <a:srgbClr val="2ACCFF"/>
                </a:solidFill>
                <a:latin typeface="Calibri"/>
              </a:rPr>
              <a:t>▸ </a:t>
            </a:r>
            <a:r>
              <a:rPr sz="1800">
                <a:solidFill>
                  <a:srgbClr val="FFFFFF"/>
                </a:solidFill>
                <a:latin typeface="Calibri"/>
              </a:rPr>
              <a:t>Compute — AKS, containers/ACR, GPU node pool</a:t>
            </a:r>
          </a:p>
        </p:txBody>
      </p:sp>
      <p:sp>
        <p:nvSpPr>
          <p:cNvPr id="4" name="TextBox 3"/>
          <p:cNvSpPr txBox="1"/>
          <p:nvPr/>
        </p:nvSpPr>
        <p:spPr>
          <a:xfrm>
            <a:off x="63093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Self-hosted SLM serving (vLLM) &amp; VRAM/KV-cache planning</a:t>
            </a:r>
          </a:p>
          <a:p>
            <a:pPr algn="l">
              <a:spcAft>
                <a:spcPts val="1000"/>
              </a:spcAft>
            </a:pPr>
            <a:r>
              <a:rPr sz="1800" b="1">
                <a:solidFill>
                  <a:srgbClr val="2ACCFF"/>
                </a:solidFill>
                <a:latin typeface="Calibri"/>
              </a:rPr>
              <a:t>▸ </a:t>
            </a:r>
            <a:r>
              <a:rPr sz="1800">
                <a:solidFill>
                  <a:srgbClr val="FFFFFF"/>
                </a:solidFill>
                <a:latin typeface="Calibri"/>
              </a:rPr>
              <a:t>APIM authZ boundary &amp; shared HTTP client</a:t>
            </a:r>
          </a:p>
          <a:p>
            <a:pPr algn="l">
              <a:spcAft>
                <a:spcPts val="1000"/>
              </a:spcAft>
            </a:pPr>
            <a:r>
              <a:rPr sz="1800" b="1">
                <a:solidFill>
                  <a:srgbClr val="2ACCFF"/>
                </a:solidFill>
                <a:latin typeface="Calibri"/>
              </a:rPr>
              <a:t>▸ </a:t>
            </a:r>
            <a:r>
              <a:rPr sz="1800">
                <a:solidFill>
                  <a:srgbClr val="FFFFFF"/>
                </a:solidFill>
                <a:latin typeface="Calibri"/>
              </a:rPr>
              <a:t>Five-stage environment model</a:t>
            </a:r>
          </a:p>
          <a:p>
            <a:pPr algn="l">
              <a:spcAft>
                <a:spcPts val="1000"/>
              </a:spcAft>
            </a:pPr>
            <a:r>
              <a:rPr sz="1800" b="1">
                <a:solidFill>
                  <a:srgbClr val="2ACCFF"/>
                </a:solidFill>
                <a:latin typeface="Calibri"/>
              </a:rPr>
              <a:t>▸ </a:t>
            </a:r>
            <a:r>
              <a:rPr sz="1800">
                <a:solidFill>
                  <a:srgbClr val="FFFFFF"/>
                </a:solidFill>
                <a:latin typeface="Calibri"/>
              </a:rPr>
              <a:t>Enterprise delivery model — Azure DevOps CI/CD on shared AKS</a:t>
            </a:r>
          </a:p>
          <a:p>
            <a:pPr algn="l">
              <a:spcAft>
                <a:spcPts val="1000"/>
              </a:spcAft>
            </a:pPr>
            <a:r>
              <a:rPr sz="1800" b="1">
                <a:solidFill>
                  <a:srgbClr val="2ACCFF"/>
                </a:solidFill>
                <a:latin typeface="Calibri"/>
              </a:rPr>
              <a:t>▸ </a:t>
            </a:r>
            <a:r>
              <a:rPr sz="1800">
                <a:solidFill>
                  <a:srgbClr val="FFFFFF"/>
                </a:solidFill>
                <a:latin typeface="Calibri"/>
              </a:rPr>
              <a:t>Scalability, autoscaling &amp; latency budgets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infrastructure topology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on Microsoft Azure — UK South</a:t>
            </a:r>
          </a:p>
        </p:txBody>
      </p:sp>
      <p:sp>
        <p:nvSpPr>
          <p:cNvPr id="4" name="Rounded Rectangle 3"/>
          <p:cNvSpPr/>
          <p:nvPr/>
        </p:nvSpPr>
        <p:spPr>
          <a:xfrm>
            <a:off x="411480" y="1417320"/>
            <a:ext cx="11384280" cy="4343400"/>
          </a:xfrm>
          <a:prstGeom prst="roundRect">
            <a:avLst/>
          </a:prstGeom>
          <a:solidFill>
            <a:srgbClr val="14161C"/>
          </a:solidFill>
          <a:ln w="13970">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566928" y="1463040"/>
            <a:ext cx="5486400" cy="274320"/>
          </a:xfrm>
          <a:prstGeom prst="rect">
            <a:avLst/>
          </a:prstGeom>
          <a:noFill/>
        </p:spPr>
        <p:txBody>
          <a:bodyPr wrap="square" anchor="t" lIns="0" rIns="0" tIns="0" bIns="0">
            <a:spAutoFit/>
          </a:bodyPr>
          <a:lstStyle/>
          <a:p>
            <a:pPr algn="l"/>
            <a:r>
              <a:rPr sz="1000" b="1" i="0">
                <a:solidFill>
                  <a:srgbClr val="5300DB"/>
                </a:solidFill>
                <a:latin typeface="Calibri"/>
              </a:rPr>
              <a:t>AZURE TENANCY · UK South</a:t>
            </a:r>
          </a:p>
        </p:txBody>
      </p:sp>
      <p:sp>
        <p:nvSpPr>
          <p:cNvPr id="6" name="Rounded Rectangle 5"/>
          <p:cNvSpPr/>
          <p:nvPr/>
        </p:nvSpPr>
        <p:spPr>
          <a:xfrm>
            <a:off x="594360" y="2926080"/>
            <a:ext cx="1051560" cy="64008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Chat UI</a:t>
            </a:r>
          </a:p>
        </p:txBody>
      </p:sp>
      <p:sp>
        <p:nvSpPr>
          <p:cNvPr id="7" name="Rounded Rectangle 6"/>
          <p:cNvSpPr/>
          <p:nvPr/>
        </p:nvSpPr>
        <p:spPr>
          <a:xfrm>
            <a:off x="1783080" y="2880360"/>
            <a:ext cx="1280160" cy="777240"/>
          </a:xfrm>
          <a:prstGeom prst="roundRect">
            <a:avLst/>
          </a:prstGeom>
          <a:solidFill>
            <a:srgbClr val="1E222B"/>
          </a:solidFill>
          <a:ln w="1270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8" name="Picture 7" descr="apim.png"/>
          <p:cNvPicPr>
            <a:picLocks noChangeAspect="1"/>
          </p:cNvPicPr>
          <p:nvPr/>
        </p:nvPicPr>
        <p:blipFill>
          <a:blip r:embed="rId2"/>
          <a:stretch>
            <a:fillRect/>
          </a:stretch>
        </p:blipFill>
        <p:spPr>
          <a:xfrm>
            <a:off x="1892807" y="3040379"/>
            <a:ext cx="457200" cy="457200"/>
          </a:xfrm>
          <a:prstGeom prst="rect">
            <a:avLst/>
          </a:prstGeom>
        </p:spPr>
      </p:pic>
      <p:sp>
        <p:nvSpPr>
          <p:cNvPr id="9" name="TextBox 8"/>
          <p:cNvSpPr txBox="1"/>
          <p:nvPr/>
        </p:nvSpPr>
        <p:spPr>
          <a:xfrm>
            <a:off x="2441448" y="2990088"/>
            <a:ext cx="548639" cy="594359"/>
          </a:xfrm>
          <a:prstGeom prst="rect">
            <a:avLst/>
          </a:prstGeom>
          <a:noFill/>
        </p:spPr>
        <p:txBody>
          <a:bodyPr wrap="square" anchor="t" lIns="0" rIns="0" tIns="0" bIns="0">
            <a:spAutoFit/>
          </a:bodyPr>
          <a:lstStyle/>
          <a:p>
            <a:pPr algn="l"/>
            <a:r>
              <a:rPr sz="1050" b="1" i="0">
                <a:solidFill>
                  <a:srgbClr val="FFFFFF"/>
                </a:solidFill>
                <a:latin typeface="Calibri"/>
              </a:rPr>
              <a:t>APIM</a:t>
            </a:r>
          </a:p>
          <a:p>
            <a:pPr algn="l"/>
            <a:r>
              <a:rPr sz="1050" b="1" i="0">
                <a:solidFill>
                  <a:srgbClr val="FFFFFF"/>
                </a:solidFill>
                <a:latin typeface="Calibri"/>
              </a:rPr>
              <a:t>authN/Z</a:t>
            </a:r>
          </a:p>
        </p:txBody>
      </p:sp>
      <p:sp>
        <p:nvSpPr>
          <p:cNvPr id="10" name="Rounded Rectangle 9"/>
          <p:cNvSpPr/>
          <p:nvPr/>
        </p:nvSpPr>
        <p:spPr>
          <a:xfrm>
            <a:off x="3246120" y="1783080"/>
            <a:ext cx="3977639" cy="3703320"/>
          </a:xfrm>
          <a:prstGeom prst="roundRect">
            <a:avLst/>
          </a:prstGeom>
          <a:solidFill>
            <a:srgbClr val="1E222B"/>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11" name="Picture 10" descr="aks.png"/>
          <p:cNvPicPr>
            <a:picLocks noChangeAspect="1"/>
          </p:cNvPicPr>
          <p:nvPr/>
        </p:nvPicPr>
        <p:blipFill>
          <a:blip r:embed="rId3"/>
          <a:stretch>
            <a:fillRect/>
          </a:stretch>
        </p:blipFill>
        <p:spPr>
          <a:xfrm>
            <a:off x="3383280" y="1874519"/>
            <a:ext cx="457200" cy="457200"/>
          </a:xfrm>
          <a:prstGeom prst="rect">
            <a:avLst/>
          </a:prstGeom>
        </p:spPr>
      </p:pic>
      <p:sp>
        <p:nvSpPr>
          <p:cNvPr id="12" name="TextBox 11"/>
          <p:cNvSpPr txBox="1"/>
          <p:nvPr/>
        </p:nvSpPr>
        <p:spPr>
          <a:xfrm>
            <a:off x="3977639" y="1920240"/>
            <a:ext cx="3017520" cy="365760"/>
          </a:xfrm>
          <a:prstGeom prst="rect">
            <a:avLst/>
          </a:prstGeom>
          <a:noFill/>
        </p:spPr>
        <p:txBody>
          <a:bodyPr wrap="square" anchor="t" lIns="0" rIns="0" tIns="0" bIns="0">
            <a:spAutoFit/>
          </a:bodyPr>
          <a:lstStyle/>
          <a:p>
            <a:pPr algn="l"/>
            <a:r>
              <a:rPr sz="1300" b="1" i="0">
                <a:solidFill>
                  <a:srgbClr val="2ACCFF"/>
                </a:solidFill>
                <a:latin typeface="Calibri"/>
              </a:rPr>
              <a:t>AKS cluster</a:t>
            </a:r>
          </a:p>
        </p:txBody>
      </p:sp>
      <p:sp>
        <p:nvSpPr>
          <p:cNvPr id="13" name="Rounded Rectangle 12"/>
          <p:cNvSpPr/>
          <p:nvPr/>
        </p:nvSpPr>
        <p:spPr>
          <a:xfrm>
            <a:off x="3429000" y="2514600"/>
            <a:ext cx="3611880" cy="1234440"/>
          </a:xfrm>
          <a:prstGeom prst="roundRect">
            <a:avLst/>
          </a:prstGeom>
          <a:solidFill>
            <a:srgbClr val="14161C"/>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System node pool</a:t>
            </a:r>
          </a:p>
          <a:p>
            <a:pPr algn="ctr"/>
            <a:r>
              <a:rPr sz="1100" b="1">
                <a:solidFill>
                  <a:srgbClr val="FFFFFF"/>
                </a:solidFill>
                <a:latin typeface="Calibri"/>
              </a:rPr>
              <a:t>FastAPI · LangGraph · Agent Harness</a:t>
            </a:r>
          </a:p>
        </p:txBody>
      </p:sp>
      <p:sp>
        <p:nvSpPr>
          <p:cNvPr id="14" name="Rounded Rectangle 13"/>
          <p:cNvSpPr/>
          <p:nvPr/>
        </p:nvSpPr>
        <p:spPr>
          <a:xfrm>
            <a:off x="3429000" y="3931920"/>
            <a:ext cx="3611880" cy="1234440"/>
          </a:xfrm>
          <a:prstGeom prst="roundRect">
            <a:avLst/>
          </a:prstGeom>
          <a:solidFill>
            <a:srgbClr val="14161C"/>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Calibri"/>
              </a:rPr>
              <a:t>GPU node pool</a:t>
            </a:r>
          </a:p>
          <a:p>
            <a:pPr algn="ctr"/>
            <a:r>
              <a:rPr sz="1100" b="1">
                <a:solidFill>
                  <a:srgbClr val="FFFFFF"/>
                </a:solidFill>
                <a:latin typeface="Calibri"/>
              </a:rPr>
              <a:t>vLLM — self-hosted SLM (target)</a:t>
            </a:r>
          </a:p>
        </p:txBody>
      </p:sp>
      <p:sp>
        <p:nvSpPr>
          <p:cNvPr id="15" name="Rounded Rectangle 14"/>
          <p:cNvSpPr/>
          <p:nvPr/>
        </p:nvSpPr>
        <p:spPr>
          <a:xfrm>
            <a:off x="7543800" y="1874519"/>
            <a:ext cx="1874519" cy="731520"/>
          </a:xfrm>
          <a:prstGeom prst="roundRect">
            <a:avLst/>
          </a:prstGeom>
          <a:solidFill>
            <a:srgbClr val="1E222B"/>
          </a:solidFill>
          <a:ln w="1270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16" name="Picture 15" descr="apim.png"/>
          <p:cNvPicPr>
            <a:picLocks noChangeAspect="1"/>
          </p:cNvPicPr>
          <p:nvPr/>
        </p:nvPicPr>
        <p:blipFill>
          <a:blip r:embed="rId2"/>
          <a:stretch>
            <a:fillRect/>
          </a:stretch>
        </p:blipFill>
        <p:spPr>
          <a:xfrm>
            <a:off x="7653527" y="2011679"/>
            <a:ext cx="457200" cy="457200"/>
          </a:xfrm>
          <a:prstGeom prst="rect">
            <a:avLst/>
          </a:prstGeom>
        </p:spPr>
      </p:pic>
      <p:sp>
        <p:nvSpPr>
          <p:cNvPr id="17" name="TextBox 16"/>
          <p:cNvSpPr txBox="1"/>
          <p:nvPr/>
        </p:nvSpPr>
        <p:spPr>
          <a:xfrm>
            <a:off x="8202168" y="1984248"/>
            <a:ext cx="1142999" cy="548640"/>
          </a:xfrm>
          <a:prstGeom prst="rect">
            <a:avLst/>
          </a:prstGeom>
          <a:noFill/>
        </p:spPr>
        <p:txBody>
          <a:bodyPr wrap="square" anchor="t" lIns="0" rIns="0" tIns="0" bIns="0">
            <a:spAutoFit/>
          </a:bodyPr>
          <a:lstStyle/>
          <a:p>
            <a:pPr algn="l"/>
            <a:r>
              <a:rPr sz="1050" b="1" i="0">
                <a:solidFill>
                  <a:srgbClr val="FFFFFF"/>
                </a:solidFill>
                <a:latin typeface="Calibri"/>
              </a:rPr>
              <a:t>Azure AI Search</a:t>
            </a:r>
          </a:p>
        </p:txBody>
      </p:sp>
      <p:sp>
        <p:nvSpPr>
          <p:cNvPr id="18" name="Rounded Rectangle 17"/>
          <p:cNvSpPr/>
          <p:nvPr/>
        </p:nvSpPr>
        <p:spPr>
          <a:xfrm>
            <a:off x="7543800" y="2697480"/>
            <a:ext cx="1874519" cy="731520"/>
          </a:xfrm>
          <a:prstGeom prst="roundRect">
            <a:avLst/>
          </a:prstGeom>
          <a:solidFill>
            <a:srgbClr val="1E222B"/>
          </a:solidFill>
          <a:ln w="1270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19" name="Picture 18" descr="redis.png"/>
          <p:cNvPicPr>
            <a:picLocks noChangeAspect="1"/>
          </p:cNvPicPr>
          <p:nvPr/>
        </p:nvPicPr>
        <p:blipFill>
          <a:blip r:embed="rId4"/>
          <a:stretch>
            <a:fillRect/>
          </a:stretch>
        </p:blipFill>
        <p:spPr>
          <a:xfrm>
            <a:off x="7653527" y="2834640"/>
            <a:ext cx="457200" cy="457200"/>
          </a:xfrm>
          <a:prstGeom prst="rect">
            <a:avLst/>
          </a:prstGeom>
        </p:spPr>
      </p:pic>
      <p:sp>
        <p:nvSpPr>
          <p:cNvPr id="20" name="TextBox 19"/>
          <p:cNvSpPr txBox="1"/>
          <p:nvPr/>
        </p:nvSpPr>
        <p:spPr>
          <a:xfrm>
            <a:off x="8202168" y="2807208"/>
            <a:ext cx="1142999" cy="548640"/>
          </a:xfrm>
          <a:prstGeom prst="rect">
            <a:avLst/>
          </a:prstGeom>
          <a:noFill/>
        </p:spPr>
        <p:txBody>
          <a:bodyPr wrap="square" anchor="t" lIns="0" rIns="0" tIns="0" bIns="0">
            <a:spAutoFit/>
          </a:bodyPr>
          <a:lstStyle/>
          <a:p>
            <a:pPr algn="l"/>
            <a:r>
              <a:rPr sz="1050" b="1" i="0">
                <a:solidFill>
                  <a:srgbClr val="FFFFFF"/>
                </a:solidFill>
                <a:latin typeface="Calibri"/>
              </a:rPr>
              <a:t>Managed Redis</a:t>
            </a:r>
          </a:p>
        </p:txBody>
      </p:sp>
      <p:sp>
        <p:nvSpPr>
          <p:cNvPr id="21" name="Rounded Rectangle 20"/>
          <p:cNvSpPr/>
          <p:nvPr/>
        </p:nvSpPr>
        <p:spPr>
          <a:xfrm>
            <a:off x="7543800" y="3520440"/>
            <a:ext cx="1874519" cy="731520"/>
          </a:xfrm>
          <a:prstGeom prst="roundRect">
            <a:avLst/>
          </a:prstGeom>
          <a:solidFill>
            <a:srgbClr val="1E222B"/>
          </a:solidFill>
          <a:ln w="1270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22" name="Picture 21" descr="apim.png"/>
          <p:cNvPicPr>
            <a:picLocks noChangeAspect="1"/>
          </p:cNvPicPr>
          <p:nvPr/>
        </p:nvPicPr>
        <p:blipFill>
          <a:blip r:embed="rId2"/>
          <a:stretch>
            <a:fillRect/>
          </a:stretch>
        </p:blipFill>
        <p:spPr>
          <a:xfrm>
            <a:off x="7653527" y="3657600"/>
            <a:ext cx="457200" cy="457200"/>
          </a:xfrm>
          <a:prstGeom prst="rect">
            <a:avLst/>
          </a:prstGeom>
        </p:spPr>
      </p:pic>
      <p:sp>
        <p:nvSpPr>
          <p:cNvPr id="23" name="TextBox 22"/>
          <p:cNvSpPr txBox="1"/>
          <p:nvPr/>
        </p:nvSpPr>
        <p:spPr>
          <a:xfrm>
            <a:off x="8202168" y="3630168"/>
            <a:ext cx="1142999" cy="548640"/>
          </a:xfrm>
          <a:prstGeom prst="rect">
            <a:avLst/>
          </a:prstGeom>
          <a:noFill/>
        </p:spPr>
        <p:txBody>
          <a:bodyPr wrap="square" anchor="t" lIns="0" rIns="0" tIns="0" bIns="0">
            <a:spAutoFit/>
          </a:bodyPr>
          <a:lstStyle/>
          <a:p>
            <a:pPr algn="l"/>
            <a:r>
              <a:rPr sz="1050" b="1" i="0">
                <a:solidFill>
                  <a:srgbClr val="FFFFFF"/>
                </a:solidFill>
                <a:latin typeface="Calibri"/>
              </a:rPr>
              <a:t>Service Bus</a:t>
            </a:r>
          </a:p>
        </p:txBody>
      </p:sp>
      <p:sp>
        <p:nvSpPr>
          <p:cNvPr id="24" name="Rounded Rectangle 23"/>
          <p:cNvSpPr/>
          <p:nvPr/>
        </p:nvSpPr>
        <p:spPr>
          <a:xfrm>
            <a:off x="7543800" y="4343400"/>
            <a:ext cx="1874519" cy="731520"/>
          </a:xfrm>
          <a:prstGeom prst="roundRect">
            <a:avLst/>
          </a:prstGeom>
          <a:solidFill>
            <a:srgbClr val="1E222B"/>
          </a:solidFill>
          <a:ln w="1270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25" name="Picture 24" descr="apim.png"/>
          <p:cNvPicPr>
            <a:picLocks noChangeAspect="1"/>
          </p:cNvPicPr>
          <p:nvPr/>
        </p:nvPicPr>
        <p:blipFill>
          <a:blip r:embed="rId2"/>
          <a:stretch>
            <a:fillRect/>
          </a:stretch>
        </p:blipFill>
        <p:spPr>
          <a:xfrm>
            <a:off x="7653527" y="4480560"/>
            <a:ext cx="457200" cy="457200"/>
          </a:xfrm>
          <a:prstGeom prst="rect">
            <a:avLst/>
          </a:prstGeom>
        </p:spPr>
      </p:pic>
      <p:sp>
        <p:nvSpPr>
          <p:cNvPr id="26" name="TextBox 25"/>
          <p:cNvSpPr txBox="1"/>
          <p:nvPr/>
        </p:nvSpPr>
        <p:spPr>
          <a:xfrm>
            <a:off x="8202168" y="4453128"/>
            <a:ext cx="1142999" cy="548640"/>
          </a:xfrm>
          <a:prstGeom prst="rect">
            <a:avLst/>
          </a:prstGeom>
          <a:noFill/>
        </p:spPr>
        <p:txBody>
          <a:bodyPr wrap="square" anchor="t" lIns="0" rIns="0" tIns="0" bIns="0">
            <a:spAutoFit/>
          </a:bodyPr>
          <a:lstStyle/>
          <a:p>
            <a:pPr algn="l"/>
            <a:r>
              <a:rPr sz="1050" b="1" i="0">
                <a:solidFill>
                  <a:srgbClr val="FFFFFF"/>
                </a:solidFill>
                <a:latin typeface="Calibri"/>
              </a:rPr>
              <a:t>Blob Storage</a:t>
            </a:r>
          </a:p>
        </p:txBody>
      </p:sp>
      <p:sp>
        <p:nvSpPr>
          <p:cNvPr id="27" name="Rounded Rectangle 26"/>
          <p:cNvSpPr/>
          <p:nvPr/>
        </p:nvSpPr>
        <p:spPr>
          <a:xfrm>
            <a:off x="9646920" y="1874519"/>
            <a:ext cx="1965960" cy="731520"/>
          </a:xfrm>
          <a:prstGeom prst="roundRect">
            <a:avLst/>
          </a:prstGeom>
          <a:solidFill>
            <a:srgbClr val="1E222B"/>
          </a:solidFill>
          <a:ln w="1270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28" name="Picture 27" descr="apim.png"/>
          <p:cNvPicPr>
            <a:picLocks noChangeAspect="1"/>
          </p:cNvPicPr>
          <p:nvPr/>
        </p:nvPicPr>
        <p:blipFill>
          <a:blip r:embed="rId2"/>
          <a:stretch>
            <a:fillRect/>
          </a:stretch>
        </p:blipFill>
        <p:spPr>
          <a:xfrm>
            <a:off x="9756648" y="2011679"/>
            <a:ext cx="457200" cy="457200"/>
          </a:xfrm>
          <a:prstGeom prst="rect">
            <a:avLst/>
          </a:prstGeom>
        </p:spPr>
      </p:pic>
      <p:sp>
        <p:nvSpPr>
          <p:cNvPr id="29" name="TextBox 28"/>
          <p:cNvSpPr txBox="1"/>
          <p:nvPr/>
        </p:nvSpPr>
        <p:spPr>
          <a:xfrm>
            <a:off x="10305288" y="1984248"/>
            <a:ext cx="1234439" cy="548640"/>
          </a:xfrm>
          <a:prstGeom prst="rect">
            <a:avLst/>
          </a:prstGeom>
          <a:noFill/>
        </p:spPr>
        <p:txBody>
          <a:bodyPr wrap="square" anchor="t" lIns="0" rIns="0" tIns="0" bIns="0">
            <a:spAutoFit/>
          </a:bodyPr>
          <a:lstStyle/>
          <a:p>
            <a:pPr algn="l"/>
            <a:r>
              <a:rPr sz="1050" b="1" i="0">
                <a:solidFill>
                  <a:srgbClr val="FFFFFF"/>
                </a:solidFill>
                <a:latin typeface="Calibri"/>
              </a:rPr>
              <a:t>Key Vault (SPN)</a:t>
            </a:r>
          </a:p>
        </p:txBody>
      </p:sp>
      <p:sp>
        <p:nvSpPr>
          <p:cNvPr id="30" name="Rounded Rectangle 29"/>
          <p:cNvSpPr/>
          <p:nvPr/>
        </p:nvSpPr>
        <p:spPr>
          <a:xfrm>
            <a:off x="9646920" y="2697480"/>
            <a:ext cx="1965960" cy="731520"/>
          </a:xfrm>
          <a:prstGeom prst="roundRect">
            <a:avLst/>
          </a:prstGeom>
          <a:solidFill>
            <a:srgbClr val="1E222B"/>
          </a:solidFill>
          <a:ln w="1270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31" name="Picture 30" descr="apim.png"/>
          <p:cNvPicPr>
            <a:picLocks noChangeAspect="1"/>
          </p:cNvPicPr>
          <p:nvPr/>
        </p:nvPicPr>
        <p:blipFill>
          <a:blip r:embed="rId2"/>
          <a:stretch>
            <a:fillRect/>
          </a:stretch>
        </p:blipFill>
        <p:spPr>
          <a:xfrm>
            <a:off x="9756648" y="2834640"/>
            <a:ext cx="457200" cy="457200"/>
          </a:xfrm>
          <a:prstGeom prst="rect">
            <a:avLst/>
          </a:prstGeom>
        </p:spPr>
      </p:pic>
      <p:sp>
        <p:nvSpPr>
          <p:cNvPr id="32" name="TextBox 31"/>
          <p:cNvSpPr txBox="1"/>
          <p:nvPr/>
        </p:nvSpPr>
        <p:spPr>
          <a:xfrm>
            <a:off x="10305288" y="2807208"/>
            <a:ext cx="1234439" cy="548640"/>
          </a:xfrm>
          <a:prstGeom prst="rect">
            <a:avLst/>
          </a:prstGeom>
          <a:noFill/>
        </p:spPr>
        <p:txBody>
          <a:bodyPr wrap="square" anchor="t" lIns="0" rIns="0" tIns="0" bIns="0">
            <a:spAutoFit/>
          </a:bodyPr>
          <a:lstStyle/>
          <a:p>
            <a:pPr algn="l"/>
            <a:r>
              <a:rPr sz="1050" b="1" i="0">
                <a:solidFill>
                  <a:srgbClr val="FFFFFF"/>
                </a:solidFill>
                <a:latin typeface="Calibri"/>
              </a:rPr>
              <a:t>ACR</a:t>
            </a:r>
          </a:p>
        </p:txBody>
      </p:sp>
      <p:sp>
        <p:nvSpPr>
          <p:cNvPr id="33" name="Rounded Rectangle 32"/>
          <p:cNvSpPr/>
          <p:nvPr/>
        </p:nvSpPr>
        <p:spPr>
          <a:xfrm>
            <a:off x="9646920" y="3520440"/>
            <a:ext cx="1965960" cy="731520"/>
          </a:xfrm>
          <a:prstGeom prst="roundRect">
            <a:avLst/>
          </a:prstGeom>
          <a:solidFill>
            <a:srgbClr val="1E222B"/>
          </a:solidFill>
          <a:ln w="1270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34" name="Picture 33" descr="apim.png"/>
          <p:cNvPicPr>
            <a:picLocks noChangeAspect="1"/>
          </p:cNvPicPr>
          <p:nvPr/>
        </p:nvPicPr>
        <p:blipFill>
          <a:blip r:embed="rId2"/>
          <a:stretch>
            <a:fillRect/>
          </a:stretch>
        </p:blipFill>
        <p:spPr>
          <a:xfrm>
            <a:off x="9756648" y="3657600"/>
            <a:ext cx="457200" cy="457200"/>
          </a:xfrm>
          <a:prstGeom prst="rect">
            <a:avLst/>
          </a:prstGeom>
        </p:spPr>
      </p:pic>
      <p:sp>
        <p:nvSpPr>
          <p:cNvPr id="35" name="TextBox 34"/>
          <p:cNvSpPr txBox="1"/>
          <p:nvPr/>
        </p:nvSpPr>
        <p:spPr>
          <a:xfrm>
            <a:off x="10305288" y="3630168"/>
            <a:ext cx="1234439" cy="548640"/>
          </a:xfrm>
          <a:prstGeom prst="rect">
            <a:avLst/>
          </a:prstGeom>
          <a:noFill/>
        </p:spPr>
        <p:txBody>
          <a:bodyPr wrap="square" anchor="t" lIns="0" rIns="0" tIns="0" bIns="0">
            <a:spAutoFit/>
          </a:bodyPr>
          <a:lstStyle/>
          <a:p>
            <a:pPr algn="l"/>
            <a:r>
              <a:rPr sz="1050" b="1" i="0">
                <a:solidFill>
                  <a:srgbClr val="FFFFFF"/>
                </a:solidFill>
                <a:latin typeface="Calibri"/>
              </a:rPr>
              <a:t>Monitor / App Ins.</a:t>
            </a:r>
          </a:p>
        </p:txBody>
      </p:sp>
      <p:sp>
        <p:nvSpPr>
          <p:cNvPr id="36" name="Rounded Rectangle 35"/>
          <p:cNvSpPr/>
          <p:nvPr/>
        </p:nvSpPr>
        <p:spPr>
          <a:xfrm>
            <a:off x="9646920" y="4343400"/>
            <a:ext cx="1965960" cy="731520"/>
          </a:xfrm>
          <a:prstGeom prst="roundRect">
            <a:avLst/>
          </a:prstGeom>
          <a:solidFill>
            <a:srgbClr val="1E222B"/>
          </a:solidFill>
          <a:ln w="1270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37" name="Picture 36" descr="langfuse.png"/>
          <p:cNvPicPr>
            <a:picLocks noChangeAspect="1"/>
          </p:cNvPicPr>
          <p:nvPr/>
        </p:nvPicPr>
        <p:blipFill>
          <a:blip r:embed="rId5"/>
          <a:stretch>
            <a:fillRect/>
          </a:stretch>
        </p:blipFill>
        <p:spPr>
          <a:xfrm>
            <a:off x="9756648" y="4480560"/>
            <a:ext cx="1469571" cy="457200"/>
          </a:xfrm>
          <a:prstGeom prst="rect">
            <a:avLst/>
          </a:prstGeom>
        </p:spPr>
      </p:pic>
      <p:sp>
        <p:nvSpPr>
          <p:cNvPr id="38" name="TextBox 37"/>
          <p:cNvSpPr txBox="1"/>
          <p:nvPr/>
        </p:nvSpPr>
        <p:spPr>
          <a:xfrm>
            <a:off x="10305288" y="4453128"/>
            <a:ext cx="1234439" cy="548640"/>
          </a:xfrm>
          <a:prstGeom prst="rect">
            <a:avLst/>
          </a:prstGeom>
          <a:noFill/>
        </p:spPr>
        <p:txBody>
          <a:bodyPr wrap="square" anchor="t" lIns="0" rIns="0" tIns="0" bIns="0">
            <a:spAutoFit/>
          </a:bodyPr>
          <a:lstStyle/>
          <a:p>
            <a:pPr algn="l"/>
            <a:r>
              <a:rPr sz="1050" b="1" i="0">
                <a:solidFill>
                  <a:srgbClr val="FFFFFF"/>
                </a:solidFill>
                <a:latin typeface="Calibri"/>
              </a:rPr>
              <a:t>Langfuse</a:t>
            </a:r>
          </a:p>
        </p:txBody>
      </p:sp>
      <p:sp>
        <p:nvSpPr>
          <p:cNvPr id="39" name="Rounded Rectangle 38"/>
          <p:cNvSpPr/>
          <p:nvPr/>
        </p:nvSpPr>
        <p:spPr>
          <a:xfrm>
            <a:off x="3246120" y="5989320"/>
            <a:ext cx="4572000" cy="548640"/>
          </a:xfrm>
          <a:prstGeom prst="roundRect">
            <a:avLst/>
          </a:prstGeom>
          <a:solidFill>
            <a:srgbClr val="14161C"/>
          </a:solidFill>
          <a:ln w="1397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pic>
        <p:nvPicPr>
          <p:cNvPr id="40" name="Picture 39" descr="huggingface.png"/>
          <p:cNvPicPr>
            <a:picLocks noChangeAspect="1"/>
          </p:cNvPicPr>
          <p:nvPr/>
        </p:nvPicPr>
        <p:blipFill>
          <a:blip r:embed="rId6"/>
          <a:stretch>
            <a:fillRect/>
          </a:stretch>
        </p:blipFill>
        <p:spPr>
          <a:xfrm>
            <a:off x="3383280" y="6053328"/>
            <a:ext cx="1293223" cy="402336"/>
          </a:xfrm>
          <a:prstGeom prst="rect">
            <a:avLst/>
          </a:prstGeom>
        </p:spPr>
      </p:pic>
      <p:sp>
        <p:nvSpPr>
          <p:cNvPr id="41" name="TextBox 40"/>
          <p:cNvSpPr txBox="1"/>
          <p:nvPr/>
        </p:nvSpPr>
        <p:spPr>
          <a:xfrm>
            <a:off x="5120640" y="6053328"/>
            <a:ext cx="6309360" cy="457200"/>
          </a:xfrm>
          <a:prstGeom prst="rect">
            <a:avLst/>
          </a:prstGeom>
          <a:noFill/>
        </p:spPr>
        <p:txBody>
          <a:bodyPr wrap="square" anchor="t" lIns="0" rIns="0" tIns="0" bIns="0">
            <a:spAutoFit/>
          </a:bodyPr>
          <a:lstStyle/>
          <a:p>
            <a:pPr algn="l"/>
            <a:r>
              <a:rPr sz="1000" b="1" i="0">
                <a:solidFill>
                  <a:srgbClr val="FE2579"/>
                </a:solidFill>
                <a:latin typeface="Calibri"/>
              </a:rPr>
              <a:t>External SLM (Hugging Face) — masked/tokenised payloads only, fail-closed</a:t>
            </a:r>
          </a:p>
        </p:txBody>
      </p:sp>
      <p:cxnSp>
        <p:nvCxnSpPr>
          <p:cNvPr id="42" name="Connector 41"/>
          <p:cNvCxnSpPr/>
          <p:nvPr/>
        </p:nvCxnSpPr>
        <p:spPr>
          <a:xfrm>
            <a:off x="1645920" y="3246120"/>
            <a:ext cx="137160" cy="0"/>
          </a:xfrm>
          <a:prstGeom prst="line">
            <a:avLst/>
          </a:prstGeom>
          <a:ln w="1651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063240" y="3246120"/>
            <a:ext cx="182880" cy="0"/>
          </a:xfrm>
          <a:prstGeom prst="line">
            <a:avLst/>
          </a:prstGeom>
          <a:ln w="1651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223760" y="2651760"/>
            <a:ext cx="320040" cy="457200"/>
          </a:xfrm>
          <a:prstGeom prst="line">
            <a:avLst/>
          </a:prstGeom>
          <a:ln w="1524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223760" y="3383280"/>
            <a:ext cx="320040" cy="0"/>
          </a:xfrm>
          <a:prstGeom prst="line">
            <a:avLst/>
          </a:prstGeom>
          <a:ln w="1524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212080" y="5166360"/>
            <a:ext cx="0" cy="822960"/>
          </a:xfrm>
          <a:prstGeom prst="line">
            <a:avLst/>
          </a:prstGeom>
          <a:ln w="17780">
            <a:solidFill>
              <a:srgbClr val="FE2579"/>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stack</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D5-01 / D5-02 / D5-03 / D5-04 / D5-05</a:t>
            </a:r>
          </a:p>
        </p:txBody>
      </p:sp>
      <p:pic>
        <p:nvPicPr>
          <p:cNvPr id="4" name="Picture 3" descr="python.png"/>
          <p:cNvPicPr>
            <a:picLocks noChangeAspect="1"/>
          </p:cNvPicPr>
          <p:nvPr/>
        </p:nvPicPr>
        <p:blipFill>
          <a:blip r:embed="rId2"/>
          <a:stretch>
            <a:fillRect/>
          </a:stretch>
        </p:blipFill>
        <p:spPr>
          <a:xfrm>
            <a:off x="1748789" y="1828800"/>
            <a:ext cx="777240" cy="777240"/>
          </a:xfrm>
          <a:prstGeom prst="rect">
            <a:avLst/>
          </a:prstGeom>
        </p:spPr>
      </p:pic>
      <p:sp>
        <p:nvSpPr>
          <p:cNvPr id="5" name="TextBox 4"/>
          <p:cNvSpPr txBox="1"/>
          <p:nvPr/>
        </p:nvSpPr>
        <p:spPr>
          <a:xfrm>
            <a:off x="822959" y="2679192"/>
            <a:ext cx="2628900" cy="274320"/>
          </a:xfrm>
          <a:prstGeom prst="rect">
            <a:avLst/>
          </a:prstGeom>
          <a:noFill/>
        </p:spPr>
        <p:txBody>
          <a:bodyPr wrap="square" anchor="t" lIns="0" rIns="0" tIns="0" bIns="0">
            <a:spAutoFit/>
          </a:bodyPr>
          <a:lstStyle/>
          <a:p>
            <a:pPr algn="ctr"/>
            <a:r>
              <a:rPr sz="900" b="0" i="0">
                <a:solidFill>
                  <a:srgbClr val="D5D5D5"/>
                </a:solidFill>
                <a:latin typeface="Calibri"/>
              </a:rPr>
              <a:t>Python</a:t>
            </a:r>
          </a:p>
        </p:txBody>
      </p:sp>
      <p:pic>
        <p:nvPicPr>
          <p:cNvPr id="6" name="Picture 5" descr="fastapi.png"/>
          <p:cNvPicPr>
            <a:picLocks noChangeAspect="1"/>
          </p:cNvPicPr>
          <p:nvPr/>
        </p:nvPicPr>
        <p:blipFill>
          <a:blip r:embed="rId3"/>
          <a:stretch>
            <a:fillRect/>
          </a:stretch>
        </p:blipFill>
        <p:spPr>
          <a:xfrm>
            <a:off x="4377690" y="1828800"/>
            <a:ext cx="777240" cy="777240"/>
          </a:xfrm>
          <a:prstGeom prst="rect">
            <a:avLst/>
          </a:prstGeom>
        </p:spPr>
      </p:pic>
      <p:sp>
        <p:nvSpPr>
          <p:cNvPr id="7" name="TextBox 6"/>
          <p:cNvSpPr txBox="1"/>
          <p:nvPr/>
        </p:nvSpPr>
        <p:spPr>
          <a:xfrm>
            <a:off x="3451860" y="2679192"/>
            <a:ext cx="2628900" cy="274320"/>
          </a:xfrm>
          <a:prstGeom prst="rect">
            <a:avLst/>
          </a:prstGeom>
          <a:noFill/>
        </p:spPr>
        <p:txBody>
          <a:bodyPr wrap="square" anchor="t" lIns="0" rIns="0" tIns="0" bIns="0">
            <a:spAutoFit/>
          </a:bodyPr>
          <a:lstStyle/>
          <a:p>
            <a:pPr algn="ctr"/>
            <a:r>
              <a:rPr sz="900" b="0" i="0">
                <a:solidFill>
                  <a:srgbClr val="D5D5D5"/>
                </a:solidFill>
                <a:latin typeface="Calibri"/>
              </a:rPr>
              <a:t>FastAPI</a:t>
            </a:r>
          </a:p>
        </p:txBody>
      </p:sp>
      <p:pic>
        <p:nvPicPr>
          <p:cNvPr id="8" name="Picture 7" descr="pydantic.png"/>
          <p:cNvPicPr>
            <a:picLocks noChangeAspect="1"/>
          </p:cNvPicPr>
          <p:nvPr/>
        </p:nvPicPr>
        <p:blipFill>
          <a:blip r:embed="rId4"/>
          <a:stretch>
            <a:fillRect/>
          </a:stretch>
        </p:blipFill>
        <p:spPr>
          <a:xfrm>
            <a:off x="6317361" y="1882089"/>
            <a:ext cx="2155698" cy="670661"/>
          </a:xfrm>
          <a:prstGeom prst="rect">
            <a:avLst/>
          </a:prstGeom>
        </p:spPr>
      </p:pic>
      <p:sp>
        <p:nvSpPr>
          <p:cNvPr id="9" name="TextBox 8"/>
          <p:cNvSpPr txBox="1"/>
          <p:nvPr/>
        </p:nvSpPr>
        <p:spPr>
          <a:xfrm>
            <a:off x="6080760" y="2679192"/>
            <a:ext cx="2628900" cy="274320"/>
          </a:xfrm>
          <a:prstGeom prst="rect">
            <a:avLst/>
          </a:prstGeom>
          <a:noFill/>
        </p:spPr>
        <p:txBody>
          <a:bodyPr wrap="square" anchor="t" lIns="0" rIns="0" tIns="0" bIns="0">
            <a:spAutoFit/>
          </a:bodyPr>
          <a:lstStyle/>
          <a:p>
            <a:pPr algn="ctr"/>
            <a:r>
              <a:rPr sz="900" b="0" i="0">
                <a:solidFill>
                  <a:srgbClr val="D5D5D5"/>
                </a:solidFill>
                <a:latin typeface="Calibri"/>
              </a:rPr>
              <a:t>Pydantic</a:t>
            </a:r>
          </a:p>
        </p:txBody>
      </p:sp>
      <p:pic>
        <p:nvPicPr>
          <p:cNvPr id="10" name="Picture 9" descr="ruff.png"/>
          <p:cNvPicPr>
            <a:picLocks noChangeAspect="1"/>
          </p:cNvPicPr>
          <p:nvPr/>
        </p:nvPicPr>
        <p:blipFill>
          <a:blip r:embed="rId5"/>
          <a:stretch>
            <a:fillRect/>
          </a:stretch>
        </p:blipFill>
        <p:spPr>
          <a:xfrm>
            <a:off x="8946261" y="1882089"/>
            <a:ext cx="2155698" cy="670661"/>
          </a:xfrm>
          <a:prstGeom prst="rect">
            <a:avLst/>
          </a:prstGeom>
        </p:spPr>
      </p:pic>
      <p:sp>
        <p:nvSpPr>
          <p:cNvPr id="11" name="TextBox 10"/>
          <p:cNvSpPr txBox="1"/>
          <p:nvPr/>
        </p:nvSpPr>
        <p:spPr>
          <a:xfrm>
            <a:off x="8709660" y="2679192"/>
            <a:ext cx="2628900" cy="274320"/>
          </a:xfrm>
          <a:prstGeom prst="rect">
            <a:avLst/>
          </a:prstGeom>
          <a:noFill/>
        </p:spPr>
        <p:txBody>
          <a:bodyPr wrap="square" anchor="t" lIns="0" rIns="0" tIns="0" bIns="0">
            <a:spAutoFit/>
          </a:bodyPr>
          <a:lstStyle/>
          <a:p>
            <a:pPr algn="ctr"/>
            <a:r>
              <a:rPr sz="900" b="0" i="0">
                <a:solidFill>
                  <a:srgbClr val="D5D5D5"/>
                </a:solidFill>
                <a:latin typeface="Calibri"/>
              </a:rPr>
              <a:t>Ruff</a:t>
            </a:r>
          </a:p>
        </p:txBody>
      </p:sp>
      <p:sp>
        <p:nvSpPr>
          <p:cNvPr id="12" name="TextBox 11"/>
          <p:cNvSpPr txBox="1"/>
          <p:nvPr/>
        </p:nvSpPr>
        <p:spPr>
          <a:xfrm>
            <a:off x="822960" y="3657600"/>
            <a:ext cx="10515600" cy="2011680"/>
          </a:xfrm>
          <a:prstGeom prst="rect">
            <a:avLst/>
          </a:prstGeom>
          <a:noFill/>
        </p:spPr>
        <p:txBody>
          <a:bodyPr wrap="square" lIns="0" tIns="0">
            <a:spAutoFit/>
          </a:bodyPr>
          <a:lstStyle/>
          <a:p>
            <a:pPr algn="l">
              <a:spcAft>
                <a:spcPts val="1300"/>
              </a:spcAft>
            </a:pPr>
            <a:r>
              <a:rPr sz="1500" b="1">
                <a:solidFill>
                  <a:srgbClr val="2ACCFF"/>
                </a:solidFill>
                <a:latin typeface="Calibri"/>
              </a:rPr>
              <a:t>▸ </a:t>
            </a:r>
            <a:r>
              <a:rPr sz="1500">
                <a:solidFill>
                  <a:srgbClr val="FFFFFF"/>
                </a:solidFill>
                <a:latin typeface="Calibri"/>
              </a:rPr>
              <a:t>Python + FastAPI; a single project type checker (mypy or pyright) chosen at Phase 0.</a:t>
            </a:r>
          </a:p>
          <a:p>
            <a:pPr algn="l">
              <a:spcAft>
                <a:spcPts val="1300"/>
              </a:spcAft>
            </a:pPr>
            <a:r>
              <a:rPr sz="1500" b="1">
                <a:solidFill>
                  <a:srgbClr val="2ACCFF"/>
                </a:solidFill>
                <a:latin typeface="Calibri"/>
              </a:rPr>
              <a:t>▸ </a:t>
            </a:r>
            <a:r>
              <a:rPr sz="1500">
                <a:solidFill>
                  <a:srgbClr val="FFFFFF"/>
                </a:solidFill>
                <a:latin typeface="Calibri"/>
              </a:rPr>
              <a:t>Pydantic validates every boundary (API, tool, config, event, ERC, SLM); TypedDict for graph state.</a:t>
            </a:r>
          </a:p>
          <a:p>
            <a:pPr algn="l">
              <a:spcAft>
                <a:spcPts val="1300"/>
              </a:spcAft>
            </a:pPr>
            <a:r>
              <a:rPr sz="1500" b="1">
                <a:solidFill>
                  <a:srgbClr val="2ACCFF"/>
                </a:solidFill>
                <a:latin typeface="Calibri"/>
              </a:rPr>
              <a:t>▸ </a:t>
            </a:r>
            <a:r>
              <a:rPr sz="1500">
                <a:solidFill>
                  <a:srgbClr val="FFFFFF"/>
                </a:solidFill>
                <a:latin typeface="Calibri"/>
              </a:rPr>
              <a:t>Dependencies pinned with a lock file; Ruff for lint/format; conventional commits &amp; semantic versioning.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&amp; release manifest</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D5-06</a:t>
            </a:r>
          </a:p>
        </p:txBody>
      </p:sp>
      <p:sp>
        <p:nvSpPr>
          <p:cNvPr id="4" name="TextBox 3"/>
          <p:cNvSpPr txBox="1"/>
          <p:nvPr/>
        </p:nvSpPr>
        <p:spPr>
          <a:xfrm>
            <a:off x="822960" y="1828800"/>
            <a:ext cx="10515600" cy="3474720"/>
          </a:xfrm>
          <a:prstGeom prst="rect">
            <a:avLst/>
          </a:prstGeom>
          <a:noFill/>
        </p:spPr>
        <p:txBody>
          <a:bodyPr wrap="square" lIns="0" tIns="0">
            <a:spAutoFit/>
          </a:bodyPr>
          <a:lstStyle/>
          <a:p>
            <a:pPr algn="l">
              <a:spcAft>
                <a:spcPts val="1400"/>
              </a:spcAft>
            </a:pPr>
            <a:r>
              <a:rPr sz="1600" b="1">
                <a:solidFill>
                  <a:srgbClr val="2ACCFF"/>
                </a:solidFill>
                <a:latin typeface="Calibri"/>
              </a:rPr>
              <a:t>▸ </a:t>
            </a:r>
            <a:r>
              <a:rPr sz="1600">
                <a:solidFill>
                  <a:srgbClr val="FFFFFF"/>
                </a:solidFill>
                <a:latin typeface="Calibri"/>
              </a:rPr>
              <a:t>Config precedence: Base → Environment → Deployment override → Secret reference.</a:t>
            </a:r>
          </a:p>
          <a:p>
            <a:pPr algn="l">
              <a:spcAft>
                <a:spcPts val="1400"/>
              </a:spcAft>
            </a:pPr>
            <a:r>
              <a:rPr sz="1600" b="1">
                <a:solidFill>
                  <a:srgbClr val="2ACCFF"/>
                </a:solidFill>
                <a:latin typeface="Calibri"/>
              </a:rPr>
              <a:t>▸ </a:t>
            </a:r>
            <a:r>
              <a:rPr sz="1600">
                <a:solidFill>
                  <a:srgbClr val="FFFFFF"/>
                </a:solidFill>
                <a:latin typeface="Calibri"/>
              </a:rPr>
              <a:t>Schema-validated &amp; fail-fast: invalid mandatory config ⇒ the app never becomes READY.</a:t>
            </a:r>
          </a:p>
          <a:p>
            <a:pPr algn="l">
              <a:spcAft>
                <a:spcPts val="1400"/>
              </a:spcAft>
            </a:pPr>
            <a:r>
              <a:rPr sz="1600" b="1">
                <a:solidFill>
                  <a:srgbClr val="2ACCFF"/>
                </a:solidFill>
                <a:latin typeface="Calibri"/>
              </a:rPr>
              <a:t>▸ </a:t>
            </a:r>
            <a:r>
              <a:rPr sz="1600">
                <a:solidFill>
                  <a:srgbClr val="FFFFFF"/>
                </a:solidFill>
                <a:latin typeface="Calibri"/>
              </a:rPr>
              <a:t>Immutable release manifest with a configuration_hash (SHA-256) for drift detection.</a:t>
            </a:r>
          </a:p>
          <a:p>
            <a:pPr algn="l">
              <a:spcAft>
                <a:spcPts val="1400"/>
              </a:spcAft>
            </a:pPr>
            <a:r>
              <a:rPr sz="1600" b="1">
                <a:solidFill>
                  <a:srgbClr val="2ACCFF"/>
                </a:solidFill>
                <a:latin typeface="Calibri"/>
              </a:rPr>
              <a:t>▸ </a:t>
            </a:r>
            <a:r>
              <a:rPr sz="1600">
                <a:solidFill>
                  <a:srgbClr val="FFFFFF"/>
                </a:solidFill>
                <a:latin typeface="Calibri"/>
              </a:rPr>
              <a:t>Prompts, models, agents, workflows, RAG indexes, guardrails are all versioned artifacts in the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 management — Key Vault, SPN-only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D5-07 / D5-20</a:t>
            </a:r>
          </a:p>
        </p:txBody>
      </p:sp>
      <p:pic>
        <p:nvPicPr>
          <p:cNvPr id="4" name="Picture 3" descr="apim.png"/>
          <p:cNvPicPr>
            <a:picLocks noChangeAspect="1"/>
          </p:cNvPicPr>
          <p:nvPr/>
        </p:nvPicPr>
        <p:blipFill>
          <a:blip r:embed="rId2"/>
          <a:stretch>
            <a:fillRect/>
          </a:stretch>
        </p:blipFill>
        <p:spPr>
          <a:xfrm>
            <a:off x="868680" y="1920240"/>
            <a:ext cx="1097280" cy="1097280"/>
          </a:xfrm>
          <a:prstGeom prst="rect">
            <a:avLst/>
          </a:prstGeom>
        </p:spPr>
      </p:pic>
      <p:sp>
        <p:nvSpPr>
          <p:cNvPr id="5" name="Rounded Rectangle 4"/>
          <p:cNvSpPr/>
          <p:nvPr/>
        </p:nvSpPr>
        <p:spPr>
          <a:xfrm>
            <a:off x="3017520" y="1783080"/>
            <a:ext cx="8229600" cy="3200400"/>
          </a:xfrm>
          <a:prstGeom prst="roundRect">
            <a:avLst/>
          </a:prstGeom>
          <a:solidFill>
            <a:srgbClr val="14161C"/>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3218688" y="1920240"/>
            <a:ext cx="7827264" cy="365760"/>
          </a:xfrm>
          <a:prstGeom prst="rect">
            <a:avLst/>
          </a:prstGeom>
          <a:noFill/>
        </p:spPr>
        <p:txBody>
          <a:bodyPr wrap="square" anchor="t" lIns="0" rIns="0" tIns="0" bIns="0">
            <a:spAutoFit/>
          </a:bodyPr>
          <a:lstStyle/>
          <a:p>
            <a:pPr algn="l"/>
            <a:r>
              <a:rPr sz="1400" b="1" i="0">
                <a:solidFill>
                  <a:srgbClr val="FED038"/>
                </a:solidFill>
                <a:latin typeface="Calibri"/>
              </a:rPr>
              <a:t>The only path to the vault</a:t>
            </a:r>
          </a:p>
        </p:txBody>
      </p:sp>
      <p:sp>
        <p:nvSpPr>
          <p:cNvPr id="7" name="TextBox 6"/>
          <p:cNvSpPr txBox="1"/>
          <p:nvPr/>
        </p:nvSpPr>
        <p:spPr>
          <a:xfrm>
            <a:off x="3218688" y="2404872"/>
            <a:ext cx="7827264" cy="274320"/>
          </a:xfrm>
          <a:prstGeom prst="rect">
            <a:avLst/>
          </a:prstGeom>
          <a:noFill/>
        </p:spPr>
        <p:txBody>
          <a:bodyPr wrap="square" anchor="t" lIns="0" rIns="0" tIns="0" bIns="0">
            <a:spAutoFit/>
          </a:bodyPr>
          <a:lstStyle/>
          <a:p>
            <a:pPr algn="l"/>
            <a:r>
              <a:rPr sz="1200" b="1" i="0">
                <a:solidFill>
                  <a:srgbClr val="FFFFFF"/>
                </a:solidFill>
                <a:latin typeface="Calibri"/>
              </a:rPr>
              <a:t>Credential</a:t>
            </a:r>
          </a:p>
        </p:txBody>
      </p:sp>
      <p:sp>
        <p:nvSpPr>
          <p:cNvPr id="8" name="TextBox 7"/>
          <p:cNvSpPr txBox="1"/>
          <p:nvPr/>
        </p:nvSpPr>
        <p:spPr>
          <a:xfrm>
            <a:off x="3218688" y="2660904"/>
            <a:ext cx="7827264" cy="457200"/>
          </a:xfrm>
          <a:prstGeom prst="rect">
            <a:avLst/>
          </a:prstGeom>
          <a:noFill/>
        </p:spPr>
        <p:txBody>
          <a:bodyPr wrap="square" anchor="t" lIns="0" rIns="0" tIns="0" bIns="0">
            <a:spAutoFit/>
          </a:bodyPr>
          <a:lstStyle/>
          <a:p>
            <a:pPr algn="l"/>
            <a:r>
              <a:rPr sz="1100" b="0" i="0">
                <a:solidFill>
                  <a:srgbClr val="D5D5D5"/>
                </a:solidFill>
                <a:latin typeface="Calibri"/>
              </a:rPr>
              <a:t>enterprise service principal (MI-SPN): tenant + client id + secret</a:t>
            </a:r>
          </a:p>
        </p:txBody>
      </p:sp>
      <p:sp>
        <p:nvSpPr>
          <p:cNvPr id="9" name="TextBox 8"/>
          <p:cNvSpPr txBox="1"/>
          <p:nvPr/>
        </p:nvSpPr>
        <p:spPr>
          <a:xfrm>
            <a:off x="3218688" y="3118104"/>
            <a:ext cx="7827264" cy="274320"/>
          </a:xfrm>
          <a:prstGeom prst="rect">
            <a:avLst/>
          </a:prstGeom>
          <a:noFill/>
        </p:spPr>
        <p:txBody>
          <a:bodyPr wrap="square" anchor="t" lIns="0" rIns="0" tIns="0" bIns="0">
            <a:spAutoFit/>
          </a:bodyPr>
          <a:lstStyle/>
          <a:p>
            <a:pPr algn="l"/>
            <a:r>
              <a:rPr sz="1200" b="1" i="0">
                <a:solidFill>
                  <a:srgbClr val="FFFFFF"/>
                </a:solidFill>
                <a:latin typeface="Calibri"/>
              </a:rPr>
              <a:t>No alternatives</a:t>
            </a:r>
          </a:p>
        </p:txBody>
      </p:sp>
      <p:sp>
        <p:nvSpPr>
          <p:cNvPr id="10" name="TextBox 9"/>
          <p:cNvSpPr txBox="1"/>
          <p:nvPr/>
        </p:nvSpPr>
        <p:spPr>
          <a:xfrm>
            <a:off x="3218688" y="3374136"/>
            <a:ext cx="7827264" cy="457200"/>
          </a:xfrm>
          <a:prstGeom prst="rect">
            <a:avLst/>
          </a:prstGeom>
          <a:noFill/>
        </p:spPr>
        <p:txBody>
          <a:bodyPr wrap="square" anchor="t" lIns="0" rIns="0" tIns="0" bIns="0">
            <a:spAutoFit/>
          </a:bodyPr>
          <a:lstStyle/>
          <a:p>
            <a:pPr algn="l"/>
            <a:r>
              <a:rPr sz="1100" b="0" i="0">
                <a:solidFill>
                  <a:srgbClr val="D5D5D5"/>
                </a:solidFill>
                <a:latin typeface="Calibri"/>
              </a:rPr>
              <a:t>no DefaultAzureCredential, CLI, interactive, or bare MI</a:t>
            </a:r>
          </a:p>
        </p:txBody>
      </p:sp>
      <p:sp>
        <p:nvSpPr>
          <p:cNvPr id="11" name="TextBox 10"/>
          <p:cNvSpPr txBox="1"/>
          <p:nvPr/>
        </p:nvSpPr>
        <p:spPr>
          <a:xfrm>
            <a:off x="3218688" y="3831336"/>
            <a:ext cx="7827264" cy="274320"/>
          </a:xfrm>
          <a:prstGeom prst="rect">
            <a:avLst/>
          </a:prstGeom>
          <a:noFill/>
        </p:spPr>
        <p:txBody>
          <a:bodyPr wrap="square" anchor="t" lIns="0" rIns="0" tIns="0" bIns="0">
            <a:spAutoFit/>
          </a:bodyPr>
          <a:lstStyle/>
          <a:p>
            <a:pPr algn="l"/>
            <a:r>
              <a:rPr sz="1200" b="1" i="0">
                <a:solidFill>
                  <a:srgbClr val="FFFFFF"/>
                </a:solidFill>
                <a:latin typeface="Calibri"/>
              </a:rPr>
              <a:t>Injection</a:t>
            </a:r>
          </a:p>
        </p:txBody>
      </p:sp>
      <p:sp>
        <p:nvSpPr>
          <p:cNvPr id="12" name="TextBox 11"/>
          <p:cNvSpPr txBox="1"/>
          <p:nvPr/>
        </p:nvSpPr>
        <p:spPr>
          <a:xfrm>
            <a:off x="3218688" y="4087368"/>
            <a:ext cx="7827264" cy="457200"/>
          </a:xfrm>
          <a:prstGeom prst="rect">
            <a:avLst/>
          </a:prstGeom>
          <a:noFill/>
        </p:spPr>
        <p:txBody>
          <a:bodyPr wrap="square" anchor="t" lIns="0" rIns="0" tIns="0" bIns="0">
            <a:spAutoFit/>
          </a:bodyPr>
          <a:lstStyle/>
          <a:p>
            <a:pPr algn="l"/>
            <a:r>
              <a:rPr sz="1100" b="0" i="0">
                <a:solidFill>
                  <a:srgbClr val="D5D5D5"/>
                </a:solidFill>
                <a:latin typeface="Calibri"/>
              </a:rPr>
              <a:t>Azure DevOps variable group → workload env</a:t>
            </a:r>
          </a:p>
        </p:txBody>
      </p:sp>
      <p:sp>
        <p:nvSpPr>
          <p:cNvPr id="13" name="TextBox 12"/>
          <p:cNvSpPr txBox="1"/>
          <p:nvPr/>
        </p:nvSpPr>
        <p:spPr>
          <a:xfrm>
            <a:off x="3218688" y="4544568"/>
            <a:ext cx="7827264" cy="274320"/>
          </a:xfrm>
          <a:prstGeom prst="rect">
            <a:avLst/>
          </a:prstGeom>
          <a:noFill/>
        </p:spPr>
        <p:txBody>
          <a:bodyPr wrap="square" anchor="t" lIns="0" rIns="0" tIns="0" bIns="0">
            <a:spAutoFit/>
          </a:bodyPr>
          <a:lstStyle/>
          <a:p>
            <a:pPr algn="l"/>
            <a:r>
              <a:rPr sz="1200" b="1" i="0">
                <a:solidFill>
                  <a:srgbClr val="FFFFFF"/>
                </a:solidFill>
                <a:latin typeface="Calibri"/>
              </a:rPr>
              <a:t>Resolution</a:t>
            </a:r>
          </a:p>
        </p:txBody>
      </p:sp>
      <p:sp>
        <p:nvSpPr>
          <p:cNvPr id="14" name="TextBox 13"/>
          <p:cNvSpPr txBox="1"/>
          <p:nvPr/>
        </p:nvSpPr>
        <p:spPr>
          <a:xfrm>
            <a:off x="3218688" y="4800600"/>
            <a:ext cx="7827264" cy="457200"/>
          </a:xfrm>
          <a:prstGeom prst="rect">
            <a:avLst/>
          </a:prstGeom>
          <a:noFill/>
        </p:spPr>
        <p:txBody>
          <a:bodyPr wrap="square" anchor="t" lIns="0" rIns="0" tIns="0" bIns="0">
            <a:spAutoFit/>
          </a:bodyPr>
          <a:lstStyle/>
          <a:p>
            <a:pPr algn="l"/>
            <a:r>
              <a:rPr sz="1100" b="0" i="0">
                <a:solidFill>
                  <a:srgbClr val="D5D5D5"/>
                </a:solidFill>
                <a:latin typeface="Calibri"/>
              </a:rPr>
              <a:t>every *_secret_ref resolved from Key Vault; fail-closed in deployed envs</a:t>
            </a:r>
          </a:p>
        </p:txBody>
      </p:sp>
      <p:sp>
        <p:nvSpPr>
          <p:cNvPr id="15" name="TextBox 14"/>
          <p:cNvSpPr txBox="1"/>
          <p:nvPr/>
        </p:nvSpPr>
        <p:spPr>
          <a:xfrm>
            <a:off x="3017520" y="5120640"/>
            <a:ext cx="8229600" cy="457200"/>
          </a:xfrm>
          <a:prstGeom prst="rect">
            <a:avLst/>
          </a:prstGeom>
          <a:noFill/>
        </p:spPr>
        <p:txBody>
          <a:bodyPr wrap="square" anchor="t" lIns="0" rIns="0" tIns="0" bIns="0">
            <a:spAutoFit/>
          </a:bodyPr>
          <a:lstStyle/>
          <a:p>
            <a:pPr algn="l"/>
            <a:r>
              <a:rPr sz="1300" b="0" i="0">
                <a:solidFill>
                  <a:srgbClr val="D5D5D5"/>
                </a:solidFill>
                <a:latin typeface="Calibri"/>
              </a:rPr>
              <a:t>Local dev/test may use process-env; deployed environments are SPN-backed and fail-closed.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Compute — AKS, containers, GPU</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D5-08 / D5-09 / D5-11</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Cluster &amp; images</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Azure / AKS is the compute platform.</a:t>
            </a:r>
          </a:p>
          <a:p>
            <a:pPr algn="l">
              <a:spcAft>
                <a:spcPts val="1200"/>
              </a:spcAft>
            </a:pPr>
            <a:r>
              <a:rPr sz="1500" b="1">
                <a:solidFill>
                  <a:srgbClr val="2ACCFF"/>
                </a:solidFill>
                <a:latin typeface="Calibri"/>
              </a:rPr>
              <a:t>▸ </a:t>
            </a:r>
            <a:r>
              <a:rPr sz="1500">
                <a:solidFill>
                  <a:srgbClr val="FFFFFF"/>
                </a:solidFill>
                <a:latin typeface="Calibri"/>
              </a:rPr>
              <a:t>Containerised workloads; images in ACR.</a:t>
            </a:r>
          </a:p>
          <a:p>
            <a:pPr algn="l">
              <a:spcAft>
                <a:spcPts val="1200"/>
              </a:spcAft>
            </a:pPr>
            <a:r>
              <a:rPr sz="1500" b="1">
                <a:solidFill>
                  <a:srgbClr val="2ACCFF"/>
                </a:solidFill>
                <a:latin typeface="Calibri"/>
              </a:rPr>
              <a:t>▸ </a:t>
            </a:r>
            <a:r>
              <a:rPr sz="1500">
                <a:solidFill>
                  <a:srgbClr val="FFFFFF"/>
                </a:solidFill>
                <a:latin typeface="Calibri"/>
              </a:rPr>
              <a:t>System node pool runs the app runtime.</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GPU &amp; workload separation</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Dedicated GPU node pool for self-hosted SLM.</a:t>
            </a:r>
          </a:p>
          <a:p>
            <a:pPr algn="l">
              <a:spcAft>
                <a:spcPts val="1200"/>
              </a:spcAft>
            </a:pPr>
            <a:r>
              <a:rPr sz="1500" b="1">
                <a:solidFill>
                  <a:srgbClr val="2ACCFF"/>
                </a:solidFill>
                <a:latin typeface="Calibri"/>
              </a:rPr>
              <a:t>▸ </a:t>
            </a:r>
            <a:r>
              <a:rPr sz="1500">
                <a:solidFill>
                  <a:srgbClr val="FFFFFF"/>
                </a:solidFill>
                <a:latin typeface="Calibri"/>
              </a:rPr>
              <a:t>AI workloads separated from app workloads (D5-11).</a:t>
            </a:r>
          </a:p>
          <a:p>
            <a:pPr algn="l">
              <a:spcAft>
                <a:spcPts val="1200"/>
              </a:spcAft>
            </a:pPr>
            <a:r>
              <a:rPr sz="1500" b="1">
                <a:solidFill>
                  <a:srgbClr val="2ACCFF"/>
                </a:solidFill>
                <a:latin typeface="Calibri"/>
              </a:rPr>
              <a:t>▸ </a:t>
            </a:r>
            <a:r>
              <a:rPr sz="1500">
                <a:solidFill>
                  <a:srgbClr val="FFFFFF"/>
                </a:solidFill>
                <a:latin typeface="Calibri"/>
              </a:rPr>
              <a:t>GPU is the dominant cost lever — deck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Self-hosted SLM serving &amp; capacity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D5-10 (PROPOSED) / D5-19</a:t>
            </a:r>
          </a:p>
        </p:txBody>
      </p:sp>
      <p:sp>
        <p:nvSpPr>
          <p:cNvPr id="4" name="Rounded Rectangle 3"/>
          <p:cNvSpPr/>
          <p:nvPr/>
        </p:nvSpPr>
        <p:spPr>
          <a:xfrm>
            <a:off x="822960" y="1783080"/>
            <a:ext cx="5486400" cy="2743200"/>
          </a:xfrm>
          <a:prstGeom prst="roundRect">
            <a:avLst/>
          </a:prstGeom>
          <a:solidFill>
            <a:srgbClr val="14161C"/>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920240"/>
            <a:ext cx="5084064" cy="365760"/>
          </a:xfrm>
          <a:prstGeom prst="rect">
            <a:avLst/>
          </a:prstGeom>
          <a:noFill/>
        </p:spPr>
        <p:txBody>
          <a:bodyPr wrap="square" anchor="t" lIns="0" rIns="0" tIns="0" bIns="0">
            <a:spAutoFit/>
          </a:bodyPr>
          <a:lstStyle/>
          <a:p>
            <a:pPr algn="l"/>
            <a:r>
              <a:rPr sz="1400" b="1" i="0">
                <a:solidFill>
                  <a:srgbClr val="FED038"/>
                </a:solidFill>
                <a:latin typeface="Calibri"/>
              </a:rPr>
              <a:t>Serving stack — recommendation</a:t>
            </a:r>
          </a:p>
        </p:txBody>
      </p:sp>
      <p:sp>
        <p:nvSpPr>
          <p:cNvPr id="6" name="TextBox 5"/>
          <p:cNvSpPr txBox="1"/>
          <p:nvPr/>
        </p:nvSpPr>
        <p:spPr>
          <a:xfrm>
            <a:off x="1024128" y="2404872"/>
            <a:ext cx="5084064" cy="274320"/>
          </a:xfrm>
          <a:prstGeom prst="rect">
            <a:avLst/>
          </a:prstGeom>
          <a:noFill/>
        </p:spPr>
        <p:txBody>
          <a:bodyPr wrap="square" anchor="t" lIns="0" rIns="0" tIns="0" bIns="0">
            <a:spAutoFit/>
          </a:bodyPr>
          <a:lstStyle/>
          <a:p>
            <a:pPr algn="l"/>
            <a:r>
              <a:rPr sz="1200" b="1" i="0">
                <a:solidFill>
                  <a:srgbClr val="FFFFFF"/>
                </a:solidFill>
                <a:latin typeface="Calibri"/>
              </a:rPr>
              <a:t>Stack</a:t>
            </a:r>
          </a:p>
        </p:txBody>
      </p:sp>
      <p:sp>
        <p:nvSpPr>
          <p:cNvPr id="7" name="TextBox 6"/>
          <p:cNvSpPr txBox="1"/>
          <p:nvPr/>
        </p:nvSpPr>
        <p:spPr>
          <a:xfrm>
            <a:off x="1024128" y="2660904"/>
            <a:ext cx="5084064" cy="457200"/>
          </a:xfrm>
          <a:prstGeom prst="rect">
            <a:avLst/>
          </a:prstGeom>
          <a:noFill/>
        </p:spPr>
        <p:txBody>
          <a:bodyPr wrap="square" anchor="t" lIns="0" rIns="0" tIns="0" bIns="0">
            <a:spAutoFit/>
          </a:bodyPr>
          <a:lstStyle/>
          <a:p>
            <a:pPr algn="l"/>
            <a:r>
              <a:rPr sz="1100" b="0" i="0">
                <a:solidFill>
                  <a:srgbClr val="D5D5D5"/>
                </a:solidFill>
                <a:latin typeface="Calibri"/>
              </a:rPr>
              <a:t>vLLM on AKS GPU</a:t>
            </a:r>
          </a:p>
        </p:txBody>
      </p:sp>
      <p:sp>
        <p:nvSpPr>
          <p:cNvPr id="8" name="TextBox 7"/>
          <p:cNvSpPr txBox="1"/>
          <p:nvPr/>
        </p:nvSpPr>
        <p:spPr>
          <a:xfrm>
            <a:off x="1024128" y="3118104"/>
            <a:ext cx="5084064" cy="274320"/>
          </a:xfrm>
          <a:prstGeom prst="rect">
            <a:avLst/>
          </a:prstGeom>
          <a:noFill/>
        </p:spPr>
        <p:txBody>
          <a:bodyPr wrap="square" anchor="t" lIns="0" rIns="0" tIns="0" bIns="0">
            <a:spAutoFit/>
          </a:bodyPr>
          <a:lstStyle/>
          <a:p>
            <a:pPr algn="l"/>
            <a:r>
              <a:rPr sz="1200" b="1" i="0">
                <a:solidFill>
                  <a:srgbClr val="FFFFFF"/>
                </a:solidFill>
                <a:latin typeface="Calibri"/>
              </a:rPr>
              <a:t>Fallbacks</a:t>
            </a:r>
          </a:p>
        </p:txBody>
      </p:sp>
      <p:sp>
        <p:nvSpPr>
          <p:cNvPr id="9" name="TextBox 8"/>
          <p:cNvSpPr txBox="1"/>
          <p:nvPr/>
        </p:nvSpPr>
        <p:spPr>
          <a:xfrm>
            <a:off x="1024128" y="3374136"/>
            <a:ext cx="5084064" cy="457200"/>
          </a:xfrm>
          <a:prstGeom prst="rect">
            <a:avLst/>
          </a:prstGeom>
          <a:noFill/>
        </p:spPr>
        <p:txBody>
          <a:bodyPr wrap="square" anchor="t" lIns="0" rIns="0" tIns="0" bIns="0">
            <a:spAutoFit/>
          </a:bodyPr>
          <a:lstStyle/>
          <a:p>
            <a:pPr algn="l"/>
            <a:r>
              <a:rPr sz="1100" b="0" i="0">
                <a:solidFill>
                  <a:srgbClr val="D5D5D5"/>
                </a:solidFill>
                <a:latin typeface="Calibri"/>
              </a:rPr>
              <a:t>Azure ML / TGI / Triton</a:t>
            </a:r>
          </a:p>
        </p:txBody>
      </p:sp>
      <p:sp>
        <p:nvSpPr>
          <p:cNvPr id="10" name="TextBox 9"/>
          <p:cNvSpPr txBox="1"/>
          <p:nvPr/>
        </p:nvSpPr>
        <p:spPr>
          <a:xfrm>
            <a:off x="1024128" y="3831336"/>
            <a:ext cx="5084064" cy="274320"/>
          </a:xfrm>
          <a:prstGeom prst="rect">
            <a:avLst/>
          </a:prstGeom>
          <a:noFill/>
        </p:spPr>
        <p:txBody>
          <a:bodyPr wrap="square" anchor="t" lIns="0" rIns="0" tIns="0" bIns="0">
            <a:spAutoFit/>
          </a:bodyPr>
          <a:lstStyle/>
          <a:p>
            <a:pPr algn="l"/>
            <a:r>
              <a:rPr sz="1200" b="1" i="0">
                <a:solidFill>
                  <a:srgbClr val="FFFFFF"/>
                </a:solidFill>
                <a:latin typeface="Calibri"/>
              </a:rPr>
              <a:t>Awaiting</a:t>
            </a:r>
          </a:p>
        </p:txBody>
      </p:sp>
      <p:sp>
        <p:nvSpPr>
          <p:cNvPr id="11" name="TextBox 10"/>
          <p:cNvSpPr txBox="1"/>
          <p:nvPr/>
        </p:nvSpPr>
        <p:spPr>
          <a:xfrm>
            <a:off x="1024128" y="4087368"/>
            <a:ext cx="5084064" cy="457200"/>
          </a:xfrm>
          <a:prstGeom prst="rect">
            <a:avLst/>
          </a:prstGeom>
          <a:noFill/>
        </p:spPr>
        <p:txBody>
          <a:bodyPr wrap="square" anchor="t" lIns="0" rIns="0" tIns="0" bIns="0">
            <a:spAutoFit/>
          </a:bodyPr>
          <a:lstStyle/>
          <a:p>
            <a:pPr algn="l"/>
            <a:r>
              <a:rPr sz="1100" b="0" i="0">
                <a:solidFill>
                  <a:srgbClr val="D5D5D5"/>
                </a:solidFill>
                <a:latin typeface="Calibri"/>
              </a:rPr>
              <a:t>throughput/latency/quality benchmark, then ARB (deck 09)</a:t>
            </a:r>
          </a:p>
        </p:txBody>
      </p:sp>
      <p:pic>
        <p:nvPicPr>
          <p:cNvPr id="12" name="Picture 11" descr="vllm.png"/>
          <p:cNvPicPr>
            <a:picLocks noChangeAspect="1"/>
          </p:cNvPicPr>
          <p:nvPr/>
        </p:nvPicPr>
        <p:blipFill>
          <a:blip r:embed="rId2"/>
          <a:stretch>
            <a:fillRect/>
          </a:stretch>
        </p:blipFill>
        <p:spPr>
          <a:xfrm>
            <a:off x="8138160" y="1920240"/>
            <a:ext cx="2645229" cy="822960"/>
          </a:xfrm>
          <a:prstGeom prst="rect">
            <a:avLst/>
          </a:prstGeom>
        </p:spPr>
      </p:pic>
      <p:sp>
        <p:nvSpPr>
          <p:cNvPr id="13" name="TextBox 12"/>
          <p:cNvSpPr txBox="1"/>
          <p:nvPr/>
        </p:nvSpPr>
        <p:spPr>
          <a:xfrm>
            <a:off x="822960" y="4754880"/>
            <a:ext cx="10515600" cy="1554480"/>
          </a:xfrm>
          <a:prstGeom prst="rect">
            <a:avLst/>
          </a:prstGeom>
          <a:noFill/>
        </p:spPr>
        <p:txBody>
          <a:bodyPr wrap="square" lIns="0" tIns="0">
            <a:spAutoFit/>
          </a:bodyPr>
          <a:lstStyle/>
          <a:p>
            <a:pPr algn="l">
              <a:spcAft>
                <a:spcPts val="1100"/>
              </a:spcAft>
            </a:pPr>
            <a:r>
              <a:rPr sz="1400" b="1">
                <a:solidFill>
                  <a:srgbClr val="2ACCFF"/>
                </a:solidFill>
                <a:latin typeface="Calibri"/>
              </a:rPr>
              <a:t>▸ </a:t>
            </a:r>
            <a:r>
              <a:rPr sz="1400">
                <a:solidFill>
                  <a:srgbClr val="FFFFFF"/>
                </a:solidFill>
                <a:latin typeface="Calibri"/>
              </a:rPr>
              <a:t>VRAM planning (D5-19): model params × precision + KV cache × context × batch × concurrency.</a:t>
            </a:r>
          </a:p>
          <a:p>
            <a:pPr algn="l">
              <a:spcAft>
                <a:spcPts val="1100"/>
              </a:spcAft>
            </a:pPr>
            <a:r>
              <a:rPr sz="1400" b="1">
                <a:solidFill>
                  <a:srgbClr val="2ACCFF"/>
                </a:solidFill>
                <a:latin typeface="Calibri"/>
              </a:rPr>
              <a:t>▸ </a:t>
            </a:r>
            <a:r>
              <a:rPr sz="1400">
                <a:solidFill>
                  <a:srgbClr val="FFFFFF"/>
                </a:solidFill>
                <a:latin typeface="Calibri"/>
              </a:rPr>
              <a:t>Continuous batching &amp; quantisation are quality-validated optimisations (deck 08).</a:t>
            </a:r>
          </a:p>
          <a:p>
            <a:pPr algn="l">
              <a:spcAft>
                <a:spcPts val="1100"/>
              </a:spcAft>
            </a:pPr>
            <a:r>
              <a:rPr sz="1400" b="1">
                <a:solidFill>
                  <a:srgbClr val="2ACCFF"/>
                </a:solidFill>
                <a:latin typeface="Calibri"/>
              </a:rPr>
              <a:t>▸ </a:t>
            </a:r>
            <a:r>
              <a:rPr sz="1400">
                <a:solidFill>
                  <a:srgbClr val="FFFFFF"/>
                </a:solidFill>
                <a:latin typeface="Calibri"/>
              </a:rPr>
              <a:t>Hosted HF bridges until the self-hosted stack is benchmarked and ratified.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APIM boundary &amp; shared HTTP client</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D5-15 / D5-16</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APIM — the authZ boundary</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APIM is where authN/authZ happens; the AI only consumes validated claims.</a:t>
            </a:r>
          </a:p>
          <a:p>
            <a:pPr algn="l">
              <a:spcAft>
                <a:spcPts val="1200"/>
              </a:spcAft>
            </a:pPr>
            <a:r>
              <a:rPr sz="1500" b="1">
                <a:solidFill>
                  <a:srgbClr val="2ACCFF"/>
                </a:solidFill>
                <a:latin typeface="Calibri"/>
              </a:rPr>
              <a:t>▸ </a:t>
            </a:r>
            <a:r>
              <a:rPr sz="1500">
                <a:solidFill>
                  <a:srgbClr val="FFFFFF"/>
                </a:solidFill>
                <a:latin typeface="Calibri"/>
              </a:rPr>
              <a:t>Rate limiting, versioning and policy live at the gateway.</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Shared HTTP client</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One pooled client: keep-alive, HTTP/2 where useful.</a:t>
            </a:r>
          </a:p>
          <a:p>
            <a:pPr algn="l">
              <a:spcAft>
                <a:spcPts val="1200"/>
              </a:spcAft>
            </a:pPr>
            <a:r>
              <a:rPr sz="1500" b="1">
                <a:solidFill>
                  <a:srgbClr val="2ACCFF"/>
                </a:solidFill>
                <a:latin typeface="Calibri"/>
              </a:rPr>
              <a:t>▸ </a:t>
            </a:r>
            <a:r>
              <a:rPr sz="1500">
                <a:solidFill>
                  <a:srgbClr val="FFFFFF"/>
                </a:solidFill>
                <a:latin typeface="Calibri"/>
              </a:rPr>
              <a:t>Timeouts, retry, tracing built in.</a:t>
            </a:r>
          </a:p>
          <a:p>
            <a:pPr algn="l">
              <a:spcAft>
                <a:spcPts val="1200"/>
              </a:spcAft>
            </a:pPr>
            <a:r>
              <a:rPr sz="1500" b="1">
                <a:solidFill>
                  <a:srgbClr val="2ACCFF"/>
                </a:solidFill>
                <a:latin typeface="Calibri"/>
              </a:rPr>
              <a:t>▸ </a:t>
            </a:r>
            <a:r>
              <a:rPr sz="1500">
                <a:solidFill>
                  <a:srgbClr val="FFFFFF"/>
                </a:solidFill>
                <a:latin typeface="Calibri"/>
              </a:rPr>
              <a:t>Never a new connection per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Five-stage environment model</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D5-14</a:t>
            </a:r>
          </a:p>
        </p:txBody>
      </p:sp>
      <p:sp>
        <p:nvSpPr>
          <p:cNvPr id="4" name="Rounded Rectangle 3"/>
          <p:cNvSpPr/>
          <p:nvPr/>
        </p:nvSpPr>
        <p:spPr>
          <a:xfrm>
            <a:off x="502920" y="2743200"/>
            <a:ext cx="2031796"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DEV</a:t>
            </a:r>
          </a:p>
        </p:txBody>
      </p:sp>
      <p:sp>
        <p:nvSpPr>
          <p:cNvPr id="5" name="Rounded Rectangle 4"/>
          <p:cNvSpPr/>
          <p:nvPr/>
        </p:nvSpPr>
        <p:spPr>
          <a:xfrm>
            <a:off x="2790748" y="2743200"/>
            <a:ext cx="2031796" cy="91440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TEST</a:t>
            </a:r>
          </a:p>
        </p:txBody>
      </p:sp>
      <p:cxnSp>
        <p:nvCxnSpPr>
          <p:cNvPr id="6" name="Connector 5"/>
          <p:cNvCxnSpPr/>
          <p:nvPr/>
        </p:nvCxnSpPr>
        <p:spPr>
          <a:xfrm>
            <a:off x="2534716" y="32004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8577" y="2743200"/>
            <a:ext cx="2031796" cy="914400"/>
          </a:xfrm>
          <a:prstGeom prst="roundRect">
            <a:avLst/>
          </a:prstGeom>
          <a:solidFill>
            <a:srgbClr val="1E222B"/>
          </a:solidFill>
          <a:ln w="15875">
            <a:solidFill>
              <a:srgbClr val="7F19BE"/>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UAT</a:t>
            </a:r>
          </a:p>
        </p:txBody>
      </p:sp>
      <p:cxnSp>
        <p:nvCxnSpPr>
          <p:cNvPr id="8" name="Connector 7"/>
          <p:cNvCxnSpPr/>
          <p:nvPr/>
        </p:nvCxnSpPr>
        <p:spPr>
          <a:xfrm>
            <a:off x="4822545" y="32004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66406" y="2743200"/>
            <a:ext cx="2031796" cy="91440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STAGE</a:t>
            </a:r>
          </a:p>
        </p:txBody>
      </p:sp>
      <p:cxnSp>
        <p:nvCxnSpPr>
          <p:cNvPr id="10" name="Connector 9"/>
          <p:cNvCxnSpPr/>
          <p:nvPr/>
        </p:nvCxnSpPr>
        <p:spPr>
          <a:xfrm>
            <a:off x="7110374" y="32004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54235" y="2743200"/>
            <a:ext cx="2031796"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PROD</a:t>
            </a:r>
          </a:p>
        </p:txBody>
      </p:sp>
      <p:cxnSp>
        <p:nvCxnSpPr>
          <p:cNvPr id="12" name="Connector 11"/>
          <p:cNvCxnSpPr/>
          <p:nvPr/>
        </p:nvCxnSpPr>
        <p:spPr>
          <a:xfrm>
            <a:off x="9398203" y="32004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023360"/>
            <a:ext cx="10515600" cy="914400"/>
          </a:xfrm>
          <a:prstGeom prst="rect">
            <a:avLst/>
          </a:prstGeom>
          <a:noFill/>
        </p:spPr>
        <p:txBody>
          <a:bodyPr wrap="square" anchor="t" lIns="0" rIns="0" tIns="0" bIns="0">
            <a:spAutoFit/>
          </a:bodyPr>
          <a:lstStyle/>
          <a:p>
            <a:pPr algn="l"/>
            <a:r>
              <a:rPr sz="1400" b="0" i="0">
                <a:solidFill>
                  <a:srgbClr val="D5D5D5"/>
                </a:solidFill>
                <a:latin typeface="Calibri"/>
              </a:rPr>
              <a:t>Superset model (UAT inserted before STAGE) so the Infrastructure doc's namespace/config examples need no renaming. Endpoint &amp; config resolution is per-stage (deck 02).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delivery model</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D5-20 (Accepted) · D5-12 · D5-13</a:t>
            </a:r>
          </a:p>
        </p:txBody>
      </p:sp>
      <p:pic>
        <p:nvPicPr>
          <p:cNvPr id="4" name="Picture 3" descr="azuredevops.png"/>
          <p:cNvPicPr>
            <a:picLocks noChangeAspect="1"/>
          </p:cNvPicPr>
          <p:nvPr/>
        </p:nvPicPr>
        <p:blipFill>
          <a:blip r:embed="rId2"/>
          <a:stretch>
            <a:fillRect/>
          </a:stretch>
        </p:blipFill>
        <p:spPr>
          <a:xfrm>
            <a:off x="2186940" y="1828800"/>
            <a:ext cx="777240" cy="777240"/>
          </a:xfrm>
          <a:prstGeom prst="rect">
            <a:avLst/>
          </a:prstGeom>
        </p:spPr>
      </p:pic>
      <p:sp>
        <p:nvSpPr>
          <p:cNvPr id="5" name="TextBox 4"/>
          <p:cNvSpPr txBox="1"/>
          <p:nvPr/>
        </p:nvSpPr>
        <p:spPr>
          <a:xfrm>
            <a:off x="822960" y="2679192"/>
            <a:ext cx="3505200" cy="274320"/>
          </a:xfrm>
          <a:prstGeom prst="rect">
            <a:avLst/>
          </a:prstGeom>
          <a:noFill/>
        </p:spPr>
        <p:txBody>
          <a:bodyPr wrap="square" anchor="t" lIns="0" rIns="0" tIns="0" bIns="0">
            <a:spAutoFit/>
          </a:bodyPr>
          <a:lstStyle/>
          <a:p>
            <a:pPr algn="ctr"/>
            <a:r>
              <a:rPr sz="900" b="0" i="0">
                <a:solidFill>
                  <a:srgbClr val="D5D5D5"/>
                </a:solidFill>
                <a:latin typeface="Calibri"/>
              </a:rPr>
              <a:t>Azure DevOps</a:t>
            </a:r>
          </a:p>
        </p:txBody>
      </p:sp>
      <p:pic>
        <p:nvPicPr>
          <p:cNvPr id="6" name="Picture 5" descr="aks.png"/>
          <p:cNvPicPr>
            <a:picLocks noChangeAspect="1"/>
          </p:cNvPicPr>
          <p:nvPr/>
        </p:nvPicPr>
        <p:blipFill>
          <a:blip r:embed="rId3"/>
          <a:stretch>
            <a:fillRect/>
          </a:stretch>
        </p:blipFill>
        <p:spPr>
          <a:xfrm>
            <a:off x="5692140" y="1828800"/>
            <a:ext cx="777240" cy="777240"/>
          </a:xfrm>
          <a:prstGeom prst="rect">
            <a:avLst/>
          </a:prstGeom>
        </p:spPr>
      </p:pic>
      <p:sp>
        <p:nvSpPr>
          <p:cNvPr id="7" name="TextBox 6"/>
          <p:cNvSpPr txBox="1"/>
          <p:nvPr/>
        </p:nvSpPr>
        <p:spPr>
          <a:xfrm>
            <a:off x="4328160" y="2679192"/>
            <a:ext cx="3505200" cy="274320"/>
          </a:xfrm>
          <a:prstGeom prst="rect">
            <a:avLst/>
          </a:prstGeom>
          <a:noFill/>
        </p:spPr>
        <p:txBody>
          <a:bodyPr wrap="square" anchor="t" lIns="0" rIns="0" tIns="0" bIns="0">
            <a:spAutoFit/>
          </a:bodyPr>
          <a:lstStyle/>
          <a:p>
            <a:pPr algn="ctr"/>
            <a:r>
              <a:rPr sz="900" b="0" i="0">
                <a:solidFill>
                  <a:srgbClr val="D5D5D5"/>
                </a:solidFill>
                <a:latin typeface="Calibri"/>
              </a:rPr>
              <a:t>Shared AKS</a:t>
            </a:r>
          </a:p>
        </p:txBody>
      </p:sp>
      <p:pic>
        <p:nvPicPr>
          <p:cNvPr id="8" name="Picture 7" descr="sonarqube.png"/>
          <p:cNvPicPr>
            <a:picLocks noChangeAspect="1"/>
          </p:cNvPicPr>
          <p:nvPr/>
        </p:nvPicPr>
        <p:blipFill>
          <a:blip r:embed="rId4"/>
          <a:stretch>
            <a:fillRect/>
          </a:stretch>
        </p:blipFill>
        <p:spPr>
          <a:xfrm>
            <a:off x="9197339" y="1828800"/>
            <a:ext cx="777240" cy="777240"/>
          </a:xfrm>
          <a:prstGeom prst="rect">
            <a:avLst/>
          </a:prstGeom>
        </p:spPr>
      </p:pic>
      <p:sp>
        <p:nvSpPr>
          <p:cNvPr id="9" name="TextBox 8"/>
          <p:cNvSpPr txBox="1"/>
          <p:nvPr/>
        </p:nvSpPr>
        <p:spPr>
          <a:xfrm>
            <a:off x="7833360" y="2679192"/>
            <a:ext cx="3505200" cy="274320"/>
          </a:xfrm>
          <a:prstGeom prst="rect">
            <a:avLst/>
          </a:prstGeom>
          <a:noFill/>
        </p:spPr>
        <p:txBody>
          <a:bodyPr wrap="square" anchor="t" lIns="0" rIns="0" tIns="0" bIns="0">
            <a:spAutoFit/>
          </a:bodyPr>
          <a:lstStyle/>
          <a:p>
            <a:pPr algn="ctr"/>
            <a:r>
              <a:rPr sz="900" b="0" i="0">
                <a:solidFill>
                  <a:srgbClr val="D5D5D5"/>
                </a:solidFill>
                <a:latin typeface="Calibri"/>
              </a:rPr>
              <a:t>SonarQube</a:t>
            </a:r>
          </a:p>
        </p:txBody>
      </p:sp>
      <p:sp>
        <p:nvSpPr>
          <p:cNvPr id="10" name="TextBox 9"/>
          <p:cNvSpPr txBox="1"/>
          <p:nvPr/>
        </p:nvSpPr>
        <p:spPr>
          <a:xfrm>
            <a:off x="822960" y="3657600"/>
            <a:ext cx="10515600" cy="2011680"/>
          </a:xfrm>
          <a:prstGeom prst="rect">
            <a:avLst/>
          </a:prstGeom>
          <a:noFill/>
        </p:spPr>
        <p:txBody>
          <a:bodyPr wrap="square" lIns="0" tIns="0">
            <a:spAutoFit/>
          </a:bodyPr>
          <a:lstStyle/>
          <a:p>
            <a:pPr algn="l">
              <a:spcAft>
                <a:spcPts val="1300"/>
              </a:spcAft>
            </a:pPr>
            <a:r>
              <a:rPr sz="1500" b="1">
                <a:solidFill>
                  <a:srgbClr val="2ACCFF"/>
                </a:solidFill>
                <a:latin typeface="Calibri"/>
              </a:rPr>
              <a:t>▸ </a:t>
            </a:r>
            <a:r>
              <a:rPr sz="1500">
                <a:solidFill>
                  <a:srgbClr val="FFFFFF"/>
                </a:solidFill>
                <a:latin typeface="Calibri"/>
              </a:rPr>
              <a:t>PFF AI conforms to the Enterprise Application delivery model — no separate infra/CI/CD/deploy stack.</a:t>
            </a:r>
          </a:p>
          <a:p>
            <a:pPr algn="l">
              <a:spcAft>
                <a:spcPts val="1300"/>
              </a:spcAft>
            </a:pPr>
            <a:r>
              <a:rPr sz="1500" b="1">
                <a:solidFill>
                  <a:srgbClr val="2ACCFF"/>
                </a:solidFill>
                <a:latin typeface="Calibri"/>
              </a:rPr>
              <a:t>▸ </a:t>
            </a:r>
            <a:r>
              <a:rPr sz="1500">
                <a:solidFill>
                  <a:srgbClr val="FFFFFF"/>
                </a:solidFill>
                <a:latin typeface="Calibri"/>
              </a:rPr>
              <a:t>Azure DevOps build.yaml / release.yaml on the shared enterprise AKS platform; same team &amp; resources.</a:t>
            </a:r>
          </a:p>
          <a:p>
            <a:pPr algn="l">
              <a:spcAft>
                <a:spcPts val="1300"/>
              </a:spcAft>
            </a:pPr>
            <a:r>
              <a:rPr sz="1500" b="1">
                <a:solidFill>
                  <a:srgbClr val="2ACCFF"/>
                </a:solidFill>
                <a:latin typeface="Calibri"/>
              </a:rPr>
              <a:t>▸ </a:t>
            </a:r>
            <a:r>
              <a:rPr sz="1500">
                <a:solidFill>
                  <a:srgbClr val="FFFFFF"/>
                </a:solidFill>
                <a:latin typeface="Calibri"/>
              </a:rPr>
              <a:t>Enterprise SonarQube quality gate. IaC (D5-12) &amp; K8s manifest (D5-13) standards are Accepted.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Scalability, autoscaling &amp; latency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D5-17 / D5-18</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Autoscaling</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Signals: CPU, memory, request/concurrent count, queue depth, GPU util, VRAM.</a:t>
            </a:r>
          </a:p>
          <a:p>
            <a:pPr algn="l">
              <a:spcAft>
                <a:spcPts val="1200"/>
              </a:spcAft>
            </a:pPr>
            <a:r>
              <a:rPr sz="1500" b="1">
                <a:solidFill>
                  <a:srgbClr val="2ACCFF"/>
                </a:solidFill>
                <a:latin typeface="Calibri"/>
              </a:rPr>
              <a:t>▸ </a:t>
            </a:r>
            <a:r>
              <a:rPr sz="1500">
                <a:solidFill>
                  <a:srgbClr val="FFFFFF"/>
                </a:solidFill>
                <a:latin typeface="Calibri"/>
              </a:rPr>
              <a:t>Respects model-provider, enterprise-API, DB, vector and cost limits.</a:t>
            </a:r>
          </a:p>
          <a:p>
            <a:pPr algn="l">
              <a:spcAft>
                <a:spcPts val="1200"/>
              </a:spcAft>
            </a:pPr>
            <a:r>
              <a:rPr sz="1500" b="1">
                <a:solidFill>
                  <a:srgbClr val="2ACCFF"/>
                </a:solidFill>
                <a:latin typeface="Calibri"/>
              </a:rPr>
              <a:t>▸ </a:t>
            </a:r>
            <a:r>
              <a:rPr sz="1500">
                <a:solidFill>
                  <a:srgbClr val="FFFFFF"/>
                </a:solidFill>
                <a:latin typeface="Calibri"/>
              </a:rPr>
              <a:t>Avoids cold-start churn (min replicas / warm pods).</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Latency budget</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Each layer owns a slice of the end-to-end budget (deck 08).</a:t>
            </a:r>
          </a:p>
          <a:p>
            <a:pPr algn="l">
              <a:spcAft>
                <a:spcPts val="1200"/>
              </a:spcAft>
            </a:pPr>
            <a:r>
              <a:rPr sz="1500" b="1">
                <a:solidFill>
                  <a:srgbClr val="2ACCFF"/>
                </a:solidFill>
                <a:latin typeface="Calibri"/>
              </a:rPr>
              <a:t>▸ </a:t>
            </a:r>
            <a:r>
              <a:rPr sz="1500">
                <a:solidFill>
                  <a:srgbClr val="FFFFFF"/>
                </a:solidFill>
                <a:latin typeface="Calibri"/>
              </a:rPr>
              <a:t>p95/p99 targets, not averages.</a:t>
            </a:r>
          </a:p>
          <a:p>
            <a:pPr algn="l">
              <a:spcAft>
                <a:spcPts val="1200"/>
              </a:spcAft>
            </a:pPr>
            <a:r>
              <a:rPr sz="1500" b="1">
                <a:solidFill>
                  <a:srgbClr val="2ACCFF"/>
                </a:solidFill>
                <a:latin typeface="Calibri"/>
              </a:rPr>
              <a:t>▸ </a:t>
            </a:r>
            <a:r>
              <a:rPr sz="1500">
                <a:solidFill>
                  <a:srgbClr val="FFFFFF"/>
                </a:solidFill>
                <a:latin typeface="Calibri"/>
              </a:rPr>
              <a:t>TTFT separated from total completion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 index — Technology (D5)</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20 decisions — higher-trust sources always win; ◆ = Proposed, awaiting ARB</a:t>
            </a:r>
          </a:p>
        </p:txBody>
      </p:sp>
      <p:graphicFrame>
        <p:nvGraphicFramePr>
          <p:cNvPr id="4" name="Table 3"/>
          <p:cNvGraphicFramePr>
            <a:graphicFrameLocks noGrp="1"/>
          </p:cNvGraphicFramePr>
          <p:nvPr/>
        </p:nvGraphicFramePr>
        <p:xfrm>
          <a:off x="502920" y="1783080"/>
          <a:ext cx="5486399" cy="4572000"/>
        </p:xfrm>
        <a:graphic>
          <a:graphicData uri="http://schemas.openxmlformats.org/drawingml/2006/table">
            <a:tbl>
              <a:tblPr firstRow="1">
                <a:tableStyleId>{5C22544A-7EE6-4342-B048-85BDC9FD1C3A}</a:tableStyleId>
              </a:tblPr>
              <a:tblGrid>
                <a:gridCol w="973393"/>
                <a:gridCol w="3672348"/>
                <a:gridCol w="840658"/>
              </a:tblGrid>
              <a:tr h="304800">
                <a:tc>
                  <a:txBody>
                    <a:bodyPr wrap="square"/>
                    <a:lstStyle/>
                    <a:p>
                      <a:r>
                        <a:rPr sz="900" b="1">
                          <a:solidFill>
                            <a:srgbClr val="FFFFFF"/>
                          </a:solidFill>
                          <a:latin typeface="Calibri"/>
                        </a:rPr>
                        <a:t>ADR</a:t>
                      </a:r>
                    </a:p>
                  </a:txBody>
                  <a:tcPr marL="63500" marR="63500" marT="25400" marB="25400" anchor="ctr">
                    <a:solidFill>
                      <a:srgbClr val="7F19BE"/>
                    </a:solidFill>
                  </a:tcPr>
                </a:tc>
                <a:tc>
                  <a:txBody>
                    <a:bodyPr wrap="square"/>
                    <a:lstStyle/>
                    <a:p>
                      <a:r>
                        <a:rPr sz="900" b="1">
                          <a:solidFill>
                            <a:srgbClr val="FFFFFF"/>
                          </a:solidFill>
                          <a:latin typeface="Calibri"/>
                        </a:rPr>
                        <a:t>Decision</a:t>
                      </a:r>
                    </a:p>
                  </a:txBody>
                  <a:tcPr marL="63500" marR="63500" marT="25400" marB="25400" anchor="ctr">
                    <a:solidFill>
                      <a:srgbClr val="7F19BE"/>
                    </a:solidFill>
                  </a:tcPr>
                </a:tc>
                <a:tc>
                  <a:txBody>
                    <a:bodyPr wrap="square"/>
                    <a:lstStyle/>
                    <a:p>
                      <a:r>
                        <a:rPr sz="900" b="1">
                          <a:solidFill>
                            <a:srgbClr val="FFFFFF"/>
                          </a:solidFill>
                          <a:latin typeface="Calibri"/>
                        </a:rPr>
                        <a:t>Status</a:t>
                      </a:r>
                    </a:p>
                  </a:txBody>
                  <a:tcPr marL="63500" marR="63500" marT="25400" marB="25400" anchor="ctr">
                    <a:solidFill>
                      <a:srgbClr val="7F19BE"/>
                    </a:solidFill>
                  </a:tcPr>
                </a:tc>
              </a:tr>
              <a:tr h="304800">
                <a:tc>
                  <a:txBody>
                    <a:bodyPr wrap="square"/>
                    <a:lstStyle/>
                    <a:p>
                      <a:r>
                        <a:rPr sz="900" b="1">
                          <a:solidFill>
                            <a:srgbClr val="FFFFFF"/>
                          </a:solidFill>
                          <a:latin typeface="Calibri"/>
                        </a:rPr>
                        <a:t>D5-01</a:t>
                      </a:r>
                    </a:p>
                  </a:txBody>
                  <a:tcPr marL="63500" marR="63500" marT="25400" marB="25400" anchor="ctr">
                    <a:solidFill>
                      <a:srgbClr val="14161C"/>
                    </a:solidFill>
                  </a:tcPr>
                </a:tc>
                <a:tc>
                  <a:txBody>
                    <a:bodyPr wrap="square"/>
                    <a:lstStyle/>
                    <a:p>
                      <a:r>
                        <a:rPr sz="900" b="0">
                          <a:solidFill>
                            <a:srgbClr val="D5D5D5"/>
                          </a:solidFill>
                          <a:latin typeface="Calibri"/>
                        </a:rPr>
                        <a:t>Language and API framework — Python + FastAPI</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D5-02</a:t>
                      </a:r>
                    </a:p>
                  </a:txBody>
                  <a:tcPr marL="63500" marR="63500" marT="25400" marB="25400" anchor="ctr">
                    <a:solidFill>
                      <a:srgbClr val="1E222B"/>
                    </a:solidFill>
                  </a:tcPr>
                </a:tc>
                <a:tc>
                  <a:txBody>
                    <a:bodyPr wrap="square"/>
                    <a:lstStyle/>
                    <a:p>
                      <a:r>
                        <a:rPr sz="900" b="0">
                          <a:solidFill>
                            <a:srgbClr val="D5D5D5"/>
                          </a:solidFill>
                          <a:latin typeface="Calibri"/>
                        </a:rPr>
                        <a:t>Python version range and primary type checker — mypy</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D5-03</a:t>
                      </a:r>
                    </a:p>
                  </a:txBody>
                  <a:tcPr marL="63500" marR="63500" marT="25400" marB="25400" anchor="ctr">
                    <a:solidFill>
                      <a:srgbClr val="14161C"/>
                    </a:solidFill>
                  </a:tcPr>
                </a:tc>
                <a:tc>
                  <a:txBody>
                    <a:bodyPr wrap="square"/>
                    <a:lstStyle/>
                    <a:p>
                      <a:r>
                        <a:rPr sz="900" b="0">
                          <a:solidFill>
                            <a:srgbClr val="D5D5D5"/>
                          </a:solidFill>
                          <a:latin typeface="Calibri"/>
                        </a:rPr>
                        <a:t>Boundary validation standard — Pydantic v2</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D5-04</a:t>
                      </a:r>
                    </a:p>
                  </a:txBody>
                  <a:tcPr marL="63500" marR="63500" marT="25400" marB="25400" anchor="ctr">
                    <a:solidFill>
                      <a:srgbClr val="1E222B"/>
                    </a:solidFill>
                  </a:tcPr>
                </a:tc>
                <a:tc>
                  <a:txBody>
                    <a:bodyPr wrap="square"/>
                    <a:lstStyle/>
                    <a:p>
                      <a:r>
                        <a:rPr sz="900" b="0">
                          <a:solidFill>
                            <a:srgbClr val="D5D5D5"/>
                          </a:solidFill>
                          <a:latin typeface="Calibri"/>
                        </a:rPr>
                        <a:t>Dependency management, pinning and lock-file policy</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D5-05</a:t>
                      </a:r>
                    </a:p>
                  </a:txBody>
                  <a:tcPr marL="63500" marR="63500" marT="25400" marB="25400" anchor="ctr">
                    <a:solidFill>
                      <a:srgbClr val="14161C"/>
                    </a:solidFill>
                  </a:tcPr>
                </a:tc>
                <a:tc>
                  <a:txBody>
                    <a:bodyPr wrap="square"/>
                    <a:lstStyle/>
                    <a:p>
                      <a:r>
                        <a:rPr sz="900" b="0">
                          <a:solidFill>
                            <a:srgbClr val="D5D5D5"/>
                          </a:solidFill>
                          <a:latin typeface="Calibri"/>
                        </a:rPr>
                        <a:t>Lint/format toolchain — Ruff as the single tool</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D5-06</a:t>
                      </a:r>
                    </a:p>
                  </a:txBody>
                  <a:tcPr marL="63500" marR="63500" marT="25400" marB="25400" anchor="ctr">
                    <a:solidFill>
                      <a:srgbClr val="1E222B"/>
                    </a:solidFill>
                  </a:tcPr>
                </a:tc>
                <a:tc>
                  <a:txBody>
                    <a:bodyPr wrap="square"/>
                    <a:lstStyle/>
                    <a:p>
                      <a:r>
                        <a:rPr sz="900" b="0">
                          <a:solidFill>
                            <a:srgbClr val="D5D5D5"/>
                          </a:solidFill>
                          <a:latin typeface="Calibri"/>
                        </a:rPr>
                        <a:t>Configuration architecture and immutable release-ma…</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D5-07</a:t>
                      </a:r>
                    </a:p>
                  </a:txBody>
                  <a:tcPr marL="63500" marR="63500" marT="25400" marB="25400" anchor="ctr">
                    <a:solidFill>
                      <a:srgbClr val="14161C"/>
                    </a:solidFill>
                  </a:tcPr>
                </a:tc>
                <a:tc>
                  <a:txBody>
                    <a:bodyPr wrap="square"/>
                    <a:lstStyle/>
                    <a:p>
                      <a:r>
                        <a:rPr sz="900" b="0">
                          <a:solidFill>
                            <a:srgbClr val="D5D5D5"/>
                          </a:solidFill>
                          <a:latin typeface="Calibri"/>
                        </a:rPr>
                        <a:t>Secret management — Azure Key Vault with `*_secret_…</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D5-08</a:t>
                      </a:r>
                    </a:p>
                  </a:txBody>
                  <a:tcPr marL="63500" marR="63500" marT="25400" marB="25400" anchor="ctr">
                    <a:solidFill>
                      <a:srgbClr val="1E222B"/>
                    </a:solidFill>
                  </a:tcPr>
                </a:tc>
                <a:tc>
                  <a:txBody>
                    <a:bodyPr wrap="square"/>
                    <a:lstStyle/>
                    <a:p>
                      <a:r>
                        <a:rPr sz="900" b="0">
                          <a:solidFill>
                            <a:srgbClr val="D5D5D5"/>
                          </a:solidFill>
                          <a:latin typeface="Calibri"/>
                        </a:rPr>
                        <a:t>Cloud platform and compute — Azure + AKS</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D5-09</a:t>
                      </a:r>
                    </a:p>
                  </a:txBody>
                  <a:tcPr marL="63500" marR="63500" marT="25400" marB="25400" anchor="ctr">
                    <a:solidFill>
                      <a:srgbClr val="14161C"/>
                    </a:solidFill>
                  </a:tcPr>
                </a:tc>
                <a:tc>
                  <a:txBody>
                    <a:bodyPr wrap="square"/>
                    <a:lstStyle/>
                    <a:p>
                      <a:r>
                        <a:rPr sz="900" b="0">
                          <a:solidFill>
                            <a:srgbClr val="D5D5D5"/>
                          </a:solidFill>
                          <a:latin typeface="Calibri"/>
                        </a:rPr>
                        <a:t>Container image, ACR and image-immutability policy</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D5-10</a:t>
                      </a:r>
                    </a:p>
                  </a:txBody>
                  <a:tcPr marL="63500" marR="63500" marT="25400" marB="25400" anchor="ctr">
                    <a:solidFill>
                      <a:srgbClr val="1E222B"/>
                    </a:solidFill>
                  </a:tcPr>
                </a:tc>
                <a:tc>
                  <a:txBody>
                    <a:bodyPr wrap="square"/>
                    <a:lstStyle/>
                    <a:p>
                      <a:r>
                        <a:rPr sz="900" b="0">
                          <a:solidFill>
                            <a:srgbClr val="D5D5D5"/>
                          </a:solidFill>
                          <a:latin typeface="Calibri"/>
                        </a:rPr>
                        <a:t>Self-hosted SLM serving stack — vLLM vs TGI vs Azur…</a:t>
                      </a:r>
                    </a:p>
                  </a:txBody>
                  <a:tcPr marL="63500" marR="63500" marT="25400" marB="25400" anchor="ctr">
                    <a:solidFill>
                      <a:srgbClr val="1E222B"/>
                    </a:solidFill>
                  </a:tcPr>
                </a:tc>
                <a:tc>
                  <a:txBody>
                    <a:bodyPr wrap="square"/>
                    <a:lstStyle/>
                    <a:p>
                      <a:r>
                        <a:rPr sz="900" b="0">
                          <a:solidFill>
                            <a:srgbClr val="D5D5D5"/>
                          </a:solidFill>
                          <a:latin typeface="Calibri"/>
                        </a:rPr>
                        <a:t>◆ Prop</a:t>
                      </a:r>
                    </a:p>
                  </a:txBody>
                  <a:tcPr marL="63500" marR="63500" marT="25400" marB="25400" anchor="ctr">
                    <a:solidFill>
                      <a:srgbClr val="1E222B"/>
                    </a:solidFill>
                  </a:tcPr>
                </a:tc>
              </a:tr>
              <a:tr h="304800">
                <a:tc>
                  <a:txBody>
                    <a:bodyPr wrap="square"/>
                    <a:lstStyle/>
                    <a:p>
                      <a:r>
                        <a:rPr sz="900" b="1">
                          <a:solidFill>
                            <a:srgbClr val="FFFFFF"/>
                          </a:solidFill>
                          <a:latin typeface="Calibri"/>
                        </a:rPr>
                        <a:t>D5-11</a:t>
                      </a:r>
                    </a:p>
                  </a:txBody>
                  <a:tcPr marL="63500" marR="63500" marT="25400" marB="25400" anchor="ctr">
                    <a:solidFill>
                      <a:srgbClr val="14161C"/>
                    </a:solidFill>
                  </a:tcPr>
                </a:tc>
                <a:tc>
                  <a:txBody>
                    <a:bodyPr wrap="square"/>
                    <a:lstStyle/>
                    <a:p>
                      <a:r>
                        <a:rPr sz="900" b="0">
                          <a:solidFill>
                            <a:srgbClr val="D5D5D5"/>
                          </a:solidFill>
                          <a:latin typeface="Calibri"/>
                        </a:rPr>
                        <a:t>GPU node pool and CPU/GPU workload separation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D5-12</a:t>
                      </a:r>
                    </a:p>
                  </a:txBody>
                  <a:tcPr marL="63500" marR="63500" marT="25400" marB="25400" anchor="ctr">
                    <a:solidFill>
                      <a:srgbClr val="1E222B"/>
                    </a:solidFill>
                  </a:tcPr>
                </a:tc>
                <a:tc>
                  <a:txBody>
                    <a:bodyPr wrap="square"/>
                    <a:lstStyle/>
                    <a:p>
                      <a:r>
                        <a:rPr sz="900" b="0">
                          <a:solidFill>
                            <a:srgbClr val="D5D5D5"/>
                          </a:solidFill>
                          <a:latin typeface="Calibri"/>
                        </a:rPr>
                        <a:t>Infrastructure-as-Code approach — conform to the En…</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D5-13</a:t>
                      </a:r>
                    </a:p>
                  </a:txBody>
                  <a:tcPr marL="63500" marR="63500" marT="25400" marB="25400" anchor="ctr">
                    <a:solidFill>
                      <a:srgbClr val="14161C"/>
                    </a:solidFill>
                  </a:tcPr>
                </a:tc>
                <a:tc>
                  <a:txBody>
                    <a:bodyPr wrap="square"/>
                    <a:lstStyle/>
                    <a:p>
                      <a:r>
                        <a:rPr sz="900" b="0">
                          <a:solidFill>
                            <a:srgbClr val="D5D5D5"/>
                          </a:solidFill>
                          <a:latin typeface="Calibri"/>
                        </a:rPr>
                        <a:t>Kubernetes deployment approach — conform to the Ent…</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D5-14</a:t>
                      </a:r>
                    </a:p>
                  </a:txBody>
                  <a:tcPr marL="63500" marR="63500" marT="25400" marB="25400" anchor="ctr">
                    <a:solidFill>
                      <a:srgbClr val="1E222B"/>
                    </a:solidFill>
                  </a:tcPr>
                </a:tc>
                <a:tc>
                  <a:txBody>
                    <a:bodyPr wrap="square"/>
                    <a:lstStyle/>
                    <a:p>
                      <a:r>
                        <a:rPr sz="900" b="0">
                          <a:solidFill>
                            <a:srgbClr val="D5D5D5"/>
                          </a:solidFill>
                          <a:latin typeface="Calibri"/>
                        </a:rPr>
                        <a:t>Environment model — DEV → TEST → UAT → STAGE → PROD</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bl>
          </a:graphicData>
        </a:graphic>
      </p:graphicFrame>
      <p:graphicFrame>
        <p:nvGraphicFramePr>
          <p:cNvPr id="5" name="Table 4"/>
          <p:cNvGraphicFramePr>
            <a:graphicFrameLocks noGrp="1"/>
          </p:cNvGraphicFramePr>
          <p:nvPr/>
        </p:nvGraphicFramePr>
        <p:xfrm>
          <a:off x="6263640" y="1783080"/>
          <a:ext cx="5486399" cy="2176272"/>
        </p:xfrm>
        <a:graphic>
          <a:graphicData uri="http://schemas.openxmlformats.org/drawingml/2006/table">
            <a:tbl>
              <a:tblPr firstRow="1">
                <a:tableStyleId>{5C22544A-7EE6-4342-B048-85BDC9FD1C3A}</a:tableStyleId>
              </a:tblPr>
              <a:tblGrid>
                <a:gridCol w="973393"/>
                <a:gridCol w="3672348"/>
                <a:gridCol w="840658"/>
              </a:tblGrid>
              <a:tr h="310896">
                <a:tc>
                  <a:txBody>
                    <a:bodyPr wrap="square"/>
                    <a:lstStyle/>
                    <a:p>
                      <a:r>
                        <a:rPr sz="900" b="1">
                          <a:solidFill>
                            <a:srgbClr val="FFFFFF"/>
                          </a:solidFill>
                          <a:latin typeface="Calibri"/>
                        </a:rPr>
                        <a:t>ADR</a:t>
                      </a:r>
                    </a:p>
                  </a:txBody>
                  <a:tcPr marL="63500" marR="63500" marT="25400" marB="25400" anchor="ctr">
                    <a:solidFill>
                      <a:srgbClr val="7F19BE"/>
                    </a:solidFill>
                  </a:tcPr>
                </a:tc>
                <a:tc>
                  <a:txBody>
                    <a:bodyPr wrap="square"/>
                    <a:lstStyle/>
                    <a:p>
                      <a:r>
                        <a:rPr sz="900" b="1">
                          <a:solidFill>
                            <a:srgbClr val="FFFFFF"/>
                          </a:solidFill>
                          <a:latin typeface="Calibri"/>
                        </a:rPr>
                        <a:t>Decision</a:t>
                      </a:r>
                    </a:p>
                  </a:txBody>
                  <a:tcPr marL="63500" marR="63500" marT="25400" marB="25400" anchor="ctr">
                    <a:solidFill>
                      <a:srgbClr val="7F19BE"/>
                    </a:solidFill>
                  </a:tcPr>
                </a:tc>
                <a:tc>
                  <a:txBody>
                    <a:bodyPr wrap="square"/>
                    <a:lstStyle/>
                    <a:p>
                      <a:r>
                        <a:rPr sz="900" b="1">
                          <a:solidFill>
                            <a:srgbClr val="FFFFFF"/>
                          </a:solidFill>
                          <a:latin typeface="Calibri"/>
                        </a:rPr>
                        <a:t>Status</a:t>
                      </a:r>
                    </a:p>
                  </a:txBody>
                  <a:tcPr marL="63500" marR="63500" marT="25400" marB="25400" anchor="ctr">
                    <a:solidFill>
                      <a:srgbClr val="7F19BE"/>
                    </a:solidFill>
                  </a:tcPr>
                </a:tc>
              </a:tr>
              <a:tr h="310896">
                <a:tc>
                  <a:txBody>
                    <a:bodyPr wrap="square"/>
                    <a:lstStyle/>
                    <a:p>
                      <a:r>
                        <a:rPr sz="900" b="1">
                          <a:solidFill>
                            <a:srgbClr val="FFFFFF"/>
                          </a:solidFill>
                          <a:latin typeface="Calibri"/>
                        </a:rPr>
                        <a:t>D5-15</a:t>
                      </a:r>
                    </a:p>
                  </a:txBody>
                  <a:tcPr marL="63500" marR="63500" marT="25400" marB="25400" anchor="ctr">
                    <a:solidFill>
                      <a:srgbClr val="14161C"/>
                    </a:solidFill>
                  </a:tcPr>
                </a:tc>
                <a:tc>
                  <a:txBody>
                    <a:bodyPr wrap="square"/>
                    <a:lstStyle/>
                    <a:p>
                      <a:r>
                        <a:rPr sz="900" b="0">
                          <a:solidFill>
                            <a:srgbClr val="D5D5D5"/>
                          </a:solidFill>
                          <a:latin typeface="Calibri"/>
                        </a:rPr>
                        <a:t>API gateway and authorization boundary — APIM</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D5-16</a:t>
                      </a:r>
                    </a:p>
                  </a:txBody>
                  <a:tcPr marL="63500" marR="63500" marT="25400" marB="25400" anchor="ctr">
                    <a:solidFill>
                      <a:srgbClr val="1E222B"/>
                    </a:solidFill>
                  </a:tcPr>
                </a:tc>
                <a:tc>
                  <a:txBody>
                    <a:bodyPr wrap="square"/>
                    <a:lstStyle/>
                    <a:p>
                      <a:r>
                        <a:rPr sz="900" b="0">
                          <a:solidFill>
                            <a:srgbClr val="D5D5D5"/>
                          </a:solidFill>
                          <a:latin typeface="Calibri"/>
                        </a:rPr>
                        <a:t>Shared HTTP client standard — pooling, timeout, ret…</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D5-17</a:t>
                      </a:r>
                    </a:p>
                  </a:txBody>
                  <a:tcPr marL="63500" marR="63500" marT="25400" marB="25400" anchor="ctr">
                    <a:solidFill>
                      <a:srgbClr val="14161C"/>
                    </a:solidFill>
                  </a:tcPr>
                </a:tc>
                <a:tc>
                  <a:txBody>
                    <a:bodyPr wrap="square"/>
                    <a:lstStyle/>
                    <a:p>
                      <a:r>
                        <a:rPr sz="900" b="0">
                          <a:solidFill>
                            <a:srgbClr val="D5D5D5"/>
                          </a:solidFill>
                          <a:latin typeface="Calibri"/>
                        </a:rPr>
                        <a:t>Scalability and autoscaling model</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D5-18</a:t>
                      </a:r>
                    </a:p>
                  </a:txBody>
                  <a:tcPr marL="63500" marR="63500" marT="25400" marB="25400" anchor="ctr">
                    <a:solidFill>
                      <a:srgbClr val="1E222B"/>
                    </a:solidFill>
                  </a:tcPr>
                </a:tc>
                <a:tc>
                  <a:txBody>
                    <a:bodyPr wrap="square"/>
                    <a:lstStyle/>
                    <a:p>
                      <a:r>
                        <a:rPr sz="900" b="0">
                          <a:solidFill>
                            <a:srgbClr val="D5D5D5"/>
                          </a:solidFill>
                          <a:latin typeface="Calibri"/>
                        </a:rPr>
                        <a:t>Latency budget decomposition and per-hop SLO alloca…</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D5-19</a:t>
                      </a:r>
                    </a:p>
                  </a:txBody>
                  <a:tcPr marL="63500" marR="63500" marT="25400" marB="25400" anchor="ctr">
                    <a:solidFill>
                      <a:srgbClr val="14161C"/>
                    </a:solidFill>
                  </a:tcPr>
                </a:tc>
                <a:tc>
                  <a:txBody>
                    <a:bodyPr wrap="square"/>
                    <a:lstStyle/>
                    <a:p>
                      <a:r>
                        <a:rPr sz="900" b="0">
                          <a:solidFill>
                            <a:srgbClr val="D5D5D5"/>
                          </a:solidFill>
                          <a:latin typeface="Calibri"/>
                        </a:rPr>
                        <a:t>Inference KV-cache and VRAM capacity planning for t…</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D5-20</a:t>
                      </a:r>
                    </a:p>
                  </a:txBody>
                  <a:tcPr marL="63500" marR="63500" marT="25400" marB="25400" anchor="ctr">
                    <a:solidFill>
                      <a:srgbClr val="1E222B"/>
                    </a:solidFill>
                  </a:tcPr>
                </a:tc>
                <a:tc>
                  <a:txBody>
                    <a:bodyPr wrap="square"/>
                    <a:lstStyle/>
                    <a:p>
                      <a:r>
                        <a:rPr sz="900" b="0">
                          <a:solidFill>
                            <a:srgbClr val="D5D5D5"/>
                          </a:solidFill>
                          <a:latin typeface="Calibri"/>
                        </a:rPr>
                        <a:t>Adopt the Enterprise Application delivery model — A…</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Azure-native · SPN-only secrets · GPU-separated AKS · enterprise delivery, no bespoke stack</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