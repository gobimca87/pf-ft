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10"/>
    <p:sldId id="271" r:id="rId9"/>
    <p:sldId id="272" r:id="rId8"/>
    <p:sldId id="27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7" Type="http://schemas.openxmlformats.org/officeDocument/2006/relationships/slide" Target="slides/slide18.xml"/><Relationship Id="rId8" Type="http://schemas.openxmlformats.org/officeDocument/2006/relationships/slide" Target="slides/slide17.xml"/><Relationship Id="rId9" Type="http://schemas.openxmlformats.org/officeDocument/2006/relationships/slide" Target="slides/slide16.xml"/><Relationship Id="rId10" Type="http://schemas.openxmlformats.org/officeDocument/2006/relationships/slide" Target="slides/slide15.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story per technology. Every figure is an indicative public list price, USD, Azure UK South, captured 2026-09-08 — directional for ARB, to be confirmed by FinOps and converted to GBP + VAT. Pricing lives in a versioned data file, never in application code (doc 26 §138).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model decomposes into ten categories. The meaningful unit for agentic work is cost-per-workflow / per-successful-affiliation. Everything is tagged and allocable. Optimization never trades away security or quality.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SLM and GPU dominate; RAG, vector and observability volume follow. Bounded retries/loops keep cost predictable. Tagging + Langfuse make cost allocable to workflow and outcome.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SLM inference: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Vector store — Azure AI Search: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 Langfuse + Azure Monitor: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 AKS (CPU node pool):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Eventing — Azure Service Bus: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 / state — Azure Managed Redis: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 — APIM · ACR · Key Vault · Storage/Net: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 Engineering-agent spend: drivers and formula on the left; Low/Expected/High indicative monthly on the right; optimization levers below. Figures indicative (Azure UK South (indicative), 2026-09-08) — confirm with FinOps.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cost per workflow and per successful outcome. Per-request cost understates agentic workloads that fan out across agents/APIs/RAG/SLM.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Budgets and alerts at 50/75/90/100%, anomaly detection, and configurable cost guardrails. On breach we degrade or route to a cheaper approved model — never compromise business-critical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scenarios. Expected ≈ $6,370/mo, dominated by self-hosted GPU. Low uses hosted HF and minimal infra; High assumes GPU HA at peak. Directional only.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Expected-scenario breakdown. The SLM/GPU bar dwarfs the rest — optimisation effort (batching, right-sizing, routing) targets it first. Everything else is comparatively small and stable.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slide: region, currency, date, version and the public sources each figure is anchored to. FinOps confirms with our enterprise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cost is dominated by the SLM/GPU choice, measured per successful outcome, and controlled by budgets, guardrails and model routing. Figures are indicative pending FinOps confirmation.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08 · Cost &amp; FinOps</a:t>
            </a:r>
          </a:p>
        </p:txBody>
      </p:sp>
      <p:sp>
        <p:nvSpPr>
          <p:cNvPr id="3" name="Text Placeholder 2"/>
          <p:cNvSpPr>
            <a:spLocks noGrp="1"/>
          </p:cNvSpPr>
          <p:nvPr>
            <p:ph type="body" idx="12" sz="quarter"/>
          </p:nvPr>
        </p:nvSpPr>
        <p:spPr/>
        <p:txBody>
          <a:bodyPr/>
          <a:lstStyle/>
          <a:p>
            <a:r>
              <a:rPr>
                <a:solidFill>
                  <a:srgbClr val="D5D5D5"/>
                </a:solidFill>
              </a:rPr>
              <a:t>Per-technology cost model · scenarios · budget controls  (doc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model</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doc 26 §74 · total cost decomposition</a:t>
            </a:r>
          </a:p>
        </p:txBody>
      </p:sp>
      <p:sp>
        <p:nvSpPr>
          <p:cNvPr id="4" name="Rounded Rectangle 3"/>
          <p:cNvSpPr/>
          <p:nvPr/>
        </p:nvSpPr>
        <p:spPr>
          <a:xfrm>
            <a:off x="822960" y="1737360"/>
            <a:ext cx="10515600" cy="1188720"/>
          </a:xfrm>
          <a:prstGeom prst="roundRect">
            <a:avLst/>
          </a:prstGeom>
          <a:solidFill>
            <a:srgbClr val="14161C"/>
          </a:solidFill>
          <a:ln w="15875">
            <a:solidFill>
              <a:srgbClr val="FED03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500" b="1">
                <a:solidFill>
                  <a:srgbClr val="FFFFFF"/>
                </a:solidFill>
                <a:latin typeface="Calibri"/>
              </a:rPr>
              <a:t>Total = Infrastructure + Model/SLM + Embedding + RAG/Vector + API/Integration</a:t>
            </a:r>
          </a:p>
          <a:p>
            <a:pPr algn="ctr"/>
            <a:r>
              <a:rPr sz="1500" b="1">
                <a:solidFill>
                  <a:srgbClr val="FFFFFF"/>
                </a:solidFill>
                <a:latin typeface="Calibri"/>
              </a:rPr>
              <a:t>+ Service Bus + Storage + Network + Observability + Engineering-AI</a:t>
            </a:r>
          </a:p>
        </p:txBody>
      </p:sp>
      <p:sp>
        <p:nvSpPr>
          <p:cNvPr id="5" name="TextBox 4"/>
          <p:cNvSpPr txBox="1"/>
          <p:nvPr/>
        </p:nvSpPr>
        <p:spPr>
          <a:xfrm>
            <a:off x="822960" y="3200400"/>
            <a:ext cx="10515600" cy="2560320"/>
          </a:xfrm>
          <a:prstGeom prst="rect">
            <a:avLst/>
          </a:prstGeom>
          <a:noFill/>
        </p:spPr>
        <p:txBody>
          <a:bodyPr wrap="square" lIns="0" tIns="0">
            <a:spAutoFit/>
          </a:bodyPr>
          <a:lstStyle/>
          <a:p>
            <a:pPr algn="l">
              <a:spcAft>
                <a:spcPts val="1300"/>
              </a:spcAft>
            </a:pPr>
            <a:r>
              <a:rPr sz="1500" b="1">
                <a:solidFill>
                  <a:srgbClr val="2ACCFF"/>
                </a:solidFill>
                <a:latin typeface="Calibri"/>
              </a:rPr>
              <a:t>▸ </a:t>
            </a:r>
            <a:r>
              <a:rPr sz="1500">
                <a:solidFill>
                  <a:srgbClr val="FFFFFF"/>
                </a:solidFill>
                <a:latin typeface="Calibri"/>
              </a:rPr>
              <a:t>Cost is measured per workflow and per successful outcome — not only per request.</a:t>
            </a:r>
          </a:p>
          <a:p>
            <a:pPr algn="l">
              <a:spcAft>
                <a:spcPts val="1300"/>
              </a:spcAft>
            </a:pPr>
            <a:r>
              <a:rPr sz="1500" b="1">
                <a:solidFill>
                  <a:srgbClr val="2ACCFF"/>
                </a:solidFill>
                <a:latin typeface="Calibri"/>
              </a:rPr>
              <a:t>▸ </a:t>
            </a:r>
            <a:r>
              <a:rPr sz="1500">
                <a:solidFill>
                  <a:srgbClr val="FFFFFF"/>
                </a:solidFill>
                <a:latin typeface="Calibri"/>
              </a:rPr>
              <a:t>Allocation dimensions: environment · component · workflow · agent · model · team · capability.</a:t>
            </a:r>
          </a:p>
          <a:p>
            <a:pPr algn="l">
              <a:spcAft>
                <a:spcPts val="1300"/>
              </a:spcAft>
            </a:pPr>
            <a:r>
              <a:rPr sz="1500" b="1">
                <a:solidFill>
                  <a:srgbClr val="2ACCFF"/>
                </a:solidFill>
                <a:latin typeface="Calibri"/>
              </a:rPr>
              <a:t>▸ </a:t>
            </a:r>
            <a:r>
              <a:rPr sz="1500">
                <a:solidFill>
                  <a:srgbClr val="FFFFFF"/>
                </a:solidFill>
                <a:latin typeface="Calibri"/>
              </a:rPr>
              <a:t>Cost tags: application=pff-fa-ai · environment=prod · component=ai-runtime · workflow=affiliation.</a:t>
            </a:r>
          </a:p>
          <a:p>
            <a:pPr algn="l">
              <a:spcAft>
                <a:spcPts val="1300"/>
              </a:spcAft>
            </a:pPr>
            <a:r>
              <a:rPr sz="1500" b="1">
                <a:solidFill>
                  <a:srgbClr val="2ACCFF"/>
                </a:solidFill>
                <a:latin typeface="Calibri"/>
              </a:rPr>
              <a:t>▸ </a:t>
            </a:r>
            <a:r>
              <a:rPr sz="1500">
                <a:solidFill>
                  <a:srgbClr val="FFFFFF"/>
                </a:solidFill>
                <a:latin typeface="Calibri"/>
              </a:rPr>
              <a:t>Optimize without weakening security, authorization, correctness, AI quality or guardrails.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drivers &amp; allocation</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what actually moves the bill</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Highest-impact variables</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SLM tokens &amp; GPU hours (dominant lever).</a:t>
            </a:r>
          </a:p>
          <a:p>
            <a:pPr algn="l">
              <a:spcAft>
                <a:spcPts val="1200"/>
              </a:spcAft>
            </a:pPr>
            <a:r>
              <a:rPr sz="1500" b="1">
                <a:solidFill>
                  <a:srgbClr val="2ACCFF"/>
                </a:solidFill>
                <a:latin typeface="Calibri"/>
              </a:rPr>
              <a:t>▸ </a:t>
            </a:r>
            <a:r>
              <a:rPr sz="1500">
                <a:solidFill>
                  <a:srgbClr val="FFFFFF"/>
                </a:solidFill>
                <a:latin typeface="Calibri"/>
              </a:rPr>
              <a:t>RAG/embedding volume &amp; re-index frequency.</a:t>
            </a:r>
          </a:p>
          <a:p>
            <a:pPr algn="l">
              <a:spcAft>
                <a:spcPts val="1200"/>
              </a:spcAft>
            </a:pPr>
            <a:r>
              <a:rPr sz="1500" b="1">
                <a:solidFill>
                  <a:srgbClr val="2ACCFF"/>
                </a:solidFill>
                <a:latin typeface="Calibri"/>
              </a:rPr>
              <a:t>▸ </a:t>
            </a:r>
            <a:r>
              <a:rPr sz="1500">
                <a:solidFill>
                  <a:srgbClr val="FFFFFF"/>
                </a:solidFill>
                <a:latin typeface="Calibri"/>
              </a:rPr>
              <a:t>Vector search units; observability trace/log volume.</a:t>
            </a:r>
          </a:p>
          <a:p>
            <a:pPr algn="l">
              <a:spcAft>
                <a:spcPts val="1200"/>
              </a:spcAft>
            </a:pPr>
            <a:r>
              <a:rPr sz="1500" b="1">
                <a:solidFill>
                  <a:srgbClr val="2ACCFF"/>
                </a:solidFill>
                <a:latin typeface="Calibri"/>
              </a:rPr>
              <a:t>▸ </a:t>
            </a:r>
            <a:r>
              <a:rPr sz="1500">
                <a:solidFill>
                  <a:srgbClr val="FFFFFF"/>
                </a:solidFill>
                <a:latin typeface="Calibri"/>
              </a:rPr>
              <a:t>Retry amplification &amp; agent loops (bounded — deck 02).</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Allocation &amp; tags</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Per environment / workflow / agent / model.</a:t>
            </a:r>
          </a:p>
          <a:p>
            <a:pPr algn="l">
              <a:spcAft>
                <a:spcPts val="1200"/>
              </a:spcAft>
            </a:pPr>
            <a:r>
              <a:rPr sz="1500" b="1">
                <a:solidFill>
                  <a:srgbClr val="2ACCFF"/>
                </a:solidFill>
                <a:latin typeface="Calibri"/>
              </a:rPr>
              <a:t>▸ </a:t>
            </a:r>
            <a:r>
              <a:rPr sz="1500">
                <a:solidFill>
                  <a:srgbClr val="FFFFFF"/>
                </a:solidFill>
                <a:latin typeface="Calibri"/>
              </a:rPr>
              <a:t>Cost tags on every resource.</a:t>
            </a:r>
          </a:p>
          <a:p>
            <a:pPr algn="l">
              <a:spcAft>
                <a:spcPts val="1200"/>
              </a:spcAft>
            </a:pPr>
            <a:r>
              <a:rPr sz="1500" b="1">
                <a:solidFill>
                  <a:srgbClr val="2ACCFF"/>
                </a:solidFill>
                <a:latin typeface="Calibri"/>
              </a:rPr>
              <a:t>▸ </a:t>
            </a:r>
            <a:r>
              <a:rPr sz="1500">
                <a:solidFill>
                  <a:srgbClr val="FFFFFF"/>
                </a:solidFill>
                <a:latin typeface="Calibri"/>
              </a:rPr>
              <a:t>Langfuse gives per-trace token &amp; cost telemetry.</a:t>
            </a:r>
          </a:p>
          <a:p>
            <a:pPr algn="l">
              <a:spcAft>
                <a:spcPts val="1200"/>
              </a:spcAft>
            </a:pPr>
            <a:r>
              <a:rPr sz="1500" b="1">
                <a:solidFill>
                  <a:srgbClr val="2ACCFF"/>
                </a:solidFill>
                <a:latin typeface="Calibri"/>
              </a:rPr>
              <a:t>▸ </a:t>
            </a:r>
            <a:r>
              <a:rPr sz="1500">
                <a:solidFill>
                  <a:srgbClr val="FFFFFF"/>
                </a:solidFill>
                <a:latin typeface="Calibri"/>
              </a:rPr>
              <a:t>Enables cost-per-successful-affiliation.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SLM inference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D3-13 / D5-10  ·  Indicative · Azure UK South (indicative) · USD (indicative list price, ex-VAT) · 2026-09-08 · verify with FinOps</a:t>
            </a:r>
          </a:p>
        </p:txBody>
      </p:sp>
      <p:pic>
        <p:nvPicPr>
          <p:cNvPr id="4" name="Picture 3" descr="huggingface.png"/>
          <p:cNvPicPr>
            <a:picLocks noChangeAspect="1"/>
          </p:cNvPicPr>
          <p:nvPr/>
        </p:nvPicPr>
        <p:blipFill>
          <a:blip r:embed="rId2"/>
          <a:stretch>
            <a:fillRect/>
          </a:stretch>
        </p:blipFill>
        <p:spPr>
          <a:xfrm>
            <a:off x="9966960" y="490727"/>
            <a:ext cx="1371600" cy="42672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Hosted phase</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HF Inference — per-token or dedicated endpoint-hours</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Self-host target</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vLLM on NC24ads_A100_v4 GPU @ ≈$3.67/hr on-demand</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Key variables</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tokens/workflow, GPU count, utilisation, quantisation</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hosted: tokens×rate   |   self-host: GPU-hr ÷ tokens-per-hr</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$300</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hosted, pilot</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$2,680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1×A100 24×7</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$5,360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2×A100 HA</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Continuous batching &amp; quantisation (quality-validated)</a:t>
            </a:r>
          </a:p>
          <a:p>
            <a:pPr algn="l">
              <a:spcAft>
                <a:spcPts val="500"/>
              </a:spcAft>
            </a:pPr>
            <a:r>
              <a:rPr sz="1100" b="1">
                <a:solidFill>
                  <a:srgbClr val="2ACCFF"/>
                </a:solidFill>
                <a:latin typeface="Calibri"/>
              </a:rPr>
              <a:t>▸ </a:t>
            </a:r>
            <a:r>
              <a:rPr sz="1100">
                <a:solidFill>
                  <a:srgbClr val="FFFFFF"/>
                </a:solidFill>
                <a:latin typeface="Calibri"/>
              </a:rPr>
              <a:t>Right-size GPU SKU; spot for non-critical (~$0.68/hr)</a:t>
            </a:r>
          </a:p>
          <a:p>
            <a:pPr algn="l">
              <a:spcAft>
                <a:spcPts val="500"/>
              </a:spcAft>
            </a:pPr>
            <a:r>
              <a:rPr sz="1100" b="1">
                <a:solidFill>
                  <a:srgbClr val="2ACCFF"/>
                </a:solidFill>
                <a:latin typeface="Calibri"/>
              </a:rPr>
              <a:t>▸ </a:t>
            </a:r>
            <a:r>
              <a:rPr sz="1100">
                <a:solidFill>
                  <a:srgbClr val="FFFFFF"/>
                </a:solidFill>
                <a:latin typeface="Calibri"/>
              </a:rPr>
              <a:t>Model routing: small model for simple tasks (deck 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D3-23  ·  Indicative · Azure UK South (indicative) · USD (indicative list price, ex-VAT) · 2026-09-08 · verify with FinOps</a:t>
            </a:r>
          </a:p>
        </p:txBody>
      </p:sp>
      <p:pic>
        <p:nvPicPr>
          <p:cNvPr id="4" name="Picture 3" descr="huggingface.png"/>
          <p:cNvPicPr>
            <a:picLocks noChangeAspect="1"/>
          </p:cNvPicPr>
          <p:nvPr/>
        </p:nvPicPr>
        <p:blipFill>
          <a:blip r:embed="rId2"/>
          <a:stretch>
            <a:fillRect/>
          </a:stretch>
        </p:blipFill>
        <p:spPr>
          <a:xfrm>
            <a:off x="9966960" y="490727"/>
            <a:ext cx="1371600" cy="42672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Volume</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docs × chunks × tokens</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Re-index</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frequency on model/version change</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Model</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768-dim general-purpose (recommended)</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embedding-tokens × rate + re-index passes</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$50</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small corpus</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$200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steady</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$600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frequent re-index</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Embed only changed documents (incremental)</a:t>
            </a:r>
          </a:p>
          <a:p>
            <a:pPr algn="l">
              <a:spcAft>
                <a:spcPts val="500"/>
              </a:spcAft>
            </a:pPr>
            <a:r>
              <a:rPr sz="1100" b="1">
                <a:solidFill>
                  <a:srgbClr val="2ACCFF"/>
                </a:solidFill>
                <a:latin typeface="Calibri"/>
              </a:rPr>
              <a:t>▸ </a:t>
            </a:r>
            <a:r>
              <a:rPr sz="1100">
                <a:solidFill>
                  <a:srgbClr val="FFFFFF"/>
                </a:solidFill>
                <a:latin typeface="Calibri"/>
              </a:rPr>
              <a:t>Cache embeddings; avoid needless re-embedding</a:t>
            </a:r>
          </a:p>
          <a:p>
            <a:pPr algn="l">
              <a:spcAft>
                <a:spcPts val="500"/>
              </a:spcAft>
            </a:pPr>
            <a:r>
              <a:rPr sz="1100" b="1">
                <a:solidFill>
                  <a:srgbClr val="2ACCFF"/>
                </a:solidFill>
                <a:latin typeface="Calibri"/>
              </a:rPr>
              <a:t>▸ </a:t>
            </a:r>
            <a:r>
              <a:rPr sz="1100">
                <a:solidFill>
                  <a:srgbClr val="FFFFFF"/>
                </a:solidFill>
                <a:latin typeface="Calibri"/>
              </a:rPr>
              <a:t>Don't reduce dimensions without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Vector store — Azure AI Search</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D3-24  ·  Indicative · Azure UK South (indicative) · USD (indicative list price, ex-VAT) · 2026-09-08 · verify with FinOps</a:t>
            </a:r>
          </a:p>
        </p:txBody>
      </p:sp>
      <p:pic>
        <p:nvPicPr>
          <p:cNvPr id="4" name="Picture 3" descr="aisearch.png"/>
          <p:cNvPicPr>
            <a:picLocks noChangeAspect="1"/>
          </p:cNvPicPr>
          <p:nvPr/>
        </p:nvPicPr>
        <p:blipFill>
          <a:blip r:embed="rId2"/>
          <a:stretch>
            <a:fillRect/>
          </a:stretch>
        </p:blipFill>
        <p:spPr>
          <a:xfrm>
            <a:off x="10698480" y="384048"/>
            <a:ext cx="640080" cy="64008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Tier</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Standard S1 ≈ $245 / search-unit / month</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Scale</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search units = replicas × partitions</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Load</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index size, query volume, hybrid retrieval</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search-units × tier-rate  (replicas×partitions)</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$245</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1 SU (S1)</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$490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2 SU</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$735</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3 SU</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Right-size partitions to index size</a:t>
            </a:r>
          </a:p>
          <a:p>
            <a:pPr algn="l">
              <a:spcAft>
                <a:spcPts val="500"/>
              </a:spcAft>
            </a:pPr>
            <a:r>
              <a:rPr sz="1100" b="1">
                <a:solidFill>
                  <a:srgbClr val="2ACCFF"/>
                </a:solidFill>
                <a:latin typeface="Calibri"/>
              </a:rPr>
              <a:t>▸ </a:t>
            </a:r>
            <a:r>
              <a:rPr sz="1100">
                <a:solidFill>
                  <a:srgbClr val="FFFFFF"/>
                </a:solidFill>
                <a:latin typeface="Calibri"/>
              </a:rPr>
              <a:t>Replicas for QPS/HA only when needed</a:t>
            </a:r>
          </a:p>
          <a:p>
            <a:pPr algn="l">
              <a:spcAft>
                <a:spcPts val="500"/>
              </a:spcAft>
            </a:pPr>
            <a:r>
              <a:rPr sz="1100" b="1">
                <a:solidFill>
                  <a:srgbClr val="2ACCFF"/>
                </a:solidFill>
                <a:latin typeface="Calibri"/>
              </a:rPr>
              <a:t>▸ </a:t>
            </a:r>
            <a:r>
              <a:rPr sz="1100">
                <a:solidFill>
                  <a:srgbClr val="FFFFFF"/>
                </a:solidFill>
                <a:latin typeface="Calibri"/>
              </a:rPr>
              <a:t>Hybrid retrieval tuned; top-K controlled (deck 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Observability — Langfuse + Azure Monitor</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D7-02 / D7-01  ·  Indicative · Azure UK South (indicative) · USD (indicative list price, ex-VAT) · 2026-09-08 · verify with FinOps</a:t>
            </a:r>
          </a:p>
        </p:txBody>
      </p:sp>
      <p:pic>
        <p:nvPicPr>
          <p:cNvPr id="4" name="Picture 3" descr="langfuse.png"/>
          <p:cNvPicPr>
            <a:picLocks noChangeAspect="1"/>
          </p:cNvPicPr>
          <p:nvPr/>
        </p:nvPicPr>
        <p:blipFill>
          <a:blip r:embed="rId2"/>
          <a:stretch>
            <a:fillRect/>
          </a:stretch>
        </p:blipFill>
        <p:spPr>
          <a:xfrm>
            <a:off x="9966960" y="490727"/>
            <a:ext cx="1371600" cy="42672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Langfuse</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Core $29 / Pro $199 (100k units incl.); overage ~$8/100k</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Azure logs</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Log Analytics $2.30/GB after 5 GB free/mo</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Volume</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trace/observation count + log GB + retention</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Langfuse plan + overage  +  log-GB × $2.30</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$80</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Core + light logs</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$450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Pro + logs</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$1,100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Pro overage + logs</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Sample/route high-volume traces</a:t>
            </a:r>
          </a:p>
          <a:p>
            <a:pPr algn="l">
              <a:spcAft>
                <a:spcPts val="500"/>
              </a:spcAft>
            </a:pPr>
            <a:r>
              <a:rPr sz="1100" b="1">
                <a:solidFill>
                  <a:srgbClr val="2ACCFF"/>
                </a:solidFill>
                <a:latin typeface="Calibri"/>
              </a:rPr>
              <a:t>▸ </a:t>
            </a:r>
            <a:r>
              <a:rPr sz="1100">
                <a:solidFill>
                  <a:srgbClr val="FFFFFF"/>
                </a:solidFill>
                <a:latin typeface="Calibri"/>
              </a:rPr>
              <a:t>Tier logs (Basic $0.50/GB) &amp; tune retention</a:t>
            </a:r>
          </a:p>
          <a:p>
            <a:pPr algn="l">
              <a:spcAft>
                <a:spcPts val="500"/>
              </a:spcAft>
            </a:pPr>
            <a:r>
              <a:rPr sz="1100" b="1">
                <a:solidFill>
                  <a:srgbClr val="2ACCFF"/>
                </a:solidFill>
                <a:latin typeface="Calibri"/>
              </a:rPr>
              <a:t>▸ </a:t>
            </a:r>
            <a:r>
              <a:rPr sz="1100">
                <a:solidFill>
                  <a:srgbClr val="FFFFFF"/>
                </a:solidFill>
                <a:latin typeface="Calibri"/>
              </a:rPr>
              <a:t>Avoid excessive logging (perf + cost anti-pattern)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Compute — AKS (CPU node pool)</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D5-08 / D5-17  ·  Indicative · Azure UK South (indicative) · USD (indicative list price, ex-VAT) · 2026-09-08 · verify with FinOps</a:t>
            </a:r>
          </a:p>
        </p:txBody>
      </p:sp>
      <p:pic>
        <p:nvPicPr>
          <p:cNvPr id="4" name="Picture 3" descr="aks.png"/>
          <p:cNvPicPr>
            <a:picLocks noChangeAspect="1"/>
          </p:cNvPicPr>
          <p:nvPr/>
        </p:nvPicPr>
        <p:blipFill>
          <a:blip r:embed="rId2"/>
          <a:stretch>
            <a:fillRect/>
          </a:stretch>
        </p:blipFill>
        <p:spPr>
          <a:xfrm>
            <a:off x="10698480" y="384048"/>
            <a:ext cx="640080" cy="64008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Nodes</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VM SKU × count × hours</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Control plane</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AKS Standard ≈ $73/mo</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Scaling</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autoscale on CPU/mem/queue; warm minimum</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node-VM-hours + control-plane + load-balancing</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$300</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minimal</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$700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steady HA</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$1,600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peak</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Autoscale down off-peak (avoid cold starts)</a:t>
            </a:r>
          </a:p>
          <a:p>
            <a:pPr algn="l">
              <a:spcAft>
                <a:spcPts val="500"/>
              </a:spcAft>
            </a:pPr>
            <a:r>
              <a:rPr sz="1100" b="1">
                <a:solidFill>
                  <a:srgbClr val="2ACCFF"/>
                </a:solidFill>
                <a:latin typeface="Calibri"/>
              </a:rPr>
              <a:t>▸ </a:t>
            </a:r>
            <a:r>
              <a:rPr sz="1100">
                <a:solidFill>
                  <a:srgbClr val="FFFFFF"/>
                </a:solidFill>
                <a:latin typeface="Calibri"/>
              </a:rPr>
              <a:t>Right-size node SKUs; bin-pack pods</a:t>
            </a:r>
          </a:p>
          <a:p>
            <a:pPr algn="l">
              <a:spcAft>
                <a:spcPts val="500"/>
              </a:spcAft>
            </a:pPr>
            <a:r>
              <a:rPr sz="1100" b="1">
                <a:solidFill>
                  <a:srgbClr val="2ACCFF"/>
                </a:solidFill>
                <a:latin typeface="Calibri"/>
              </a:rPr>
              <a:t>▸ </a:t>
            </a:r>
            <a:r>
              <a:rPr sz="1100">
                <a:solidFill>
                  <a:srgbClr val="FFFFFF"/>
                </a:solidFill>
                <a:latin typeface="Calibri"/>
              </a:rPr>
              <a:t>Reserved instances for steady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Eventing — Azure Service Bus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D2-16  ·  Indicative · Azure UK South (indicative) · USD (indicative list price, ex-VAT) · 2026-09-08 · verify with FinOps</a:t>
            </a:r>
          </a:p>
        </p:txBody>
      </p:sp>
      <p:pic>
        <p:nvPicPr>
          <p:cNvPr id="4" name="Picture 3" descr="aisearch.png"/>
          <p:cNvPicPr>
            <a:picLocks noChangeAspect="1"/>
          </p:cNvPicPr>
          <p:nvPr/>
        </p:nvPicPr>
        <p:blipFill>
          <a:blip r:embed="rId2"/>
          <a:stretch>
            <a:fillRect/>
          </a:stretch>
        </p:blipFill>
        <p:spPr>
          <a:xfrm>
            <a:off x="10698480" y="384048"/>
            <a:ext cx="640080" cy="64008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Standard</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$10/mo base + $0.01 / M operations</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Premium</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$677 / messaging-unit / month (dedicated, isolation)</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Load</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message volume, MU count</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Standard base+ops   OR   Premium MU × rate</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$15</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Standard</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$30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Standard heavy</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$677</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Premium 1 MU</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Standard tier for affiliation volumes</a:t>
            </a:r>
          </a:p>
          <a:p>
            <a:pPr algn="l">
              <a:spcAft>
                <a:spcPts val="500"/>
              </a:spcAft>
            </a:pPr>
            <a:r>
              <a:rPr sz="1100" b="1">
                <a:solidFill>
                  <a:srgbClr val="2ACCFF"/>
                </a:solidFill>
                <a:latin typeface="Calibri"/>
              </a:rPr>
              <a:t>▸ </a:t>
            </a:r>
            <a:r>
              <a:rPr sz="1100">
                <a:solidFill>
                  <a:srgbClr val="FFFFFF"/>
                </a:solidFill>
                <a:latin typeface="Calibri"/>
              </a:rPr>
              <a:t>Batch receive, prefetch, tune concurrency</a:t>
            </a:r>
          </a:p>
          <a:p>
            <a:pPr algn="l">
              <a:spcAft>
                <a:spcPts val="500"/>
              </a:spcAft>
            </a:pPr>
            <a:r>
              <a:rPr sz="1100" b="1">
                <a:solidFill>
                  <a:srgbClr val="2ACCFF"/>
                </a:solidFill>
                <a:latin typeface="Calibri"/>
              </a:rPr>
              <a:t>▸ </a:t>
            </a:r>
            <a:r>
              <a:rPr sz="1100">
                <a:solidFill>
                  <a:srgbClr val="FFFFFF"/>
                </a:solidFill>
                <a:latin typeface="Calibri"/>
              </a:rPr>
              <a:t>Premium only when isolation/latency demands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Cache / state — Azure Managed Redis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D4-10 / D4-12  ·  Indicative · Azure UK South (indicative) · USD (indicative list price, ex-VAT) · 2026-09-08 · verify with FinOps</a:t>
            </a:r>
          </a:p>
        </p:txBody>
      </p:sp>
      <p:pic>
        <p:nvPicPr>
          <p:cNvPr id="4" name="Picture 3" descr="redis.png"/>
          <p:cNvPicPr>
            <a:picLocks noChangeAspect="1"/>
          </p:cNvPicPr>
          <p:nvPr/>
        </p:nvPicPr>
        <p:blipFill>
          <a:blip r:embed="rId2"/>
          <a:stretch>
            <a:fillRect/>
          </a:stretch>
        </p:blipFill>
        <p:spPr>
          <a:xfrm>
            <a:off x="10698480" y="384048"/>
            <a:ext cx="640080" cy="64008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SKU</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Balanced tier B0 (1 GB) ≈ $13/mo → scales with memory</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Memory</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state + session + cache footprint</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HA</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replication / zones</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SKU (memory tier) × HA factor</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$130</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small B-tier</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$300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mid + HA</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$650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larger + zones</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TTL &amp; eviction tuned; cache only when benefit &gt; cost</a:t>
            </a:r>
          </a:p>
          <a:p>
            <a:pPr algn="l">
              <a:spcAft>
                <a:spcPts val="500"/>
              </a:spcAft>
            </a:pPr>
            <a:r>
              <a:rPr sz="1100" b="1">
                <a:solidFill>
                  <a:srgbClr val="2ACCFF"/>
                </a:solidFill>
                <a:latin typeface="Calibri"/>
              </a:rPr>
              <a:t>▸ </a:t>
            </a:r>
            <a:r>
              <a:rPr sz="1100">
                <a:solidFill>
                  <a:srgbClr val="FFFFFF"/>
                </a:solidFill>
                <a:latin typeface="Calibri"/>
              </a:rPr>
              <a:t>Authorization-aware keys (no cross-scope reuse)</a:t>
            </a:r>
          </a:p>
          <a:p>
            <a:pPr algn="l">
              <a:spcAft>
                <a:spcPts val="500"/>
              </a:spcAft>
            </a:pPr>
            <a:r>
              <a:rPr sz="1100" b="1">
                <a:solidFill>
                  <a:srgbClr val="2ACCFF"/>
                </a:solidFill>
                <a:latin typeface="Calibri"/>
              </a:rPr>
              <a:t>▸ </a:t>
            </a:r>
            <a:r>
              <a:rPr sz="1100">
                <a:solidFill>
                  <a:srgbClr val="FFFFFF"/>
                </a:solidFill>
                <a:latin typeface="Calibri"/>
              </a:rPr>
              <a:t>Right-size memory to working 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 APIM · ACR · Key Vault · Storage/Net</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D5-15 / D5-09 / D5-07  ·  Indicative · Azure UK South (indicative) · USD (indicative list price, ex-VAT) · 2026-09-08 · verify with FinOps</a:t>
            </a:r>
          </a:p>
        </p:txBody>
      </p:sp>
      <p:pic>
        <p:nvPicPr>
          <p:cNvPr id="4" name="Picture 3" descr="aisearch.png"/>
          <p:cNvPicPr>
            <a:picLocks noChangeAspect="1"/>
          </p:cNvPicPr>
          <p:nvPr/>
        </p:nvPicPr>
        <p:blipFill>
          <a:blip r:embed="rId2"/>
          <a:stretch>
            <a:fillRect/>
          </a:stretch>
        </p:blipFill>
        <p:spPr>
          <a:xfrm>
            <a:off x="10698480" y="384048"/>
            <a:ext cx="640080" cy="64008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APIM</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Standard v2 ≈ $700/mo (~50M calls incl.) — may be shared enterprise</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ACR</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Standard ≈ $20 / Premium ≈ $50 per month</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Key Vault + Storage/Net</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per-operation + blob GB + egress</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APIM tier + ACR tier + KV ops + storage/egress</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$205</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Basic v2 + small</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$820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Std v2 + std</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$2,050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2×APIM + premium</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Use shared enterprise APIM allocation where possible</a:t>
            </a:r>
          </a:p>
          <a:p>
            <a:pPr algn="l">
              <a:spcAft>
                <a:spcPts val="500"/>
              </a:spcAft>
            </a:pPr>
            <a:r>
              <a:rPr sz="1100" b="1">
                <a:solidFill>
                  <a:srgbClr val="2ACCFF"/>
                </a:solidFill>
                <a:latin typeface="Calibri"/>
              </a:rPr>
              <a:t>▸ </a:t>
            </a:r>
            <a:r>
              <a:rPr sz="1100">
                <a:solidFill>
                  <a:srgbClr val="FFFFFF"/>
                </a:solidFill>
                <a:latin typeface="Calibri"/>
              </a:rPr>
              <a:t>ACR retention policies; prune images</a:t>
            </a:r>
          </a:p>
          <a:p>
            <a:pPr algn="l">
              <a:spcAft>
                <a:spcPts val="500"/>
              </a:spcAft>
            </a:pPr>
            <a:r>
              <a:rPr sz="1100" b="1">
                <a:solidFill>
                  <a:srgbClr val="2ACCFF"/>
                </a:solidFill>
                <a:latin typeface="Calibri"/>
              </a:rPr>
              <a:t>▸ </a:t>
            </a:r>
            <a:r>
              <a:rPr sz="1100">
                <a:solidFill>
                  <a:srgbClr val="FFFFFF"/>
                </a:solidFill>
                <a:latin typeface="Calibri"/>
              </a:rPr>
              <a:t>Minimise cross-region egress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 Engineering-agent spend</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ADR D7-13 / D7-15  ·  Indicative · Azure UK South (indicative) · USD (indicative list price, ex-VAT) · 2026-09-08 · verify with FinOps</a:t>
            </a:r>
          </a:p>
        </p:txBody>
      </p:sp>
      <p:pic>
        <p:nvPicPr>
          <p:cNvPr id="4" name="Picture 3" descr="openai.png"/>
          <p:cNvPicPr>
            <a:picLocks noChangeAspect="1"/>
          </p:cNvPicPr>
          <p:nvPr/>
        </p:nvPicPr>
        <p:blipFill>
          <a:blip r:embed="rId2"/>
          <a:stretch>
            <a:fillRect/>
          </a:stretch>
        </p:blipFill>
        <p:spPr>
          <a:xfrm>
            <a:off x="10698480" y="384048"/>
            <a:ext cx="640080" cy="640080"/>
          </a:xfrm>
          <a:prstGeom prst="rect">
            <a:avLst/>
          </a:prstGeom>
        </p:spPr>
      </p:pic>
      <p:sp>
        <p:nvSpPr>
          <p:cNvPr id="5" name="Rounded Rectangle 4"/>
          <p:cNvSpPr/>
          <p:nvPr/>
        </p:nvSpPr>
        <p:spPr>
          <a:xfrm>
            <a:off x="822960" y="1600200"/>
            <a:ext cx="5577840" cy="2926080"/>
          </a:xfrm>
          <a:prstGeom prst="roundRect">
            <a:avLst/>
          </a:prstGeom>
          <a:solidFill>
            <a:srgbClr val="14161C"/>
          </a:solidFill>
          <a:ln w="13970">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24128" y="1737360"/>
            <a:ext cx="5175503" cy="365760"/>
          </a:xfrm>
          <a:prstGeom prst="rect">
            <a:avLst/>
          </a:prstGeom>
          <a:noFill/>
        </p:spPr>
        <p:txBody>
          <a:bodyPr wrap="square" anchor="t" lIns="0" rIns="0" tIns="0" bIns="0">
            <a:spAutoFit/>
          </a:bodyPr>
          <a:lstStyle/>
          <a:p>
            <a:pPr algn="l"/>
            <a:r>
              <a:rPr sz="1400" b="1" i="0">
                <a:solidFill>
                  <a:srgbClr val="2ACCFF"/>
                </a:solidFill>
                <a:latin typeface="Calibri"/>
              </a:rPr>
              <a:t>Cost drivers</a:t>
            </a:r>
          </a:p>
        </p:txBody>
      </p:sp>
      <p:sp>
        <p:nvSpPr>
          <p:cNvPr id="7" name="TextBox 6"/>
          <p:cNvSpPr txBox="1"/>
          <p:nvPr/>
        </p:nvSpPr>
        <p:spPr>
          <a:xfrm>
            <a:off x="1024128" y="2221992"/>
            <a:ext cx="5175503" cy="274320"/>
          </a:xfrm>
          <a:prstGeom prst="rect">
            <a:avLst/>
          </a:prstGeom>
          <a:noFill/>
        </p:spPr>
        <p:txBody>
          <a:bodyPr wrap="square" anchor="t" lIns="0" rIns="0" tIns="0" bIns="0">
            <a:spAutoFit/>
          </a:bodyPr>
          <a:lstStyle/>
          <a:p>
            <a:pPr algn="l"/>
            <a:r>
              <a:rPr sz="1200" b="1" i="0">
                <a:solidFill>
                  <a:srgbClr val="FFFFFF"/>
                </a:solidFill>
                <a:latin typeface="Calibri"/>
              </a:rPr>
              <a:t>Evaluation</a:t>
            </a:r>
          </a:p>
        </p:txBody>
      </p:sp>
      <p:sp>
        <p:nvSpPr>
          <p:cNvPr id="8" name="TextBox 7"/>
          <p:cNvSpPr txBox="1"/>
          <p:nvPr/>
        </p:nvSpPr>
        <p:spPr>
          <a:xfrm>
            <a:off x="1024128" y="2478024"/>
            <a:ext cx="5175503" cy="457200"/>
          </a:xfrm>
          <a:prstGeom prst="rect">
            <a:avLst/>
          </a:prstGeom>
          <a:noFill/>
        </p:spPr>
        <p:txBody>
          <a:bodyPr wrap="square" anchor="t" lIns="0" rIns="0" tIns="0" bIns="0">
            <a:spAutoFit/>
          </a:bodyPr>
          <a:lstStyle/>
          <a:p>
            <a:pPr algn="l"/>
            <a:r>
              <a:rPr sz="1100" b="0" i="0">
                <a:solidFill>
                  <a:srgbClr val="D5D5D5"/>
                </a:solidFill>
                <a:latin typeface="Calibri"/>
              </a:rPr>
              <a:t>judge/model calls × dataset size × frequency</a:t>
            </a:r>
          </a:p>
        </p:txBody>
      </p:sp>
      <p:sp>
        <p:nvSpPr>
          <p:cNvPr id="9" name="TextBox 8"/>
          <p:cNvSpPr txBox="1"/>
          <p:nvPr/>
        </p:nvSpPr>
        <p:spPr>
          <a:xfrm>
            <a:off x="1024128" y="2935224"/>
            <a:ext cx="5175503" cy="274320"/>
          </a:xfrm>
          <a:prstGeom prst="rect">
            <a:avLst/>
          </a:prstGeom>
          <a:noFill/>
        </p:spPr>
        <p:txBody>
          <a:bodyPr wrap="square" anchor="t" lIns="0" rIns="0" tIns="0" bIns="0">
            <a:spAutoFit/>
          </a:bodyPr>
          <a:lstStyle/>
          <a:p>
            <a:pPr algn="l"/>
            <a:r>
              <a:rPr sz="1200" b="1" i="0">
                <a:solidFill>
                  <a:srgbClr val="FFFFFF"/>
                </a:solidFill>
                <a:latin typeface="Calibri"/>
              </a:rPr>
              <a:t>Engineering agents</a:t>
            </a:r>
          </a:p>
        </p:txBody>
      </p:sp>
      <p:sp>
        <p:nvSpPr>
          <p:cNvPr id="10" name="TextBox 9"/>
          <p:cNvSpPr txBox="1"/>
          <p:nvPr/>
        </p:nvSpPr>
        <p:spPr>
          <a:xfrm>
            <a:off x="1024128" y="3191256"/>
            <a:ext cx="5175503" cy="457200"/>
          </a:xfrm>
          <a:prstGeom prst="rect">
            <a:avLst/>
          </a:prstGeom>
          <a:noFill/>
        </p:spPr>
        <p:txBody>
          <a:bodyPr wrap="square" anchor="t" lIns="0" rIns="0" tIns="0" bIns="0">
            <a:spAutoFit/>
          </a:bodyPr>
          <a:lstStyle/>
          <a:p>
            <a:pPr algn="l"/>
            <a:r>
              <a:rPr sz="1100" b="0" i="0">
                <a:solidFill>
                  <a:srgbClr val="D5D5D5"/>
                </a:solidFill>
                <a:latin typeface="Calibri"/>
              </a:rPr>
              <a:t>code review, test-gen, security, docs + CI runtime</a:t>
            </a:r>
          </a:p>
        </p:txBody>
      </p:sp>
      <p:sp>
        <p:nvSpPr>
          <p:cNvPr id="11" name="TextBox 10"/>
          <p:cNvSpPr txBox="1"/>
          <p:nvPr/>
        </p:nvSpPr>
        <p:spPr>
          <a:xfrm>
            <a:off x="1024128" y="3648456"/>
            <a:ext cx="5175503" cy="274320"/>
          </a:xfrm>
          <a:prstGeom prst="rect">
            <a:avLst/>
          </a:prstGeom>
          <a:noFill/>
        </p:spPr>
        <p:txBody>
          <a:bodyPr wrap="square" anchor="t" lIns="0" rIns="0" tIns="0" bIns="0">
            <a:spAutoFit/>
          </a:bodyPr>
          <a:lstStyle/>
          <a:p>
            <a:pPr algn="l"/>
            <a:r>
              <a:rPr sz="1200" b="1" i="0">
                <a:solidFill>
                  <a:srgbClr val="FFFFFF"/>
                </a:solidFill>
                <a:latin typeface="Calibri"/>
              </a:rPr>
              <a:t>Refinement</a:t>
            </a:r>
          </a:p>
        </p:txBody>
      </p:sp>
      <p:sp>
        <p:nvSpPr>
          <p:cNvPr id="12" name="TextBox 11"/>
          <p:cNvSpPr txBox="1"/>
          <p:nvPr/>
        </p:nvSpPr>
        <p:spPr>
          <a:xfrm>
            <a:off x="1024128" y="3904488"/>
            <a:ext cx="5175503" cy="457200"/>
          </a:xfrm>
          <a:prstGeom prst="rect">
            <a:avLst/>
          </a:prstGeom>
          <a:noFill/>
        </p:spPr>
        <p:txBody>
          <a:bodyPr wrap="square" anchor="t" lIns="0" rIns="0" tIns="0" bIns="0">
            <a:spAutoFit/>
          </a:bodyPr>
          <a:lstStyle/>
          <a:p>
            <a:pPr algn="l"/>
            <a:r>
              <a:rPr sz="1100" b="0" i="0">
                <a:solidFill>
                  <a:srgbClr val="D5D5D5"/>
                </a:solidFill>
                <a:latin typeface="Calibri"/>
              </a:rPr>
              <a:t>runtime quality loop escalations (D3-28)</a:t>
            </a:r>
          </a:p>
        </p:txBody>
      </p:sp>
      <p:sp>
        <p:nvSpPr>
          <p:cNvPr id="13" name="Rounded Rectangle 12"/>
          <p:cNvSpPr/>
          <p:nvPr/>
        </p:nvSpPr>
        <p:spPr>
          <a:xfrm>
            <a:off x="822960" y="4663440"/>
            <a:ext cx="5577840" cy="640080"/>
          </a:xfrm>
          <a:prstGeom prst="roundRect">
            <a:avLst/>
          </a:prstGeom>
          <a:solidFill>
            <a:srgbClr val="1E222B"/>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l"/>
            <a:r>
              <a:rPr sz="1200" b="0">
                <a:solidFill>
                  <a:srgbClr val="D5D5D5"/>
                </a:solidFill>
                <a:latin typeface="Calibri"/>
              </a:rPr>
              <a:t>Formula:  eval model-tokens + eng-agent model-tokens + CI minutes</a:t>
            </a:r>
          </a:p>
        </p:txBody>
      </p:sp>
      <p:sp>
        <p:nvSpPr>
          <p:cNvPr id="14" name="Rounded Rectangle 13"/>
          <p:cNvSpPr/>
          <p:nvPr/>
        </p:nvSpPr>
        <p:spPr>
          <a:xfrm>
            <a:off x="6675120" y="1600200"/>
            <a:ext cx="4663440" cy="914400"/>
          </a:xfrm>
          <a:prstGeom prst="roundRect">
            <a:avLst/>
          </a:prstGeom>
          <a:solidFill>
            <a:srgbClr val="14161C"/>
          </a:solidFill>
          <a:ln w="15240">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6858000" y="1691640"/>
            <a:ext cx="1463040" cy="731520"/>
          </a:xfrm>
          <a:prstGeom prst="rect">
            <a:avLst/>
          </a:prstGeom>
          <a:noFill/>
        </p:spPr>
        <p:txBody>
          <a:bodyPr wrap="square" anchor="t" lIns="0" rIns="0" tIns="0" bIns="0">
            <a:spAutoFit/>
          </a:bodyPr>
          <a:lstStyle/>
          <a:p>
            <a:pPr algn="l"/>
            <a:r>
              <a:rPr sz="1300" b="1" i="0">
                <a:solidFill>
                  <a:srgbClr val="0283FF"/>
                </a:solidFill>
                <a:latin typeface="Calibri"/>
              </a:rPr>
              <a:t>Low</a:t>
            </a:r>
          </a:p>
        </p:txBody>
      </p:sp>
      <p:sp>
        <p:nvSpPr>
          <p:cNvPr id="16" name="TextBox 15"/>
          <p:cNvSpPr txBox="1"/>
          <p:nvPr/>
        </p:nvSpPr>
        <p:spPr>
          <a:xfrm>
            <a:off x="8138160" y="1655064"/>
            <a:ext cx="1645920" cy="822960"/>
          </a:xfrm>
          <a:prstGeom prst="rect">
            <a:avLst/>
          </a:prstGeom>
          <a:noFill/>
        </p:spPr>
        <p:txBody>
          <a:bodyPr wrap="square" anchor="t" lIns="0" rIns="0" tIns="0" bIns="0">
            <a:spAutoFit/>
          </a:bodyPr>
          <a:lstStyle/>
          <a:p>
            <a:pPr algn="l"/>
            <a:r>
              <a:rPr sz="2200" b="1" i="0">
                <a:solidFill>
                  <a:srgbClr val="FFFFFF"/>
                </a:solidFill>
                <a:latin typeface="Calibri"/>
              </a:rPr>
              <a:t>$150</a:t>
            </a:r>
          </a:p>
        </p:txBody>
      </p:sp>
      <p:sp>
        <p:nvSpPr>
          <p:cNvPr id="17" name="TextBox 16"/>
          <p:cNvSpPr txBox="1"/>
          <p:nvPr/>
        </p:nvSpPr>
        <p:spPr>
          <a:xfrm>
            <a:off x="9829800" y="1746504"/>
            <a:ext cx="1417320" cy="731520"/>
          </a:xfrm>
          <a:prstGeom prst="rect">
            <a:avLst/>
          </a:prstGeom>
          <a:noFill/>
        </p:spPr>
        <p:txBody>
          <a:bodyPr wrap="square" anchor="t" lIns="0" rIns="0" tIns="0" bIns="0">
            <a:spAutoFit/>
          </a:bodyPr>
          <a:lstStyle/>
          <a:p>
            <a:pPr algn="l"/>
            <a:r>
              <a:rPr sz="1100" b="0" i="0">
                <a:solidFill>
                  <a:srgbClr val="D5D5D5"/>
                </a:solidFill>
                <a:latin typeface="Calibri"/>
              </a:rPr>
              <a:t>light</a:t>
            </a:r>
          </a:p>
        </p:txBody>
      </p:sp>
      <p:sp>
        <p:nvSpPr>
          <p:cNvPr id="18" name="Rounded Rectangle 17"/>
          <p:cNvSpPr/>
          <p:nvPr/>
        </p:nvSpPr>
        <p:spPr>
          <a:xfrm>
            <a:off x="6675120" y="2606040"/>
            <a:ext cx="4663440" cy="914400"/>
          </a:xfrm>
          <a:prstGeom prst="roundRect">
            <a:avLst/>
          </a:prstGeom>
          <a:solidFill>
            <a:srgbClr val="14161C"/>
          </a:solidFill>
          <a:ln w="15240">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9" name="TextBox 18"/>
          <p:cNvSpPr txBox="1"/>
          <p:nvPr/>
        </p:nvSpPr>
        <p:spPr>
          <a:xfrm>
            <a:off x="6858000" y="2697480"/>
            <a:ext cx="1463040" cy="731520"/>
          </a:xfrm>
          <a:prstGeom prst="rect">
            <a:avLst/>
          </a:prstGeom>
          <a:noFill/>
        </p:spPr>
        <p:txBody>
          <a:bodyPr wrap="square" anchor="t" lIns="0" rIns="0" tIns="0" bIns="0">
            <a:spAutoFit/>
          </a:bodyPr>
          <a:lstStyle/>
          <a:p>
            <a:pPr algn="l"/>
            <a:r>
              <a:rPr sz="1300" b="1" i="0">
                <a:solidFill>
                  <a:srgbClr val="48E84A"/>
                </a:solidFill>
                <a:latin typeface="Calibri"/>
              </a:rPr>
              <a:t>Expected</a:t>
            </a:r>
          </a:p>
        </p:txBody>
      </p:sp>
      <p:sp>
        <p:nvSpPr>
          <p:cNvPr id="20" name="TextBox 19"/>
          <p:cNvSpPr txBox="1"/>
          <p:nvPr/>
        </p:nvSpPr>
        <p:spPr>
          <a:xfrm>
            <a:off x="8138160" y="2660904"/>
            <a:ext cx="1645920" cy="822960"/>
          </a:xfrm>
          <a:prstGeom prst="rect">
            <a:avLst/>
          </a:prstGeom>
          <a:noFill/>
        </p:spPr>
        <p:txBody>
          <a:bodyPr wrap="square" anchor="t" lIns="0" rIns="0" tIns="0" bIns="0">
            <a:spAutoFit/>
          </a:bodyPr>
          <a:lstStyle/>
          <a:p>
            <a:pPr algn="l"/>
            <a:r>
              <a:rPr sz="2200" b="1" i="0">
                <a:solidFill>
                  <a:srgbClr val="FFFFFF"/>
                </a:solidFill>
                <a:latin typeface="Calibri"/>
              </a:rPr>
              <a:t>$700</a:t>
            </a:r>
          </a:p>
        </p:txBody>
      </p:sp>
      <p:sp>
        <p:nvSpPr>
          <p:cNvPr id="21" name="TextBox 20"/>
          <p:cNvSpPr txBox="1"/>
          <p:nvPr/>
        </p:nvSpPr>
        <p:spPr>
          <a:xfrm>
            <a:off x="9829800" y="2752344"/>
            <a:ext cx="1417320" cy="731520"/>
          </a:xfrm>
          <a:prstGeom prst="rect">
            <a:avLst/>
          </a:prstGeom>
          <a:noFill/>
        </p:spPr>
        <p:txBody>
          <a:bodyPr wrap="square" anchor="t" lIns="0" rIns="0" tIns="0" bIns="0">
            <a:spAutoFit/>
          </a:bodyPr>
          <a:lstStyle/>
          <a:p>
            <a:pPr algn="l"/>
            <a:r>
              <a:rPr sz="1100" b="0" i="0">
                <a:solidFill>
                  <a:srgbClr val="D5D5D5"/>
                </a:solidFill>
                <a:latin typeface="Calibri"/>
              </a:rPr>
              <a:t>steady</a:t>
            </a:r>
          </a:p>
        </p:txBody>
      </p:sp>
      <p:sp>
        <p:nvSpPr>
          <p:cNvPr id="22" name="Rounded Rectangle 21"/>
          <p:cNvSpPr/>
          <p:nvPr/>
        </p:nvSpPr>
        <p:spPr>
          <a:xfrm>
            <a:off x="6675120" y="3611880"/>
            <a:ext cx="4663440" cy="914400"/>
          </a:xfrm>
          <a:prstGeom prst="roundRect">
            <a:avLst/>
          </a:prstGeom>
          <a:solidFill>
            <a:srgbClr val="14161C"/>
          </a:solidFill>
          <a:ln w="1524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3" name="TextBox 22"/>
          <p:cNvSpPr txBox="1"/>
          <p:nvPr/>
        </p:nvSpPr>
        <p:spPr>
          <a:xfrm>
            <a:off x="6858000" y="3703320"/>
            <a:ext cx="1463040" cy="731520"/>
          </a:xfrm>
          <a:prstGeom prst="rect">
            <a:avLst/>
          </a:prstGeom>
          <a:noFill/>
        </p:spPr>
        <p:txBody>
          <a:bodyPr wrap="square" anchor="t" lIns="0" rIns="0" tIns="0" bIns="0">
            <a:spAutoFit/>
          </a:bodyPr>
          <a:lstStyle/>
          <a:p>
            <a:pPr algn="l"/>
            <a:r>
              <a:rPr sz="1300" b="1" i="0">
                <a:solidFill>
                  <a:srgbClr val="FE2579"/>
                </a:solidFill>
                <a:latin typeface="Calibri"/>
              </a:rPr>
              <a:t>High</a:t>
            </a:r>
          </a:p>
        </p:txBody>
      </p:sp>
      <p:sp>
        <p:nvSpPr>
          <p:cNvPr id="24" name="TextBox 23"/>
          <p:cNvSpPr txBox="1"/>
          <p:nvPr/>
        </p:nvSpPr>
        <p:spPr>
          <a:xfrm>
            <a:off x="8138160" y="3666744"/>
            <a:ext cx="1645920" cy="822960"/>
          </a:xfrm>
          <a:prstGeom prst="rect">
            <a:avLst/>
          </a:prstGeom>
          <a:noFill/>
        </p:spPr>
        <p:txBody>
          <a:bodyPr wrap="square" anchor="t" lIns="0" rIns="0" tIns="0" bIns="0">
            <a:spAutoFit/>
          </a:bodyPr>
          <a:lstStyle/>
          <a:p>
            <a:pPr algn="l"/>
            <a:r>
              <a:rPr sz="2200" b="1" i="0">
                <a:solidFill>
                  <a:srgbClr val="FFFFFF"/>
                </a:solidFill>
                <a:latin typeface="Calibri"/>
              </a:rPr>
              <a:t>$1,900</a:t>
            </a:r>
          </a:p>
        </p:txBody>
      </p:sp>
      <p:sp>
        <p:nvSpPr>
          <p:cNvPr id="25" name="TextBox 24"/>
          <p:cNvSpPr txBox="1"/>
          <p:nvPr/>
        </p:nvSpPr>
        <p:spPr>
          <a:xfrm>
            <a:off x="9829800" y="3758184"/>
            <a:ext cx="1417320" cy="731520"/>
          </a:xfrm>
          <a:prstGeom prst="rect">
            <a:avLst/>
          </a:prstGeom>
          <a:noFill/>
        </p:spPr>
        <p:txBody>
          <a:bodyPr wrap="square" anchor="t" lIns="0" rIns="0" tIns="0" bIns="0">
            <a:spAutoFit/>
          </a:bodyPr>
          <a:lstStyle/>
          <a:p>
            <a:pPr algn="l"/>
            <a:r>
              <a:rPr sz="1100" b="0" i="0">
                <a:solidFill>
                  <a:srgbClr val="D5D5D5"/>
                </a:solidFill>
                <a:latin typeface="Calibri"/>
              </a:rPr>
              <a:t>heavy regression</a:t>
            </a:r>
          </a:p>
        </p:txBody>
      </p:sp>
      <p:sp>
        <p:nvSpPr>
          <p:cNvPr id="26" name="TextBox 25"/>
          <p:cNvSpPr txBox="1"/>
          <p:nvPr/>
        </p:nvSpPr>
        <p:spPr>
          <a:xfrm>
            <a:off x="6675120" y="4709160"/>
            <a:ext cx="4663440" cy="320040"/>
          </a:xfrm>
          <a:prstGeom prst="rect">
            <a:avLst/>
          </a:prstGeom>
          <a:noFill/>
        </p:spPr>
        <p:txBody>
          <a:bodyPr wrap="square" anchor="t" lIns="0" rIns="0" tIns="0" bIns="0">
            <a:spAutoFit/>
          </a:bodyPr>
          <a:lstStyle/>
          <a:p>
            <a:pPr algn="l"/>
            <a:r>
              <a:rPr sz="1300" b="1" i="0">
                <a:solidFill>
                  <a:srgbClr val="FED038"/>
                </a:solidFill>
                <a:latin typeface="Calibri"/>
              </a:rPr>
              <a:t>Optimization levers</a:t>
            </a:r>
          </a:p>
        </p:txBody>
      </p:sp>
      <p:sp>
        <p:nvSpPr>
          <p:cNvPr id="27" name="TextBox 26"/>
          <p:cNvSpPr txBox="1"/>
          <p:nvPr/>
        </p:nvSpPr>
        <p:spPr>
          <a:xfrm>
            <a:off x="6675120" y="5029200"/>
            <a:ext cx="4663440" cy="1280160"/>
          </a:xfrm>
          <a:prstGeom prst="rect">
            <a:avLst/>
          </a:prstGeom>
          <a:noFill/>
        </p:spPr>
        <p:txBody>
          <a:bodyPr wrap="square" lIns="0" tIns="0">
            <a:spAutoFit/>
          </a:bodyPr>
          <a:lstStyle/>
          <a:p>
            <a:pPr algn="l">
              <a:spcAft>
                <a:spcPts val="500"/>
              </a:spcAft>
            </a:pPr>
            <a:r>
              <a:rPr sz="1100" b="1">
                <a:solidFill>
                  <a:srgbClr val="2ACCFF"/>
                </a:solidFill>
                <a:latin typeface="Calibri"/>
              </a:rPr>
              <a:t>▸ </a:t>
            </a:r>
            <a:r>
              <a:rPr sz="1100">
                <a:solidFill>
                  <a:srgbClr val="FFFFFF"/>
                </a:solidFill>
                <a:latin typeface="Calibri"/>
              </a:rPr>
              <a:t>Cache eval results; run judges only on changes</a:t>
            </a:r>
          </a:p>
          <a:p>
            <a:pPr algn="l">
              <a:spcAft>
                <a:spcPts val="500"/>
              </a:spcAft>
            </a:pPr>
            <a:r>
              <a:rPr sz="1100" b="1">
                <a:solidFill>
                  <a:srgbClr val="2ACCFF"/>
                </a:solidFill>
                <a:latin typeface="Calibri"/>
              </a:rPr>
              <a:t>▸ </a:t>
            </a:r>
            <a:r>
              <a:rPr sz="1100">
                <a:solidFill>
                  <a:srgbClr val="FFFFFF"/>
                </a:solidFill>
                <a:latin typeface="Calibri"/>
              </a:rPr>
              <a:t>Bound refinement escalations (deck 03/09)</a:t>
            </a:r>
          </a:p>
          <a:p>
            <a:pPr algn="l">
              <a:spcAft>
                <a:spcPts val="500"/>
              </a:spcAft>
            </a:pPr>
            <a:r>
              <a:rPr sz="1100" b="1">
                <a:solidFill>
                  <a:srgbClr val="2ACCFF"/>
                </a:solidFill>
                <a:latin typeface="Calibri"/>
              </a:rPr>
              <a:t>▸ </a:t>
            </a:r>
            <a:r>
              <a:rPr sz="1100">
                <a:solidFill>
                  <a:srgbClr val="FFFFFF"/>
                </a:solidFill>
                <a:latin typeface="Calibri"/>
              </a:rPr>
              <a:t>Right-size CI concurrency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per request / workflow / outcome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doc 26 §76–79</a:t>
            </a:r>
          </a:p>
        </p:txBody>
      </p:sp>
      <p:sp>
        <p:nvSpPr>
          <p:cNvPr id="4" name="Rounded Rectangle 3"/>
          <p:cNvSpPr/>
          <p:nvPr/>
        </p:nvSpPr>
        <p:spPr>
          <a:xfrm>
            <a:off x="822960" y="1920240"/>
            <a:ext cx="2430018" cy="1828800"/>
          </a:xfrm>
          <a:prstGeom prst="roundRect">
            <a:avLst/>
          </a:prstGeom>
          <a:solidFill>
            <a:srgbClr val="14161C"/>
          </a:solidFill>
          <a:ln w="15875">
            <a:solidFill>
              <a:srgbClr val="9A9A9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05840" y="2121408"/>
            <a:ext cx="2064257" cy="822960"/>
          </a:xfrm>
          <a:prstGeom prst="rect">
            <a:avLst/>
          </a:prstGeom>
          <a:noFill/>
        </p:spPr>
        <p:txBody>
          <a:bodyPr wrap="square" anchor="t" lIns="0" rIns="0" tIns="0" bIns="0">
            <a:spAutoFit/>
          </a:bodyPr>
          <a:lstStyle/>
          <a:p>
            <a:pPr algn="l"/>
            <a:r>
              <a:rPr sz="2200" b="1" i="0">
                <a:solidFill>
                  <a:srgbClr val="9A9A9A"/>
                </a:solidFill>
                <a:latin typeface="Calibri"/>
              </a:rPr>
              <a:t>Per request</a:t>
            </a:r>
          </a:p>
        </p:txBody>
      </p:sp>
      <p:sp>
        <p:nvSpPr>
          <p:cNvPr id="6" name="TextBox 5"/>
          <p:cNvSpPr txBox="1"/>
          <p:nvPr/>
        </p:nvSpPr>
        <p:spPr>
          <a:xfrm>
            <a:off x="1005840"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narrow view — misleading for agents</a:t>
            </a:r>
          </a:p>
        </p:txBody>
      </p:sp>
      <p:sp>
        <p:nvSpPr>
          <p:cNvPr id="7" name="Rounded Rectangle 6"/>
          <p:cNvSpPr/>
          <p:nvPr/>
        </p:nvSpPr>
        <p:spPr>
          <a:xfrm>
            <a:off x="3527297" y="1920240"/>
            <a:ext cx="2430018" cy="1828800"/>
          </a:xfrm>
          <a:prstGeom prst="roundRect">
            <a:avLst/>
          </a:prstGeom>
          <a:solidFill>
            <a:srgbClr val="14161C"/>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8" name="TextBox 7"/>
          <p:cNvSpPr txBox="1"/>
          <p:nvPr/>
        </p:nvSpPr>
        <p:spPr>
          <a:xfrm>
            <a:off x="3710177" y="2121408"/>
            <a:ext cx="2064257" cy="822960"/>
          </a:xfrm>
          <a:prstGeom prst="rect">
            <a:avLst/>
          </a:prstGeom>
          <a:noFill/>
        </p:spPr>
        <p:txBody>
          <a:bodyPr wrap="square" anchor="t" lIns="0" rIns="0" tIns="0" bIns="0">
            <a:spAutoFit/>
          </a:bodyPr>
          <a:lstStyle/>
          <a:p>
            <a:pPr algn="l"/>
            <a:r>
              <a:rPr sz="2200" b="1" i="0">
                <a:solidFill>
                  <a:srgbClr val="2ACCFF"/>
                </a:solidFill>
                <a:latin typeface="Calibri"/>
              </a:rPr>
              <a:t>Per workflow</a:t>
            </a:r>
          </a:p>
        </p:txBody>
      </p:sp>
      <p:sp>
        <p:nvSpPr>
          <p:cNvPr id="9" name="TextBox 8"/>
          <p:cNvSpPr txBox="1"/>
          <p:nvPr/>
        </p:nvSpPr>
        <p:spPr>
          <a:xfrm>
            <a:off x="3710177"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multi-agent, multi-API, RAG, SLM</a:t>
            </a:r>
          </a:p>
        </p:txBody>
      </p:sp>
      <p:sp>
        <p:nvSpPr>
          <p:cNvPr id="10" name="Rounded Rectangle 9"/>
          <p:cNvSpPr/>
          <p:nvPr/>
        </p:nvSpPr>
        <p:spPr>
          <a:xfrm>
            <a:off x="6231636" y="1920240"/>
            <a:ext cx="2430018" cy="1828800"/>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1" name="TextBox 10"/>
          <p:cNvSpPr txBox="1"/>
          <p:nvPr/>
        </p:nvSpPr>
        <p:spPr>
          <a:xfrm>
            <a:off x="6414516" y="2121408"/>
            <a:ext cx="2064257" cy="822960"/>
          </a:xfrm>
          <a:prstGeom prst="rect">
            <a:avLst/>
          </a:prstGeom>
          <a:noFill/>
        </p:spPr>
        <p:txBody>
          <a:bodyPr wrap="square" anchor="t" lIns="0" rIns="0" tIns="0" bIns="0">
            <a:spAutoFit/>
          </a:bodyPr>
          <a:lstStyle/>
          <a:p>
            <a:pPr algn="l"/>
            <a:r>
              <a:rPr sz="2200" b="1" i="0">
                <a:solidFill>
                  <a:srgbClr val="48E84A"/>
                </a:solidFill>
                <a:latin typeface="Calibri"/>
              </a:rPr>
              <a:t>Per outcome</a:t>
            </a:r>
          </a:p>
        </p:txBody>
      </p:sp>
      <p:sp>
        <p:nvSpPr>
          <p:cNvPr id="12" name="TextBox 11"/>
          <p:cNvSpPr txBox="1"/>
          <p:nvPr/>
        </p:nvSpPr>
        <p:spPr>
          <a:xfrm>
            <a:off x="6414516"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per successful affiliation — the true unit</a:t>
            </a:r>
          </a:p>
        </p:txBody>
      </p:sp>
      <p:sp>
        <p:nvSpPr>
          <p:cNvPr id="13" name="Rounded Rectangle 12"/>
          <p:cNvSpPr/>
          <p:nvPr/>
        </p:nvSpPr>
        <p:spPr>
          <a:xfrm>
            <a:off x="8935974" y="1920240"/>
            <a:ext cx="2430018" cy="1828800"/>
          </a:xfrm>
          <a:prstGeom prst="roundRect">
            <a:avLst/>
          </a:prstGeom>
          <a:solidFill>
            <a:srgbClr val="14161C"/>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4" name="TextBox 13"/>
          <p:cNvSpPr txBox="1"/>
          <p:nvPr/>
        </p:nvSpPr>
        <p:spPr>
          <a:xfrm>
            <a:off x="9118853" y="2121408"/>
            <a:ext cx="2064257" cy="822960"/>
          </a:xfrm>
          <a:prstGeom prst="rect">
            <a:avLst/>
          </a:prstGeom>
          <a:noFill/>
        </p:spPr>
        <p:txBody>
          <a:bodyPr wrap="square" anchor="t" lIns="0" rIns="0" tIns="0" bIns="0">
            <a:spAutoFit/>
          </a:bodyPr>
          <a:lstStyle/>
          <a:p>
            <a:pPr algn="l"/>
            <a:r>
              <a:rPr sz="2200" b="1" i="0">
                <a:solidFill>
                  <a:srgbClr val="0283FF"/>
                </a:solidFill>
                <a:latin typeface="Calibri"/>
              </a:rPr>
              <a:t>Per club/org</a:t>
            </a:r>
          </a:p>
        </p:txBody>
      </p:sp>
      <p:sp>
        <p:nvSpPr>
          <p:cNvPr id="15" name="TextBox 14"/>
          <p:cNvSpPr txBox="1"/>
          <p:nvPr/>
        </p:nvSpPr>
        <p:spPr>
          <a:xfrm>
            <a:off x="9118853" y="2852928"/>
            <a:ext cx="2064257" cy="822959"/>
          </a:xfrm>
          <a:prstGeom prst="rect">
            <a:avLst/>
          </a:prstGeom>
          <a:noFill/>
        </p:spPr>
        <p:txBody>
          <a:bodyPr wrap="square" anchor="t" lIns="0" rIns="0" tIns="0" bIns="0">
            <a:spAutoFit/>
          </a:bodyPr>
          <a:lstStyle/>
          <a:p>
            <a:pPr algn="l"/>
            <a:r>
              <a:rPr sz="1200" b="0" i="0">
                <a:solidFill>
                  <a:srgbClr val="D5D5D5"/>
                </a:solidFill>
                <a:latin typeface="Calibri"/>
              </a:rPr>
              <a:t>where permitted, access-controlled</a:t>
            </a:r>
          </a:p>
        </p:txBody>
      </p:sp>
      <p:sp>
        <p:nvSpPr>
          <p:cNvPr id="16" name="TextBox 15"/>
          <p:cNvSpPr txBox="1"/>
          <p:nvPr/>
        </p:nvSpPr>
        <p:spPr>
          <a:xfrm>
            <a:off x="822960" y="4114800"/>
            <a:ext cx="10515600" cy="914400"/>
          </a:xfrm>
          <a:prstGeom prst="rect">
            <a:avLst/>
          </a:prstGeom>
          <a:noFill/>
        </p:spPr>
        <p:txBody>
          <a:bodyPr wrap="square" anchor="t" lIns="0" rIns="0" tIns="0" bIns="0">
            <a:spAutoFit/>
          </a:bodyPr>
          <a:lstStyle/>
          <a:p>
            <a:pPr algn="l"/>
            <a:r>
              <a:rPr sz="1500" b="0" i="0">
                <a:solidFill>
                  <a:srgbClr val="D5D5D5"/>
                </a:solidFill>
                <a:latin typeface="Calibri"/>
              </a:rPr>
              <a:t>A single affiliation workflow may span multiple agents, enterprise API calls, RAG queries and model calls — so cost-per-successful-affiliation is the metric that matters.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controls &amp; guardrails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doc 26 §90–98</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Budgets &amp; alerts</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Budgets per month / environment / workflow / model / evaluation.</a:t>
            </a:r>
          </a:p>
          <a:p>
            <a:pPr algn="l">
              <a:spcAft>
                <a:spcPts val="1200"/>
              </a:spcAft>
            </a:pPr>
            <a:r>
              <a:rPr sz="1500" b="1">
                <a:solidFill>
                  <a:srgbClr val="2ACCFF"/>
                </a:solidFill>
                <a:latin typeface="Calibri"/>
              </a:rPr>
              <a:t>▸ </a:t>
            </a:r>
            <a:r>
              <a:rPr sz="1500">
                <a:solidFill>
                  <a:srgbClr val="FFFFFF"/>
                </a:solidFill>
                <a:latin typeface="Calibri"/>
              </a:rPr>
              <a:t>Alerts at 50 / 75 / 90 / 100 %.</a:t>
            </a:r>
          </a:p>
          <a:p>
            <a:pPr algn="l">
              <a:spcAft>
                <a:spcPts val="1200"/>
              </a:spcAft>
            </a:pPr>
            <a:r>
              <a:rPr sz="1500" b="1">
                <a:solidFill>
                  <a:srgbClr val="2ACCFF"/>
                </a:solidFill>
                <a:latin typeface="Calibri"/>
              </a:rPr>
              <a:t>▸ </a:t>
            </a:r>
            <a:r>
              <a:rPr sz="1500">
                <a:solidFill>
                  <a:srgbClr val="FFFFFF"/>
                </a:solidFill>
                <a:latin typeface="Calibri"/>
              </a:rPr>
              <a:t>Cost anomaly detection (token/GPU/API spikes).</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Cost guardrails &amp; routing</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Max tokens/model-calls/tool-calls/retries per workflow.</a:t>
            </a:r>
          </a:p>
          <a:p>
            <a:pPr algn="l">
              <a:spcAft>
                <a:spcPts val="1200"/>
              </a:spcAft>
            </a:pPr>
            <a:r>
              <a:rPr sz="1500" b="1">
                <a:solidFill>
                  <a:srgbClr val="2ACCFF"/>
                </a:solidFill>
                <a:latin typeface="Calibri"/>
              </a:rPr>
              <a:t>▸ </a:t>
            </a:r>
            <a:r>
              <a:rPr sz="1500">
                <a:solidFill>
                  <a:srgbClr val="FFFFFF"/>
                </a:solidFill>
                <a:latin typeface="Calibri"/>
              </a:rPr>
              <a:t>On budget breach: stop · degrade · route to cheaper approved model.</a:t>
            </a:r>
          </a:p>
          <a:p>
            <a:pPr algn="l">
              <a:spcAft>
                <a:spcPts val="1200"/>
              </a:spcAft>
            </a:pPr>
            <a:r>
              <a:rPr sz="1500" b="1">
                <a:solidFill>
                  <a:srgbClr val="2ACCFF"/>
                </a:solidFill>
                <a:latin typeface="Calibri"/>
              </a:rPr>
              <a:t>▸ </a:t>
            </a:r>
            <a:r>
              <a:rPr sz="1500">
                <a:solidFill>
                  <a:srgbClr val="FFFFFF"/>
                </a:solidFill>
                <a:latin typeface="Calibri"/>
              </a:rPr>
              <a:t>Model routing optimises cost, latency &amp; quality together.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rollup — indicative monthly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Indicative · Azure UK South (indicative) · USD (indicative list price, ex-VAT) · 2026-09-08 · verify with FinOps</a:t>
            </a:r>
          </a:p>
        </p:txBody>
      </p:sp>
      <p:graphicFrame>
        <p:nvGraphicFramePr>
          <p:cNvPr id="4" name="Table 3"/>
          <p:cNvGraphicFramePr>
            <a:graphicFrameLocks noGrp="1"/>
          </p:cNvGraphicFramePr>
          <p:nvPr/>
        </p:nvGraphicFramePr>
        <p:xfrm>
          <a:off x="822960" y="1783080"/>
          <a:ext cx="10515600" cy="1828800"/>
        </p:xfrm>
        <a:graphic>
          <a:graphicData uri="http://schemas.openxmlformats.org/drawingml/2006/table">
            <a:tbl>
              <a:tblPr firstRow="1">
                <a:tableStyleId>{5C22544A-7EE6-4342-B048-85BDC9FD1C3A}</a:tableStyleId>
              </a:tblPr>
              <a:tblGrid>
                <a:gridCol w="1828800"/>
                <a:gridCol w="5486400"/>
                <a:gridCol w="3200400"/>
              </a:tblGrid>
              <a:tr h="457200">
                <a:tc>
                  <a:txBody>
                    <a:bodyPr wrap="square"/>
                    <a:lstStyle/>
                    <a:p>
                      <a:r>
                        <a:rPr sz="1400" b="1">
                          <a:solidFill>
                            <a:srgbClr val="FFFFFF"/>
                          </a:solidFill>
                          <a:latin typeface="Calibri"/>
                        </a:rPr>
                        <a:t>Scenario</a:t>
                      </a:r>
                    </a:p>
                  </a:txBody>
                  <a:tcPr marL="63500" marR="63500" marT="25400" marB="25400" anchor="ctr">
                    <a:solidFill>
                      <a:srgbClr val="7F19BE"/>
                    </a:solidFill>
                  </a:tcPr>
                </a:tc>
                <a:tc>
                  <a:txBody>
                    <a:bodyPr wrap="square"/>
                    <a:lstStyle/>
                    <a:p>
                      <a:r>
                        <a:rPr sz="1400" b="1">
                          <a:solidFill>
                            <a:srgbClr val="FFFFFF"/>
                          </a:solidFill>
                          <a:latin typeface="Calibri"/>
                        </a:rPr>
                        <a:t>Profile</a:t>
                      </a:r>
                    </a:p>
                  </a:txBody>
                  <a:tcPr marL="63500" marR="63500" marT="25400" marB="25400" anchor="ctr">
                    <a:solidFill>
                      <a:srgbClr val="7F19BE"/>
                    </a:solidFill>
                  </a:tcPr>
                </a:tc>
                <a:tc>
                  <a:txBody>
                    <a:bodyPr wrap="square"/>
                    <a:lstStyle/>
                    <a:p>
                      <a:r>
                        <a:rPr sz="1400" b="1">
                          <a:solidFill>
                            <a:srgbClr val="FFFFFF"/>
                          </a:solidFill>
                          <a:latin typeface="Calibri"/>
                        </a:rPr>
                        <a:t>Indicative total / month</a:t>
                      </a:r>
                    </a:p>
                  </a:txBody>
                  <a:tcPr marL="63500" marR="63500" marT="25400" marB="25400" anchor="ctr">
                    <a:solidFill>
                      <a:srgbClr val="7F19BE"/>
                    </a:solidFill>
                  </a:tcPr>
                </a:tc>
              </a:tr>
              <a:tr h="457200">
                <a:tc>
                  <a:txBody>
                    <a:bodyPr wrap="square"/>
                    <a:lstStyle/>
                    <a:p>
                      <a:r>
                        <a:rPr sz="1400" b="1">
                          <a:solidFill>
                            <a:srgbClr val="FFFFFF"/>
                          </a:solidFill>
                          <a:latin typeface="Calibri"/>
                        </a:rPr>
                        <a:t>Low</a:t>
                      </a:r>
                    </a:p>
                  </a:txBody>
                  <a:tcPr marL="63500" marR="63500" marT="25400" marB="25400" anchor="ctr">
                    <a:solidFill>
                      <a:srgbClr val="14161C"/>
                    </a:solidFill>
                  </a:tcPr>
                </a:tc>
                <a:tc>
                  <a:txBody>
                    <a:bodyPr wrap="square"/>
                    <a:lstStyle/>
                    <a:p>
                      <a:r>
                        <a:rPr sz="1400" b="0">
                          <a:solidFill>
                            <a:srgbClr val="D5D5D5"/>
                          </a:solidFill>
                          <a:latin typeface="Calibri"/>
                        </a:rPr>
                        <a:t>pilot · hosted SLM · minimal infra</a:t>
                      </a:r>
                    </a:p>
                  </a:txBody>
                  <a:tcPr marL="63500" marR="63500" marT="25400" marB="25400" anchor="ctr">
                    <a:solidFill>
                      <a:srgbClr val="14161C"/>
                    </a:solidFill>
                  </a:tcPr>
                </a:tc>
                <a:tc>
                  <a:txBody>
                    <a:bodyPr wrap="square"/>
                    <a:lstStyle/>
                    <a:p>
                      <a:r>
                        <a:rPr sz="1400" b="0">
                          <a:solidFill>
                            <a:srgbClr val="D5D5D5"/>
                          </a:solidFill>
                          <a:latin typeface="Calibri"/>
                        </a:rPr>
                        <a:t>$1,475</a:t>
                      </a:r>
                    </a:p>
                  </a:txBody>
                  <a:tcPr marL="63500" marR="63500" marT="25400" marB="25400" anchor="ctr">
                    <a:solidFill>
                      <a:srgbClr val="14161C"/>
                    </a:solidFill>
                  </a:tcPr>
                </a:tc>
              </a:tr>
              <a:tr h="457200">
                <a:tc>
                  <a:txBody>
                    <a:bodyPr wrap="square"/>
                    <a:lstStyle/>
                    <a:p>
                      <a:r>
                        <a:rPr sz="1400" b="1">
                          <a:solidFill>
                            <a:srgbClr val="FFFFFF"/>
                          </a:solidFill>
                          <a:latin typeface="Calibri"/>
                        </a:rPr>
                        <a:t>Expected</a:t>
                      </a:r>
                    </a:p>
                  </a:txBody>
                  <a:tcPr marL="63500" marR="63500" marT="25400" marB="25400" anchor="ctr">
                    <a:solidFill>
                      <a:srgbClr val="1E222B"/>
                    </a:solidFill>
                  </a:tcPr>
                </a:tc>
                <a:tc>
                  <a:txBody>
                    <a:bodyPr wrap="square"/>
                    <a:lstStyle/>
                    <a:p>
                      <a:r>
                        <a:rPr sz="1400" b="0">
                          <a:solidFill>
                            <a:srgbClr val="D5D5D5"/>
                          </a:solidFill>
                          <a:latin typeface="Calibri"/>
                        </a:rPr>
                        <a:t>production season · self-hosted SLM</a:t>
                      </a:r>
                    </a:p>
                  </a:txBody>
                  <a:tcPr marL="63500" marR="63500" marT="25400" marB="25400" anchor="ctr">
                    <a:solidFill>
                      <a:srgbClr val="1E222B"/>
                    </a:solidFill>
                  </a:tcPr>
                </a:tc>
                <a:tc>
                  <a:txBody>
                    <a:bodyPr wrap="square"/>
                    <a:lstStyle/>
                    <a:p>
                      <a:r>
                        <a:rPr sz="1400" b="0">
                          <a:solidFill>
                            <a:srgbClr val="D5D5D5"/>
                          </a:solidFill>
                          <a:latin typeface="Calibri"/>
                        </a:rPr>
                        <a:t>$6,370</a:t>
                      </a:r>
                    </a:p>
                  </a:txBody>
                  <a:tcPr marL="63500" marR="63500" marT="25400" marB="25400" anchor="ctr">
                    <a:solidFill>
                      <a:srgbClr val="1E222B"/>
                    </a:solidFill>
                  </a:tcPr>
                </a:tc>
              </a:tr>
              <a:tr h="457200">
                <a:tc>
                  <a:txBody>
                    <a:bodyPr wrap="square"/>
                    <a:lstStyle/>
                    <a:p>
                      <a:r>
                        <a:rPr sz="1400" b="1">
                          <a:solidFill>
                            <a:srgbClr val="FFFFFF"/>
                          </a:solidFill>
                          <a:latin typeface="Calibri"/>
                        </a:rPr>
                        <a:t>High</a:t>
                      </a:r>
                    </a:p>
                  </a:txBody>
                  <a:tcPr marL="63500" marR="63500" marT="25400" marB="25400" anchor="ctr">
                    <a:solidFill>
                      <a:srgbClr val="14161C"/>
                    </a:solidFill>
                  </a:tcPr>
                </a:tc>
                <a:tc>
                  <a:txBody>
                    <a:bodyPr wrap="square"/>
                    <a:lstStyle/>
                    <a:p>
                      <a:r>
                        <a:rPr sz="1400" b="0">
                          <a:solidFill>
                            <a:srgbClr val="D5D5D5"/>
                          </a:solidFill>
                          <a:latin typeface="Calibri"/>
                        </a:rPr>
                        <a:t>peak window · GPU HA · full observability</a:t>
                      </a:r>
                    </a:p>
                  </a:txBody>
                  <a:tcPr marL="63500" marR="63500" marT="25400" marB="25400" anchor="ctr">
                    <a:solidFill>
                      <a:srgbClr val="14161C"/>
                    </a:solidFill>
                  </a:tcPr>
                </a:tc>
                <a:tc>
                  <a:txBody>
                    <a:bodyPr wrap="square"/>
                    <a:lstStyle/>
                    <a:p>
                      <a:r>
                        <a:rPr sz="1400" b="0">
                          <a:solidFill>
                            <a:srgbClr val="D5D5D5"/>
                          </a:solidFill>
                          <a:latin typeface="Calibri"/>
                        </a:rPr>
                        <a:t>$14,672</a:t>
                      </a:r>
                    </a:p>
                  </a:txBody>
                  <a:tcPr marL="63500" marR="63500" marT="25400" marB="25400" anchor="ctr">
                    <a:solidFill>
                      <a:srgbClr val="14161C"/>
                    </a:solidFill>
                  </a:tcPr>
                </a:tc>
              </a:tr>
            </a:tbl>
          </a:graphicData>
        </a:graphic>
      </p:graphicFrame>
      <p:sp>
        <p:nvSpPr>
          <p:cNvPr id="5" name="TextBox 4"/>
          <p:cNvSpPr txBox="1"/>
          <p:nvPr/>
        </p:nvSpPr>
        <p:spPr>
          <a:xfrm>
            <a:off x="822960" y="3840480"/>
            <a:ext cx="10515600" cy="1097280"/>
          </a:xfrm>
          <a:prstGeom prst="rect">
            <a:avLst/>
          </a:prstGeom>
          <a:noFill/>
        </p:spPr>
        <p:txBody>
          <a:bodyPr wrap="square" anchor="t" lIns="0" rIns="0" tIns="0" bIns="0">
            <a:spAutoFit/>
          </a:bodyPr>
          <a:lstStyle/>
          <a:p>
            <a:pPr algn="l"/>
            <a:r>
              <a:rPr sz="1400" b="0" i="0">
                <a:solidFill>
                  <a:srgbClr val="D5D5D5"/>
                </a:solidFill>
                <a:latin typeface="Calibri"/>
              </a:rPr>
              <a:t>Totals are the sum of the per-technology lines. SLM/GPU dominates the Expected and High scenarios — the single biggest lever, and the reason the vLLM decision (deck 09) matters for cost.</a:t>
            </a:r>
          </a:p>
        </p:txBody>
      </p:sp>
      <p:sp>
        <p:nvSpPr>
          <p:cNvPr id="6" name="TextBox 5"/>
          <p:cNvSpPr txBox="1"/>
          <p:nvPr/>
        </p:nvSpPr>
        <p:spPr>
          <a:xfrm>
            <a:off x="822960" y="6126480"/>
            <a:ext cx="10515600" cy="365760"/>
          </a:xfrm>
          <a:prstGeom prst="rect">
            <a:avLst/>
          </a:prstGeom>
          <a:noFill/>
        </p:spPr>
        <p:txBody>
          <a:bodyPr wrap="square" anchor="t" lIns="0" rIns="0" tIns="0" bIns="0">
            <a:spAutoFit/>
          </a:bodyPr>
          <a:lstStyle/>
          <a:p>
            <a:pPr algn="l"/>
            <a:r>
              <a:rPr sz="1200" b="1" i="0">
                <a:solidFill>
                  <a:srgbClr val="FED038"/>
                </a:solidFill>
                <a:latin typeface="Calibri"/>
              </a:rPr>
              <a:t>Not a quote. USD indicative list, ex-VAT — convert to GBP and add VAT with FinOps.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monthly cost by technology</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Indicative · Azure UK South (indicative) · USD (indicative list price, ex-VAT) · 2026-09-08 · verify with FinOps</a:t>
            </a:r>
          </a:p>
        </p:txBody>
      </p:sp>
      <p:sp>
        <p:nvSpPr>
          <p:cNvPr id="4" name="TextBox 3"/>
          <p:cNvSpPr txBox="1"/>
          <p:nvPr/>
        </p:nvSpPr>
        <p:spPr>
          <a:xfrm>
            <a:off x="548640" y="1764792"/>
            <a:ext cx="2651760" cy="457200"/>
          </a:xfrm>
          <a:prstGeom prst="rect">
            <a:avLst/>
          </a:prstGeom>
          <a:noFill/>
        </p:spPr>
        <p:txBody>
          <a:bodyPr wrap="square" anchor="t" lIns="0" rIns="0" tIns="0" bIns="0">
            <a:spAutoFit/>
          </a:bodyPr>
          <a:lstStyle/>
          <a:p>
            <a:pPr algn="l"/>
            <a:r>
              <a:rPr sz="1050" b="0" i="0">
                <a:solidFill>
                  <a:srgbClr val="D5D5D5"/>
                </a:solidFill>
                <a:latin typeface="Calibri"/>
              </a:rPr>
              <a:t>SLM</a:t>
            </a:r>
          </a:p>
        </p:txBody>
      </p:sp>
      <p:sp>
        <p:nvSpPr>
          <p:cNvPr id="5" name="Rectangle 4"/>
          <p:cNvSpPr/>
          <p:nvPr/>
        </p:nvSpPr>
        <p:spPr>
          <a:xfrm>
            <a:off x="3291840" y="1819656"/>
            <a:ext cx="7498079"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10881359" y="1764792"/>
            <a:ext cx="1280160" cy="457200"/>
          </a:xfrm>
          <a:prstGeom prst="rect">
            <a:avLst/>
          </a:prstGeom>
          <a:noFill/>
        </p:spPr>
        <p:txBody>
          <a:bodyPr wrap="square" anchor="t" lIns="0" rIns="0" tIns="0" bIns="0">
            <a:spAutoFit/>
          </a:bodyPr>
          <a:lstStyle/>
          <a:p>
            <a:pPr algn="l"/>
            <a:r>
              <a:rPr sz="1050" b="1" i="0">
                <a:solidFill>
                  <a:srgbClr val="FFFFFF"/>
                </a:solidFill>
                <a:latin typeface="Calibri"/>
              </a:rPr>
              <a:t>$2,680</a:t>
            </a:r>
          </a:p>
        </p:txBody>
      </p:sp>
      <p:sp>
        <p:nvSpPr>
          <p:cNvPr id="7" name="TextBox 6"/>
          <p:cNvSpPr txBox="1"/>
          <p:nvPr/>
        </p:nvSpPr>
        <p:spPr>
          <a:xfrm>
            <a:off x="548640" y="2221992"/>
            <a:ext cx="2651760" cy="457200"/>
          </a:xfrm>
          <a:prstGeom prst="rect">
            <a:avLst/>
          </a:prstGeom>
          <a:noFill/>
        </p:spPr>
        <p:txBody>
          <a:bodyPr wrap="square" anchor="t" lIns="0" rIns="0" tIns="0" bIns="0">
            <a:spAutoFit/>
          </a:bodyPr>
          <a:lstStyle/>
          <a:p>
            <a:pPr algn="l"/>
            <a:r>
              <a:rPr sz="1050" b="0" i="0">
                <a:solidFill>
                  <a:srgbClr val="D5D5D5"/>
                </a:solidFill>
                <a:latin typeface="Calibri"/>
              </a:rPr>
              <a:t>Embedding</a:t>
            </a:r>
          </a:p>
        </p:txBody>
      </p:sp>
      <p:sp>
        <p:nvSpPr>
          <p:cNvPr id="8" name="Rectangle 7"/>
          <p:cNvSpPr/>
          <p:nvPr/>
        </p:nvSpPr>
        <p:spPr>
          <a:xfrm>
            <a:off x="3291840" y="2276856"/>
            <a:ext cx="559558"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9" name="TextBox 8"/>
          <p:cNvSpPr txBox="1"/>
          <p:nvPr/>
        </p:nvSpPr>
        <p:spPr>
          <a:xfrm>
            <a:off x="3942838" y="2221992"/>
            <a:ext cx="1280160" cy="457200"/>
          </a:xfrm>
          <a:prstGeom prst="rect">
            <a:avLst/>
          </a:prstGeom>
          <a:noFill/>
        </p:spPr>
        <p:txBody>
          <a:bodyPr wrap="square" anchor="t" lIns="0" rIns="0" tIns="0" bIns="0">
            <a:spAutoFit/>
          </a:bodyPr>
          <a:lstStyle/>
          <a:p>
            <a:pPr algn="l"/>
            <a:r>
              <a:rPr sz="1050" b="1" i="0">
                <a:solidFill>
                  <a:srgbClr val="FFFFFF"/>
                </a:solidFill>
                <a:latin typeface="Calibri"/>
              </a:rPr>
              <a:t>$200</a:t>
            </a:r>
          </a:p>
        </p:txBody>
      </p:sp>
      <p:sp>
        <p:nvSpPr>
          <p:cNvPr id="10" name="TextBox 9"/>
          <p:cNvSpPr txBox="1"/>
          <p:nvPr/>
        </p:nvSpPr>
        <p:spPr>
          <a:xfrm>
            <a:off x="548640" y="2679192"/>
            <a:ext cx="2651760" cy="457200"/>
          </a:xfrm>
          <a:prstGeom prst="rect">
            <a:avLst/>
          </a:prstGeom>
          <a:noFill/>
        </p:spPr>
        <p:txBody>
          <a:bodyPr wrap="square" anchor="t" lIns="0" rIns="0" tIns="0" bIns="0">
            <a:spAutoFit/>
          </a:bodyPr>
          <a:lstStyle/>
          <a:p>
            <a:pPr algn="l"/>
            <a:r>
              <a:rPr sz="1050" b="0" i="0">
                <a:solidFill>
                  <a:srgbClr val="D5D5D5"/>
                </a:solidFill>
                <a:latin typeface="Calibri"/>
              </a:rPr>
              <a:t>Vector (AI Search)</a:t>
            </a:r>
          </a:p>
        </p:txBody>
      </p:sp>
      <p:sp>
        <p:nvSpPr>
          <p:cNvPr id="11" name="Rectangle 10"/>
          <p:cNvSpPr/>
          <p:nvPr/>
        </p:nvSpPr>
        <p:spPr>
          <a:xfrm>
            <a:off x="3291840" y="2734056"/>
            <a:ext cx="1370917"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2" name="TextBox 11"/>
          <p:cNvSpPr txBox="1"/>
          <p:nvPr/>
        </p:nvSpPr>
        <p:spPr>
          <a:xfrm>
            <a:off x="4754197" y="2679192"/>
            <a:ext cx="1280160" cy="457200"/>
          </a:xfrm>
          <a:prstGeom prst="rect">
            <a:avLst/>
          </a:prstGeom>
          <a:noFill/>
        </p:spPr>
        <p:txBody>
          <a:bodyPr wrap="square" anchor="t" lIns="0" rIns="0" tIns="0" bIns="0">
            <a:spAutoFit/>
          </a:bodyPr>
          <a:lstStyle/>
          <a:p>
            <a:pPr algn="l"/>
            <a:r>
              <a:rPr sz="1050" b="1" i="0">
                <a:solidFill>
                  <a:srgbClr val="FFFFFF"/>
                </a:solidFill>
                <a:latin typeface="Calibri"/>
              </a:rPr>
              <a:t>$490</a:t>
            </a:r>
          </a:p>
        </p:txBody>
      </p:sp>
      <p:sp>
        <p:nvSpPr>
          <p:cNvPr id="13" name="TextBox 12"/>
          <p:cNvSpPr txBox="1"/>
          <p:nvPr/>
        </p:nvSpPr>
        <p:spPr>
          <a:xfrm>
            <a:off x="548640" y="3136392"/>
            <a:ext cx="2651760" cy="457200"/>
          </a:xfrm>
          <a:prstGeom prst="rect">
            <a:avLst/>
          </a:prstGeom>
          <a:noFill/>
        </p:spPr>
        <p:txBody>
          <a:bodyPr wrap="square" anchor="t" lIns="0" rIns="0" tIns="0" bIns="0">
            <a:spAutoFit/>
          </a:bodyPr>
          <a:lstStyle/>
          <a:p>
            <a:pPr algn="l"/>
            <a:r>
              <a:rPr sz="1050" b="0" i="0">
                <a:solidFill>
                  <a:srgbClr val="D5D5D5"/>
                </a:solidFill>
                <a:latin typeface="Calibri"/>
              </a:rPr>
              <a:t>Observability (Langfuse+Azure)</a:t>
            </a:r>
          </a:p>
        </p:txBody>
      </p:sp>
      <p:sp>
        <p:nvSpPr>
          <p:cNvPr id="14" name="Rectangle 13"/>
          <p:cNvSpPr/>
          <p:nvPr/>
        </p:nvSpPr>
        <p:spPr>
          <a:xfrm>
            <a:off x="3291840" y="3191256"/>
            <a:ext cx="1259005"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5" name="TextBox 14"/>
          <p:cNvSpPr txBox="1"/>
          <p:nvPr/>
        </p:nvSpPr>
        <p:spPr>
          <a:xfrm>
            <a:off x="4642285" y="3136392"/>
            <a:ext cx="1280160" cy="457200"/>
          </a:xfrm>
          <a:prstGeom prst="rect">
            <a:avLst/>
          </a:prstGeom>
          <a:noFill/>
        </p:spPr>
        <p:txBody>
          <a:bodyPr wrap="square" anchor="t" lIns="0" rIns="0" tIns="0" bIns="0">
            <a:spAutoFit/>
          </a:bodyPr>
          <a:lstStyle/>
          <a:p>
            <a:pPr algn="l"/>
            <a:r>
              <a:rPr sz="1050" b="1" i="0">
                <a:solidFill>
                  <a:srgbClr val="FFFFFF"/>
                </a:solidFill>
                <a:latin typeface="Calibri"/>
              </a:rPr>
              <a:t>$450</a:t>
            </a:r>
          </a:p>
        </p:txBody>
      </p:sp>
      <p:sp>
        <p:nvSpPr>
          <p:cNvPr id="16" name="TextBox 15"/>
          <p:cNvSpPr txBox="1"/>
          <p:nvPr/>
        </p:nvSpPr>
        <p:spPr>
          <a:xfrm>
            <a:off x="548640" y="3593592"/>
            <a:ext cx="2651760" cy="457200"/>
          </a:xfrm>
          <a:prstGeom prst="rect">
            <a:avLst/>
          </a:prstGeom>
          <a:noFill/>
        </p:spPr>
        <p:txBody>
          <a:bodyPr wrap="square" anchor="t" lIns="0" rIns="0" tIns="0" bIns="0">
            <a:spAutoFit/>
          </a:bodyPr>
          <a:lstStyle/>
          <a:p>
            <a:pPr algn="l"/>
            <a:r>
              <a:rPr sz="1050" b="0" i="0">
                <a:solidFill>
                  <a:srgbClr val="D5D5D5"/>
                </a:solidFill>
                <a:latin typeface="Calibri"/>
              </a:rPr>
              <a:t>Compute (AKS)</a:t>
            </a:r>
          </a:p>
        </p:txBody>
      </p:sp>
      <p:sp>
        <p:nvSpPr>
          <p:cNvPr id="17" name="Rectangle 16"/>
          <p:cNvSpPr/>
          <p:nvPr/>
        </p:nvSpPr>
        <p:spPr>
          <a:xfrm>
            <a:off x="3291840" y="3648456"/>
            <a:ext cx="1958453"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8" name="TextBox 17"/>
          <p:cNvSpPr txBox="1"/>
          <p:nvPr/>
        </p:nvSpPr>
        <p:spPr>
          <a:xfrm>
            <a:off x="5341733" y="3593592"/>
            <a:ext cx="1280160" cy="457200"/>
          </a:xfrm>
          <a:prstGeom prst="rect">
            <a:avLst/>
          </a:prstGeom>
          <a:noFill/>
        </p:spPr>
        <p:txBody>
          <a:bodyPr wrap="square" anchor="t" lIns="0" rIns="0" tIns="0" bIns="0">
            <a:spAutoFit/>
          </a:bodyPr>
          <a:lstStyle/>
          <a:p>
            <a:pPr algn="l"/>
            <a:r>
              <a:rPr sz="1050" b="1" i="0">
                <a:solidFill>
                  <a:srgbClr val="FFFFFF"/>
                </a:solidFill>
                <a:latin typeface="Calibri"/>
              </a:rPr>
              <a:t>$700</a:t>
            </a:r>
          </a:p>
        </p:txBody>
      </p:sp>
      <p:sp>
        <p:nvSpPr>
          <p:cNvPr id="19" name="TextBox 18"/>
          <p:cNvSpPr txBox="1"/>
          <p:nvPr/>
        </p:nvSpPr>
        <p:spPr>
          <a:xfrm>
            <a:off x="548640" y="4050792"/>
            <a:ext cx="2651760" cy="457200"/>
          </a:xfrm>
          <a:prstGeom prst="rect">
            <a:avLst/>
          </a:prstGeom>
          <a:noFill/>
        </p:spPr>
        <p:txBody>
          <a:bodyPr wrap="square" anchor="t" lIns="0" rIns="0" tIns="0" bIns="0">
            <a:spAutoFit/>
          </a:bodyPr>
          <a:lstStyle/>
          <a:p>
            <a:pPr algn="l"/>
            <a:r>
              <a:rPr sz="1050" b="0" i="0">
                <a:solidFill>
                  <a:srgbClr val="D5D5D5"/>
                </a:solidFill>
                <a:latin typeface="Calibri"/>
              </a:rPr>
              <a:t>Eventing (Svc Bus)</a:t>
            </a:r>
          </a:p>
        </p:txBody>
      </p:sp>
      <p:sp>
        <p:nvSpPr>
          <p:cNvPr id="20" name="Rectangle 19"/>
          <p:cNvSpPr/>
          <p:nvPr/>
        </p:nvSpPr>
        <p:spPr>
          <a:xfrm>
            <a:off x="3291840" y="4105656"/>
            <a:ext cx="83933"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1" name="TextBox 20"/>
          <p:cNvSpPr txBox="1"/>
          <p:nvPr/>
        </p:nvSpPr>
        <p:spPr>
          <a:xfrm>
            <a:off x="3467213" y="4050792"/>
            <a:ext cx="1280160" cy="457200"/>
          </a:xfrm>
          <a:prstGeom prst="rect">
            <a:avLst/>
          </a:prstGeom>
          <a:noFill/>
        </p:spPr>
        <p:txBody>
          <a:bodyPr wrap="square" anchor="t" lIns="0" rIns="0" tIns="0" bIns="0">
            <a:spAutoFit/>
          </a:bodyPr>
          <a:lstStyle/>
          <a:p>
            <a:pPr algn="l"/>
            <a:r>
              <a:rPr sz="1050" b="1" i="0">
                <a:solidFill>
                  <a:srgbClr val="FFFFFF"/>
                </a:solidFill>
                <a:latin typeface="Calibri"/>
              </a:rPr>
              <a:t>$30</a:t>
            </a:r>
          </a:p>
        </p:txBody>
      </p:sp>
      <p:sp>
        <p:nvSpPr>
          <p:cNvPr id="22" name="TextBox 21"/>
          <p:cNvSpPr txBox="1"/>
          <p:nvPr/>
        </p:nvSpPr>
        <p:spPr>
          <a:xfrm>
            <a:off x="548640" y="4507992"/>
            <a:ext cx="2651760" cy="457200"/>
          </a:xfrm>
          <a:prstGeom prst="rect">
            <a:avLst/>
          </a:prstGeom>
          <a:noFill/>
        </p:spPr>
        <p:txBody>
          <a:bodyPr wrap="square" anchor="t" lIns="0" rIns="0" tIns="0" bIns="0">
            <a:spAutoFit/>
          </a:bodyPr>
          <a:lstStyle/>
          <a:p>
            <a:pPr algn="l"/>
            <a:r>
              <a:rPr sz="1050" b="0" i="0">
                <a:solidFill>
                  <a:srgbClr val="D5D5D5"/>
                </a:solidFill>
                <a:latin typeface="Calibri"/>
              </a:rPr>
              <a:t>Cache (Redis)</a:t>
            </a:r>
          </a:p>
        </p:txBody>
      </p:sp>
      <p:sp>
        <p:nvSpPr>
          <p:cNvPr id="23" name="Rectangle 22"/>
          <p:cNvSpPr/>
          <p:nvPr/>
        </p:nvSpPr>
        <p:spPr>
          <a:xfrm>
            <a:off x="3291840" y="4562856"/>
            <a:ext cx="839337"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4" name="TextBox 23"/>
          <p:cNvSpPr txBox="1"/>
          <p:nvPr/>
        </p:nvSpPr>
        <p:spPr>
          <a:xfrm>
            <a:off x="4222617" y="4507992"/>
            <a:ext cx="1280160" cy="457200"/>
          </a:xfrm>
          <a:prstGeom prst="rect">
            <a:avLst/>
          </a:prstGeom>
          <a:noFill/>
        </p:spPr>
        <p:txBody>
          <a:bodyPr wrap="square" anchor="t" lIns="0" rIns="0" tIns="0" bIns="0">
            <a:spAutoFit/>
          </a:bodyPr>
          <a:lstStyle/>
          <a:p>
            <a:pPr algn="l"/>
            <a:r>
              <a:rPr sz="1050" b="1" i="0">
                <a:solidFill>
                  <a:srgbClr val="FFFFFF"/>
                </a:solidFill>
                <a:latin typeface="Calibri"/>
              </a:rPr>
              <a:t>$300</a:t>
            </a:r>
          </a:p>
        </p:txBody>
      </p:sp>
      <p:sp>
        <p:nvSpPr>
          <p:cNvPr id="25" name="TextBox 24"/>
          <p:cNvSpPr txBox="1"/>
          <p:nvPr/>
        </p:nvSpPr>
        <p:spPr>
          <a:xfrm>
            <a:off x="548640" y="4965192"/>
            <a:ext cx="2651760" cy="457200"/>
          </a:xfrm>
          <a:prstGeom prst="rect">
            <a:avLst/>
          </a:prstGeom>
          <a:noFill/>
        </p:spPr>
        <p:txBody>
          <a:bodyPr wrap="square" anchor="t" lIns="0" rIns="0" tIns="0" bIns="0">
            <a:spAutoFit/>
          </a:bodyPr>
          <a:lstStyle/>
          <a:p>
            <a:pPr algn="l"/>
            <a:r>
              <a:rPr sz="1050" b="0" i="0">
                <a:solidFill>
                  <a:srgbClr val="D5D5D5"/>
                </a:solidFill>
                <a:latin typeface="Calibri"/>
              </a:rPr>
              <a:t>Platform (APIM+)</a:t>
            </a:r>
          </a:p>
        </p:txBody>
      </p:sp>
      <p:sp>
        <p:nvSpPr>
          <p:cNvPr id="26" name="Rectangle 25"/>
          <p:cNvSpPr/>
          <p:nvPr/>
        </p:nvSpPr>
        <p:spPr>
          <a:xfrm>
            <a:off x="3291840" y="5020056"/>
            <a:ext cx="2294188"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27" name="TextBox 26"/>
          <p:cNvSpPr txBox="1"/>
          <p:nvPr/>
        </p:nvSpPr>
        <p:spPr>
          <a:xfrm>
            <a:off x="5677468" y="4965192"/>
            <a:ext cx="1280160" cy="457200"/>
          </a:xfrm>
          <a:prstGeom prst="rect">
            <a:avLst/>
          </a:prstGeom>
          <a:noFill/>
        </p:spPr>
        <p:txBody>
          <a:bodyPr wrap="square" anchor="t" lIns="0" rIns="0" tIns="0" bIns="0">
            <a:spAutoFit/>
          </a:bodyPr>
          <a:lstStyle/>
          <a:p>
            <a:pPr algn="l"/>
            <a:r>
              <a:rPr sz="1050" b="1" i="0">
                <a:solidFill>
                  <a:srgbClr val="FFFFFF"/>
                </a:solidFill>
                <a:latin typeface="Calibri"/>
              </a:rPr>
              <a:t>$820</a:t>
            </a:r>
          </a:p>
        </p:txBody>
      </p:sp>
      <p:sp>
        <p:nvSpPr>
          <p:cNvPr id="28" name="TextBox 27"/>
          <p:cNvSpPr txBox="1"/>
          <p:nvPr/>
        </p:nvSpPr>
        <p:spPr>
          <a:xfrm>
            <a:off x="548640" y="5422392"/>
            <a:ext cx="2651760" cy="457200"/>
          </a:xfrm>
          <a:prstGeom prst="rect">
            <a:avLst/>
          </a:prstGeom>
          <a:noFill/>
        </p:spPr>
        <p:txBody>
          <a:bodyPr wrap="square" anchor="t" lIns="0" rIns="0" tIns="0" bIns="0">
            <a:spAutoFit/>
          </a:bodyPr>
          <a:lstStyle/>
          <a:p>
            <a:pPr algn="l"/>
            <a:r>
              <a:rPr sz="1050" b="0" i="0">
                <a:solidFill>
                  <a:srgbClr val="D5D5D5"/>
                </a:solidFill>
                <a:latin typeface="Calibri"/>
              </a:rPr>
              <a:t>Eval+EngAgent</a:t>
            </a:r>
          </a:p>
        </p:txBody>
      </p:sp>
      <p:sp>
        <p:nvSpPr>
          <p:cNvPr id="29" name="Rectangle 28"/>
          <p:cNvSpPr/>
          <p:nvPr/>
        </p:nvSpPr>
        <p:spPr>
          <a:xfrm>
            <a:off x="3291840" y="5477256"/>
            <a:ext cx="1958453" cy="329184"/>
          </a:xfrm>
          <a:prstGeom prst="rect">
            <a:avLst/>
          </a:prstGeom>
          <a:solidFill>
            <a:srgbClr val="48E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30" name="TextBox 29"/>
          <p:cNvSpPr txBox="1"/>
          <p:nvPr/>
        </p:nvSpPr>
        <p:spPr>
          <a:xfrm>
            <a:off x="5341733" y="5422392"/>
            <a:ext cx="1280160" cy="457200"/>
          </a:xfrm>
          <a:prstGeom prst="rect">
            <a:avLst/>
          </a:prstGeom>
          <a:noFill/>
        </p:spPr>
        <p:txBody>
          <a:bodyPr wrap="square" anchor="t" lIns="0" rIns="0" tIns="0" bIns="0">
            <a:spAutoFit/>
          </a:bodyPr>
          <a:lstStyle/>
          <a:p>
            <a:pPr algn="l"/>
            <a:r>
              <a:rPr sz="1050" b="1" i="0">
                <a:solidFill>
                  <a:srgbClr val="FFFFFF"/>
                </a:solidFill>
                <a:latin typeface="Calibri"/>
              </a:rPr>
              <a:t>$700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sources &amp; caveats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2026-09-08</a:t>
            </a:r>
          </a:p>
        </p:txBody>
      </p:sp>
      <p:sp>
        <p:nvSpPr>
          <p:cNvPr id="4" name="TextBox 3"/>
          <p:cNvSpPr txBox="1"/>
          <p:nvPr/>
        </p:nvSpPr>
        <p:spPr>
          <a:xfrm>
            <a:off x="822960" y="1783080"/>
            <a:ext cx="10515600" cy="2377440"/>
          </a:xfrm>
          <a:prstGeom prst="rect">
            <a:avLst/>
          </a:prstGeom>
          <a:noFill/>
        </p:spPr>
        <p:txBody>
          <a:bodyPr wrap="square" lIns="0" tIns="0">
            <a:spAutoFit/>
          </a:bodyPr>
          <a:lstStyle/>
          <a:p>
            <a:pPr algn="l">
              <a:spcAft>
                <a:spcPts val="1200"/>
              </a:spcAft>
            </a:pPr>
            <a:r>
              <a:rPr sz="1400" b="1">
                <a:solidFill>
                  <a:srgbClr val="2ACCFF"/>
                </a:solidFill>
                <a:latin typeface="Calibri"/>
              </a:rPr>
              <a:t>▸ </a:t>
            </a:r>
            <a:r>
              <a:rPr sz="1400">
                <a:solidFill>
                  <a:srgbClr val="FFFFFF"/>
                </a:solidFill>
                <a:latin typeface="Calibri"/>
              </a:rPr>
              <a:t>Region: Azure UK South (indicative)   ·   Currency: USD (indicative list price, ex-VAT)   ·   Snapshot: 2026-09-08   ·   Pricing version 1.0.0</a:t>
            </a:r>
          </a:p>
          <a:p>
            <a:pPr algn="l">
              <a:spcAft>
                <a:spcPts val="1200"/>
              </a:spcAft>
            </a:pPr>
            <a:r>
              <a:rPr sz="1400" b="1">
                <a:solidFill>
                  <a:srgbClr val="2ACCFF"/>
                </a:solidFill>
                <a:latin typeface="Calibri"/>
              </a:rPr>
              <a:t>▸ </a:t>
            </a:r>
            <a:r>
              <a:rPr sz="1400">
                <a:solidFill>
                  <a:srgbClr val="FFFFFF"/>
                </a:solidFill>
                <a:latin typeface="Calibri"/>
              </a:rPr>
              <a:t>All figures are INDICATIVE public list prices for directional planning — not a quote or commitment.</a:t>
            </a:r>
          </a:p>
          <a:p>
            <a:pPr algn="l">
              <a:spcAft>
                <a:spcPts val="1200"/>
              </a:spcAft>
            </a:pPr>
            <a:r>
              <a:rPr sz="1400" b="1">
                <a:solidFill>
                  <a:srgbClr val="2ACCFF"/>
                </a:solidFill>
                <a:latin typeface="Calibri"/>
              </a:rPr>
              <a:t>▸ </a:t>
            </a:r>
            <a:r>
              <a:rPr sz="1400">
                <a:solidFill>
                  <a:srgbClr val="FFFFFF"/>
                </a:solidFill>
                <a:latin typeface="Calibri"/>
              </a:rPr>
              <a:t>Convert to GBP and add VAT; apply enterprise agreement / reservation discounts with FinOps.</a:t>
            </a:r>
          </a:p>
          <a:p>
            <a:pPr algn="l">
              <a:spcAft>
                <a:spcPts val="1200"/>
              </a:spcAft>
            </a:pPr>
            <a:r>
              <a:rPr sz="1400" b="1">
                <a:solidFill>
                  <a:srgbClr val="2ACCFF"/>
                </a:solidFill>
                <a:latin typeface="Calibri"/>
              </a:rPr>
              <a:t>▸ </a:t>
            </a:r>
            <a:r>
              <a:rPr sz="1400">
                <a:solidFill>
                  <a:srgbClr val="FFFFFF"/>
                </a:solidFill>
                <a:latin typeface="Calibri"/>
              </a:rPr>
              <a:t>Pricing is maintained in a versioned data file (pricing.py), never hard-coded in application logic (doc 26 §138).</a:t>
            </a:r>
          </a:p>
        </p:txBody>
      </p:sp>
      <p:sp>
        <p:nvSpPr>
          <p:cNvPr id="5" name="TextBox 4"/>
          <p:cNvSpPr txBox="1"/>
          <p:nvPr/>
        </p:nvSpPr>
        <p:spPr>
          <a:xfrm>
            <a:off x="822960" y="4389120"/>
            <a:ext cx="10515600" cy="320040"/>
          </a:xfrm>
          <a:prstGeom prst="rect">
            <a:avLst/>
          </a:prstGeom>
          <a:noFill/>
        </p:spPr>
        <p:txBody>
          <a:bodyPr wrap="square" anchor="t" lIns="0" rIns="0" tIns="0" bIns="0">
            <a:spAutoFit/>
          </a:bodyPr>
          <a:lstStyle/>
          <a:p>
            <a:pPr algn="l"/>
            <a:r>
              <a:rPr sz="1300" b="1" i="0">
                <a:solidFill>
                  <a:srgbClr val="FED038"/>
                </a:solidFill>
                <a:latin typeface="Calibri"/>
              </a:rPr>
              <a:t>Anchored to:</a:t>
            </a:r>
          </a:p>
        </p:txBody>
      </p:sp>
      <p:sp>
        <p:nvSpPr>
          <p:cNvPr id="6" name="TextBox 5"/>
          <p:cNvSpPr txBox="1"/>
          <p:nvPr/>
        </p:nvSpPr>
        <p:spPr>
          <a:xfrm>
            <a:off x="822960" y="4754880"/>
            <a:ext cx="10515600" cy="1463040"/>
          </a:xfrm>
          <a:prstGeom prst="rect">
            <a:avLst/>
          </a:prstGeom>
          <a:noFill/>
        </p:spPr>
        <p:txBody>
          <a:bodyPr wrap="square" lIns="0" tIns="0">
            <a:spAutoFit/>
          </a:bodyPr>
          <a:lstStyle/>
          <a:p>
            <a:pPr algn="l">
              <a:spcAft>
                <a:spcPts val="600"/>
              </a:spcAft>
            </a:pPr>
            <a:r>
              <a:rPr sz="1200" b="1">
                <a:solidFill>
                  <a:srgbClr val="2ACCFF"/>
                </a:solidFill>
                <a:latin typeface="Calibri"/>
              </a:rPr>
              <a:t>▸ </a:t>
            </a:r>
            <a:r>
              <a:rPr sz="1200">
                <a:solidFill>
                  <a:srgbClr val="FFFFFF"/>
                </a:solidFill>
                <a:latin typeface="Calibri"/>
              </a:rPr>
              <a:t>azure.microsoft.com/pricing (AI Search, Service Bus, Managed Redis, APIM, Monitor, ACR)</a:t>
            </a:r>
          </a:p>
          <a:p>
            <a:pPr algn="l">
              <a:spcAft>
                <a:spcPts val="600"/>
              </a:spcAft>
            </a:pPr>
            <a:r>
              <a:rPr sz="1200" b="1">
                <a:solidFill>
                  <a:srgbClr val="2ACCFF"/>
                </a:solidFill>
                <a:latin typeface="Calibri"/>
              </a:rPr>
              <a:t>▸ </a:t>
            </a:r>
            <a:r>
              <a:rPr sz="1200">
                <a:solidFill>
                  <a:srgbClr val="FFFFFF"/>
                </a:solidFill>
                <a:latin typeface="Calibri"/>
              </a:rPr>
              <a:t>learn.microsoft.com — Azure NC A100 v4 VM sizes &amp; pricing</a:t>
            </a:r>
          </a:p>
          <a:p>
            <a:pPr algn="l">
              <a:spcAft>
                <a:spcPts val="600"/>
              </a:spcAft>
            </a:pPr>
            <a:r>
              <a:rPr sz="1200" b="1">
                <a:solidFill>
                  <a:srgbClr val="2ACCFF"/>
                </a:solidFill>
                <a:latin typeface="Calibri"/>
              </a:rPr>
              <a:t>▸ </a:t>
            </a:r>
            <a:r>
              <a:rPr sz="1200">
                <a:solidFill>
                  <a:srgbClr val="FFFFFF"/>
                </a:solidFill>
                <a:latin typeface="Calibri"/>
              </a:rPr>
              <a:t>langfuse.com/pricing (Core $29 / Pro $199; overage tiers)</a:t>
            </a:r>
          </a:p>
          <a:p>
            <a:pPr algn="l">
              <a:spcAft>
                <a:spcPts val="600"/>
              </a:spcAft>
            </a:pPr>
            <a:r>
              <a:rPr sz="1200" b="1">
                <a:solidFill>
                  <a:srgbClr val="2ACCFF"/>
                </a:solidFill>
                <a:latin typeface="Calibri"/>
              </a:rPr>
              <a:t>▸ </a:t>
            </a:r>
            <a:r>
              <a:rPr sz="1200">
                <a:solidFill>
                  <a:srgbClr val="FFFFFF"/>
                </a:solidFill>
                <a:latin typeface="Calibri"/>
              </a:rPr>
              <a:t>huggingface.co/pricing (Inference Endpoints / serverless)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D5D5D5"/>
                </a:solidFill>
                <a:latin typeface="Calibri"/>
              </a:rPr>
              <a:t>SLM/GPU dominates · measure per outcome · budgets + guardrails + routing · verify with FinOps</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