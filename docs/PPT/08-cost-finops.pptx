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48AD9-B8F4-A70C-7DDC-1E1556ECAE4E}" v="2" dt="2026-08-06T12:20:33.150"/>
    <p1510:client id="{7F375FFF-E84D-3631-D388-F5B5C76602FD}" v="4" dt="2026-08-06T13:01:4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7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cost story per technology. Every figure is an indicative public list price, USD, Azure UK South, captured 2026-09-08 — directional for ARB, to be confirmed by FinOps and converted to GBP + VAT. Pricing lives in a versioned data file, never in application code.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 cost categories. The meaningful unit for agentic work is cost-per-workflow / per-successful-affiliation. Everything is tagged and allocable.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SLM and GPU dominate; RAG, vector and observability volume follow; bounded retries/loops keep cost predictable.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SLM inference: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Embedding: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Vector store — Azure AI Search: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Observability — Langfuse + Azure Monitor: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Compute — AKS (CPU node pool):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Eventing — Azure Service Bus: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Cache / state — Azure Managed Redis: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Platform — APIM · ACR · Key Vault · Storage/Net: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 + Engineering-agent spend: drivers/formula left; Low/Expected/High indicative monthly right; optimization levers below. Figures indicative (Azure UK South (indicative), 2026-09-08) — confirm with FinOps.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Report cost per workflow and per successful outcome; per-request understates agentic workloads.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Budgets and alerts at 50/75/90/100%, anomaly detection, configurable cost guardrails; on breach we degrade or route to a cheaper approved model.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scenarios; Expected ≈ $6,370/mo, dominated by self-hosted GPU.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Expected-scenario breakdown; the SLM/GPU bar dwarfs the rest — optimisation targets it first.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Transparency slide: region, currency, date, version and the public sources each figure is anchored to.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Cost is dominated by the SLM/GPU choice, measured per successful outcome, and controlled by budgets, guardrails and model routing; figures indicative pending FinOps.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pic>
        <p:nvPicPr>
          <p:cNvPr id="8" name="Picture 7" descr="fa_cres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325880"/>
            <a:ext cx="2313063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16002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DECK 08 ·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74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3294B"/>
                </a:solidFill>
                <a:latin typeface="Cambria"/>
              </a:rPr>
              <a:t>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718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2E75B6"/>
                </a:solidFill>
                <a:latin typeface="Cambria"/>
              </a:rPr>
              <a:t>&amp; FinOps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3977639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20624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C6B7A"/>
                </a:solidFill>
                <a:latin typeface="Calibri"/>
              </a:rPr>
              <a:t>Per-technology cost model · scenarios · budget controls  —  doc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DOC 26 §74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The cost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Total cost decomposition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737360"/>
            <a:ext cx="9921240" cy="109728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Total = Infrastructure + Model/SLM + Embedding + RAG/Vector + API/Integration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 Service Bus + Storage + Network + Observability + Engineering-AI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08960"/>
            <a:ext cx="9921240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Cost is measured per workflow and per successful outcome — not only per request.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Allocation dimensions: environment · component · workflow · agent · model · team · capability.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Cost tags: application=pff-fa-ai · environment=prod · component=ai-runtime · workflow=affiliation.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Optimize without weakening security, authorization, correctness, AI quality or guardrails.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WHAT MOVES THE BILL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Cost drivers &amp;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Highest-impact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SLM tokens &amp; GPU hours (dominant lever).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RAG/embedding volume &amp; re-index frequency.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Vector search units; observability trace/log volume.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Retry amplification &amp; agent loops (bounded — deck 02).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Allocation &amp; 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Per environment / workflow / agent / model.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Cost tags on every resource.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Langfuse gives per-trace token &amp; cost telemetry.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Enables cost-per-successful-affiliation.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D3-13 / D5-10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SLM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hugging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81000"/>
            <a:ext cx="1371600" cy="426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Hosted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HF Inference — per-token or dedicated endpoint-hours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Self-host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vLLM on NC24ads_A100_v4 GPU @ ≈$3.67/hr on-demand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Key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tokens/workflow, GPU count, utilisation, quantisation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hosted: tokens×rate   |   self-host: GPU-hr ÷ tokens-per-hr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hosted, pilot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$2,680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1×A100 24×7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$5,360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2×A100 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Continuous batching &amp; quantisation (quality-validated)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Right-size GPU SKU; spot for non-critical (~$0.68/hr)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Model routing: small model for simple tasks (deck 03)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D3-23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hugging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81000"/>
            <a:ext cx="1371600" cy="426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docs × chunks ×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Re-index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frequency on model/version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768-dim general-purpose (recommended)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embedding-tokens × rate + re-index passes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small corpus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$200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steady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$600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frequent re-index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Embed only changed documents (incremental)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Cache embeddings; avoid needless re-embedding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Don't reduce dimensions without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D3-24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Vector store — Azure AI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ai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566928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Standard S1 ≈ $245 / search-unit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search units = replicas × partitions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index size, query volume, hybrid 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search-units × tier-rate  (replicas×partitions)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$245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1 SU (S1)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$490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2 SU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$735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3 SU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Right-size partitions to index size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Replicas for QPS/HA only when needed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Hybrid retrieval tuned; top-K controlled (deck 03)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D7-02 / D7-01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Observability — Langfuse + Azure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langf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81000"/>
            <a:ext cx="1371600" cy="426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Langfuse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Core $29 / Pro $199 (100k units incl.); overage ~$8/100k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Azure logs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Log Analytics $2.30/GB after 5 GB free/mo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trace/observation count + log GB + retention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Langfuse plan + overage  +  log-GB × $2.30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Core + light logs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$450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Pro + 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$1,100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Pro overage + 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Sample/route high-volume traces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Tier logs (Basic $0.50/GB) &amp; tune retention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Avoid excessive logging (perf + cost anti-pattern)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D5-08 / D5-17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Compute — AKS (CPU node pool)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a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566928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VM SKU × count × hours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Control plane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AKS Standard ≈ $73/mo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Scaling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autoscale on CPU/mem/queue; warm minimum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node-VM-hours + control-plane + load-balancing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minimal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$700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steady HA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$1,600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peak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Autoscale down off-peak (avoid cold starts)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Right-size node SKUs; bin-pack pods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Reserved instances for steady baseline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D2-16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Eventing — Azure Service 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ai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566928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$10/mo base + $0.01 / M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$677 / messaging-unit / month (dedicated, isolation)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message volume, MU 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Standard base+ops   OR   Premium MU ×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Standard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Standard heavy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$677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Premium 1 MU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Standard tier for affiliation volumes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Batch receive, prefetch, tune concurrency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Premium only when isolation/latency demands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D4-10 / D4-12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Cache / state — Azure Managed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red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566928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SKU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Balanced tier B0 (1 GB) ≈ $13/mo → scales with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state + session + cache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replication / zones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SKU (memory tier) × HA factor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$130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small B-tier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$300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mid + HA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$650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larger + zones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TTL &amp; eviction tuned; cache only when benefit &gt; cost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Authorization-aware keys (no cross-scope reuse)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Right-size memory to working 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D5-15 / D5-09 / D5-07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Platform — APIM · ACR · Key Vault · Storage/Net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ai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566928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APIM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Standard v2 ≈ $700/mo (~50M calls incl.) — may be shared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ACR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Standard ≈ $20 / Premium ≈ $50 per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Key Vault + Storage/Net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per-operation + blob GB + egress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APIM tier + ACR tier + KV ops + storage/egress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$205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Basic v2 + small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$820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Std v2 + std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$2,050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2×APIM + premium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Use shared enterprise APIM allocation where possible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ACR retention policies; prune images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Minimise cross-region egress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COST · ADR D7-13 / D7-15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Evaluation + Engineering-agent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pic>
        <p:nvPicPr>
          <p:cNvPr id="12" name="Picture 11" descr="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2" y="310896"/>
            <a:ext cx="566928" cy="5669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74519" y="1645920"/>
            <a:ext cx="5120640" cy="2880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1810512"/>
            <a:ext cx="46817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E75B6"/>
                </a:solidFill>
                <a:latin typeface="Calibri"/>
              </a:rPr>
              <a:t>COST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304288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2551176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judge/model calls × dataset size × 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054096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Engineering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300984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code review, test-gen, security, docs + CI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803904"/>
            <a:ext cx="46817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Refinement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4050791"/>
            <a:ext cx="46817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runtime quality loop escalations (D3-28)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663440"/>
            <a:ext cx="5120640" cy="6400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/>
            <a:r>
              <a:rPr sz="1150" b="0">
                <a:solidFill>
                  <a:srgbClr val="13294B"/>
                </a:solidFill>
                <a:latin typeface="Calibri"/>
              </a:rPr>
              <a:t>Formula:  eval model-tokens + eng-agent model-tokens + CI minutes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64592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179222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75564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$150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81051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light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65176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2798064"/>
            <a:ext cx="109728" cy="6217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276148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Expected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72491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$700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816352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steady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657600"/>
            <a:ext cx="4800600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3803904"/>
            <a:ext cx="109728" cy="6217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767328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libri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730752"/>
            <a:ext cx="17373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$1,900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22191"/>
            <a:ext cx="1417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6B7A"/>
                </a:solidFill>
                <a:latin typeface="Calibri"/>
              </a:rPr>
              <a:t>heavy regression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Optimization levers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29200"/>
            <a:ext cx="48006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Cache eval results; run judges only on changes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Bound refinement escalations (deck 03/09)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▪  </a:t>
            </a:r>
            <a:r>
              <a:rPr sz="1100">
                <a:solidFill>
                  <a:srgbClr val="13294B"/>
                </a:solidFill>
                <a:latin typeface="Calibri"/>
              </a:rPr>
              <a:t>Right-size CI concurrency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DOC 26 §76–79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Cost per request / workflow /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920240"/>
            <a:ext cx="2288286" cy="1737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19" y="2176272"/>
            <a:ext cx="109728" cy="1225295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7127" y="2139696"/>
            <a:ext cx="18310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Per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7" y="2834640"/>
            <a:ext cx="183108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narrow view — misleading for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8838" y="1920240"/>
            <a:ext cx="2288286" cy="1737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8838" y="2176272"/>
            <a:ext cx="109728" cy="122529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1446" y="2139696"/>
            <a:ext cx="18310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Cambria"/>
              </a:rPr>
              <a:t>Per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1446" y="2834640"/>
            <a:ext cx="183108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multi-agent, multi-API, RAG, SLM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3156" y="1920240"/>
            <a:ext cx="2288286" cy="1737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63156" y="2176272"/>
            <a:ext cx="109728" cy="1225295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5764" y="2139696"/>
            <a:ext cx="18310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3294B"/>
                </a:solidFill>
                <a:latin typeface="Cambria"/>
              </a:rPr>
              <a:t>Per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5764" y="2834640"/>
            <a:ext cx="183108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per successful affiliation — the true unit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7474" y="1920240"/>
            <a:ext cx="2288286" cy="1737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7474" y="2176272"/>
            <a:ext cx="109728" cy="122529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00082" y="2139696"/>
            <a:ext cx="18310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Cambria"/>
              </a:rPr>
              <a:t>Per club/org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0082" y="2834640"/>
            <a:ext cx="1831086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where permitted, access-controlled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02336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C6B7A"/>
                </a:solidFill>
                <a:latin typeface="Calibri"/>
              </a:rPr>
              <a:t>A single affiliation workflow may span multiple agents, enterprise API calls, RAG queries and model calls — so cost-per-successful-affiliation is the metric that matters.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DOC 26 §90–98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Budget controls &amp;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Budgets &amp;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Budgets per month / environment / workflow / model / evaluation.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Alerts at 50 / 75 / 90 / 100 %.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Cost anomaly detection (token/GPU/API spikes).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Cost guardrails &amp;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Max tokens/model-calls/tool-calls/retries per workflow.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On budget breach: stop · degrade · route to cheaper approved model.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Model routing optimises cost, latency &amp; quality together.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Scenario rollup — indicative monthly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74519" y="1783080"/>
          <a:ext cx="9921239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37266"/>
                <a:gridCol w="5328073"/>
                <a:gridCol w="27559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Profile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Indicative total / month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3294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B7A"/>
                          </a:solidFill>
                          <a:latin typeface="Calibri"/>
                        </a:rPr>
                        <a:t>pilot · hosted SLM · minimal infra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B7A"/>
                          </a:solidFill>
                          <a:latin typeface="Calibri"/>
                        </a:rPr>
                        <a:t>$1,475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3294B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B7A"/>
                          </a:solidFill>
                          <a:latin typeface="Calibri"/>
                        </a:rPr>
                        <a:t>production season · self-hosted SLM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B7A"/>
                          </a:solidFill>
                          <a:latin typeface="Calibri"/>
                        </a:rPr>
                        <a:t>$6,370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3294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B7A"/>
                          </a:solidFill>
                          <a:latin typeface="Calibri"/>
                        </a:rPr>
                        <a:t>peak window · GPU HA · full observability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5C6B7A"/>
                          </a:solidFill>
                          <a:latin typeface="Calibri"/>
                        </a:rPr>
                        <a:t>$14,672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874519" y="3840480"/>
            <a:ext cx="9921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SLM/GPU dominates the Expected and High scenarios — the single biggest lever, and the reason the vLLM decision (deck 09) matters for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5852160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  <a:latin typeface="Calibri"/>
              </a:rPr>
              <a:t>Not a quote. USD indicative list, ex-VAT — convert to GBP and add VAT with FinOps.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Expected monthly cost by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Indicative · Azure UK South (indicative) · USD (indicative list price, ex-VAT) · 2026-09-08 · verify with FinOps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7647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SLM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828800"/>
            <a:ext cx="5943600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52760" y="17647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$2,680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2219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Embedding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286000"/>
            <a:ext cx="443552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2712" y="22219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6791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Vector (AI Search)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743200"/>
            <a:ext cx="1086702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5862" y="26791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$490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Observability (Langfuse+Azure)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3200400"/>
            <a:ext cx="997992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7152" y="31363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$450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5935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Compute (AKS)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657600"/>
            <a:ext cx="1552432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1592" y="35935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$700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0507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Eventing (Svc Bus)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114800"/>
            <a:ext cx="66532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5692" y="40507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5079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Cache (Redis)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4572000"/>
            <a:ext cx="665328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4488" y="45079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$300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9651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Platform (APIM+)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5029200"/>
            <a:ext cx="1818564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7724" y="49651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$820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42239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Eval+EngAgent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5486400"/>
            <a:ext cx="1552432" cy="310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1592" y="5422392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3294B"/>
                </a:solidFill>
                <a:latin typeface="Calibri"/>
              </a:rPr>
              <a:t>$700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2026-09-08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Pricing sources &amp; caveats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83080"/>
            <a:ext cx="992124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Region: Azure UK South (indicative)   ·   Currency: USD (indicative list price, ex-VAT)   ·   Snapshot: 2026-09-08   ·   Pricing version 1.0.0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All figures are INDICATIVE public list prices for directional planning — not a quote or commitment.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Convert to GBP and add VAT; apply enterprise agreement / reservation discounts with FinOps.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Pricing is maintained in a versioned data file (pricing.py), never hard-coded in application logic (doc 26 §138).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7680"/>
            <a:ext cx="9921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Anchored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17720"/>
            <a:ext cx="99212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▪  </a:t>
            </a:r>
            <a:r>
              <a:rPr sz="1200">
                <a:solidFill>
                  <a:srgbClr val="13294B"/>
                </a:solidFill>
                <a:latin typeface="Calibri"/>
              </a:rPr>
              <a:t>azure.microsoft.com/pricing (AI Search, Service Bus, Managed Redis, APIM, Monitor, ACR)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▪  </a:t>
            </a:r>
            <a:r>
              <a:rPr sz="1200">
                <a:solidFill>
                  <a:srgbClr val="13294B"/>
                </a:solidFill>
                <a:latin typeface="Calibri"/>
              </a:rPr>
              <a:t>learn.microsoft.com — Azure NC A100 v4 VM sizes &amp; pricing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▪  </a:t>
            </a:r>
            <a:r>
              <a:rPr sz="1200">
                <a:solidFill>
                  <a:srgbClr val="13294B"/>
                </a:solidFill>
                <a:latin typeface="Calibri"/>
              </a:rPr>
              <a:t>langfuse.com/pricing (Core $29 / Pro $199; overage tiers)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5B6"/>
                </a:solidFill>
                <a:latin typeface="Calibri"/>
              </a:rPr>
              <a:t>▪  </a:t>
            </a:r>
            <a:r>
              <a:rPr sz="1200">
                <a:solidFill>
                  <a:srgbClr val="13294B"/>
                </a:solidFill>
                <a:latin typeface="Calibri"/>
              </a:rPr>
              <a:t>huggingface.co/pricing (Inference Endpoints / serverless)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4320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3294B"/>
                </a:solidFill>
                <a:latin typeface="Cambria"/>
              </a:rPr>
              <a:t>Cost &amp; FinOps —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7" y="3703320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93192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C6B7A"/>
                </a:solidFill>
                <a:latin typeface="Calibri"/>
              </a:rPr>
              <a:t>SLM/GPU dominates · measure per outcome · budgets + guardrails + routing · verify with FinOps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Yokesh Kulasekaran</cp:lastModifiedBy>
  <cp:revision>10</cp:revision>
  <dcterms:created xsi:type="dcterms:W3CDTF">2026-08-06T08:59:30Z</dcterms:created>
  <dcterms:modified xsi:type="dcterms:W3CDTF">2026-09-08T09:07:06Z</dcterms:modified>
</cp:coreProperties>
</file>