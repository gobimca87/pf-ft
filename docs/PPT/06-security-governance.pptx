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ite Background" id="{47C7D9A1-B483-564F-90DC-40E90FE94FBA}">
          <p14:sldIdLst>
            <p14:sldId id="2076137493"/>
            <p14:sldId id="2076137508"/>
            <p14:sldId id="2076137510"/>
            <p14:sldId id="2076137509"/>
            <p14:sldId id="2076137498"/>
            <p14:sldId id="2076137499"/>
            <p14:sldId id="2076137504"/>
            <p14:sldId id="2076137506"/>
            <p14:sldId id="2076137492"/>
            <p14:sldId id="283"/>
            <p14:sldId id="2076137502"/>
          </p14:sldIdLst>
        </p14:section>
        <p14:section name="Black Background" id="{AE4A25D3-49D7-5B43-9FF8-BA2C3021CF5C}">
          <p14:sldIdLst>
            <p14:sldId id="2076137497"/>
            <p14:sldId id="2076137494"/>
            <p14:sldId id="2076137500"/>
            <p14:sldId id="2076137501"/>
            <p14:sldId id="2076137505"/>
            <p14:sldId id="2076137507"/>
            <p14:sldId id="2076137489"/>
            <p14:sldId id="274"/>
            <p14:sldId id="20761375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E84A"/>
    <a:srgbClr val="FED038"/>
    <a:srgbClr val="FE2579"/>
    <a:srgbClr val="5300DB"/>
    <a:srgbClr val="7F19BE"/>
    <a:srgbClr val="2ACCFF"/>
    <a:srgbClr val="0283FF"/>
    <a:srgbClr val="002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4E6FB-0852-E5AF-097D-33BDB00319C8}" v="12" dt="2026-08-21T18:56:47.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0" Type="http://schemas.openxmlformats.org/officeDocument/2006/relationships/slide" Target="slides/slide15.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A76EA5-AA01-CF46-9942-B3D248EF91A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67986-05CD-0948-B842-65071D871968}" type="slidenum">
              <a:rPr lang="en-US" smtClean="0"/>
              <a:t>‹#›</a:t>
            </a:fld>
            <a:endParaRPr lang="en-US"/>
          </a:p>
        </p:txBody>
      </p:sp>
    </p:spTree>
    <p:extLst>
      <p:ext uri="{BB962C8B-B14F-4D97-AF65-F5344CB8AC3E}">
        <p14:creationId xmlns:p14="http://schemas.microsoft.com/office/powerpoint/2010/main" val="92529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governance — the controls that make the Golden Rule and data protection real. 19 ADRs; one is Proposed (the SLM input masking regime, deck 09).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Zero-trust: every boundary validates. Data trust decreases toward the untrusted zone (user input, external SLM); business authority increases toward the system of record. Egress to the untrusted zone is masked and fails closed.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Authorization happens at the boundary and is propagated with integrity through the whole request — including async paths. The AI consumes claims, never issues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Segmented network, minimal controlled egress, encryption everywhere, keys in Key Vault. The masking token vault stays in-tenancy.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is the input to masking, redaction and retention decisions. Children's and special-category data get the strongest protection.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security decision for ARB: nothing raw leaves the tenancy to an external model — everything is masked/tokenised, special classes hard-blocked, fail-closed. Self-hosted may use raw data since it never crosses the boundary. A reversible token vault re-identifies masked outputs in-tenancy. Proposed; needs DPO/DPIA sign-off.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are placed at input, context, prompt, tool, model and output boundaries — middleware, not a single filter. No path reaches the model or user unchecked.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Injection defence is defence-in-depth: quarantine untrusted content, layered detection in the prompt layer and guardrails, escalate rather than obey.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and MCP servers are allow-listed and trust-modelled; RAG enforces document ACLs at retrieval so knowledge never leaks across authorization scopes.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Responsible-AI guardrails plus governed human oversight. Prohibited uses are explicit; humans stay in control of state-changing actions.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GDPR and safeguarding are first-class; an evidential audit record links every step. Children's data protection is explicit and drives the DPIA.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is governed through release gates; the platform conforms to applicable standards, evidenced and reviewed under ARB governance.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19 security &amp; governance ADRs. One is Proposed (◆): D6-19 SLM input masking regime (deck 09), which refines the external-SLM data boundary D6-07.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defence-in-depth around an absolute boundary — the AI never decides or authorizes, nothing raw leaves the tenancy, and everything is audited.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s://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4.png"/><Relationship Id="rId9" Type="http://schemas.openxmlformats.org/officeDocument/2006/relationships/image" Target="../media/image5.jpeg"/><Relationship Id="rId10" Type="http://schemas.openxmlformats.org/officeDocument/2006/relationships/image" Target="../media/image6.png"/><Relationship Id="rId11"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8.png"/><Relationship Id="rId9" Type="http://schemas.microsoft.com/office/2007/relationships/hdphoto" Target="../media/hdphoto1.wdp"/><Relationship Id="rId10" Type="http://schemas.openxmlformats.org/officeDocument/2006/relationships/image" Target="../media/image9.png"/><Relationship Id="rId11" Type="http://schemas.microsoft.com/office/2007/relationships/hdphoto" Target="../media/hdphoto2.wdp"/><Relationship Id="rId12" Type="http://schemas.openxmlformats.org/officeDocument/2006/relationships/image" Target="../media/image10.png"/><Relationship Id="rId13"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Tidal - White">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0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Add a Title</a:t>
            </a:r>
            <a:endParaRPr lang="en-IN"/>
          </a:p>
        </p:txBody>
      </p:sp>
      <p:sp>
        <p:nvSpPr>
          <p:cNvPr id="13" name="Text Placeholder 16">
            <a:extLst>
              <a:ext uri="{FF2B5EF4-FFF2-40B4-BE49-F238E27FC236}">
                <a16:creationId xmlns:a16="http://schemas.microsoft.com/office/drawing/2014/main" id="{4D0F44B2-EB53-2D96-6B6F-D4A30D67762B}"/>
              </a:ext>
            </a:extLst>
          </p:cNvPr>
          <p:cNvSpPr>
            <a:spLocks noGrp="1"/>
          </p:cNvSpPr>
          <p:nvPr>
            <p:ph type="body" sz="quarter" idx="11" hasCustomPrompt="1"/>
          </p:nvPr>
        </p:nvSpPr>
        <p:spPr>
          <a:xfrm>
            <a:off x="640079" y="6035040"/>
            <a:ext cx="6400800" cy="182880"/>
          </a:xfrm>
          <a:prstGeom prst="rect">
            <a:avLst/>
          </a:prstGeom>
        </p:spPr>
        <p:txBody>
          <a:bodyPr lIns="0">
            <a:noAutofit/>
          </a:bodyPr>
          <a:lstStyle>
            <a:lvl1pPr marL="0" indent="0">
              <a:buNone/>
              <a:defRPr sz="1000" spc="200" baseline="0">
                <a:solidFill>
                  <a:schemeClr val="tx1"/>
                </a:solidFill>
              </a:defRPr>
            </a:lvl1pPr>
          </a:lstStyle>
          <a:p>
            <a:pPr lvl="0"/>
            <a:r>
              <a:rPr lang="en-US"/>
              <a:t>OPTIONAL TEXT</a:t>
            </a:r>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Tree>
    <p:extLst>
      <p:ext uri="{BB962C8B-B14F-4D97-AF65-F5344CB8AC3E}">
        <p14:creationId xmlns:p14="http://schemas.microsoft.com/office/powerpoint/2010/main" val="31941829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Tidal - Black">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5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Click to add a Title</a:t>
            </a:r>
            <a:endParaRPr lang="en-IN"/>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2" name="Text Placeholder 16">
            <a:extLst>
              <a:ext uri="{FF2B5EF4-FFF2-40B4-BE49-F238E27FC236}">
                <a16:creationId xmlns:a16="http://schemas.microsoft.com/office/drawing/2014/main" id="{8C412269-B983-3073-A130-4CC9F5C2596A}"/>
              </a:ext>
            </a:extLst>
          </p:cNvPr>
          <p:cNvSpPr>
            <a:spLocks noGrp="1"/>
          </p:cNvSpPr>
          <p:nvPr>
            <p:ph type="body" sz="quarter" idx="12" hasCustomPrompt="1"/>
          </p:nvPr>
        </p:nvSpPr>
        <p:spPr>
          <a:xfrm>
            <a:off x="640080" y="5900570"/>
            <a:ext cx="6400800" cy="182880"/>
          </a:xfrm>
          <a:prstGeom prst="rect">
            <a:avLst/>
          </a:prstGeom>
        </p:spPr>
        <p:txBody>
          <a:bodyPr lIns="27432">
            <a:noAutofit/>
          </a:bodyPr>
          <a:lstStyle>
            <a:lvl1pPr marL="0" indent="0">
              <a:buNone/>
              <a:defRPr sz="1000" spc="200" baseline="0">
                <a:solidFill>
                  <a:schemeClr val="tx1"/>
                </a:solidFill>
              </a:defRPr>
            </a:lvl1pPr>
          </a:lstStyle>
          <a:p>
            <a:pPr lvl="0"/>
            <a:r>
              <a:rPr lang="en-US"/>
              <a:t>OPTIONAL TEXT</a:t>
            </a:r>
          </a:p>
        </p:txBody>
      </p:sp>
    </p:spTree>
    <p:extLst>
      <p:ext uri="{BB962C8B-B14F-4D97-AF65-F5344CB8AC3E}">
        <p14:creationId xmlns:p14="http://schemas.microsoft.com/office/powerpoint/2010/main" val="131269569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140810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2685571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Black">
    <p:bg>
      <p:bgPr>
        <a:solidFill>
          <a:schemeClr val="tx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6" name="Text Placeholder 2">
            <a:extLst>
              <a:ext uri="{FF2B5EF4-FFF2-40B4-BE49-F238E27FC236}">
                <a16:creationId xmlns:a16="http://schemas.microsoft.com/office/drawing/2014/main" id="{7C1DFA83-DBBD-89EB-FC7F-E419D6F84B4C}"/>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bg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12" name="Group 11">
            <a:extLst>
              <a:ext uri="{FF2B5EF4-FFF2-40B4-BE49-F238E27FC236}">
                <a16:creationId xmlns:a16="http://schemas.microsoft.com/office/drawing/2014/main" id="{7FA077B6-9EEE-CC1F-D5C2-1F9522043CD9}"/>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13" name="Parallelogram 12">
              <a:extLst>
                <a:ext uri="{FF2B5EF4-FFF2-40B4-BE49-F238E27FC236}">
                  <a16:creationId xmlns:a16="http://schemas.microsoft.com/office/drawing/2014/main" id="{9C1D0426-FBF4-DE00-E02C-8D5F2C15D38D}"/>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7C2D95B7-4DFD-C1E7-A6C5-3801A98784F4}"/>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9268492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White">
    <p:bg>
      <p:bgPr>
        <a:solidFill>
          <a:schemeClr val="bg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2">
            <a:extLst>
              <a:ext uri="{FF2B5EF4-FFF2-40B4-BE49-F238E27FC236}">
                <a16:creationId xmlns:a16="http://schemas.microsoft.com/office/drawing/2014/main" id="{CD46454F-EC71-48E1-5357-FB89F2DE283E}"/>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tx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4" name="Group 3">
            <a:extLst>
              <a:ext uri="{FF2B5EF4-FFF2-40B4-BE49-F238E27FC236}">
                <a16:creationId xmlns:a16="http://schemas.microsoft.com/office/drawing/2014/main" id="{5B8EA5A1-39EA-85B7-EDAD-977AF9E75BD1}"/>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5" name="Parallelogram 4">
              <a:extLst>
                <a:ext uri="{FF2B5EF4-FFF2-40B4-BE49-F238E27FC236}">
                  <a16:creationId xmlns:a16="http://schemas.microsoft.com/office/drawing/2014/main" id="{797DAAA4-D1BF-74F7-EDCE-BCC5787E0C3A}"/>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A59C8600-5483-3E2A-648E-BC4B97D127A5}"/>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7686413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de - Black (Title Only)">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3026566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de - White (Title Only)">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spc="0" baseline="0">
                <a:gradFill>
                  <a:gsLst>
                    <a:gs pos="51000">
                      <a:srgbClr val="7E18BE"/>
                    </a:gs>
                    <a:gs pos="0">
                      <a:schemeClr val="tx2"/>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159740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d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74808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2 Lin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1131753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d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366198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2 Lin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598630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nal Slide - White">
    <p:bg>
      <p:bgPr>
        <a:solidFill>
          <a:schemeClr val="bg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hasCustomPrompt="1"/>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tx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Global Headquarters</a:t>
            </a:r>
          </a:p>
          <a:p>
            <a:pPr lvl="0"/>
            <a:r>
              <a:rPr lang="en-US"/>
              <a:t>33 S Wood Ave., 5th Floor</a:t>
            </a:r>
          </a:p>
          <a:p>
            <a:pPr lvl="0"/>
            <a:r>
              <a:rPr lang="en-US"/>
              <a:t>Iselin, NJ 08830</a:t>
            </a:r>
            <a:br>
              <a:rPr lang="en-US"/>
            </a:br>
            <a:r>
              <a:rPr lang="en-US"/>
              <a:t>+1.877.456.9922</a:t>
            </a:r>
            <a:br>
              <a:rPr lang="en-US"/>
            </a:br>
            <a:r>
              <a:rPr lang="en-US" err="1"/>
              <a:t>info@orioninc.com</a:t>
            </a:r>
            <a:r>
              <a:rPr lang="en-US"/>
              <a:t> </a:t>
            </a:r>
          </a:p>
          <a:p>
            <a:pPr lvl="0"/>
            <a:endParaRPr lang="en-US"/>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lum bright="-100000"/>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5" name="TextBox 14">
            <a:extLst>
              <a:ext uri="{FF2B5EF4-FFF2-40B4-BE49-F238E27FC236}">
                <a16:creationId xmlns:a16="http://schemas.microsoft.com/office/drawing/2014/main" id="{2DBC412D-3E01-BD56-691E-4CD8C776D62C}"/>
              </a:ext>
            </a:extLst>
          </p:cNvPr>
          <p:cNvSpPr txBox="1"/>
          <p:nvPr/>
        </p:nvSpPr>
        <p:spPr>
          <a:xfrm>
            <a:off x="8926692" y="4623358"/>
            <a:ext cx="2796879" cy="1292662"/>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rgbClr val="000000"/>
              </a:solidFill>
              <a:effectLst/>
              <a:uLnTx/>
              <a:uFillTx/>
              <a:latin typeface="Arial"/>
              <a:ea typeface="+mn-ea"/>
              <a:cs typeface="Arial"/>
            </a:endParaRPr>
          </a:p>
        </p:txBody>
      </p:sp>
      <p:pic>
        <p:nvPicPr>
          <p:cNvPr id="16" name="Picture 15" descr="Linkedin logo png, Linkedin icon transparent png 18930480 PNG">
            <a:extLst>
              <a:ext uri="{FF2B5EF4-FFF2-40B4-BE49-F238E27FC236}">
                <a16:creationId xmlns:a16="http://schemas.microsoft.com/office/drawing/2014/main" id="{14DEBB42-E32D-1F80-C7F6-EB28422002BC}"/>
              </a:ext>
            </a:extLst>
          </p:cNvPr>
          <p:cNvPicPr>
            <a:picLocks noChangeAspect="1"/>
          </p:cNvPicPr>
          <p:nvPr/>
        </p:nvPicPr>
        <p:blipFill>
          <a:blip r:embed="rId8"/>
          <a:stretch>
            <a:fillRect/>
          </a:stretch>
        </p:blipFill>
        <p:spPr>
          <a:xfrm>
            <a:off x="8684277" y="4944986"/>
            <a:ext cx="329423" cy="329423"/>
          </a:xfrm>
          <a:prstGeom prst="rect">
            <a:avLst/>
          </a:prstGeom>
        </p:spPr>
      </p:pic>
      <p:pic>
        <p:nvPicPr>
          <p:cNvPr id="3" name="Picture 2" descr="Instagram logo Images - Free Download ...">
            <a:extLst>
              <a:ext uri="{FF2B5EF4-FFF2-40B4-BE49-F238E27FC236}">
                <a16:creationId xmlns:a16="http://schemas.microsoft.com/office/drawing/2014/main" id="{9A4352E7-DD4C-74A0-2D68-B71A8ECA8445}"/>
              </a:ext>
            </a:extLst>
          </p:cNvPr>
          <p:cNvPicPr>
            <a:picLocks noChangeAspect="1"/>
          </p:cNvPicPr>
          <p:nvPr userDrawn="1"/>
        </p:nvPicPr>
        <p:blipFill>
          <a:blip r:embed="rId9"/>
          <a:srcRect l="11245" t="11067" r="11955" b="11067"/>
          <a:stretch>
            <a:fillRect/>
          </a:stretch>
        </p:blipFill>
        <p:spPr>
          <a:xfrm>
            <a:off x="8756587" y="5353892"/>
            <a:ext cx="184801" cy="187368"/>
          </a:xfrm>
          <a:prstGeom prst="roundRect">
            <a:avLst>
              <a:gd name="adj" fmla="val 18770"/>
            </a:avLst>
          </a:prstGeom>
        </p:spPr>
      </p:pic>
      <p:pic>
        <p:nvPicPr>
          <p:cNvPr id="10" name="Picture 9" descr="Website - Free web icons">
            <a:extLst>
              <a:ext uri="{FF2B5EF4-FFF2-40B4-BE49-F238E27FC236}">
                <a16:creationId xmlns:a16="http://schemas.microsoft.com/office/drawing/2014/main" id="{2A984760-D481-2F3B-8818-5A11592F296E}"/>
              </a:ext>
            </a:extLst>
          </p:cNvPr>
          <p:cNvPicPr>
            <a:picLocks noChangeAspect="1"/>
          </p:cNvPicPr>
          <p:nvPr userDrawn="1"/>
        </p:nvPicPr>
        <p:blipFill>
          <a:blip r:embed="rId10"/>
          <a:stretch>
            <a:fillRect/>
          </a:stretch>
        </p:blipFill>
        <p:spPr>
          <a:xfrm>
            <a:off x="8739068" y="4664454"/>
            <a:ext cx="218665" cy="218665"/>
          </a:xfrm>
          <a:prstGeom prst="rect">
            <a:avLst/>
          </a:prstGeom>
        </p:spPr>
      </p:pic>
      <p:pic>
        <p:nvPicPr>
          <p:cNvPr id="11" name="Picture 10" descr="File:X icon.svg - Wikimedia Commons">
            <a:extLst>
              <a:ext uri="{FF2B5EF4-FFF2-40B4-BE49-F238E27FC236}">
                <a16:creationId xmlns:a16="http://schemas.microsoft.com/office/drawing/2014/main" id="{786E8E88-AA37-E300-8278-7A04F6116236}"/>
              </a:ext>
            </a:extLst>
          </p:cNvPr>
          <p:cNvPicPr>
            <a:picLocks noChangeAspect="1"/>
          </p:cNvPicPr>
          <p:nvPr userDrawn="1"/>
        </p:nvPicPr>
        <p:blipFill>
          <a:blip r:embed="rId11"/>
          <a:stretch>
            <a:fillRect/>
          </a:stretch>
        </p:blipFill>
        <p:spPr>
          <a:xfrm>
            <a:off x="8746067" y="5669649"/>
            <a:ext cx="199055" cy="199055"/>
          </a:xfrm>
          <a:prstGeom prst="rect">
            <a:avLst/>
          </a:prstGeom>
        </p:spPr>
      </p:pic>
    </p:spTree>
    <p:extLst>
      <p:ext uri="{BB962C8B-B14F-4D97-AF65-F5344CB8AC3E}">
        <p14:creationId xmlns:p14="http://schemas.microsoft.com/office/powerpoint/2010/main" val="1645800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inal Slide - Black">
    <p:bg>
      <p:bgPr>
        <a:solidFill>
          <a:schemeClr val="tx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bg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Click to edit Master text styles</a:t>
            </a:r>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9" name="TextBox 18">
            <a:extLst>
              <a:ext uri="{FF2B5EF4-FFF2-40B4-BE49-F238E27FC236}">
                <a16:creationId xmlns:a16="http://schemas.microsoft.com/office/drawing/2014/main" id="{7F5E76D2-F382-0592-682D-F58FCBC6BA5D}"/>
              </a:ext>
            </a:extLst>
          </p:cNvPr>
          <p:cNvSpPr txBox="1"/>
          <p:nvPr/>
        </p:nvSpPr>
        <p:spPr>
          <a:xfrm>
            <a:off x="8926692" y="4623358"/>
            <a:ext cx="2796879" cy="1323439"/>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chemeClr val="bg1"/>
              </a:solidFill>
              <a:effectLst/>
              <a:uLnTx/>
              <a:uFillTx/>
              <a:latin typeface="Arial"/>
              <a:ea typeface="+mn-ea"/>
              <a:cs typeface="Arial"/>
            </a:endParaRPr>
          </a:p>
        </p:txBody>
      </p:sp>
      <p:pic>
        <p:nvPicPr>
          <p:cNvPr id="23" name="Picture 22" descr="Website - Free web icons">
            <a:extLst>
              <a:ext uri="{FF2B5EF4-FFF2-40B4-BE49-F238E27FC236}">
                <a16:creationId xmlns:a16="http://schemas.microsoft.com/office/drawing/2014/main" id="{85DF9A9A-C543-35B7-2ED8-38EFD74BA7F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8738298" y="4664454"/>
            <a:ext cx="218665" cy="218665"/>
          </a:xfrm>
          <a:prstGeom prst="rect">
            <a:avLst/>
          </a:prstGeom>
        </p:spPr>
      </p:pic>
      <p:pic>
        <p:nvPicPr>
          <p:cNvPr id="24" name="Picture 23" descr="Linkedin - Free social media icons">
            <a:extLst>
              <a:ext uri="{FF2B5EF4-FFF2-40B4-BE49-F238E27FC236}">
                <a16:creationId xmlns:a16="http://schemas.microsoft.com/office/drawing/2014/main" id="{24F6F54C-527F-C0A6-28CD-314A2DB89878}"/>
              </a:ext>
            </a:extLst>
          </p:cNvPr>
          <p:cNvPicPr>
            <a:picLocks noChangeAspect="1"/>
          </p:cNvPicPr>
          <p:nvPr userDrawn="1"/>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8749162" y="5005792"/>
            <a:ext cx="196936" cy="196936"/>
          </a:xfrm>
          <a:prstGeom prst="rect">
            <a:avLst/>
          </a:prstGeom>
        </p:spPr>
      </p:pic>
      <p:pic>
        <p:nvPicPr>
          <p:cNvPr id="25" name="Picture 24" descr="File:CIS-A2K Instagram Icon (Black).svg - Wikimedia Commons">
            <a:extLst>
              <a:ext uri="{FF2B5EF4-FFF2-40B4-BE49-F238E27FC236}">
                <a16:creationId xmlns:a16="http://schemas.microsoft.com/office/drawing/2014/main" id="{F380B0D0-4207-59F4-E678-A11C01D791D8}"/>
              </a:ext>
            </a:extLst>
          </p:cNvPr>
          <p:cNvPicPr>
            <a:picLocks noChangeAspect="1"/>
          </p:cNvPicPr>
          <p:nvPr userDrawn="1"/>
        </p:nvPicPr>
        <p:blipFill>
          <a:blip r:embed="rId12"/>
          <a:stretch>
            <a:fillRect/>
          </a:stretch>
        </p:blipFill>
        <p:spPr>
          <a:xfrm>
            <a:off x="8701083" y="5299211"/>
            <a:ext cx="293095" cy="293095"/>
          </a:xfrm>
          <a:prstGeom prst="rect">
            <a:avLst/>
          </a:prstGeom>
        </p:spPr>
      </p:pic>
      <p:pic>
        <p:nvPicPr>
          <p:cNvPr id="27" name="Picture 26" descr="Twitter x logo Images - Free Download on Freepik">
            <a:extLst>
              <a:ext uri="{FF2B5EF4-FFF2-40B4-BE49-F238E27FC236}">
                <a16:creationId xmlns:a16="http://schemas.microsoft.com/office/drawing/2014/main" id="{FBF43D94-D6E7-9636-C843-CE31B068483E}"/>
              </a:ext>
            </a:extLst>
          </p:cNvPr>
          <p:cNvPicPr>
            <a:picLocks noChangeAspect="1"/>
          </p:cNvPicPr>
          <p:nvPr userDrawn="1"/>
        </p:nvPicPr>
        <p:blipFill>
          <a:blip r:embed="rId13"/>
          <a:srcRect l="17325" t="17471" r="17848" b="17556"/>
          <a:stretch>
            <a:fillRect/>
          </a:stretch>
        </p:blipFill>
        <p:spPr>
          <a:xfrm>
            <a:off x="8759682" y="5686874"/>
            <a:ext cx="175897" cy="176294"/>
          </a:xfrm>
          <a:prstGeom prst="ellipse">
            <a:avLst/>
          </a:prstGeom>
          <a:ln w="3175">
            <a:solidFill>
              <a:schemeClr val="bg2"/>
            </a:solidFill>
          </a:ln>
        </p:spPr>
      </p:pic>
    </p:spTree>
    <p:extLst>
      <p:ext uri="{BB962C8B-B14F-4D97-AF65-F5344CB8AC3E}">
        <p14:creationId xmlns:p14="http://schemas.microsoft.com/office/powerpoint/2010/main" val="12818313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71F5A975-01B0-1E45-A56B-C68FA2410A50}"/>
              </a:ext>
            </a:extLst>
          </p:cNvPr>
          <p:cNvSpPr>
            <a:spLocks noGrp="1"/>
          </p:cNvSpPr>
          <p:nvPr>
            <p:ph type="ftr" sz="quarter" idx="3"/>
          </p:nvPr>
        </p:nvSpPr>
        <p:spPr>
          <a:xfrm>
            <a:off x="609600" y="6413499"/>
            <a:ext cx="4114800" cy="208585"/>
          </a:xfrm>
          <a:prstGeom prst="rect">
            <a:avLst/>
          </a:prstGeom>
        </p:spPr>
        <p:txBody>
          <a:bodyPr vert="horz" lIns="0" tIns="0" rIns="0" bIns="0" rtlCol="0" anchor="b">
            <a:noAutofit/>
          </a:bodyPr>
          <a:lstStyle>
            <a:lvl1pPr algn="l">
              <a:defRPr sz="700" b="0" i="0">
                <a:solidFill>
                  <a:schemeClr val="tx1">
                    <a:tint val="75000"/>
                  </a:schemeClr>
                </a:solidFill>
                <a:latin typeface="Arial" panose="020B0604020202020204" pitchFamily="34" charset="0"/>
                <a:cs typeface="Arial" panose="020B0604020202020204" pitchFamily="34" charset="0"/>
              </a:defRPr>
            </a:lvl1pPr>
          </a:lstStyle>
          <a:p>
            <a:r>
              <a:rPr lang="en-US"/>
              <a:t>Proprietary and Confidential</a:t>
            </a:r>
          </a:p>
        </p:txBody>
      </p:sp>
      <p:sp>
        <p:nvSpPr>
          <p:cNvPr id="5" name="Title Placeholder 4">
            <a:extLst>
              <a:ext uri="{FF2B5EF4-FFF2-40B4-BE49-F238E27FC236}">
                <a16:creationId xmlns:a16="http://schemas.microsoft.com/office/drawing/2014/main" id="{748A1652-E12D-BB40-863C-B183DCEF34DC}"/>
              </a:ext>
            </a:extLst>
          </p:cNvPr>
          <p:cNvSpPr>
            <a:spLocks noGrp="1"/>
          </p:cNvSpPr>
          <p:nvPr>
            <p:ph type="title"/>
          </p:nvPr>
        </p:nvSpPr>
        <p:spPr>
          <a:xfrm>
            <a:off x="609599" y="460376"/>
            <a:ext cx="10972799" cy="312265"/>
          </a:xfrm>
          <a:prstGeom prst="rect">
            <a:avLst/>
          </a:prstGeom>
        </p:spPr>
        <p:txBody>
          <a:bodyPr vert="horz" lIns="0" tIns="0" rIns="0" bIns="0" rtlCol="0" anchor="t">
            <a:spAutoFit/>
          </a:bodyPr>
          <a:lstStyle/>
          <a:p>
            <a:pPr marL="0" lvl="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pPr>
            <a:r>
              <a:rPr lang="en-US"/>
              <a:t>CLICK TO EDIT MASTER TITLE STYLE</a:t>
            </a:r>
          </a:p>
        </p:txBody>
      </p:sp>
      <p:pic>
        <p:nvPicPr>
          <p:cNvPr id="7" name="Picture 6">
            <a:extLst>
              <a:ext uri="{FF2B5EF4-FFF2-40B4-BE49-F238E27FC236}">
                <a16:creationId xmlns:a16="http://schemas.microsoft.com/office/drawing/2014/main" id="{B79AC6D6-695B-DE90-0E74-45050645A13D}"/>
              </a:ext>
            </a:extLst>
          </p:cNvPr>
          <p:cNvPicPr>
            <a:picLocks noChangeAspect="1"/>
          </p:cNvPicPr>
          <p:nvPr userDrawn="1"/>
        </p:nvPicPr>
        <p:blipFill>
          <a:blip r:embed="rId16" cstate="screen">
            <a:alphaModFix amt="40000"/>
            <a:lum bright="70000" contrast="-7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Tree>
    <p:extLst>
      <p:ext uri="{BB962C8B-B14F-4D97-AF65-F5344CB8AC3E}">
        <p14:creationId xmlns:p14="http://schemas.microsoft.com/office/powerpoint/2010/main" val="4115792623"/>
      </p:ext>
    </p:extLst>
  </p:cSld>
  <p:clrMap bg1="lt1" tx1="dk1" bg2="lt2" tx2="dk2" accent1="accent1" accent2="accent2" accent3="accent3" accent4="accent4" accent5="accent5" accent6="accent6" hlink="hlink" folHlink="folHlink"/>
  <p:sldLayoutIdLst>
    <p:sldLayoutId id="2147483665" r:id="rId1"/>
    <p:sldLayoutId id="2147483733" r:id="rId2"/>
    <p:sldLayoutId id="2147483666" r:id="rId3"/>
    <p:sldLayoutId id="2147483667" r:id="rId4"/>
    <p:sldLayoutId id="2147483668" r:id="rId5"/>
    <p:sldLayoutId id="2147483669" r:id="rId6"/>
    <p:sldLayoutId id="2147483672" r:id="rId7"/>
    <p:sldLayoutId id="2147483673" r:id="rId8"/>
    <p:sldLayoutId id="2147483674" r:id="rId9"/>
    <p:sldLayoutId id="2147483787" r:id="rId10"/>
    <p:sldLayoutId id="2147483675" r:id="rId11"/>
    <p:sldLayoutId id="2147483786" r:id="rId12"/>
    <p:sldLayoutId id="2147483691" r:id="rId13"/>
    <p:sldLayoutId id="2147483785" r:id="rId14"/>
  </p:sldLayoutIdLst>
  <p:hf hdr="0" dt="0"/>
  <p:txStyles>
    <p:titleStyle>
      <a:lvl1pPr algn="l" defTabSz="1219170" rtl="0" eaLnBrk="1" latinLnBrk="0" hangingPunct="1">
        <a:lnSpc>
          <a:spcPct val="90000"/>
        </a:lnSpc>
        <a:spcBef>
          <a:spcPct val="0"/>
        </a:spcBef>
        <a:buNone/>
        <a:defRPr lang="en-US" sz="2000" b="1" i="0" kern="1200" spc="0" baseline="0" dirty="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p:titleStyle>
    <p:bodyStyle>
      <a:lvl1pPr marL="18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1pPr>
      <a:lvl2pPr marL="2322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2pPr>
      <a:lvl3pPr marL="462600" indent="0" algn="l" defTabSz="1219170" rtl="0" eaLnBrk="1" latinLnBrk="0" hangingPunct="1">
        <a:lnSpc>
          <a:spcPct val="110000"/>
        </a:lnSpc>
        <a:spcBef>
          <a:spcPts val="400"/>
        </a:spcBef>
        <a:spcAft>
          <a:spcPts val="400"/>
        </a:spcAft>
        <a:buClr>
          <a:schemeClr val="bg2"/>
        </a:buClr>
        <a:buFont typeface="Courier New" panose="02070309020205020404" pitchFamily="49" charset="0"/>
        <a:buNone/>
        <a:tabLst/>
        <a:defRPr sz="2400" b="0" i="0" kern="1200">
          <a:solidFill>
            <a:schemeClr val="tx1"/>
          </a:solidFill>
          <a:latin typeface="+mj-lt"/>
          <a:ea typeface="+mn-ea"/>
          <a:cs typeface="Arial" panose="020B0604020202020204" pitchFamily="34" charset="0"/>
        </a:defRPr>
      </a:lvl3pPr>
      <a:lvl4pPr marL="6930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4pPr>
      <a:lvl5pPr marL="9234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FFFFF"/>
          </p15:clr>
        </p15:guide>
        <p15:guide id="2" pos="7536">
          <p15:clr>
            <a:srgbClr val="FFFFFF"/>
          </p15:clr>
        </p15:guide>
        <p15:guide id="3" orient="horz" pos="4176">
          <p15:clr>
            <a:srgbClr val="547EBF"/>
          </p15:clr>
        </p15:guide>
        <p15:guide id="4" pos="144">
          <p15:clr>
            <a:srgbClr val="FFFFFF"/>
          </p15:clr>
        </p15:guide>
        <p15:guide id="5" pos="288">
          <p15:clr>
            <a:srgbClr val="5ACBF0"/>
          </p15:clr>
        </p15:guide>
        <p15:guide id="6" orient="horz" pos="4032">
          <p15:clr>
            <a:srgbClr val="5ACBF0"/>
          </p15:clr>
        </p15:guide>
        <p15:guide id="7" orient="horz" pos="290">
          <p15:clr>
            <a:srgbClr val="5ACBF0"/>
          </p15:clr>
        </p15:guide>
        <p15:guide id="9" pos="1464">
          <p15:clr>
            <a:srgbClr val="F26B43"/>
          </p15:clr>
        </p15:guide>
        <p15:guide id="10" pos="840">
          <p15:clr>
            <a:srgbClr val="F26B43"/>
          </p15:clr>
        </p15:guide>
        <p15:guide id="11" pos="2063">
          <p15:clr>
            <a:srgbClr val="F26B43"/>
          </p15:clr>
        </p15:guide>
        <p15:guide id="12" pos="2651">
          <p15:clr>
            <a:srgbClr val="F26B43"/>
          </p15:clr>
        </p15:guide>
        <p15:guide id="13" pos="3250">
          <p15:clr>
            <a:srgbClr val="F26B43"/>
          </p15:clr>
        </p15:guide>
        <p15:guide id="14" pos="3835">
          <p15:clr>
            <a:srgbClr val="F26B43"/>
          </p15:clr>
        </p15:guide>
        <p15:guide id="15" pos="4432">
          <p15:clr>
            <a:srgbClr val="F26B43"/>
          </p15:clr>
        </p15:guide>
        <p15:guide id="16" pos="5022">
          <p15:clr>
            <a:srgbClr val="F26B43"/>
          </p15:clr>
        </p15:guide>
        <p15:guide id="17" pos="5620">
          <p15:clr>
            <a:srgbClr val="F26B43"/>
          </p15:clr>
        </p15:guide>
        <p15:guide id="18" pos="6207">
          <p15:clr>
            <a:srgbClr val="F26B43"/>
          </p15:clr>
        </p15:guide>
        <p15:guide id="19" pos="6802">
          <p15:clr>
            <a:srgbClr val="F26B43"/>
          </p15:clr>
        </p15:guide>
        <p15:guide id="20" orient="horz" pos="756">
          <p15:clr>
            <a:srgbClr val="5ACBF0"/>
          </p15:clr>
        </p15:guide>
        <p15:guide id="21" orient="horz" pos="1225">
          <p15:clr>
            <a:srgbClr val="5ACBF0"/>
          </p15:clr>
        </p15:guide>
        <p15:guide id="22" orient="horz" pos="1692">
          <p15:clr>
            <a:srgbClr val="5ACBF0"/>
          </p15:clr>
        </p15:guide>
        <p15:guide id="23" orient="horz" pos="2157">
          <p15:clr>
            <a:srgbClr val="5ACBF0"/>
          </p15:clr>
        </p15:guide>
        <p15:guide id="24" orient="horz" pos="2629">
          <p15:clr>
            <a:srgbClr val="5ACBF0"/>
          </p15:clr>
        </p15:guide>
        <p15:guide id="25" orient="horz" pos="3096">
          <p15:clr>
            <a:srgbClr val="5ACBF0"/>
          </p15:clr>
        </p15:guide>
        <p15:guide id="26" orient="horz" pos="3570">
          <p15:clr>
            <a:srgbClr val="5ACBF0"/>
          </p15:clr>
        </p15:guide>
        <p15:guide id="29" pos="7392">
          <p15:clr>
            <a:srgbClr val="5ACBF0"/>
          </p15:clr>
        </p15:guide>
        <p15:guide id="30" pos="7440">
          <p15:clr>
            <a:srgbClr val="5ACBF0"/>
          </p15:clr>
        </p15:guide>
        <p15:guide id="31" pos="240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06 · Security &amp; Governance</a:t>
            </a:r>
          </a:p>
        </p:txBody>
      </p:sp>
      <p:sp>
        <p:nvSpPr>
          <p:cNvPr id="3" name="Text Placeholder 2"/>
          <p:cNvSpPr>
            <a:spLocks noGrp="1"/>
          </p:cNvSpPr>
          <p:nvPr>
            <p:ph type="body" idx="12" sz="quarter"/>
          </p:nvPr>
        </p:nvSpPr>
        <p:spPr/>
        <p:txBody>
          <a:bodyPr/>
          <a:lstStyle/>
          <a:p>
            <a:r>
              <a:rPr>
                <a:solidFill>
                  <a:srgbClr val="D5D5D5"/>
                </a:solidFill>
              </a:rPr>
              <a:t>Zero-trust · masking · guardrails · GDPR · audit  (D6, 19 ADRs — 1 open)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deck covers</a:t>
            </a:r>
          </a:p>
        </p:txBody>
      </p:sp>
      <p:sp>
        <p:nvSpPr>
          <p:cNvPr id="3" name="TextBox 2"/>
          <p:cNvSpPr txBox="1"/>
          <p:nvPr/>
        </p:nvSpPr>
        <p:spPr>
          <a:xfrm>
            <a:off x="8229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Zero-trust &amp; trust zones</a:t>
            </a:r>
          </a:p>
          <a:p>
            <a:pPr algn="l">
              <a:spcAft>
                <a:spcPts val="1000"/>
              </a:spcAft>
            </a:pPr>
            <a:r>
              <a:rPr sz="1800" b="1">
                <a:solidFill>
                  <a:srgbClr val="2ACCFF"/>
                </a:solidFill>
                <a:latin typeface="Calibri"/>
              </a:rPr>
              <a:t>▸ </a:t>
            </a:r>
            <a:r>
              <a:rPr sz="1800">
                <a:solidFill>
                  <a:srgbClr val="FFFFFF"/>
                </a:solidFill>
                <a:latin typeface="Calibri"/>
              </a:rPr>
              <a:t>AuthN/authZ boundary &amp; context propagation</a:t>
            </a:r>
          </a:p>
          <a:p>
            <a:pPr algn="l">
              <a:spcAft>
                <a:spcPts val="1000"/>
              </a:spcAft>
            </a:pPr>
            <a:r>
              <a:rPr sz="1800" b="1">
                <a:solidFill>
                  <a:srgbClr val="2ACCFF"/>
                </a:solidFill>
                <a:latin typeface="Calibri"/>
              </a:rPr>
              <a:t>▸ </a:t>
            </a:r>
            <a:r>
              <a:rPr sz="1800">
                <a:solidFill>
                  <a:srgbClr val="FFFFFF"/>
                </a:solidFill>
                <a:latin typeface="Calibri"/>
              </a:rPr>
              <a:t>Network segmentation, egress, encryption &amp; keys</a:t>
            </a:r>
          </a:p>
          <a:p>
            <a:pPr algn="l">
              <a:spcAft>
                <a:spcPts val="1000"/>
              </a:spcAft>
            </a:pPr>
            <a:r>
              <a:rPr sz="1800" b="1">
                <a:solidFill>
                  <a:srgbClr val="2ACCFF"/>
                </a:solidFill>
                <a:latin typeface="Calibri"/>
              </a:rPr>
              <a:t>▸ </a:t>
            </a:r>
            <a:r>
              <a:rPr sz="1800">
                <a:solidFill>
                  <a:srgbClr val="FFFFFF"/>
                </a:solidFill>
                <a:latin typeface="Calibri"/>
              </a:rPr>
              <a:t>Data classification &amp; PII protection</a:t>
            </a:r>
          </a:p>
          <a:p>
            <a:pPr algn="l">
              <a:spcAft>
                <a:spcPts val="1000"/>
              </a:spcAft>
            </a:pPr>
            <a:r>
              <a:rPr sz="1800" b="1">
                <a:solidFill>
                  <a:srgbClr val="2ACCFF"/>
                </a:solidFill>
                <a:latin typeface="Calibri"/>
              </a:rPr>
              <a:t>▸ </a:t>
            </a:r>
            <a:r>
              <a:rPr sz="1800">
                <a:solidFill>
                  <a:srgbClr val="FFFFFF"/>
                </a:solidFill>
                <a:latin typeface="Calibri"/>
              </a:rPr>
              <a:t>External-SLM data boundary &amp; masking regime</a:t>
            </a:r>
          </a:p>
        </p:txBody>
      </p:sp>
      <p:sp>
        <p:nvSpPr>
          <p:cNvPr id="4" name="TextBox 3"/>
          <p:cNvSpPr txBox="1"/>
          <p:nvPr/>
        </p:nvSpPr>
        <p:spPr>
          <a:xfrm>
            <a:off x="63093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Guardrail pipeline &amp; prompt-injection defence</a:t>
            </a:r>
          </a:p>
          <a:p>
            <a:pPr algn="l">
              <a:spcAft>
                <a:spcPts val="1000"/>
              </a:spcAft>
            </a:pPr>
            <a:r>
              <a:rPr sz="1800" b="1">
                <a:solidFill>
                  <a:srgbClr val="2ACCFF"/>
                </a:solidFill>
                <a:latin typeface="Calibri"/>
              </a:rPr>
              <a:t>▸ </a:t>
            </a:r>
            <a:r>
              <a:rPr sz="1800">
                <a:solidFill>
                  <a:srgbClr val="FFFFFF"/>
                </a:solidFill>
                <a:latin typeface="Calibri"/>
              </a:rPr>
              <a:t>Tool &amp; MCP security; RAG ACL enforcement</a:t>
            </a:r>
          </a:p>
          <a:p>
            <a:pPr algn="l">
              <a:spcAft>
                <a:spcPts val="1000"/>
              </a:spcAft>
            </a:pPr>
            <a:r>
              <a:rPr sz="1800" b="1">
                <a:solidFill>
                  <a:srgbClr val="2ACCFF"/>
                </a:solidFill>
                <a:latin typeface="Calibri"/>
              </a:rPr>
              <a:t>▸ </a:t>
            </a:r>
            <a:r>
              <a:rPr sz="1800">
                <a:solidFill>
                  <a:srgbClr val="FFFFFF"/>
                </a:solidFill>
                <a:latin typeface="Calibri"/>
              </a:rPr>
              <a:t>Responsible AI, human oversight &amp; HIL governance</a:t>
            </a:r>
          </a:p>
          <a:p>
            <a:pPr algn="l">
              <a:spcAft>
                <a:spcPts val="1000"/>
              </a:spcAft>
            </a:pPr>
            <a:r>
              <a:rPr sz="1800" b="1">
                <a:solidFill>
                  <a:srgbClr val="2ACCFF"/>
                </a:solidFill>
                <a:latin typeface="Calibri"/>
              </a:rPr>
              <a:t>▸ </a:t>
            </a:r>
            <a:r>
              <a:rPr sz="1800">
                <a:solidFill>
                  <a:srgbClr val="FFFFFF"/>
                </a:solidFill>
                <a:latin typeface="Calibri"/>
              </a:rPr>
              <a:t>GDPR, safeguarding &amp; children's data; audit logging</a:t>
            </a:r>
          </a:p>
          <a:p>
            <a:pPr algn="l">
              <a:spcAft>
                <a:spcPts val="1000"/>
              </a:spcAft>
            </a:pPr>
            <a:r>
              <a:rPr sz="1800" b="1">
                <a:solidFill>
                  <a:srgbClr val="2ACCFF"/>
                </a:solidFill>
                <a:latin typeface="Calibri"/>
              </a:rPr>
              <a:t>▸ </a:t>
            </a:r>
            <a:r>
              <a:rPr sz="1800">
                <a:solidFill>
                  <a:srgbClr val="FFFFFF"/>
                </a:solidFill>
                <a:latin typeface="Calibri"/>
              </a:rPr>
              <a:t>Change governance, release gates &amp; standards conformance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Zero-trust &amp; trust zones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D6-01</a:t>
            </a:r>
          </a:p>
        </p:txBody>
      </p:sp>
      <p:sp>
        <p:nvSpPr>
          <p:cNvPr id="4" name="Rounded Rectangle 3"/>
          <p:cNvSpPr/>
          <p:nvPr/>
        </p:nvSpPr>
        <p:spPr>
          <a:xfrm>
            <a:off x="640080" y="2011680"/>
            <a:ext cx="2468880" cy="2926080"/>
          </a:xfrm>
          <a:prstGeom prst="roundRect">
            <a:avLst/>
          </a:prstGeom>
          <a:solidFill>
            <a:srgbClr val="1E222B"/>
          </a:solidFill>
          <a:ln w="16510">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822959" y="2194560"/>
            <a:ext cx="2103120" cy="457200"/>
          </a:xfrm>
          <a:prstGeom prst="rect">
            <a:avLst/>
          </a:prstGeom>
          <a:noFill/>
        </p:spPr>
        <p:txBody>
          <a:bodyPr wrap="square" anchor="t" lIns="0" rIns="0" tIns="0" bIns="0">
            <a:spAutoFit/>
          </a:bodyPr>
          <a:lstStyle/>
          <a:p>
            <a:pPr algn="l"/>
            <a:r>
              <a:rPr sz="1400" b="1" i="0">
                <a:solidFill>
                  <a:srgbClr val="FE2579"/>
                </a:solidFill>
                <a:latin typeface="Calibri"/>
              </a:rPr>
              <a:t>UNTRUSTED</a:t>
            </a:r>
          </a:p>
        </p:txBody>
      </p:sp>
      <p:sp>
        <p:nvSpPr>
          <p:cNvPr id="6" name="TextBox 5"/>
          <p:cNvSpPr txBox="1"/>
          <p:nvPr/>
        </p:nvSpPr>
        <p:spPr>
          <a:xfrm>
            <a:off x="822959" y="2743200"/>
            <a:ext cx="2103120" cy="2011680"/>
          </a:xfrm>
          <a:prstGeom prst="rect">
            <a:avLst/>
          </a:prstGeom>
          <a:noFill/>
        </p:spPr>
        <p:txBody>
          <a:bodyPr wrap="square" anchor="t" lIns="0" rIns="0" tIns="0" bIns="0">
            <a:spAutoFit/>
          </a:bodyPr>
          <a:lstStyle/>
          <a:p>
            <a:pPr algn="l"/>
            <a:r>
              <a:rPr sz="1200" b="0" i="0">
                <a:solidFill>
                  <a:srgbClr val="D5D5D5"/>
                </a:solidFill>
                <a:latin typeface="Calibri"/>
              </a:rPr>
              <a:t>user input · external SLM · public content</a:t>
            </a:r>
          </a:p>
        </p:txBody>
      </p:sp>
      <p:sp>
        <p:nvSpPr>
          <p:cNvPr id="7" name="Rounded Rectangle 6"/>
          <p:cNvSpPr/>
          <p:nvPr/>
        </p:nvSpPr>
        <p:spPr>
          <a:xfrm>
            <a:off x="3273552" y="2011680"/>
            <a:ext cx="2377440" cy="2926080"/>
          </a:xfrm>
          <a:prstGeom prst="roundRect">
            <a:avLst/>
          </a:prstGeom>
          <a:solidFill>
            <a:srgbClr val="1E222B"/>
          </a:solidFill>
          <a:ln w="16510">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8" name="TextBox 7"/>
          <p:cNvSpPr txBox="1"/>
          <p:nvPr/>
        </p:nvSpPr>
        <p:spPr>
          <a:xfrm>
            <a:off x="3456432" y="2194560"/>
            <a:ext cx="2011680" cy="457200"/>
          </a:xfrm>
          <a:prstGeom prst="rect">
            <a:avLst/>
          </a:prstGeom>
          <a:noFill/>
        </p:spPr>
        <p:txBody>
          <a:bodyPr wrap="square" anchor="t" lIns="0" rIns="0" tIns="0" bIns="0">
            <a:spAutoFit/>
          </a:bodyPr>
          <a:lstStyle/>
          <a:p>
            <a:pPr algn="l"/>
            <a:r>
              <a:rPr sz="1400" b="1" i="0">
                <a:solidFill>
                  <a:srgbClr val="FED038"/>
                </a:solidFill>
                <a:latin typeface="Calibri"/>
              </a:rPr>
              <a:t>PERIMETER</a:t>
            </a:r>
          </a:p>
        </p:txBody>
      </p:sp>
      <p:sp>
        <p:nvSpPr>
          <p:cNvPr id="9" name="TextBox 8"/>
          <p:cNvSpPr txBox="1"/>
          <p:nvPr/>
        </p:nvSpPr>
        <p:spPr>
          <a:xfrm>
            <a:off x="3456432" y="2743200"/>
            <a:ext cx="2011680" cy="2011680"/>
          </a:xfrm>
          <a:prstGeom prst="rect">
            <a:avLst/>
          </a:prstGeom>
          <a:noFill/>
        </p:spPr>
        <p:txBody>
          <a:bodyPr wrap="square" anchor="t" lIns="0" rIns="0" tIns="0" bIns="0">
            <a:spAutoFit/>
          </a:bodyPr>
          <a:lstStyle/>
          <a:p>
            <a:pPr algn="l"/>
            <a:r>
              <a:rPr sz="1200" b="0" i="0">
                <a:solidFill>
                  <a:srgbClr val="D5D5D5"/>
                </a:solidFill>
                <a:latin typeface="Calibri"/>
              </a:rPr>
              <a:t>APIM — authN / authZ / rate-limit</a:t>
            </a:r>
          </a:p>
        </p:txBody>
      </p:sp>
      <p:cxnSp>
        <p:nvCxnSpPr>
          <p:cNvPr id="10" name="Connector 9"/>
          <p:cNvCxnSpPr/>
          <p:nvPr/>
        </p:nvCxnSpPr>
        <p:spPr>
          <a:xfrm>
            <a:off x="3108960" y="3474720"/>
            <a:ext cx="164592" cy="0"/>
          </a:xfrm>
          <a:prstGeom prst="line">
            <a:avLst/>
          </a:prstGeom>
          <a:ln w="1778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815584" y="2011680"/>
            <a:ext cx="3566160" cy="2926080"/>
          </a:xfrm>
          <a:prstGeom prst="roundRect">
            <a:avLst/>
          </a:prstGeom>
          <a:solidFill>
            <a:srgbClr val="1E222B"/>
          </a:solidFill>
          <a:ln w="16510">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2" name="TextBox 11"/>
          <p:cNvSpPr txBox="1"/>
          <p:nvPr/>
        </p:nvSpPr>
        <p:spPr>
          <a:xfrm>
            <a:off x="5998464" y="2194560"/>
            <a:ext cx="3200400" cy="457200"/>
          </a:xfrm>
          <a:prstGeom prst="rect">
            <a:avLst/>
          </a:prstGeom>
          <a:noFill/>
        </p:spPr>
        <p:txBody>
          <a:bodyPr wrap="square" anchor="t" lIns="0" rIns="0" tIns="0" bIns="0">
            <a:spAutoFit/>
          </a:bodyPr>
          <a:lstStyle/>
          <a:p>
            <a:pPr algn="l"/>
            <a:r>
              <a:rPr sz="1400" b="1" i="0">
                <a:solidFill>
                  <a:srgbClr val="2ACCFF"/>
                </a:solidFill>
                <a:latin typeface="Calibri"/>
              </a:rPr>
              <a:t>TRUSTED RUNTIME</a:t>
            </a:r>
          </a:p>
        </p:txBody>
      </p:sp>
      <p:sp>
        <p:nvSpPr>
          <p:cNvPr id="13" name="TextBox 12"/>
          <p:cNvSpPr txBox="1"/>
          <p:nvPr/>
        </p:nvSpPr>
        <p:spPr>
          <a:xfrm>
            <a:off x="5998464" y="2743200"/>
            <a:ext cx="3200400" cy="2011680"/>
          </a:xfrm>
          <a:prstGeom prst="rect">
            <a:avLst/>
          </a:prstGeom>
          <a:noFill/>
        </p:spPr>
        <p:txBody>
          <a:bodyPr wrap="square" anchor="t" lIns="0" rIns="0" tIns="0" bIns="0">
            <a:spAutoFit/>
          </a:bodyPr>
          <a:lstStyle/>
          <a:p>
            <a:pPr algn="l"/>
            <a:r>
              <a:rPr sz="1200" b="0" i="0">
                <a:solidFill>
                  <a:srgbClr val="D5D5D5"/>
                </a:solidFill>
                <a:latin typeface="Calibri"/>
              </a:rPr>
              <a:t>AKS — agents, harness, guardrails (in-tenancy)</a:t>
            </a:r>
          </a:p>
        </p:txBody>
      </p:sp>
      <p:cxnSp>
        <p:nvCxnSpPr>
          <p:cNvPr id="14" name="Connector 13"/>
          <p:cNvCxnSpPr/>
          <p:nvPr/>
        </p:nvCxnSpPr>
        <p:spPr>
          <a:xfrm>
            <a:off x="5650992" y="3474720"/>
            <a:ext cx="164592" cy="0"/>
          </a:xfrm>
          <a:prstGeom prst="line">
            <a:avLst/>
          </a:prstGeom>
          <a:ln w="1778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46336" y="2011680"/>
            <a:ext cx="2468880" cy="2926080"/>
          </a:xfrm>
          <a:prstGeom prst="roundRect">
            <a:avLst/>
          </a:prstGeom>
          <a:solidFill>
            <a:srgbClr val="1E222B"/>
          </a:solidFill>
          <a:ln w="16510">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6" name="TextBox 15"/>
          <p:cNvSpPr txBox="1"/>
          <p:nvPr/>
        </p:nvSpPr>
        <p:spPr>
          <a:xfrm>
            <a:off x="9729216" y="2194560"/>
            <a:ext cx="2103120" cy="457200"/>
          </a:xfrm>
          <a:prstGeom prst="rect">
            <a:avLst/>
          </a:prstGeom>
          <a:noFill/>
        </p:spPr>
        <p:txBody>
          <a:bodyPr wrap="square" anchor="t" lIns="0" rIns="0" tIns="0" bIns="0">
            <a:spAutoFit/>
          </a:bodyPr>
          <a:lstStyle/>
          <a:p>
            <a:pPr algn="l"/>
            <a:r>
              <a:rPr sz="1400" b="1" i="0">
                <a:solidFill>
                  <a:srgbClr val="48E84A"/>
                </a:solidFill>
                <a:latin typeface="Calibri"/>
              </a:rPr>
              <a:t>SYSTEM OF RECORD</a:t>
            </a:r>
          </a:p>
        </p:txBody>
      </p:sp>
      <p:sp>
        <p:nvSpPr>
          <p:cNvPr id="17" name="TextBox 16"/>
          <p:cNvSpPr txBox="1"/>
          <p:nvPr/>
        </p:nvSpPr>
        <p:spPr>
          <a:xfrm>
            <a:off x="9729216" y="2743200"/>
            <a:ext cx="2103120" cy="2011680"/>
          </a:xfrm>
          <a:prstGeom prst="rect">
            <a:avLst/>
          </a:prstGeom>
          <a:noFill/>
        </p:spPr>
        <p:txBody>
          <a:bodyPr wrap="square" anchor="t" lIns="0" rIns="0" tIns="0" bIns="0">
            <a:spAutoFit/>
          </a:bodyPr>
          <a:lstStyle/>
          <a:p>
            <a:pPr algn="l"/>
            <a:r>
              <a:rPr sz="1200" b="0" i="0">
                <a:solidFill>
                  <a:srgbClr val="D5D5D5"/>
                </a:solidFill>
                <a:latin typeface="Calibri"/>
              </a:rPr>
              <a:t>PFF enterprise APIs / DB — decides &amp; executes</a:t>
            </a:r>
          </a:p>
        </p:txBody>
      </p:sp>
      <p:cxnSp>
        <p:nvCxnSpPr>
          <p:cNvPr id="18" name="Connector 17"/>
          <p:cNvCxnSpPr/>
          <p:nvPr/>
        </p:nvCxnSpPr>
        <p:spPr>
          <a:xfrm>
            <a:off x="9381744" y="3474720"/>
            <a:ext cx="164592" cy="0"/>
          </a:xfrm>
          <a:prstGeom prst="line">
            <a:avLst/>
          </a:prstGeom>
          <a:ln w="1778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5212080"/>
            <a:ext cx="10881360" cy="731520"/>
          </a:xfrm>
          <a:prstGeom prst="rect">
            <a:avLst/>
          </a:prstGeom>
          <a:noFill/>
        </p:spPr>
        <p:txBody>
          <a:bodyPr wrap="square" anchor="t" lIns="0" rIns="0" tIns="0" bIns="0">
            <a:spAutoFit/>
          </a:bodyPr>
          <a:lstStyle/>
          <a:p>
            <a:pPr algn="l"/>
            <a:r>
              <a:rPr sz="1300" b="0" i="0">
                <a:solidFill>
                  <a:srgbClr val="D5D5D5"/>
                </a:solidFill>
                <a:latin typeface="Calibri"/>
              </a:rPr>
              <a:t>Trust decreases left→right for data; authority increases left→right. Nothing crosses a boundary without validation; egress to the untrusted zone is masked &amp; fail-closed.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AuthN/authZ boundary &amp; propagation</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D6-02 / D6-03</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Boundary</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APIM/enterprise auth authenticates &amp; authorizes — the AI never does.</a:t>
            </a:r>
          </a:p>
          <a:p>
            <a:pPr algn="l">
              <a:spcAft>
                <a:spcPts val="1200"/>
              </a:spcAft>
            </a:pPr>
            <a:r>
              <a:rPr sz="1500" b="1">
                <a:solidFill>
                  <a:srgbClr val="2ACCFF"/>
                </a:solidFill>
                <a:latin typeface="Calibri"/>
              </a:rPr>
              <a:t>▸ </a:t>
            </a:r>
            <a:r>
              <a:rPr sz="1500">
                <a:solidFill>
                  <a:srgbClr val="FFFFFF"/>
                </a:solidFill>
                <a:latin typeface="Calibri"/>
              </a:rPr>
              <a:t>The AI only consumes validated claims.</a:t>
            </a:r>
          </a:p>
          <a:p>
            <a:pPr algn="l">
              <a:spcAft>
                <a:spcPts val="1200"/>
              </a:spcAft>
            </a:pPr>
            <a:r>
              <a:rPr sz="1500" b="1">
                <a:solidFill>
                  <a:srgbClr val="2ACCFF"/>
                </a:solidFill>
                <a:latin typeface="Calibri"/>
              </a:rPr>
              <a:t>▸ </a:t>
            </a:r>
            <a:r>
              <a:rPr sz="1500">
                <a:solidFill>
                  <a:srgbClr val="FFFFFF"/>
                </a:solidFill>
                <a:latin typeface="Calibri"/>
              </a:rPr>
              <a:t>A model output is never an authorization decision.</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Context integrity</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Authorization context is integrity-protected &amp; propagated with the request.</a:t>
            </a:r>
          </a:p>
          <a:p>
            <a:pPr algn="l">
              <a:spcAft>
                <a:spcPts val="1200"/>
              </a:spcAft>
            </a:pPr>
            <a:r>
              <a:rPr sz="1500" b="1">
                <a:solidFill>
                  <a:srgbClr val="2ACCFF"/>
                </a:solidFill>
                <a:latin typeface="Calibri"/>
              </a:rPr>
              <a:t>▸ </a:t>
            </a:r>
            <a:r>
              <a:rPr sz="1500">
                <a:solidFill>
                  <a:srgbClr val="FFFFFF"/>
                </a:solidFill>
                <a:latin typeface="Calibri"/>
              </a:rPr>
              <a:t>Correlation IDs carry it through async/event paths.</a:t>
            </a:r>
          </a:p>
          <a:p>
            <a:pPr algn="l">
              <a:spcAft>
                <a:spcPts val="1200"/>
              </a:spcAft>
            </a:pPr>
            <a:r>
              <a:rPr sz="1500" b="1">
                <a:solidFill>
                  <a:srgbClr val="2ACCFF"/>
                </a:solidFill>
                <a:latin typeface="Calibri"/>
              </a:rPr>
              <a:t>▸ </a:t>
            </a:r>
            <a:r>
              <a:rPr sz="1500">
                <a:solidFill>
                  <a:srgbClr val="FFFFFF"/>
                </a:solidFill>
                <a:latin typeface="Calibri"/>
              </a:rPr>
              <a:t>Cache &amp; RAG are authorization-aware (never cross scopes).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egress, encryption &amp; keys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D6-04 / D6-05</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Segmentation &amp; egress</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Network segmentation between zones; controlled egress.</a:t>
            </a:r>
          </a:p>
          <a:p>
            <a:pPr algn="l">
              <a:spcAft>
                <a:spcPts val="1200"/>
              </a:spcAft>
            </a:pPr>
            <a:r>
              <a:rPr sz="1500" b="1">
                <a:solidFill>
                  <a:srgbClr val="2ACCFF"/>
                </a:solidFill>
                <a:latin typeface="Calibri"/>
              </a:rPr>
              <a:t>▸ </a:t>
            </a:r>
            <a:r>
              <a:rPr sz="1500">
                <a:solidFill>
                  <a:srgbClr val="FFFFFF"/>
                </a:solidFill>
                <a:latin typeface="Calibri"/>
              </a:rPr>
              <a:t>The only external egress is the masked SLM path.</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Encryption &amp; key management</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Encryption in transit and at rest.</a:t>
            </a:r>
          </a:p>
          <a:p>
            <a:pPr algn="l">
              <a:spcAft>
                <a:spcPts val="1200"/>
              </a:spcAft>
            </a:pPr>
            <a:r>
              <a:rPr sz="1500" b="1">
                <a:solidFill>
                  <a:srgbClr val="2ACCFF"/>
                </a:solidFill>
                <a:latin typeface="Calibri"/>
              </a:rPr>
              <a:t>▸ </a:t>
            </a:r>
            <a:r>
              <a:rPr sz="1500">
                <a:solidFill>
                  <a:srgbClr val="FFFFFF"/>
                </a:solidFill>
                <a:latin typeface="Calibri"/>
              </a:rPr>
              <a:t>Keys managed in Key Vault (SPN-only access, deck 05).</a:t>
            </a:r>
          </a:p>
          <a:p>
            <a:pPr algn="l">
              <a:spcAft>
                <a:spcPts val="1200"/>
              </a:spcAft>
            </a:pPr>
            <a:r>
              <a:rPr sz="1500" b="1">
                <a:solidFill>
                  <a:srgbClr val="2ACCFF"/>
                </a:solidFill>
                <a:latin typeface="Calibri"/>
              </a:rPr>
              <a:t>▸ </a:t>
            </a:r>
            <a:r>
              <a:rPr sz="1500">
                <a:solidFill>
                  <a:srgbClr val="FFFFFF"/>
                </a:solidFill>
                <a:latin typeface="Calibri"/>
              </a:rPr>
              <a:t>Token vault for masking is in-tenancy (next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classification &amp; PII</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D6-06</a:t>
            </a:r>
          </a:p>
        </p:txBody>
      </p:sp>
      <p:sp>
        <p:nvSpPr>
          <p:cNvPr id="4" name="TextBox 3"/>
          <p:cNvSpPr txBox="1"/>
          <p:nvPr/>
        </p:nvSpPr>
        <p:spPr>
          <a:xfrm>
            <a:off x="822960" y="1828800"/>
            <a:ext cx="10515600" cy="3474720"/>
          </a:xfrm>
          <a:prstGeom prst="rect">
            <a:avLst/>
          </a:prstGeom>
          <a:noFill/>
        </p:spPr>
        <p:txBody>
          <a:bodyPr wrap="square" lIns="0" tIns="0">
            <a:spAutoFit/>
          </a:bodyPr>
          <a:lstStyle/>
          <a:p>
            <a:pPr algn="l">
              <a:spcAft>
                <a:spcPts val="1400"/>
              </a:spcAft>
            </a:pPr>
            <a:r>
              <a:rPr sz="1600" b="1">
                <a:solidFill>
                  <a:srgbClr val="2ACCFF"/>
                </a:solidFill>
                <a:latin typeface="Calibri"/>
              </a:rPr>
              <a:t>▸ </a:t>
            </a:r>
            <a:r>
              <a:rPr sz="1600">
                <a:solidFill>
                  <a:srgbClr val="FFFFFF"/>
                </a:solidFill>
                <a:latin typeface="Calibri"/>
              </a:rPr>
              <a:t>Data is classified (public → confidential → special-category / children's data).</a:t>
            </a:r>
          </a:p>
          <a:p>
            <a:pPr algn="l">
              <a:spcAft>
                <a:spcPts val="1400"/>
              </a:spcAft>
            </a:pPr>
            <a:r>
              <a:rPr sz="1600" b="1">
                <a:solidFill>
                  <a:srgbClr val="2ACCFF"/>
                </a:solidFill>
                <a:latin typeface="Calibri"/>
              </a:rPr>
              <a:t>▸ </a:t>
            </a:r>
            <a:r>
              <a:rPr sz="1600">
                <a:solidFill>
                  <a:srgbClr val="FFFFFF"/>
                </a:solidFill>
                <a:latin typeface="Calibri"/>
              </a:rPr>
              <a:t>PII protection policies drive masking, logging redaction and retention.</a:t>
            </a:r>
          </a:p>
          <a:p>
            <a:pPr algn="l">
              <a:spcAft>
                <a:spcPts val="1400"/>
              </a:spcAft>
            </a:pPr>
            <a:r>
              <a:rPr sz="1600" b="1">
                <a:solidFill>
                  <a:srgbClr val="2ACCFF"/>
                </a:solidFill>
                <a:latin typeface="Calibri"/>
              </a:rPr>
              <a:t>▸ </a:t>
            </a:r>
            <a:r>
              <a:rPr sz="1600">
                <a:solidFill>
                  <a:srgbClr val="FFFFFF"/>
                </a:solidFill>
                <a:latin typeface="Calibri"/>
              </a:rPr>
              <a:t>Special-category data, children's personal data and secrets are the most tightly controlled.</a:t>
            </a:r>
          </a:p>
          <a:p>
            <a:pPr algn="l">
              <a:spcAft>
                <a:spcPts val="1400"/>
              </a:spcAft>
            </a:pPr>
            <a:r>
              <a:rPr sz="1600" b="1">
                <a:solidFill>
                  <a:srgbClr val="2ACCFF"/>
                </a:solidFill>
                <a:latin typeface="Calibri"/>
              </a:rPr>
              <a:t>▸ </a:t>
            </a:r>
            <a:r>
              <a:rPr sz="1600">
                <a:solidFill>
                  <a:srgbClr val="FFFFFF"/>
                </a:solidFill>
                <a:latin typeface="Calibri"/>
              </a:rPr>
              <a:t>Classification decides what may reach a model and how — feeding the masking regime.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SLM input masking regime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D6-19 (PROPOSED) refines D6-07 — deck 09</a:t>
            </a:r>
          </a:p>
        </p:txBody>
      </p:sp>
      <p:sp>
        <p:nvSpPr>
          <p:cNvPr id="4" name="Rounded Rectangle 3"/>
          <p:cNvSpPr/>
          <p:nvPr/>
        </p:nvSpPr>
        <p:spPr>
          <a:xfrm>
            <a:off x="822960" y="1783080"/>
            <a:ext cx="5852160" cy="4023360"/>
          </a:xfrm>
          <a:prstGeom prst="roundRect">
            <a:avLst/>
          </a:prstGeom>
          <a:solidFill>
            <a:srgbClr val="14161C"/>
          </a:solidFill>
          <a:ln w="13970">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1024128" y="1920240"/>
            <a:ext cx="5449824" cy="365760"/>
          </a:xfrm>
          <a:prstGeom prst="rect">
            <a:avLst/>
          </a:prstGeom>
          <a:noFill/>
        </p:spPr>
        <p:txBody>
          <a:bodyPr wrap="square" anchor="t" lIns="0" rIns="0" tIns="0" bIns="0">
            <a:spAutoFit/>
          </a:bodyPr>
          <a:lstStyle/>
          <a:p>
            <a:pPr algn="l"/>
            <a:r>
              <a:rPr sz="1400" b="1" i="0">
                <a:solidFill>
                  <a:srgbClr val="FED038"/>
                </a:solidFill>
                <a:latin typeface="Calibri"/>
              </a:rPr>
              <a:t>Two regimes</a:t>
            </a:r>
          </a:p>
        </p:txBody>
      </p:sp>
      <p:sp>
        <p:nvSpPr>
          <p:cNvPr id="6" name="TextBox 5"/>
          <p:cNvSpPr txBox="1"/>
          <p:nvPr/>
        </p:nvSpPr>
        <p:spPr>
          <a:xfrm>
            <a:off x="1024128" y="2404872"/>
            <a:ext cx="5449824" cy="274320"/>
          </a:xfrm>
          <a:prstGeom prst="rect">
            <a:avLst/>
          </a:prstGeom>
          <a:noFill/>
        </p:spPr>
        <p:txBody>
          <a:bodyPr wrap="square" anchor="t" lIns="0" rIns="0" tIns="0" bIns="0">
            <a:spAutoFit/>
          </a:bodyPr>
          <a:lstStyle/>
          <a:p>
            <a:pPr algn="l"/>
            <a:r>
              <a:rPr sz="1200" b="1" i="0">
                <a:solidFill>
                  <a:srgbClr val="FFFFFF"/>
                </a:solidFill>
                <a:latin typeface="Calibri"/>
              </a:rPr>
              <a:t>External / hosted SLM</a:t>
            </a:r>
          </a:p>
        </p:txBody>
      </p:sp>
      <p:sp>
        <p:nvSpPr>
          <p:cNvPr id="7" name="TextBox 6"/>
          <p:cNvSpPr txBox="1"/>
          <p:nvPr/>
        </p:nvSpPr>
        <p:spPr>
          <a:xfrm>
            <a:off x="1024128" y="2660904"/>
            <a:ext cx="5449824" cy="457200"/>
          </a:xfrm>
          <a:prstGeom prst="rect">
            <a:avLst/>
          </a:prstGeom>
          <a:noFill/>
        </p:spPr>
        <p:txBody>
          <a:bodyPr wrap="square" anchor="t" lIns="0" rIns="0" tIns="0" bIns="0">
            <a:spAutoFit/>
          </a:bodyPr>
          <a:lstStyle/>
          <a:p>
            <a:pPr algn="l"/>
            <a:r>
              <a:rPr sz="1100" b="0" i="0">
                <a:solidFill>
                  <a:srgbClr val="D5D5D5"/>
                </a:solidFill>
                <a:latin typeface="Calibri"/>
              </a:rPr>
              <a:t>MANDATORY mask/tokenise-all, fail-closed — no raw PII/records egress</a:t>
            </a:r>
          </a:p>
        </p:txBody>
      </p:sp>
      <p:sp>
        <p:nvSpPr>
          <p:cNvPr id="8" name="TextBox 7"/>
          <p:cNvSpPr txBox="1"/>
          <p:nvPr/>
        </p:nvSpPr>
        <p:spPr>
          <a:xfrm>
            <a:off x="1024128" y="3118104"/>
            <a:ext cx="5449824" cy="274320"/>
          </a:xfrm>
          <a:prstGeom prst="rect">
            <a:avLst/>
          </a:prstGeom>
          <a:noFill/>
        </p:spPr>
        <p:txBody>
          <a:bodyPr wrap="square" anchor="t" lIns="0" rIns="0" tIns="0" bIns="0">
            <a:spAutoFit/>
          </a:bodyPr>
          <a:lstStyle/>
          <a:p>
            <a:pPr algn="l"/>
            <a:r>
              <a:rPr sz="1200" b="1" i="0">
                <a:solidFill>
                  <a:srgbClr val="FFFFFF"/>
                </a:solidFill>
                <a:latin typeface="Calibri"/>
              </a:rPr>
              <a:t>Hard-blocked</a:t>
            </a:r>
          </a:p>
        </p:txBody>
      </p:sp>
      <p:sp>
        <p:nvSpPr>
          <p:cNvPr id="9" name="TextBox 8"/>
          <p:cNvSpPr txBox="1"/>
          <p:nvPr/>
        </p:nvSpPr>
        <p:spPr>
          <a:xfrm>
            <a:off x="1024128" y="3374136"/>
            <a:ext cx="5449824" cy="457200"/>
          </a:xfrm>
          <a:prstGeom prst="rect">
            <a:avLst/>
          </a:prstGeom>
          <a:noFill/>
        </p:spPr>
        <p:txBody>
          <a:bodyPr wrap="square" anchor="t" lIns="0" rIns="0" tIns="0" bIns="0">
            <a:spAutoFit/>
          </a:bodyPr>
          <a:lstStyle/>
          <a:p>
            <a:pPr algn="l"/>
            <a:r>
              <a:rPr sz="1100" b="0" i="0">
                <a:solidFill>
                  <a:srgbClr val="D5D5D5"/>
                </a:solidFill>
                <a:latin typeface="Calibri"/>
              </a:rPr>
              <a:t>special-category, children's data, secrets — never sent</a:t>
            </a:r>
          </a:p>
        </p:txBody>
      </p:sp>
      <p:sp>
        <p:nvSpPr>
          <p:cNvPr id="10" name="TextBox 9"/>
          <p:cNvSpPr txBox="1"/>
          <p:nvPr/>
        </p:nvSpPr>
        <p:spPr>
          <a:xfrm>
            <a:off x="1024128" y="3831336"/>
            <a:ext cx="5449824" cy="274320"/>
          </a:xfrm>
          <a:prstGeom prst="rect">
            <a:avLst/>
          </a:prstGeom>
          <a:noFill/>
        </p:spPr>
        <p:txBody>
          <a:bodyPr wrap="square" anchor="t" lIns="0" rIns="0" tIns="0" bIns="0">
            <a:spAutoFit/>
          </a:bodyPr>
          <a:lstStyle/>
          <a:p>
            <a:pPr algn="l"/>
            <a:r>
              <a:rPr sz="1200" b="1" i="0">
                <a:solidFill>
                  <a:srgbClr val="FFFFFF"/>
                </a:solidFill>
                <a:latin typeface="Calibri"/>
              </a:rPr>
              <a:t>Self-hosted SLM</a:t>
            </a:r>
          </a:p>
        </p:txBody>
      </p:sp>
      <p:sp>
        <p:nvSpPr>
          <p:cNvPr id="11" name="TextBox 10"/>
          <p:cNvSpPr txBox="1"/>
          <p:nvPr/>
        </p:nvSpPr>
        <p:spPr>
          <a:xfrm>
            <a:off x="1024128" y="4087368"/>
            <a:ext cx="5449824" cy="457200"/>
          </a:xfrm>
          <a:prstGeom prst="rect">
            <a:avLst/>
          </a:prstGeom>
          <a:noFill/>
        </p:spPr>
        <p:txBody>
          <a:bodyPr wrap="square" anchor="t" lIns="0" rIns="0" tIns="0" bIns="0">
            <a:spAutoFit/>
          </a:bodyPr>
          <a:lstStyle/>
          <a:p>
            <a:pPr algn="l"/>
            <a:r>
              <a:rPr sz="1100" b="0" i="0">
                <a:solidFill>
                  <a:srgbClr val="D5D5D5"/>
                </a:solidFill>
                <a:latin typeface="Calibri"/>
              </a:rPr>
              <a:t>raw OR masked, per task class (stays in-tenancy)</a:t>
            </a:r>
          </a:p>
        </p:txBody>
      </p:sp>
      <p:sp>
        <p:nvSpPr>
          <p:cNvPr id="12" name="TextBox 11"/>
          <p:cNvSpPr txBox="1"/>
          <p:nvPr/>
        </p:nvSpPr>
        <p:spPr>
          <a:xfrm>
            <a:off x="1024128" y="4544568"/>
            <a:ext cx="5449824" cy="274320"/>
          </a:xfrm>
          <a:prstGeom prst="rect">
            <a:avLst/>
          </a:prstGeom>
          <a:noFill/>
        </p:spPr>
        <p:txBody>
          <a:bodyPr wrap="square" anchor="t" lIns="0" rIns="0" tIns="0" bIns="0">
            <a:spAutoFit/>
          </a:bodyPr>
          <a:lstStyle/>
          <a:p>
            <a:pPr algn="l"/>
            <a:r>
              <a:rPr sz="1200" b="1" i="0">
                <a:solidFill>
                  <a:srgbClr val="FFFFFF"/>
                </a:solidFill>
                <a:latin typeface="Calibri"/>
              </a:rPr>
              <a:t>Token vault</a:t>
            </a:r>
          </a:p>
        </p:txBody>
      </p:sp>
      <p:sp>
        <p:nvSpPr>
          <p:cNvPr id="13" name="TextBox 12"/>
          <p:cNvSpPr txBox="1"/>
          <p:nvPr/>
        </p:nvSpPr>
        <p:spPr>
          <a:xfrm>
            <a:off x="1024128" y="4800600"/>
            <a:ext cx="5449824" cy="457200"/>
          </a:xfrm>
          <a:prstGeom prst="rect">
            <a:avLst/>
          </a:prstGeom>
          <a:noFill/>
        </p:spPr>
        <p:txBody>
          <a:bodyPr wrap="square" anchor="t" lIns="0" rIns="0" tIns="0" bIns="0">
            <a:spAutoFit/>
          </a:bodyPr>
          <a:lstStyle/>
          <a:p>
            <a:pPr algn="l"/>
            <a:r>
              <a:rPr sz="1100" b="0" i="0">
                <a:solidFill>
                  <a:srgbClr val="D5D5D5"/>
                </a:solidFill>
                <a:latin typeface="Calibri"/>
              </a:rPr>
              <a:t>reversible re-identification inside the boundary</a:t>
            </a:r>
          </a:p>
        </p:txBody>
      </p:sp>
      <p:sp>
        <p:nvSpPr>
          <p:cNvPr id="14" name="TextBox 13"/>
          <p:cNvSpPr txBox="1"/>
          <p:nvPr/>
        </p:nvSpPr>
        <p:spPr>
          <a:xfrm>
            <a:off x="6858000" y="1920240"/>
            <a:ext cx="4480560" cy="3840480"/>
          </a:xfrm>
          <a:prstGeom prst="rect">
            <a:avLst/>
          </a:prstGeom>
          <a:noFill/>
        </p:spPr>
        <p:txBody>
          <a:bodyPr wrap="square" lIns="0" tIns="0">
            <a:spAutoFit/>
          </a:bodyPr>
          <a:lstStyle/>
          <a:p>
            <a:pPr algn="l">
              <a:spcAft>
                <a:spcPts val="1300"/>
              </a:spcAft>
            </a:pPr>
            <a:r>
              <a:rPr sz="1400" b="1">
                <a:solidFill>
                  <a:srgbClr val="2ACCFF"/>
                </a:solidFill>
                <a:latin typeface="Calibri"/>
              </a:rPr>
              <a:t>▸ </a:t>
            </a:r>
            <a:r>
              <a:rPr sz="1400">
                <a:solidFill>
                  <a:srgbClr val="FFFFFF"/>
                </a:solidFill>
                <a:latin typeface="Calibri"/>
              </a:rPr>
              <a:t>Strengthens D6-07 from 'minimise &amp; redact' into a testable, binary default.</a:t>
            </a:r>
          </a:p>
          <a:p>
            <a:pPr algn="l">
              <a:spcAft>
                <a:spcPts val="1300"/>
              </a:spcAft>
            </a:pPr>
            <a:r>
              <a:rPr sz="1400" b="1">
                <a:solidFill>
                  <a:srgbClr val="2ACCFF"/>
                </a:solidFill>
                <a:latin typeface="Calibri"/>
              </a:rPr>
              <a:t>▸ </a:t>
            </a:r>
            <a:r>
              <a:rPr sz="1400">
                <a:solidFill>
                  <a:srgbClr val="FFFFFF"/>
                </a:solidFill>
                <a:latin typeface="Calibri"/>
              </a:rPr>
              <a:t>External boundary fails closed if it cannot verify masking.</a:t>
            </a:r>
          </a:p>
          <a:p>
            <a:pPr algn="l">
              <a:spcAft>
                <a:spcPts val="1300"/>
              </a:spcAft>
            </a:pPr>
            <a:r>
              <a:rPr sz="1400" b="1">
                <a:solidFill>
                  <a:srgbClr val="2ACCFF"/>
                </a:solidFill>
                <a:latin typeface="Calibri"/>
              </a:rPr>
              <a:t>▸ </a:t>
            </a:r>
            <a:r>
              <a:rPr sz="1400">
                <a:solidFill>
                  <a:srgbClr val="FFFFFF"/>
                </a:solidFill>
                <a:latin typeface="Calibri"/>
              </a:rPr>
              <a:t>Awaiting ARB sign-off (DPO owner, DPIA update) + Phase 20 vault sizing.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Guardrail pipeline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D6-09 · at every boundary</a:t>
            </a:r>
          </a:p>
        </p:txBody>
      </p:sp>
      <p:sp>
        <p:nvSpPr>
          <p:cNvPr id="4" name="Rounded Rectangle 3"/>
          <p:cNvSpPr/>
          <p:nvPr/>
        </p:nvSpPr>
        <p:spPr>
          <a:xfrm>
            <a:off x="502920" y="2377440"/>
            <a:ext cx="1650491" cy="91440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Input</a:t>
            </a:r>
          </a:p>
        </p:txBody>
      </p:sp>
      <p:sp>
        <p:nvSpPr>
          <p:cNvPr id="5" name="Rounded Rectangle 4"/>
          <p:cNvSpPr/>
          <p:nvPr/>
        </p:nvSpPr>
        <p:spPr>
          <a:xfrm>
            <a:off x="2409444" y="2377440"/>
            <a:ext cx="1650491"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Context</a:t>
            </a:r>
          </a:p>
        </p:txBody>
      </p:sp>
      <p:cxnSp>
        <p:nvCxnSpPr>
          <p:cNvPr id="6" name="Connector 5"/>
          <p:cNvCxnSpPr/>
          <p:nvPr/>
        </p:nvCxnSpPr>
        <p:spPr>
          <a:xfrm>
            <a:off x="2153411"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15968" y="2377440"/>
            <a:ext cx="1650491" cy="914400"/>
          </a:xfrm>
          <a:prstGeom prst="roundRect">
            <a:avLst/>
          </a:prstGeom>
          <a:solidFill>
            <a:srgbClr val="1E222B"/>
          </a:solidFill>
          <a:ln w="15875">
            <a:solidFill>
              <a:srgbClr val="5300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Prompt</a:t>
            </a:r>
          </a:p>
        </p:txBody>
      </p:sp>
      <p:cxnSp>
        <p:nvCxnSpPr>
          <p:cNvPr id="8" name="Connector 7"/>
          <p:cNvCxnSpPr/>
          <p:nvPr/>
        </p:nvCxnSpPr>
        <p:spPr>
          <a:xfrm>
            <a:off x="4059935"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22492" y="2377440"/>
            <a:ext cx="1650491" cy="914400"/>
          </a:xfrm>
          <a:prstGeom prst="roundRect">
            <a:avLst/>
          </a:prstGeom>
          <a:solidFill>
            <a:srgbClr val="1E222B"/>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Tool</a:t>
            </a:r>
          </a:p>
        </p:txBody>
      </p:sp>
      <p:cxnSp>
        <p:nvCxnSpPr>
          <p:cNvPr id="10" name="Connector 9"/>
          <p:cNvCxnSpPr/>
          <p:nvPr/>
        </p:nvCxnSpPr>
        <p:spPr>
          <a:xfrm>
            <a:off x="5966459"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29016" y="2377440"/>
            <a:ext cx="1650491" cy="91440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Model</a:t>
            </a:r>
          </a:p>
        </p:txBody>
      </p:sp>
      <p:cxnSp>
        <p:nvCxnSpPr>
          <p:cNvPr id="12" name="Connector 11"/>
          <p:cNvCxnSpPr/>
          <p:nvPr/>
        </p:nvCxnSpPr>
        <p:spPr>
          <a:xfrm>
            <a:off x="7872983"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035540" y="2377440"/>
            <a:ext cx="1650491" cy="91440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Output</a:t>
            </a:r>
          </a:p>
        </p:txBody>
      </p:sp>
      <p:cxnSp>
        <p:nvCxnSpPr>
          <p:cNvPr id="14" name="Connector 13"/>
          <p:cNvCxnSpPr/>
          <p:nvPr/>
        </p:nvCxnSpPr>
        <p:spPr>
          <a:xfrm>
            <a:off x="9779508"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3840480"/>
            <a:ext cx="10515600" cy="1737360"/>
          </a:xfrm>
          <a:prstGeom prst="rect">
            <a:avLst/>
          </a:prstGeom>
          <a:noFill/>
        </p:spPr>
        <p:txBody>
          <a:bodyPr wrap="square" lIns="0" tIns="0">
            <a:spAutoFit/>
          </a:bodyPr>
          <a:lstStyle/>
          <a:p>
            <a:pPr algn="l">
              <a:spcAft>
                <a:spcPts val="1100"/>
              </a:spcAft>
            </a:pPr>
            <a:r>
              <a:rPr sz="1400" b="1">
                <a:solidFill>
                  <a:srgbClr val="2ACCFF"/>
                </a:solidFill>
                <a:latin typeface="Calibri"/>
              </a:rPr>
              <a:t>▸ </a:t>
            </a:r>
            <a:r>
              <a:rPr sz="1400">
                <a:solidFill>
                  <a:srgbClr val="FFFFFF"/>
                </a:solidFill>
                <a:latin typeface="Calibri"/>
              </a:rPr>
              <a:t>Guardrails are middleware applied at every boundary, not a single output filter.</a:t>
            </a:r>
          </a:p>
          <a:p>
            <a:pPr algn="l">
              <a:spcAft>
                <a:spcPts val="1100"/>
              </a:spcAft>
            </a:pPr>
            <a:r>
              <a:rPr sz="1400" b="1">
                <a:solidFill>
                  <a:srgbClr val="2ACCFF"/>
                </a:solidFill>
                <a:latin typeface="Calibri"/>
              </a:rPr>
              <a:t>▸ </a:t>
            </a:r>
            <a:r>
              <a:rPr sz="1400">
                <a:solidFill>
                  <a:srgbClr val="FFFFFF"/>
                </a:solidFill>
                <a:latin typeface="Calibri"/>
              </a:rPr>
              <a:t>Each stage can block, sanitise, or escalate; failures are typed (GuardrailError).</a:t>
            </a:r>
          </a:p>
          <a:p>
            <a:pPr algn="l">
              <a:spcAft>
                <a:spcPts val="1100"/>
              </a:spcAft>
            </a:pPr>
            <a:r>
              <a:rPr sz="1400" b="1">
                <a:solidFill>
                  <a:srgbClr val="2ACCFF"/>
                </a:solidFill>
                <a:latin typeface="Calibri"/>
              </a:rPr>
              <a:t>▸ </a:t>
            </a:r>
            <a:r>
              <a:rPr sz="1400">
                <a:solidFill>
                  <a:srgbClr val="FFFFFF"/>
                </a:solidFill>
                <a:latin typeface="Calibri"/>
              </a:rPr>
              <a:t>Placement (D6-09) guarantees no path reaches the model or the user unchecked.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Prompt-injection &amp; jailbreak defence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D6-08</a:t>
            </a:r>
          </a:p>
        </p:txBody>
      </p:sp>
      <p:sp>
        <p:nvSpPr>
          <p:cNvPr id="4" name="TextBox 3"/>
          <p:cNvSpPr txBox="1"/>
          <p:nvPr/>
        </p:nvSpPr>
        <p:spPr>
          <a:xfrm>
            <a:off x="822960" y="1828800"/>
            <a:ext cx="10515600" cy="3474720"/>
          </a:xfrm>
          <a:prstGeom prst="rect">
            <a:avLst/>
          </a:prstGeom>
          <a:noFill/>
        </p:spPr>
        <p:txBody>
          <a:bodyPr wrap="square" lIns="0" tIns="0">
            <a:spAutoFit/>
          </a:bodyPr>
          <a:lstStyle/>
          <a:p>
            <a:pPr algn="l">
              <a:spcAft>
                <a:spcPts val="1400"/>
              </a:spcAft>
            </a:pPr>
            <a:r>
              <a:rPr sz="1600" b="1">
                <a:solidFill>
                  <a:srgbClr val="2ACCFF"/>
                </a:solidFill>
                <a:latin typeface="Calibri"/>
              </a:rPr>
              <a:t>▸ </a:t>
            </a:r>
            <a:r>
              <a:rPr sz="1600">
                <a:solidFill>
                  <a:srgbClr val="FFFFFF"/>
                </a:solidFill>
                <a:latin typeface="Calibri"/>
              </a:rPr>
              <a:t>Untrusted content (user text, RAG documents, tool output) is treated as data, never as instructions.</a:t>
            </a:r>
          </a:p>
          <a:p>
            <a:pPr algn="l">
              <a:spcAft>
                <a:spcPts val="1400"/>
              </a:spcAft>
            </a:pPr>
            <a:r>
              <a:rPr sz="1600" b="1">
                <a:solidFill>
                  <a:srgbClr val="2ACCFF"/>
                </a:solidFill>
                <a:latin typeface="Calibri"/>
              </a:rPr>
              <a:t>▸ </a:t>
            </a:r>
            <a:r>
              <a:rPr sz="1600">
                <a:solidFill>
                  <a:srgbClr val="FFFFFF"/>
                </a:solidFill>
                <a:latin typeface="Calibri"/>
              </a:rPr>
              <a:t>Defence is layered: prompt/security layer (deck 03) + guardrail pipeline (this deck).</a:t>
            </a:r>
          </a:p>
          <a:p>
            <a:pPr algn="l">
              <a:spcAft>
                <a:spcPts val="1400"/>
              </a:spcAft>
            </a:pPr>
            <a:r>
              <a:rPr sz="1600" b="1">
                <a:solidFill>
                  <a:srgbClr val="2ACCFF"/>
                </a:solidFill>
                <a:latin typeface="Calibri"/>
              </a:rPr>
              <a:t>▸ </a:t>
            </a:r>
            <a:r>
              <a:rPr sz="1600">
                <a:solidFill>
                  <a:srgbClr val="FFFFFF"/>
                </a:solidFill>
                <a:latin typeface="Calibri"/>
              </a:rPr>
              <a:t>Attempts to redirect the agent, escalate access, or exfiltrate data are detected and blocked.</a:t>
            </a:r>
          </a:p>
          <a:p>
            <a:pPr algn="l">
              <a:spcAft>
                <a:spcPts val="1400"/>
              </a:spcAft>
            </a:pPr>
            <a:r>
              <a:rPr sz="1600" b="1">
                <a:solidFill>
                  <a:srgbClr val="2ACCFF"/>
                </a:solidFill>
                <a:latin typeface="Calibri"/>
              </a:rPr>
              <a:t>▸ </a:t>
            </a:r>
            <a:r>
              <a:rPr sz="1600">
                <a:solidFill>
                  <a:srgbClr val="FFFFFF"/>
                </a:solidFill>
                <a:latin typeface="Calibri"/>
              </a:rPr>
              <a:t>Suspicious redirection escalates to a human rather than being silently followed.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MCP &amp; RAG security</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D6-10 / D6-11 / D6-12</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Tool &amp; MCP</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Tools allow-listed per agent; parameters &amp; outputs validated.</a:t>
            </a:r>
          </a:p>
          <a:p>
            <a:pPr algn="l">
              <a:spcAft>
                <a:spcPts val="1200"/>
              </a:spcAft>
            </a:pPr>
            <a:r>
              <a:rPr sz="1500" b="1">
                <a:solidFill>
                  <a:srgbClr val="2ACCFF"/>
                </a:solidFill>
                <a:latin typeface="Calibri"/>
              </a:rPr>
              <a:t>▸ </a:t>
            </a:r>
            <a:r>
              <a:rPr sz="1500">
                <a:solidFill>
                  <a:srgbClr val="FFFFFF"/>
                </a:solidFill>
                <a:latin typeface="Calibri"/>
              </a:rPr>
              <a:t>MCP servers carry an explicit trust model — no implicit trust.</a:t>
            </a:r>
          </a:p>
          <a:p>
            <a:pPr algn="l">
              <a:spcAft>
                <a:spcPts val="1200"/>
              </a:spcAft>
            </a:pPr>
            <a:r>
              <a:rPr sz="1500" b="1">
                <a:solidFill>
                  <a:srgbClr val="2ACCFF"/>
                </a:solidFill>
                <a:latin typeface="Calibri"/>
              </a:rPr>
              <a:t>▸ </a:t>
            </a:r>
            <a:r>
              <a:rPr sz="1500">
                <a:solidFill>
                  <a:srgbClr val="FFFFFF"/>
                </a:solidFill>
                <a:latin typeface="Calibri"/>
              </a:rPr>
              <a:t>Only registered, approved servers/tools are callable.</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RAG ACL enforcement</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Retrieval is ACL-enforced — users only see documents they may see.</a:t>
            </a:r>
          </a:p>
          <a:p>
            <a:pPr algn="l">
              <a:spcAft>
                <a:spcPts val="1200"/>
              </a:spcAft>
            </a:pPr>
            <a:r>
              <a:rPr sz="1500" b="1">
                <a:solidFill>
                  <a:srgbClr val="2ACCFF"/>
                </a:solidFill>
                <a:latin typeface="Calibri"/>
              </a:rPr>
              <a:t>▸ </a:t>
            </a:r>
            <a:r>
              <a:rPr sz="1500">
                <a:solidFill>
                  <a:srgbClr val="FFFFFF"/>
                </a:solidFill>
                <a:latin typeface="Calibri"/>
              </a:rPr>
              <a:t>ACLs applied at query time, not post-filtered.</a:t>
            </a:r>
          </a:p>
          <a:p>
            <a:pPr algn="l">
              <a:spcAft>
                <a:spcPts val="1200"/>
              </a:spcAft>
            </a:pPr>
            <a:r>
              <a:rPr sz="1500" b="1">
                <a:solidFill>
                  <a:srgbClr val="2ACCFF"/>
                </a:solidFill>
                <a:latin typeface="Calibri"/>
              </a:rPr>
              <a:t>▸ </a:t>
            </a:r>
            <a:r>
              <a:rPr sz="1500">
                <a:solidFill>
                  <a:srgbClr val="FFFFFF"/>
                </a:solidFill>
                <a:latin typeface="Calibri"/>
              </a:rPr>
              <a:t>Citations respect the same access scope.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Responsible AI &amp; human oversight</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D6-13 / D6-14</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Responsible AI &amp; prohibited use</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Explicit prohibited-use policy.</a:t>
            </a:r>
          </a:p>
          <a:p>
            <a:pPr algn="l">
              <a:spcAft>
                <a:spcPts val="1200"/>
              </a:spcAft>
            </a:pPr>
            <a:r>
              <a:rPr sz="1500" b="1">
                <a:solidFill>
                  <a:srgbClr val="2ACCFF"/>
                </a:solidFill>
                <a:latin typeface="Calibri"/>
              </a:rPr>
              <a:t>▸ </a:t>
            </a:r>
            <a:r>
              <a:rPr sz="1500">
                <a:solidFill>
                  <a:srgbClr val="FFFFFF"/>
                </a:solidFill>
                <a:latin typeface="Calibri"/>
              </a:rPr>
              <a:t>No invented business rules, outcomes, URLs, IDs or technical details.</a:t>
            </a:r>
          </a:p>
          <a:p>
            <a:pPr algn="l">
              <a:spcAft>
                <a:spcPts val="1200"/>
              </a:spcAft>
            </a:pPr>
            <a:r>
              <a:rPr sz="1500" b="1">
                <a:solidFill>
                  <a:srgbClr val="2ACCFF"/>
                </a:solidFill>
                <a:latin typeface="Calibri"/>
              </a:rPr>
              <a:t>▸ </a:t>
            </a:r>
            <a:r>
              <a:rPr sz="1500">
                <a:solidFill>
                  <a:srgbClr val="FFFFFF"/>
                </a:solidFill>
                <a:latin typeface="Calibri"/>
              </a:rPr>
              <a:t>Fairness, transparency and accountability by design.</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Human oversight &amp; HIL governance</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HIL touchpoints are governed, not ad-hoc (deck 01/02).</a:t>
            </a:r>
          </a:p>
          <a:p>
            <a:pPr algn="l">
              <a:spcAft>
                <a:spcPts val="1200"/>
              </a:spcAft>
            </a:pPr>
            <a:r>
              <a:rPr sz="1500" b="1">
                <a:solidFill>
                  <a:srgbClr val="2ACCFF"/>
                </a:solidFill>
                <a:latin typeface="Calibri"/>
              </a:rPr>
              <a:t>▸ </a:t>
            </a:r>
            <a:r>
              <a:rPr sz="1500">
                <a:solidFill>
                  <a:srgbClr val="FFFFFF"/>
                </a:solidFill>
                <a:latin typeface="Calibri"/>
              </a:rPr>
              <a:t>Humans confirm state-changing actions.</a:t>
            </a:r>
          </a:p>
          <a:p>
            <a:pPr algn="l">
              <a:spcAft>
                <a:spcPts val="1200"/>
              </a:spcAft>
            </a:pPr>
            <a:r>
              <a:rPr sz="1500" b="1">
                <a:solidFill>
                  <a:srgbClr val="2ACCFF"/>
                </a:solidFill>
                <a:latin typeface="Calibri"/>
              </a:rPr>
              <a:t>▸ </a:t>
            </a:r>
            <a:r>
              <a:rPr sz="1500">
                <a:solidFill>
                  <a:srgbClr val="FFFFFF"/>
                </a:solidFill>
                <a:latin typeface="Calibri"/>
              </a:rPr>
              <a:t>Oversight is auditable.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GDPR, safeguarding &amp; audit</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D6-16 / D6-17</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GDPR &amp; safeguarding</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GDPR compliance; children's data specially protected (safeguarding).</a:t>
            </a:r>
          </a:p>
          <a:p>
            <a:pPr algn="l">
              <a:spcAft>
                <a:spcPts val="1200"/>
              </a:spcAft>
            </a:pPr>
            <a:r>
              <a:rPr sz="1500" b="1">
                <a:solidFill>
                  <a:srgbClr val="2ACCFF"/>
                </a:solidFill>
                <a:latin typeface="Calibri"/>
              </a:rPr>
              <a:t>▸ </a:t>
            </a:r>
            <a:r>
              <a:rPr sz="1500">
                <a:solidFill>
                  <a:srgbClr val="FFFFFF"/>
                </a:solidFill>
                <a:latin typeface="Calibri"/>
              </a:rPr>
              <a:t>DPIA maintained; masking regime feeds it (deck 09).</a:t>
            </a:r>
          </a:p>
          <a:p>
            <a:pPr algn="l">
              <a:spcAft>
                <a:spcPts val="1200"/>
              </a:spcAft>
            </a:pPr>
            <a:r>
              <a:rPr sz="1500" b="1">
                <a:solidFill>
                  <a:srgbClr val="2ACCFF"/>
                </a:solidFill>
                <a:latin typeface="Calibri"/>
              </a:rPr>
              <a:t>▸ </a:t>
            </a:r>
            <a:r>
              <a:rPr sz="1500">
                <a:solidFill>
                  <a:srgbClr val="FFFFFF"/>
                </a:solidFill>
                <a:latin typeface="Calibri"/>
              </a:rPr>
              <a:t>Retention &amp; erasure policies applied.</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Audit &amp; evidential record</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Auditable, evidential logging of decisions &amp; actions.</a:t>
            </a:r>
          </a:p>
          <a:p>
            <a:pPr algn="l">
              <a:spcAft>
                <a:spcPts val="1200"/>
              </a:spcAft>
            </a:pPr>
            <a:r>
              <a:rPr sz="1500" b="1">
                <a:solidFill>
                  <a:srgbClr val="2ACCFF"/>
                </a:solidFill>
                <a:latin typeface="Calibri"/>
              </a:rPr>
              <a:t>▸ </a:t>
            </a:r>
            <a:r>
              <a:rPr sz="1500">
                <a:solidFill>
                  <a:srgbClr val="FFFFFF"/>
                </a:solidFill>
                <a:latin typeface="Calibri"/>
              </a:rPr>
              <a:t>Correlation IDs tie conversation → workflow → enterprise call.</a:t>
            </a:r>
          </a:p>
          <a:p>
            <a:pPr algn="l">
              <a:spcAft>
                <a:spcPts val="1200"/>
              </a:spcAft>
            </a:pPr>
            <a:r>
              <a:rPr sz="1500" b="1">
                <a:solidFill>
                  <a:srgbClr val="2ACCFF"/>
                </a:solidFill>
                <a:latin typeface="Calibri"/>
              </a:rPr>
              <a:t>▸ </a:t>
            </a:r>
            <a:r>
              <a:rPr sz="1500">
                <a:solidFill>
                  <a:srgbClr val="FFFFFF"/>
                </a:solidFill>
                <a:latin typeface="Calibri"/>
              </a:rPr>
              <a:t>Logs are redacted per classification (deck 07).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governance &amp; standards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D6-15 / D6-18</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Change governance &amp; release gates</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Security-relevant changes pass release gates.</a:t>
            </a:r>
          </a:p>
          <a:p>
            <a:pPr algn="l">
              <a:spcAft>
                <a:spcPts val="1200"/>
              </a:spcAft>
            </a:pPr>
            <a:r>
              <a:rPr sz="1500" b="1">
                <a:solidFill>
                  <a:srgbClr val="2ACCFF"/>
                </a:solidFill>
                <a:latin typeface="Calibri"/>
              </a:rPr>
              <a:t>▸ </a:t>
            </a:r>
            <a:r>
              <a:rPr sz="1500">
                <a:solidFill>
                  <a:srgbClr val="FFFFFF"/>
                </a:solidFill>
                <a:latin typeface="Calibri"/>
              </a:rPr>
              <a:t>Immutable versioned bundles; no in-place prod change.</a:t>
            </a:r>
          </a:p>
          <a:p>
            <a:pPr algn="l">
              <a:spcAft>
                <a:spcPts val="1200"/>
              </a:spcAft>
            </a:pPr>
            <a:r>
              <a:rPr sz="1500" b="1">
                <a:solidFill>
                  <a:srgbClr val="2ACCFF"/>
                </a:solidFill>
                <a:latin typeface="Calibri"/>
              </a:rPr>
              <a:t>▸ </a:t>
            </a:r>
            <a:r>
              <a:rPr sz="1500">
                <a:solidFill>
                  <a:srgbClr val="FFFFFF"/>
                </a:solidFill>
                <a:latin typeface="Calibri"/>
              </a:rPr>
              <a:t>Ties to CI/CD quality gates (deck 07).</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Standards conformance</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Conformance to applicable enterprise &amp; regulatory standards.</a:t>
            </a:r>
          </a:p>
          <a:p>
            <a:pPr algn="l">
              <a:spcAft>
                <a:spcPts val="1200"/>
              </a:spcAft>
            </a:pPr>
            <a:r>
              <a:rPr sz="1500" b="1">
                <a:solidFill>
                  <a:srgbClr val="2ACCFF"/>
                </a:solidFill>
                <a:latin typeface="Calibri"/>
              </a:rPr>
              <a:t>▸ </a:t>
            </a:r>
            <a:r>
              <a:rPr sz="1500">
                <a:solidFill>
                  <a:srgbClr val="FFFFFF"/>
                </a:solidFill>
                <a:latin typeface="Calibri"/>
              </a:rPr>
              <a:t>Evidenced and reviewed.</a:t>
            </a:r>
          </a:p>
          <a:p>
            <a:pPr algn="l">
              <a:spcAft>
                <a:spcPts val="1200"/>
              </a:spcAft>
            </a:pPr>
            <a:r>
              <a:rPr sz="1500" b="1">
                <a:solidFill>
                  <a:srgbClr val="2ACCFF"/>
                </a:solidFill>
                <a:latin typeface="Calibri"/>
              </a:rPr>
              <a:t>▸ </a:t>
            </a:r>
            <a:r>
              <a:rPr sz="1500">
                <a:solidFill>
                  <a:srgbClr val="FFFFFF"/>
                </a:solidFill>
                <a:latin typeface="Calibri"/>
              </a:rPr>
              <a:t>Part of ARB governance (D0).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ADR index — Security &amp; Governance (D6)</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19 decisions — higher-trust sources always win; ◆ = Proposed, awaiting ARB</a:t>
            </a:r>
          </a:p>
        </p:txBody>
      </p:sp>
      <p:graphicFrame>
        <p:nvGraphicFramePr>
          <p:cNvPr id="4" name="Table 3"/>
          <p:cNvGraphicFramePr>
            <a:graphicFrameLocks noGrp="1"/>
          </p:cNvGraphicFramePr>
          <p:nvPr/>
        </p:nvGraphicFramePr>
        <p:xfrm>
          <a:off x="502920" y="1783080"/>
          <a:ext cx="5486399" cy="4572000"/>
        </p:xfrm>
        <a:graphic>
          <a:graphicData uri="http://schemas.openxmlformats.org/drawingml/2006/table">
            <a:tbl>
              <a:tblPr firstRow="1">
                <a:tableStyleId>{5C22544A-7EE6-4342-B048-85BDC9FD1C3A}</a:tableStyleId>
              </a:tblPr>
              <a:tblGrid>
                <a:gridCol w="973393"/>
                <a:gridCol w="3672348"/>
                <a:gridCol w="840658"/>
              </a:tblGrid>
              <a:tr h="304800">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04800">
                <a:tc>
                  <a:txBody>
                    <a:bodyPr wrap="square"/>
                    <a:lstStyle/>
                    <a:p>
                      <a:r>
                        <a:rPr sz="900" b="1">
                          <a:solidFill>
                            <a:srgbClr val="FFFFFF"/>
                          </a:solidFill>
                          <a:latin typeface="Calibri"/>
                        </a:rPr>
                        <a:t>D6-01</a:t>
                      </a:r>
                    </a:p>
                  </a:txBody>
                  <a:tcPr marL="63500" marR="63500" marT="25400" marB="25400" anchor="ctr">
                    <a:solidFill>
                      <a:srgbClr val="14161C"/>
                    </a:solidFill>
                  </a:tcPr>
                </a:tc>
                <a:tc>
                  <a:txBody>
                    <a:bodyPr wrap="square"/>
                    <a:lstStyle/>
                    <a:p>
                      <a:r>
                        <a:rPr sz="900" b="0">
                          <a:solidFill>
                            <a:srgbClr val="D5D5D5"/>
                          </a:solidFill>
                          <a:latin typeface="Calibri"/>
                        </a:rPr>
                        <a:t>Zero-trust model and trust-zone definition</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D6-02</a:t>
                      </a:r>
                    </a:p>
                  </a:txBody>
                  <a:tcPr marL="63500" marR="63500" marT="25400" marB="25400" anchor="ctr">
                    <a:solidFill>
                      <a:srgbClr val="1E222B"/>
                    </a:solidFill>
                  </a:tcPr>
                </a:tc>
                <a:tc>
                  <a:txBody>
                    <a:bodyPr wrap="square"/>
                    <a:lstStyle/>
                    <a:p>
                      <a:r>
                        <a:rPr sz="900" b="0">
                          <a:solidFill>
                            <a:srgbClr val="D5D5D5"/>
                          </a:solidFill>
                          <a:latin typeface="Calibri"/>
                        </a:rPr>
                        <a:t>AuthN/AuthZ boundary — APIM validates, AI consumes …</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D6-03</a:t>
                      </a:r>
                    </a:p>
                  </a:txBody>
                  <a:tcPr marL="63500" marR="63500" marT="25400" marB="25400" anchor="ctr">
                    <a:solidFill>
                      <a:srgbClr val="14161C"/>
                    </a:solidFill>
                  </a:tcPr>
                </a:tc>
                <a:tc>
                  <a:txBody>
                    <a:bodyPr wrap="square"/>
                    <a:lstStyle/>
                    <a:p>
                      <a:r>
                        <a:rPr sz="900" b="0">
                          <a:solidFill>
                            <a:srgbClr val="D5D5D5"/>
                          </a:solidFill>
                          <a:latin typeface="Calibri"/>
                        </a:rPr>
                        <a:t>Authorization context integrity and propagation thr…</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D6-04</a:t>
                      </a:r>
                    </a:p>
                  </a:txBody>
                  <a:tcPr marL="63500" marR="63500" marT="25400" marB="25400" anchor="ctr">
                    <a:solidFill>
                      <a:srgbClr val="1E222B"/>
                    </a:solidFill>
                  </a:tcPr>
                </a:tc>
                <a:tc>
                  <a:txBody>
                    <a:bodyPr wrap="square"/>
                    <a:lstStyle/>
                    <a:p>
                      <a:r>
                        <a:rPr sz="900" b="0">
                          <a:solidFill>
                            <a:srgbClr val="D5D5D5"/>
                          </a:solidFill>
                          <a:latin typeface="Calibri"/>
                        </a:rPr>
                        <a:t>Network segmentation, private connectivity and egre…</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D6-05</a:t>
                      </a:r>
                    </a:p>
                  </a:txBody>
                  <a:tcPr marL="63500" marR="63500" marT="25400" marB="25400" anchor="ctr">
                    <a:solidFill>
                      <a:srgbClr val="14161C"/>
                    </a:solidFill>
                  </a:tcPr>
                </a:tc>
                <a:tc>
                  <a:txBody>
                    <a:bodyPr wrap="square"/>
                    <a:lstStyle/>
                    <a:p>
                      <a:r>
                        <a:rPr sz="900" b="0">
                          <a:solidFill>
                            <a:srgbClr val="D5D5D5"/>
                          </a:solidFill>
                          <a:latin typeface="Calibri"/>
                        </a:rPr>
                        <a:t>Encryption in transit/at rest, key management and r…</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D6-06</a:t>
                      </a:r>
                    </a:p>
                  </a:txBody>
                  <a:tcPr marL="63500" marR="63500" marT="25400" marB="25400" anchor="ctr">
                    <a:solidFill>
                      <a:srgbClr val="1E222B"/>
                    </a:solidFill>
                  </a:tcPr>
                </a:tc>
                <a:tc>
                  <a:txBody>
                    <a:bodyPr wrap="square"/>
                    <a:lstStyle/>
                    <a:p>
                      <a:r>
                        <a:rPr sz="900" b="0">
                          <a:solidFill>
                            <a:srgbClr val="D5D5D5"/>
                          </a:solidFill>
                          <a:latin typeface="Calibri"/>
                        </a:rPr>
                        <a:t>Data classification, PII protection and data-flow p…</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D6-07</a:t>
                      </a:r>
                    </a:p>
                  </a:txBody>
                  <a:tcPr marL="63500" marR="63500" marT="25400" marB="25400" anchor="ctr">
                    <a:solidFill>
                      <a:srgbClr val="14161C"/>
                    </a:solidFill>
                  </a:tcPr>
                </a:tc>
                <a:tc>
                  <a:txBody>
                    <a:bodyPr wrap="square"/>
                    <a:lstStyle/>
                    <a:p>
                      <a:r>
                        <a:rPr sz="900" b="0">
                          <a:solidFill>
                            <a:srgbClr val="D5D5D5"/>
                          </a:solidFill>
                          <a:latin typeface="Calibri"/>
                        </a:rPr>
                        <a:t>External SLM data boundary — what may leave the ten…</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D6-08</a:t>
                      </a:r>
                    </a:p>
                  </a:txBody>
                  <a:tcPr marL="63500" marR="63500" marT="25400" marB="25400" anchor="ctr">
                    <a:solidFill>
                      <a:srgbClr val="1E222B"/>
                    </a:solidFill>
                  </a:tcPr>
                </a:tc>
                <a:tc>
                  <a:txBody>
                    <a:bodyPr wrap="square"/>
                    <a:lstStyle/>
                    <a:p>
                      <a:r>
                        <a:rPr sz="900" b="0">
                          <a:solidFill>
                            <a:srgbClr val="D5D5D5"/>
                          </a:solidFill>
                          <a:latin typeface="Calibri"/>
                        </a:rPr>
                        <a:t>Prompt injection and jailbreak defence architecture</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D6-09</a:t>
                      </a:r>
                    </a:p>
                  </a:txBody>
                  <a:tcPr marL="63500" marR="63500" marT="25400" marB="25400" anchor="ctr">
                    <a:solidFill>
                      <a:srgbClr val="14161C"/>
                    </a:solidFill>
                  </a:tcPr>
                </a:tc>
                <a:tc>
                  <a:txBody>
                    <a:bodyPr wrap="square"/>
                    <a:lstStyle/>
                    <a:p>
                      <a:r>
                        <a:rPr sz="900" b="0">
                          <a:solidFill>
                            <a:srgbClr val="D5D5D5"/>
                          </a:solidFill>
                          <a:latin typeface="Calibri"/>
                        </a:rPr>
                        <a:t>Guardrail pipeline placement at six boundaries, fai…</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D6-10</a:t>
                      </a:r>
                    </a:p>
                  </a:txBody>
                  <a:tcPr marL="63500" marR="63500" marT="25400" marB="25400" anchor="ctr">
                    <a:solidFill>
                      <a:srgbClr val="1E222B"/>
                    </a:solidFill>
                  </a:tcPr>
                </a:tc>
                <a:tc>
                  <a:txBody>
                    <a:bodyPr wrap="square"/>
                    <a:lstStyle/>
                    <a:p>
                      <a:r>
                        <a:rPr sz="900" b="0">
                          <a:solidFill>
                            <a:srgbClr val="D5D5D5"/>
                          </a:solidFill>
                          <a:latin typeface="Calibri"/>
                        </a:rPr>
                        <a:t>Tool allowlist, parameter and output security</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D6-11</a:t>
                      </a:r>
                    </a:p>
                  </a:txBody>
                  <a:tcPr marL="63500" marR="63500" marT="25400" marB="25400" anchor="ctr">
                    <a:solidFill>
                      <a:srgbClr val="14161C"/>
                    </a:solidFill>
                  </a:tcPr>
                </a:tc>
                <a:tc>
                  <a:txBody>
                    <a:bodyPr wrap="square"/>
                    <a:lstStyle/>
                    <a:p>
                      <a:r>
                        <a:rPr sz="900" b="0">
                          <a:solidFill>
                            <a:srgbClr val="D5D5D5"/>
                          </a:solidFill>
                          <a:latin typeface="Calibri"/>
                        </a:rPr>
                        <a:t>MCP server trust model and response validation</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D6-12</a:t>
                      </a:r>
                    </a:p>
                  </a:txBody>
                  <a:tcPr marL="63500" marR="63500" marT="25400" marB="25400" anchor="ctr">
                    <a:solidFill>
                      <a:srgbClr val="1E222B"/>
                    </a:solidFill>
                  </a:tcPr>
                </a:tc>
                <a:tc>
                  <a:txBody>
                    <a:bodyPr wrap="square"/>
                    <a:lstStyle/>
                    <a:p>
                      <a:r>
                        <a:rPr sz="900" b="0">
                          <a:solidFill>
                            <a:srgbClr val="D5D5D5"/>
                          </a:solidFill>
                          <a:latin typeface="Calibri"/>
                        </a:rPr>
                        <a:t>RAG ACL enforcement and retrieval-time authorization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D6-13</a:t>
                      </a:r>
                    </a:p>
                  </a:txBody>
                  <a:tcPr marL="63500" marR="63500" marT="25400" marB="25400" anchor="ctr">
                    <a:solidFill>
                      <a:srgbClr val="14161C"/>
                    </a:solidFill>
                  </a:tcPr>
                </a:tc>
                <a:tc>
                  <a:txBody>
                    <a:bodyPr wrap="square"/>
                    <a:lstStyle/>
                    <a:p>
                      <a:r>
                        <a:rPr sz="900" b="0">
                          <a:solidFill>
                            <a:srgbClr val="D5D5D5"/>
                          </a:solidFill>
                          <a:latin typeface="Calibri"/>
                        </a:rPr>
                        <a:t>Responsible AI principles and prohibited-use bounda…</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D6-14</a:t>
                      </a:r>
                    </a:p>
                  </a:txBody>
                  <a:tcPr marL="63500" marR="63500" marT="25400" marB="25400" anchor="ctr">
                    <a:solidFill>
                      <a:srgbClr val="1E222B"/>
                    </a:solidFill>
                  </a:tcPr>
                </a:tc>
                <a:tc>
                  <a:txBody>
                    <a:bodyPr wrap="square"/>
                    <a:lstStyle/>
                    <a:p>
                      <a:r>
                        <a:rPr sz="900" b="0">
                          <a:solidFill>
                            <a:srgbClr val="D5D5D5"/>
                          </a:solidFill>
                          <a:latin typeface="Calibri"/>
                        </a:rPr>
                        <a:t>Human oversight and HIL governance model</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bl>
          </a:graphicData>
        </a:graphic>
      </p:graphicFrame>
      <p:graphicFrame>
        <p:nvGraphicFramePr>
          <p:cNvPr id="5" name="Table 4"/>
          <p:cNvGraphicFramePr>
            <a:graphicFrameLocks noGrp="1"/>
          </p:cNvGraphicFramePr>
          <p:nvPr/>
        </p:nvGraphicFramePr>
        <p:xfrm>
          <a:off x="6263640" y="1783080"/>
          <a:ext cx="5486399" cy="1865376"/>
        </p:xfrm>
        <a:graphic>
          <a:graphicData uri="http://schemas.openxmlformats.org/drawingml/2006/table">
            <a:tbl>
              <a:tblPr firstRow="1">
                <a:tableStyleId>{5C22544A-7EE6-4342-B048-85BDC9FD1C3A}</a:tableStyleId>
              </a:tblPr>
              <a:tblGrid>
                <a:gridCol w="973393"/>
                <a:gridCol w="3672348"/>
                <a:gridCol w="840658"/>
              </a:tblGrid>
              <a:tr h="310896">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10896">
                <a:tc>
                  <a:txBody>
                    <a:bodyPr wrap="square"/>
                    <a:lstStyle/>
                    <a:p>
                      <a:r>
                        <a:rPr sz="900" b="1">
                          <a:solidFill>
                            <a:srgbClr val="FFFFFF"/>
                          </a:solidFill>
                          <a:latin typeface="Calibri"/>
                        </a:rPr>
                        <a:t>D6-15</a:t>
                      </a:r>
                    </a:p>
                  </a:txBody>
                  <a:tcPr marL="63500" marR="63500" marT="25400" marB="25400" anchor="ctr">
                    <a:solidFill>
                      <a:srgbClr val="14161C"/>
                    </a:solidFill>
                  </a:tcPr>
                </a:tc>
                <a:tc>
                  <a:txBody>
                    <a:bodyPr wrap="square"/>
                    <a:lstStyle/>
                    <a:p>
                      <a:r>
                        <a:rPr sz="900" b="0">
                          <a:solidFill>
                            <a:srgbClr val="D5D5D5"/>
                          </a:solidFill>
                          <a:latin typeface="Calibri"/>
                        </a:rPr>
                        <a:t>Model/prompt/index change governance and release ap…</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D6-16</a:t>
                      </a:r>
                    </a:p>
                  </a:txBody>
                  <a:tcPr marL="63500" marR="63500" marT="25400" marB="25400" anchor="ctr">
                    <a:solidFill>
                      <a:srgbClr val="1E222B"/>
                    </a:solidFill>
                  </a:tcPr>
                </a:tc>
                <a:tc>
                  <a:txBody>
                    <a:bodyPr wrap="square"/>
                    <a:lstStyle/>
                    <a:p>
                      <a:r>
                        <a:rPr sz="900" b="0">
                          <a:solidFill>
                            <a:srgbClr val="D5D5D5"/>
                          </a:solidFill>
                          <a:latin typeface="Calibri"/>
                        </a:rPr>
                        <a:t>UK GDPR, safeguarding and children's-data handling</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D6-17</a:t>
                      </a:r>
                    </a:p>
                  </a:txBody>
                  <a:tcPr marL="63500" marR="63500" marT="25400" marB="25400" anchor="ctr">
                    <a:solidFill>
                      <a:srgbClr val="14161C"/>
                    </a:solidFill>
                  </a:tcPr>
                </a:tc>
                <a:tc>
                  <a:txBody>
                    <a:bodyPr wrap="square"/>
                    <a:lstStyle/>
                    <a:p>
                      <a:r>
                        <a:rPr sz="900" b="0">
                          <a:solidFill>
                            <a:srgbClr val="D5D5D5"/>
                          </a:solidFill>
                          <a:latin typeface="Calibri"/>
                        </a:rPr>
                        <a:t>Audit logging and evidential record model</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D6-18</a:t>
                      </a:r>
                    </a:p>
                  </a:txBody>
                  <a:tcPr marL="63500" marR="63500" marT="25400" marB="25400" anchor="ctr">
                    <a:solidFill>
                      <a:srgbClr val="1E222B"/>
                    </a:solidFill>
                  </a:tcPr>
                </a:tc>
                <a:tc>
                  <a:txBody>
                    <a:bodyPr wrap="square"/>
                    <a:lstStyle/>
                    <a:p>
                      <a:r>
                        <a:rPr sz="900" b="0">
                          <a:solidFill>
                            <a:srgbClr val="D5D5D5"/>
                          </a:solidFill>
                          <a:latin typeface="Calibri"/>
                        </a:rPr>
                        <a:t>Standards conformance — ISO/IEC 42001, 27001, 9001,…</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D6-19</a:t>
                      </a:r>
                    </a:p>
                  </a:txBody>
                  <a:tcPr marL="63500" marR="63500" marT="25400" marB="25400" anchor="ctr">
                    <a:solidFill>
                      <a:srgbClr val="14161C"/>
                    </a:solidFill>
                  </a:tcPr>
                </a:tc>
                <a:tc>
                  <a:txBody>
                    <a:bodyPr wrap="square"/>
                    <a:lstStyle/>
                    <a:p>
                      <a:r>
                        <a:rPr sz="900" b="0">
                          <a:solidFill>
                            <a:srgbClr val="D5D5D5"/>
                          </a:solidFill>
                          <a:latin typeface="Calibri"/>
                        </a:rPr>
                        <a:t>SLM input masking regime — mandatory for external, …</a:t>
                      </a:r>
                    </a:p>
                  </a:txBody>
                  <a:tcPr marL="63500" marR="63500" marT="25400" marB="25400" anchor="ctr">
                    <a:solidFill>
                      <a:srgbClr val="14161C"/>
                    </a:solidFill>
                  </a:tcPr>
                </a:tc>
                <a:tc>
                  <a:txBody>
                    <a:bodyPr wrap="square"/>
                    <a:lstStyle/>
                    <a:p>
                      <a:r>
                        <a:rPr sz="900" b="0">
                          <a:solidFill>
                            <a:srgbClr val="D5D5D5"/>
                          </a:solidFill>
                          <a:latin typeface="Calibri"/>
                        </a:rPr>
                        <a:t>◆ Prop</a:t>
                      </a:r>
                    </a:p>
                  </a:txBody>
                  <a:tcPr marL="63500" marR="63500" marT="25400" marB="25400" anchor="ctr">
                    <a:solidFill>
                      <a:srgbClr val="14161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7" sz="quarter"/>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822960" y="3840480"/>
            <a:ext cx="10515600" cy="914400"/>
          </a:xfrm>
          <a:prstGeom prst="rect">
            <a:avLst/>
          </a:prstGeom>
          <a:noFill/>
        </p:spPr>
        <p:txBody>
          <a:bodyPr wrap="square" anchor="t" lIns="0" rIns="0" tIns="0" bIns="0">
            <a:spAutoFit/>
          </a:bodyPr>
          <a:lstStyle/>
          <a:p>
            <a:pPr algn="l"/>
            <a:r>
              <a:rPr sz="1800" b="0" i="0">
                <a:solidFill>
                  <a:srgbClr val="D5D5D5"/>
                </a:solidFill>
                <a:latin typeface="Calibri"/>
              </a:rPr>
              <a:t>Zero-trust · AI never authorizes · mask-all to external models · guardrails everywhere · fully audited</a:t>
            </a:r>
          </a:p>
        </p:txBody>
      </p:sp>
    </p:spTree>
  </p:cSld>
  <p:clrMapOvr>
    <a:masterClrMapping/>
  </p:clrMapOvr>
</p:sld>
</file>

<file path=ppt/theme/theme1.xml><?xml version="1.0" encoding="utf-8"?>
<a:theme xmlns:a="http://schemas.openxmlformats.org/drawingml/2006/main" name="Orion Innovation 2026 Q2">
  <a:themeElements>
    <a:clrScheme name="Custom 1">
      <a:dk1>
        <a:srgbClr val="000000"/>
      </a:dk1>
      <a:lt1>
        <a:srgbClr val="FFFFFF"/>
      </a:lt1>
      <a:dk2>
        <a:srgbClr val="0283FF"/>
      </a:dk2>
      <a:lt2>
        <a:srgbClr val="D5D5D5"/>
      </a:lt2>
      <a:accent1>
        <a:srgbClr val="2ACCFF"/>
      </a:accent1>
      <a:accent2>
        <a:srgbClr val="7F19BE"/>
      </a:accent2>
      <a:accent3>
        <a:srgbClr val="FE2579"/>
      </a:accent3>
      <a:accent4>
        <a:srgbClr val="5300DB"/>
      </a:accent4>
      <a:accent5>
        <a:srgbClr val="FED038"/>
      </a:accent5>
      <a:accent6>
        <a:srgbClr val="48E84A"/>
      </a:accent6>
      <a:hlink>
        <a:srgbClr val="0084FF"/>
      </a:hlink>
      <a:folHlink>
        <a:srgbClr val="3EC4E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CE3E8"/>
        </a:solidFill>
        <a:ln>
          <a:noFill/>
          <a:tailEnd type="none"/>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l">
          <a:lnSpc>
            <a:spcPct val="110000"/>
          </a:lnSpc>
          <a:defRPr sz="1000" b="1" dirty="0" smtClean="0">
            <a:solidFill>
              <a:schemeClr val="tx1"/>
            </a:solidFill>
            <a:effectLst/>
          </a:defRPr>
        </a:defPPr>
      </a:lstStyle>
      <a:style>
        <a:lnRef idx="1">
          <a:schemeClr val="accent1"/>
        </a:lnRef>
        <a:fillRef idx="0">
          <a:schemeClr val="accent1"/>
        </a:fillRef>
        <a:effectRef idx="0">
          <a:schemeClr val="accent1"/>
        </a:effectRef>
        <a:fontRef idx="minor">
          <a:schemeClr val="tx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36000" tIns="36000" rIns="36000" bIns="36000" rtlCol="0">
        <a:spAutoFit/>
      </a:bodyPr>
      <a:lstStyle>
        <a:defPPr marL="183600" indent="-183600" algn="l">
          <a:lnSpc>
            <a:spcPct val="110000"/>
          </a:lnSpc>
          <a:spcBef>
            <a:spcPts val="400"/>
          </a:spcBef>
          <a:spcAft>
            <a:spcPts val="400"/>
          </a:spcAft>
          <a:buClr>
            <a:schemeClr val="bg2"/>
          </a:buClr>
          <a:buFont typeface="Arial" panose="020B0604020202020204" pitchFamily="34" charset="0"/>
          <a:buChar char="•"/>
          <a:defRPr sz="1200" dirty="0"/>
        </a:defPPr>
      </a:lstStyle>
    </a:txDef>
  </a:objectDefaults>
  <a:extraClrSchemeLst/>
  <a:extLst>
    <a:ext uri="{05A4C25C-085E-4340-85A3-A5531E510DB2}">
      <thm15:themeFamily xmlns:thm15="http://schemas.microsoft.com/office/thememl/2012/main" name="Orion Innovation 2025" id="{199926F3-F314-1646-84C3-A3441F686DB8}" vid="{DEFB32A1-EE74-C24D-8093-ED971E6474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5d1f120-0a15-4527-b7f6-5161c5c2159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D5FE873E29E64DB56982258F3E0522" ma:contentTypeVersion="12" ma:contentTypeDescription="Create a new document." ma:contentTypeScope="" ma:versionID="e73da9dc670ce61c4b27620f5ceecb8f">
  <xsd:schema xmlns:xsd="http://www.w3.org/2001/XMLSchema" xmlns:xs="http://www.w3.org/2001/XMLSchema" xmlns:p="http://schemas.microsoft.com/office/2006/metadata/properties" xmlns:ns3="15d1f120-0a15-4527-b7f6-5161c5c21597" targetNamespace="http://schemas.microsoft.com/office/2006/metadata/properties" ma:root="true" ma:fieldsID="1fcf99ee2c82c01c26ba439bc53d9385" ns3:_="">
    <xsd:import namespace="15d1f120-0a15-4527-b7f6-5161c5c2159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1f120-0a15-4527-b7f6-5161c5c2159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830519-BCC5-47D9-B3C0-0E48D727637D}">
  <ds:schemaRefs>
    <ds:schemaRef ds:uri="15d1f120-0a15-4527-b7f6-5161c5c2159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1928388-827E-417D-A9EC-1E4398CC2B14}">
  <ds:schemaRefs>
    <ds:schemaRef ds:uri="http://schemas.microsoft.com/sharepoint/v3/contenttype/forms"/>
  </ds:schemaRefs>
</ds:datastoreItem>
</file>

<file path=customXml/itemProps3.xml><?xml version="1.0" encoding="utf-8"?>
<ds:datastoreItem xmlns:ds="http://schemas.openxmlformats.org/officeDocument/2006/customXml" ds:itemID="{0EE53047-0C68-4513-BD90-36FFCA7892BD}">
  <ds:schemaRefs>
    <ds:schemaRef ds:uri="15d1f120-0a15-4527-b7f6-5161c5c215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11</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Orion Innovation 2026 Q2</vt:lpstr>
      <vt:lpstr>PowerPoint Presentation</vt:lpstr>
      <vt:lpstr>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Sankarankutty Menon</dc:creator>
  <cp:revision>4</cp:revision>
  <dcterms:created xsi:type="dcterms:W3CDTF">2026-01-20T15:10:32Z</dcterms:created>
  <dcterms:modified xsi:type="dcterms:W3CDTF">2026-09-08T07:55:53Z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0x01010042D5FE873E29E64DB56982258F3E0522</vt:lpwstr>
  </property>
</Properties>
</file>