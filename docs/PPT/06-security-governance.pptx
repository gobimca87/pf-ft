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948AD9-B8F4-A70C-7DDC-1E1556ECAE4E}" v="2" dt="2026-08-06T12:20:33.150"/>
    <p1510:client id="{7F375FFF-E84D-3631-D388-F5B5C76602FD}" v="4" dt="2026-08-06T13:01:42.9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7376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controls that make the Golden Rule and data protection real. One ADR is Proposed (the SLM input masking regime, deck 09).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Zero-trust: every boundary validates. Data trust decreases toward the untrusted zone; business authority increases toward the system of record; egress to the untrusted zone is masked and fails closed.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Authorization happens at the boundary and is propagated with integrity through the whole request; the AI consumes claims, never issues them.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Segmented network, minimal controlled egress, encryption everywhere, keys in Key Vault.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Classification is the input to masking, redaction and retention decisions; children's and special-category data get the strongest protection.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headline security decision: nothing raw leaves the tenancy to an external model — masked/tokenised, special classes hard-blocked, fail-closed. Self-hosted may use raw data. A reversible token vault re-identifies masked outputs in-tenancy.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Guardrails at input, context, prompt, tool, model and output boundaries — middleware, not a single filter.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Injection defence is defence-in-depth: quarantine untrusted content, layered detection, escalate rather than obey.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Tools and MCP servers are allow-listed and trust-modelled; RAG enforces document ACLs at retrieval so knowledge never leaks across authorization scopes.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Responsible-AI guardrails plus governed human oversight; prohibited uses are explicit; humans stay in control of state-changing actions.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GDPR and safeguarding are first-class; an evidential audit record links every step; children's data protection is explicit and drives the DPIA.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is governed through release gates; the platform conforms to applicable standards, evidenced and reviewed under ARB governance.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19 security &amp; governance ADRs. One is Proposed (◆): D6-19 SLM input masking regime (deck 09), refining the external-SLM data boundary D6-07.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Defence-in-depth around an absolute boundary — the AI never decides or authorizes, nothing raw leaves the tenancy, everything is audited.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pic>
        <p:nvPicPr>
          <p:cNvPr id="8" name="Picture 7" descr="fa_cres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1325880"/>
            <a:ext cx="231306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74519" y="160020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DECK 06 · SECURITY &amp;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74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13294B"/>
                </a:solidFill>
                <a:latin typeface="Cambria"/>
              </a:rPr>
              <a:t>Security &amp;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718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2E75B6"/>
                </a:solidFill>
                <a:latin typeface="Cambria"/>
              </a:rPr>
              <a:t>Governance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3977639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20624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5C6B7A"/>
                </a:solidFill>
                <a:latin typeface="Calibri"/>
              </a:rPr>
              <a:t>Zero-trust · masking · guardrails · GDPR · audit  —  D6 (19 ADRs, 1 open)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What this deck covers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Zero-trust &amp; trust zones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AuthN/authZ boundary &amp; context propagation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Network segmentation, egress, encryption &amp; keys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Data classification &amp; PII protection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External-SLM data boundary &amp; masking regime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783080"/>
            <a:ext cx="48006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Guardrail pipeline &amp; prompt-injection defence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Tool &amp; MCP security; RAG ACL enforcement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Responsible AI, human oversight &amp; HIL governance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GDPR, safeguarding &amp; children's data; audit logging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E75B6"/>
                </a:solidFill>
                <a:latin typeface="Calibri"/>
              </a:rPr>
              <a:t>▪  </a:t>
            </a:r>
            <a:r>
              <a:rPr sz="1500">
                <a:solidFill>
                  <a:srgbClr val="13294B"/>
                </a:solidFill>
                <a:latin typeface="Calibri"/>
              </a:rPr>
              <a:t>Change governance, release gates &amp; standards conformance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Zero-trust &amp; trust zones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4519" y="2011680"/>
            <a:ext cx="233172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19" y="2011680"/>
            <a:ext cx="233172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219456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mbria"/>
              </a:rPr>
              <a:t>UNTRUSTED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788920"/>
            <a:ext cx="19659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user input · external SLM · public content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2011680"/>
            <a:ext cx="219456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2011680"/>
            <a:ext cx="219456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mbria"/>
              </a:rPr>
              <a:t>PERIMETER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788920"/>
            <a:ext cx="1828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APIM — authN / authZ / rate-limit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206240" y="3451860"/>
            <a:ext cx="146304" cy="0"/>
          </a:xfrm>
          <a:prstGeom prst="line">
            <a:avLst/>
          </a:prstGeom>
          <a:ln w="1778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693408" y="2011680"/>
            <a:ext cx="269748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93408" y="2011680"/>
            <a:ext cx="269748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6288" y="21945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mbria"/>
              </a:rPr>
              <a:t>TRUSTED RUNTIME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788920"/>
            <a:ext cx="2331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AKS — agents, harness, guardrails (in-tenancy)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47104" y="3451860"/>
            <a:ext cx="146304" cy="0"/>
          </a:xfrm>
          <a:prstGeom prst="line">
            <a:avLst/>
          </a:prstGeom>
          <a:ln w="1778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537192" y="2011680"/>
            <a:ext cx="2240280" cy="2880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37192" y="2011680"/>
            <a:ext cx="2240280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2194560"/>
            <a:ext cx="1874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3294B"/>
                </a:solidFill>
                <a:latin typeface="Cambria"/>
              </a:rPr>
              <a:t>SYSTEM OF 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2788920"/>
            <a:ext cx="1874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A"/>
                </a:solidFill>
                <a:latin typeface="Calibri"/>
              </a:rPr>
              <a:t>PFF enterprise APIs / DB — decides &amp; executes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390888" y="3451860"/>
            <a:ext cx="146304" cy="0"/>
          </a:xfrm>
          <a:prstGeom prst="line">
            <a:avLst/>
          </a:prstGeom>
          <a:ln w="1778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74519" y="5120640"/>
            <a:ext cx="9921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Trust decreases left→right for data; authority increases left→right. Nothing crosses a boundary without validation; egress to the untrusted zone is masked &amp; fail-closed.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D6-02 / D6-03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AuthN/authZ boundary &amp; propagation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APIM/enterprise auth authenticates &amp; authorizes — the AI never does.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The AI only consumes validated claims.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 model output is never an authorization decision.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Context 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Authorization context is integrity-protected &amp; propagated with the request.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Correlation IDs carry it through async/event paths.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Cache &amp; RAG are authorization-aware (never cross scopes).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D6-04 / D6-05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Network, egress, encryption &amp;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Segmentation &amp; egress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Network segmentation between zones; controlled egress.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The only external egress is the masked SLM path.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Encryption &amp; key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Encryption in transit and at rest.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Keys managed in Key Vault (SPN-only access, deck 05).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Token vault for masking is in-tenancy (next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Data classification &amp; PII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474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Data is classified (public → confidential → special-category / children's data).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PII protection policies drive masking, logging redaction and retention.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Special-category data, children's personal data and secrets are the most tightly controlled.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Classification decides what may reach a model and how — feeding the masking regime.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D6-19 · PROPOSED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SLM input masking regime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Refines D6-07 — ARB sign-off (deck 09)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1783080"/>
            <a:ext cx="5760720" cy="402336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1947672"/>
            <a:ext cx="5321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C72C"/>
                </a:solidFill>
                <a:latin typeface="Calibri"/>
              </a:rPr>
              <a:t>TWO REGIMES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3976" y="2441448"/>
            <a:ext cx="5321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External / hosted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3976" y="2688336"/>
            <a:ext cx="5321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MANDATORY mask/tokenise-all, fail-closed — no raw PII/records egress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93976" y="3191256"/>
            <a:ext cx="5321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Hard-blocked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976" y="3438144"/>
            <a:ext cx="5321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special-category, children's data, secrets — never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93976" y="3941063"/>
            <a:ext cx="5321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Self-hosted SLM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3976" y="4187952"/>
            <a:ext cx="5321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raw OR masked, per task class (stays in-tenancy)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93976" y="4690872"/>
            <a:ext cx="53218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3294B"/>
                </a:solidFill>
                <a:latin typeface="Calibri"/>
              </a:rPr>
              <a:t>Token vault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3976" y="4937760"/>
            <a:ext cx="5321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A"/>
                </a:solidFill>
                <a:latin typeface="Calibri"/>
              </a:rPr>
              <a:t>reversible re-identification inside the boundary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920240"/>
            <a:ext cx="3840480" cy="3840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Strengthens D6-07 from 'minimise &amp; redact' into a testable, binary default.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External boundary fails closed if it cannot verify masking.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Awaiting ARB sign-off (DPO owner, DPIA update) + Phase 20 vault sizing.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Guardrail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At every boundary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19" y="237744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7683" y="237744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29940" y="2857500"/>
            <a:ext cx="237743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260848" y="237744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Prompt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3104" y="285750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954012" y="237744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Tool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16268" y="285750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47176" y="237744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Model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09431" y="2857500"/>
            <a:ext cx="237745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340340" y="2377440"/>
            <a:ext cx="1455420" cy="960120"/>
          </a:xfrm>
          <a:prstGeom prst="roundRect">
            <a:avLst/>
          </a:prstGeom>
          <a:solidFill>
            <a:srgbClr val="F3F6FA"/>
          </a:solidFill>
          <a:ln w="15875">
            <a:solidFill>
              <a:srgbClr val="A9BA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13294B"/>
                </a:solidFill>
                <a:latin typeface="Calibri"/>
              </a:rPr>
              <a:t>Output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102596" y="2857500"/>
            <a:ext cx="237744" cy="0"/>
          </a:xfrm>
          <a:prstGeom prst="line">
            <a:avLst/>
          </a:prstGeom>
          <a:ln w="2032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74519" y="3931920"/>
            <a:ext cx="9921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Guardrails are middleware applied at every boundary, not a single output filter.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Each stage can block, sanitise, or escalate; failures are typed (GuardrailError).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Placement (D6-09) guarantees no path reaches the model or the user unchecked.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Prompt-injection &amp; jailbreak defence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783080"/>
            <a:ext cx="9921240" cy="3474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Untrusted content (user text, RAG documents, tool output) is treated as data, never as instructions.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Defence is layered: prompt/security layer (deck 03) + guardrail pipeline (this deck).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Attempts to redirect the agent, escalate access, or exfiltrate data are detected and blocked.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75B6"/>
                </a:solidFill>
                <a:latin typeface="Calibri"/>
              </a:rPr>
              <a:t>▪  </a:t>
            </a:r>
            <a:r>
              <a:rPr sz="1600">
                <a:solidFill>
                  <a:srgbClr val="13294B"/>
                </a:solidFill>
                <a:latin typeface="Calibri"/>
              </a:rPr>
              <a:t>Suspicious redirection escalates to a human rather than being silently followed.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D6-10 / D6-11 / D6-12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Tool, MCP &amp; RAG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Tool &amp;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Tools allow-listed per agent; parameters &amp; outputs validated.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MCP servers carry an explicit trust model — no implicit trust.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Only registered, approved servers/tools are callable.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RAG ACL enforcement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Retrieval is ACL-enforced — users only see documents they may see.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ACLs applied at query time, not post-filtered.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Citations respect the same access scope.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D6-13 / D6-14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Responsible AI &amp; human oversight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Responsible AI &amp; prohibited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Explicit prohibited-use policy.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No invented business rules, outcomes, URLs, IDs or technical details.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Fairness, transparency and accountability by design.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Human oversight &amp; HIL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HIL touchpoints are governed, not ad-hoc (deck 01/02).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Humans confirm state-changing actions.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Oversight is auditable.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D6-16 / D6-17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GDPR, safeguarding &amp;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GDPR &amp; safeguarding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GDPR compliance; children's data specially protected (safeguarding).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DPIA maintained; masking regime feeds it (deck 09).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Retention &amp; erasure policies applied.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Audit &amp; evidential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Auditable, evidential logging of decisions &amp; actions.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Correlation IDs tie conversation → workflow → enterprise call.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Logs are redacted per classification (deck 07).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D6-15 / D6-18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Change governance &amp;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Change governance &amp; release 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Security-relevant changes pass release gates.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Immutable versioned bundles; no in-place prod change.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Ties to CI/CD quality gates (deck 07).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6916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Calibri"/>
              </a:rPr>
              <a:t>Standards conformance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148840"/>
            <a:ext cx="484632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Conformance to applicable enterprise &amp; regulatory standards.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Evidenced and reviewed.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2E75B6"/>
                </a:solidFill>
                <a:latin typeface="Calibri"/>
              </a:rPr>
              <a:t>▪  </a:t>
            </a:r>
            <a:r>
              <a:rPr sz="1400">
                <a:solidFill>
                  <a:srgbClr val="13294B"/>
                </a:solidFill>
                <a:latin typeface="Calibri"/>
              </a:rPr>
              <a:t>Part of ARB governance (D0).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10896"/>
            <a:ext cx="8641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E75B6"/>
                </a:solidFill>
                <a:latin typeface="Calibri"/>
              </a:rPr>
              <a:t>DECISION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566928"/>
            <a:ext cx="992124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2700" b="1">
                <a:solidFill>
                  <a:srgbClr val="13294B"/>
                </a:solidFill>
                <a:latin typeface="Cambria"/>
              </a:rPr>
              <a:t>ADR index — Security &amp; Governance (D6)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133856"/>
            <a:ext cx="9921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C6B7A"/>
                </a:solidFill>
                <a:latin typeface="Calibri"/>
              </a:rPr>
              <a:t>19 decisions in this domain  ·  ◆ = Proposed, awaiting ARB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874519" y="1783080"/>
          <a:ext cx="4800599" cy="40965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Zero-trust model and trust-zone definition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AuthN/AuthZ boundary — APIM validates, AI con…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Authorization context integrity and propagati…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Network segmentation, private connectivity an…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D6-05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Encryption in transit/at rest, key management…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Data classification, PII protection and data-…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D6-07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External SLM data boundary — what may leave t…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Prompt injection and jailbreak defence archit…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D6-09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Guardrail pipeline placement at six boundarie…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Tool allowlist, parameter and output security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D6-11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MCP server trust model and response validation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RAG ACL enforcement and retrieval-time author…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D6-13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Responsible AI principles and prohibited-use 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49440" y="1783080"/>
          <a:ext cx="4800599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80844"/>
                <a:gridCol w="2994869"/>
                <a:gridCol w="924886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25400" marB="25400" anchor="ctr">
                    <a:solidFill>
                      <a:srgbClr val="1329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D6-14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Human oversight and HIL governance model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Model/prompt/index change governance and rele…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D6-16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UK GDPR, safeguarding and children's-data han…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Audit logging and evidential record model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D6-18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Standards conformance — ISO/IEC 42001, 27001,…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Accepted</a:t>
                      </a:r>
                    </a:p>
                  </a:txBody>
                  <a:tcPr marL="63500" marR="63500" marT="25400" marB="25400" anchor="ctr">
                    <a:solidFill>
                      <a:srgbClr val="F3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3294B"/>
                          </a:solidFill>
                          <a:latin typeface="Calibri"/>
                        </a:rPr>
                        <a:t>D6-19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SLM input masking regime — mandatory for exte…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C6B7A"/>
                          </a:solidFill>
                          <a:latin typeface="Calibri"/>
                        </a:rPr>
                        <a:t>Proposed 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09344" cy="6858000"/>
          </a:xfrm>
          <a:prstGeom prst="rect">
            <a:avLst/>
          </a:prstGeom>
          <a:solidFill>
            <a:srgbClr val="01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_cres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365760"/>
            <a:ext cx="676656" cy="123047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4048" y="1779119"/>
            <a:ext cx="841248" cy="20116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1852271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PFF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2144879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8FA6C4"/>
                </a:solidFill>
                <a:latin typeface="Calibri"/>
              </a:rPr>
              <a:t>Enterprise 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4556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FA6C4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65105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FA6C4"/>
                </a:solidFill>
                <a:latin typeface="Calibri"/>
              </a:rPr>
              <a:t>Proprietary &amp;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4320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3294B"/>
                </a:solidFill>
                <a:latin typeface="Cambria"/>
              </a:rPr>
              <a:t>Security &amp; governance —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807" y="3703320"/>
            <a:ext cx="1554480" cy="457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931920"/>
            <a:ext cx="9921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C6B7A"/>
                </a:solidFill>
                <a:latin typeface="Calibri"/>
              </a:rPr>
              <a:t>Zero-trust · AI never authorizes · mask-all to external models · guardrails everywhere · fully audited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331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Yokesh Kulasekaran</cp:lastModifiedBy>
  <cp:revision>10</cp:revision>
  <dcterms:created xsi:type="dcterms:W3CDTF">2026-08-06T08:59:30Z</dcterms:created>
  <dcterms:modified xsi:type="dcterms:W3CDTF">2026-09-08T09:07:06Z</dcterms:modified>
</cp:coreProperties>
</file>